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4"/>
  </p:notesMasterIdLst>
  <p:sldIdLst>
    <p:sldId id="320" r:id="rId2"/>
    <p:sldId id="257" r:id="rId3"/>
    <p:sldId id="888" r:id="rId4"/>
    <p:sldId id="880" r:id="rId5"/>
    <p:sldId id="881" r:id="rId6"/>
    <p:sldId id="882" r:id="rId7"/>
    <p:sldId id="889" r:id="rId8"/>
    <p:sldId id="890" r:id="rId9"/>
    <p:sldId id="891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892" r:id="rId28"/>
    <p:sldId id="275" r:id="rId29"/>
    <p:sldId id="276" r:id="rId30"/>
    <p:sldId id="893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896" r:id="rId47"/>
    <p:sldId id="292" r:id="rId48"/>
    <p:sldId id="894" r:id="rId49"/>
    <p:sldId id="296" r:id="rId50"/>
    <p:sldId id="294" r:id="rId51"/>
    <p:sldId id="297" r:id="rId52"/>
    <p:sldId id="298" r:id="rId53"/>
    <p:sldId id="299" r:id="rId54"/>
    <p:sldId id="300" r:id="rId55"/>
    <p:sldId id="301" r:id="rId56"/>
    <p:sldId id="303" r:id="rId57"/>
    <p:sldId id="304" r:id="rId58"/>
    <p:sldId id="895" r:id="rId59"/>
    <p:sldId id="305" r:id="rId60"/>
    <p:sldId id="306" r:id="rId61"/>
    <p:sldId id="307" r:id="rId62"/>
    <p:sldId id="308" r:id="rId63"/>
    <p:sldId id="309" r:id="rId64"/>
    <p:sldId id="310" r:id="rId65"/>
    <p:sldId id="311" r:id="rId66"/>
    <p:sldId id="312" r:id="rId67"/>
    <p:sldId id="313" r:id="rId68"/>
    <p:sldId id="314" r:id="rId69"/>
    <p:sldId id="315" r:id="rId70"/>
    <p:sldId id="316" r:id="rId71"/>
    <p:sldId id="317" r:id="rId72"/>
    <p:sldId id="318" r:id="rId7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59" d="100"/>
          <a:sy n="59" d="100"/>
        </p:scale>
        <p:origin x="1524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786E6D-B14F-4323-B81D-10E1A95CB936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7088B8-AB15-4778-AB5B-8B22D67CD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159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45B78D-EFBB-1677-0B71-882AEA07D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1">
            <a:extLst>
              <a:ext uri="{FF2B5EF4-FFF2-40B4-BE49-F238E27FC236}">
                <a16:creationId xmlns:a16="http://schemas.microsoft.com/office/drawing/2014/main" id="{C4F1988E-6588-62A5-66DA-69E9281D227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875D21C-A5B0-4F57-A54E-3E626404A207}" type="slidenum">
              <a:rPr lang="en-IN" altLang="en-US"/>
              <a:pPr/>
              <a:t>3</a:t>
            </a:fld>
            <a:endParaRPr lang="en-IN" altLang="en-US"/>
          </a:p>
        </p:txBody>
      </p:sp>
      <p:sp>
        <p:nvSpPr>
          <p:cNvPr id="76801" name="AutoShape 1">
            <a:extLst>
              <a:ext uri="{FF2B5EF4-FFF2-40B4-BE49-F238E27FC236}">
                <a16:creationId xmlns:a16="http://schemas.microsoft.com/office/drawing/2014/main" id="{03B7E5D4-21F4-8C15-A138-EC813E31CA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custGeom>
            <a:avLst/>
            <a:gdLst>
              <a:gd name="G0" fmla="+- 8255 0 0"/>
              <a:gd name="G1" fmla="+- 127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9426575" algn="l"/>
                <a:tab pos="9875838" algn="l"/>
                <a:tab pos="10325100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9426575" algn="l"/>
                <a:tab pos="9875838" algn="l"/>
                <a:tab pos="10325100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9426575" algn="l"/>
                <a:tab pos="9875838" algn="l"/>
                <a:tab pos="10325100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9426575" algn="l"/>
                <a:tab pos="9875838" algn="l"/>
                <a:tab pos="10325100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9426575" algn="l"/>
                <a:tab pos="9875838" algn="l"/>
                <a:tab pos="10325100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9426575" algn="l"/>
                <a:tab pos="9875838" algn="l"/>
                <a:tab pos="10325100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9426575" algn="l"/>
                <a:tab pos="9875838" algn="l"/>
                <a:tab pos="10325100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9426575" algn="l"/>
                <a:tab pos="9875838" algn="l"/>
                <a:tab pos="10325100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9426575" algn="l"/>
                <a:tab pos="9875838" algn="l"/>
                <a:tab pos="10325100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r">
              <a:lnSpc>
                <a:spcPct val="100000"/>
              </a:lnSpc>
              <a:buClrTx/>
              <a:buFontTx/>
              <a:buNone/>
            </a:pPr>
            <a:fld id="{96858577-B0A7-40F2-A8CE-CE07850C11B5}" type="slidenum">
              <a:rPr lang="en-IN" altLang="en-US" sz="1200">
                <a:latin typeface="Times New Roman" panose="02020603050405020304" pitchFamily="18" charset="0"/>
              </a:rPr>
              <a:pPr algn="r">
                <a:lnSpc>
                  <a:spcPct val="100000"/>
                </a:lnSpc>
                <a:buClrTx/>
                <a:buFontTx/>
                <a:buNone/>
              </a:pPr>
              <a:t>3</a:t>
            </a:fld>
            <a:endParaRPr lang="en-IN" altLang="en-US" sz="1200">
              <a:latin typeface="Times New Roman" panose="02020603050405020304" pitchFamily="18" charset="0"/>
            </a:endParaRPr>
          </a:p>
        </p:txBody>
      </p:sp>
      <p:sp>
        <p:nvSpPr>
          <p:cNvPr id="76802" name="Rectangle 2">
            <a:extLst>
              <a:ext uri="{FF2B5EF4-FFF2-40B4-BE49-F238E27FC236}">
                <a16:creationId xmlns:a16="http://schemas.microsoft.com/office/drawing/2014/main" id="{51EE1FC0-1BD2-AC91-BBC5-2598161511B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E6CADDD1-E7E1-A7AA-DF3D-4A62C893A77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64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10819" y="482663"/>
            <a:ext cx="542544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 u="sng">
                <a:solidFill>
                  <a:srgbClr val="3333CC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848360">
              <a:lnSpc>
                <a:spcPct val="100000"/>
              </a:lnSpc>
              <a:spcBef>
                <a:spcPts val="10"/>
              </a:spcBef>
            </a:pPr>
            <a:r>
              <a:rPr sz="1200" spc="60" dirty="0">
                <a:solidFill>
                  <a:srgbClr val="8A8A8A"/>
                </a:solidFill>
                <a:latin typeface="Trebuchet MS"/>
                <a:cs typeface="Trebuchet MS"/>
              </a:rPr>
              <a:t>1-</a:t>
            </a:r>
            <a:fld id="{81D60167-4931-47E6-BA6A-407CBD079E47}" type="slidenum">
              <a:rPr sz="1200" spc="85" dirty="0">
                <a:solidFill>
                  <a:srgbClr val="8A8A8A"/>
                </a:solidFill>
                <a:latin typeface="Trebuchet MS"/>
                <a:cs typeface="Trebuchet MS"/>
              </a:rPr>
              <a:t>‹#›</a:t>
            </a:fld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 u="sng">
                <a:solidFill>
                  <a:srgbClr val="3333CC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848360">
              <a:lnSpc>
                <a:spcPct val="100000"/>
              </a:lnSpc>
              <a:spcBef>
                <a:spcPts val="10"/>
              </a:spcBef>
            </a:pPr>
            <a:r>
              <a:rPr sz="1200" spc="60" dirty="0">
                <a:solidFill>
                  <a:srgbClr val="8A8A8A"/>
                </a:solidFill>
                <a:latin typeface="Trebuchet MS"/>
                <a:cs typeface="Trebuchet MS"/>
              </a:rPr>
              <a:t>1-</a:t>
            </a:r>
            <a:fld id="{81D60167-4931-47E6-BA6A-407CBD079E47}" type="slidenum">
              <a:rPr sz="1200" spc="85" dirty="0">
                <a:solidFill>
                  <a:srgbClr val="8A8A8A"/>
                </a:solidFill>
                <a:latin typeface="Trebuchet MS"/>
                <a:cs typeface="Trebuchet MS"/>
              </a:rPr>
              <a:t>‹#›</a:t>
            </a:fld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 u="sng">
                <a:solidFill>
                  <a:srgbClr val="3333CC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98119" y="1329865"/>
            <a:ext cx="3869690" cy="4463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 u="sng">
                <a:solidFill>
                  <a:srgbClr val="FF0000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848360">
              <a:lnSpc>
                <a:spcPct val="100000"/>
              </a:lnSpc>
              <a:spcBef>
                <a:spcPts val="10"/>
              </a:spcBef>
            </a:pPr>
            <a:r>
              <a:rPr sz="1200" spc="60" dirty="0">
                <a:solidFill>
                  <a:srgbClr val="8A8A8A"/>
                </a:solidFill>
                <a:latin typeface="Trebuchet MS"/>
                <a:cs typeface="Trebuchet MS"/>
              </a:rPr>
              <a:t>1-</a:t>
            </a:r>
            <a:fld id="{81D60167-4931-47E6-BA6A-407CBD079E47}" type="slidenum">
              <a:rPr sz="1200" spc="85" dirty="0">
                <a:solidFill>
                  <a:srgbClr val="8A8A8A"/>
                </a:solidFill>
                <a:latin typeface="Trebuchet MS"/>
                <a:cs typeface="Trebuchet MS"/>
              </a:rPr>
              <a:t>‹#›</a:t>
            </a:fld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 u="sng">
                <a:solidFill>
                  <a:srgbClr val="3333CC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848360">
              <a:lnSpc>
                <a:spcPct val="100000"/>
              </a:lnSpc>
              <a:spcBef>
                <a:spcPts val="10"/>
              </a:spcBef>
            </a:pPr>
            <a:r>
              <a:rPr sz="1200" spc="60" dirty="0">
                <a:solidFill>
                  <a:srgbClr val="8A8A8A"/>
                </a:solidFill>
                <a:latin typeface="Trebuchet MS"/>
                <a:cs typeface="Trebuchet MS"/>
              </a:rPr>
              <a:t>1-</a:t>
            </a:r>
            <a:fld id="{81D60167-4931-47E6-BA6A-407CBD079E47}" type="slidenum">
              <a:rPr sz="1200" spc="85" dirty="0">
                <a:solidFill>
                  <a:srgbClr val="8A8A8A"/>
                </a:solidFill>
                <a:latin typeface="Trebuchet MS"/>
                <a:cs typeface="Trebuchet MS"/>
              </a:rPr>
              <a:t>‹#›</a:t>
            </a:fld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848360">
              <a:lnSpc>
                <a:spcPct val="100000"/>
              </a:lnSpc>
              <a:spcBef>
                <a:spcPts val="10"/>
              </a:spcBef>
            </a:pPr>
            <a:r>
              <a:rPr sz="1200" spc="60" dirty="0">
                <a:solidFill>
                  <a:srgbClr val="8A8A8A"/>
                </a:solidFill>
                <a:latin typeface="Trebuchet MS"/>
                <a:cs typeface="Trebuchet MS"/>
              </a:rPr>
              <a:t>1-</a:t>
            </a:r>
            <a:fld id="{81D60167-4931-47E6-BA6A-407CBD079E47}" type="slidenum">
              <a:rPr sz="1200" spc="85" dirty="0">
                <a:solidFill>
                  <a:srgbClr val="8A8A8A"/>
                </a:solidFill>
                <a:latin typeface="Trebuchet MS"/>
                <a:cs typeface="Trebuchet MS"/>
              </a:rPr>
              <a:t>‹#›</a:t>
            </a:fld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840B7-6316-0959-DCB9-71D786099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2124968"/>
            <a:ext cx="6858000" cy="1384995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E15CE7-C08D-3516-D3D1-BF54B21FA5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276999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B40E4-3ACB-46DD-8467-6EF8EBB1BA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77940"/>
            <a:ext cx="2103120" cy="276999"/>
          </a:xfrm>
        </p:spPr>
        <p:txBody>
          <a:bodyPr/>
          <a:lstStyle/>
          <a:p>
            <a:fld id="{EA8EDCC8-B243-43E3-815F-25971897CF8D}" type="datetime1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26DA7-7834-41BF-B7F6-E91FC16D4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37260" y="6416750"/>
            <a:ext cx="1090295" cy="646331"/>
          </a:xfrm>
        </p:spPr>
        <p:txBody>
          <a:bodyPr/>
          <a:lstStyle/>
          <a:p>
            <a:r>
              <a:rPr lang="en-IN"/>
              <a:t>Computer Networks(MCA 5122)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4CB34-D9DC-72A0-EC9E-170E4970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97978" y="6427110"/>
            <a:ext cx="1391957" cy="215444"/>
          </a:xfrm>
        </p:spPr>
        <p:txBody>
          <a:bodyPr/>
          <a:lstStyle/>
          <a:p>
            <a:fld id="{9C57F1D3-54DA-4A0E-9542-9C59510E6D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941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6864" y="481215"/>
            <a:ext cx="811027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 u="sng">
                <a:solidFill>
                  <a:srgbClr val="3333CC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0717" y="1289209"/>
            <a:ext cx="7135495" cy="4654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137260" y="6416750"/>
            <a:ext cx="1090295" cy="2736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497978" y="6427110"/>
            <a:ext cx="1391957" cy="386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848360">
              <a:lnSpc>
                <a:spcPct val="100000"/>
              </a:lnSpc>
              <a:spcBef>
                <a:spcPts val="10"/>
              </a:spcBef>
            </a:pPr>
            <a:r>
              <a:rPr sz="1200" spc="60" dirty="0">
                <a:solidFill>
                  <a:srgbClr val="8A8A8A"/>
                </a:solidFill>
                <a:latin typeface="Trebuchet MS"/>
                <a:cs typeface="Trebuchet MS"/>
              </a:rPr>
              <a:t>1-</a:t>
            </a:r>
            <a:fld id="{81D60167-4931-47E6-BA6A-407CBD079E47}" type="slidenum">
              <a:rPr sz="1200" spc="85" dirty="0">
                <a:solidFill>
                  <a:srgbClr val="8A8A8A"/>
                </a:solidFill>
                <a:latin typeface="Trebuchet MS"/>
                <a:cs typeface="Trebuchet MS"/>
              </a:rPr>
              <a:t>‹#›</a:t>
            </a:fld>
            <a:endParaRPr sz="1200">
              <a:latin typeface="Trebuchet MS"/>
              <a:cs typeface="Trebuchet M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10" Type="http://schemas.openxmlformats.org/officeDocument/2006/relationships/image" Target="../media/image15.jpg"/><Relationship Id="rId4" Type="http://schemas.openxmlformats.org/officeDocument/2006/relationships/image" Target="../media/image9.jpg"/><Relationship Id="rId9" Type="http://schemas.openxmlformats.org/officeDocument/2006/relationships/image" Target="../media/image14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g"/><Relationship Id="rId3" Type="http://schemas.openxmlformats.org/officeDocument/2006/relationships/image" Target="../media/image9.jpg"/><Relationship Id="rId7" Type="http://schemas.openxmlformats.org/officeDocument/2006/relationships/image" Target="../media/image19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10" Type="http://schemas.openxmlformats.org/officeDocument/2006/relationships/image" Target="../media/image22.jpg"/><Relationship Id="rId4" Type="http://schemas.openxmlformats.org/officeDocument/2006/relationships/image" Target="../media/image16.jp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26" Type="http://schemas.openxmlformats.org/officeDocument/2006/relationships/image" Target="../media/image49.png"/><Relationship Id="rId39" Type="http://schemas.openxmlformats.org/officeDocument/2006/relationships/image" Target="../media/image62.png"/><Relationship Id="rId21" Type="http://schemas.openxmlformats.org/officeDocument/2006/relationships/image" Target="../media/image44.png"/><Relationship Id="rId34" Type="http://schemas.openxmlformats.org/officeDocument/2006/relationships/image" Target="../media/image57.png"/><Relationship Id="rId42" Type="http://schemas.openxmlformats.org/officeDocument/2006/relationships/image" Target="../media/image65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6" Type="http://schemas.openxmlformats.org/officeDocument/2006/relationships/image" Target="../media/image39.png"/><Relationship Id="rId29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24" Type="http://schemas.openxmlformats.org/officeDocument/2006/relationships/image" Target="../media/image47.png"/><Relationship Id="rId32" Type="http://schemas.openxmlformats.org/officeDocument/2006/relationships/image" Target="../media/image55.png"/><Relationship Id="rId37" Type="http://schemas.openxmlformats.org/officeDocument/2006/relationships/image" Target="../media/image60.png"/><Relationship Id="rId40" Type="http://schemas.openxmlformats.org/officeDocument/2006/relationships/image" Target="../media/image63.png"/><Relationship Id="rId45" Type="http://schemas.openxmlformats.org/officeDocument/2006/relationships/image" Target="../media/image68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23" Type="http://schemas.openxmlformats.org/officeDocument/2006/relationships/image" Target="../media/image46.png"/><Relationship Id="rId28" Type="http://schemas.openxmlformats.org/officeDocument/2006/relationships/image" Target="../media/image51.png"/><Relationship Id="rId36" Type="http://schemas.openxmlformats.org/officeDocument/2006/relationships/image" Target="../media/image59.png"/><Relationship Id="rId10" Type="http://schemas.openxmlformats.org/officeDocument/2006/relationships/image" Target="../media/image33.png"/><Relationship Id="rId19" Type="http://schemas.openxmlformats.org/officeDocument/2006/relationships/image" Target="../media/image42.png"/><Relationship Id="rId31" Type="http://schemas.openxmlformats.org/officeDocument/2006/relationships/image" Target="../media/image54.png"/><Relationship Id="rId44" Type="http://schemas.openxmlformats.org/officeDocument/2006/relationships/image" Target="../media/image67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Relationship Id="rId22" Type="http://schemas.openxmlformats.org/officeDocument/2006/relationships/image" Target="../media/image45.png"/><Relationship Id="rId27" Type="http://schemas.openxmlformats.org/officeDocument/2006/relationships/image" Target="../media/image50.png"/><Relationship Id="rId30" Type="http://schemas.openxmlformats.org/officeDocument/2006/relationships/image" Target="../media/image53.png"/><Relationship Id="rId35" Type="http://schemas.openxmlformats.org/officeDocument/2006/relationships/image" Target="../media/image58.png"/><Relationship Id="rId43" Type="http://schemas.openxmlformats.org/officeDocument/2006/relationships/image" Target="../media/image66.png"/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5" Type="http://schemas.openxmlformats.org/officeDocument/2006/relationships/image" Target="../media/image48.png"/><Relationship Id="rId33" Type="http://schemas.openxmlformats.org/officeDocument/2006/relationships/image" Target="../media/image56.png"/><Relationship Id="rId38" Type="http://schemas.openxmlformats.org/officeDocument/2006/relationships/image" Target="../media/image61.png"/><Relationship Id="rId46" Type="http://schemas.openxmlformats.org/officeDocument/2006/relationships/image" Target="../media/image69.png"/><Relationship Id="rId20" Type="http://schemas.openxmlformats.org/officeDocument/2006/relationships/image" Target="../media/image43.png"/><Relationship Id="rId41" Type="http://schemas.openxmlformats.org/officeDocument/2006/relationships/image" Target="../media/image6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jpg"/><Relationship Id="rId3" Type="http://schemas.openxmlformats.org/officeDocument/2006/relationships/image" Target="../media/image71.jpg"/><Relationship Id="rId7" Type="http://schemas.openxmlformats.org/officeDocument/2006/relationships/image" Target="../media/image74.jp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3.jpg"/><Relationship Id="rId5" Type="http://schemas.openxmlformats.org/officeDocument/2006/relationships/hyperlink" Target="http://www.ceiva.com/" TargetMode="External"/><Relationship Id="rId4" Type="http://schemas.openxmlformats.org/officeDocument/2006/relationships/image" Target="../media/image72.jpg"/><Relationship Id="rId9" Type="http://schemas.openxmlformats.org/officeDocument/2006/relationships/image" Target="../media/image76.jp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.png"/><Relationship Id="rId18" Type="http://schemas.openxmlformats.org/officeDocument/2006/relationships/image" Target="../media/image43.png"/><Relationship Id="rId26" Type="http://schemas.openxmlformats.org/officeDocument/2006/relationships/image" Target="../media/image53.png"/><Relationship Id="rId3" Type="http://schemas.openxmlformats.org/officeDocument/2006/relationships/image" Target="../media/image30.png"/><Relationship Id="rId21" Type="http://schemas.openxmlformats.org/officeDocument/2006/relationships/image" Target="../media/image85.png"/><Relationship Id="rId34" Type="http://schemas.openxmlformats.org/officeDocument/2006/relationships/image" Target="../media/image61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17" Type="http://schemas.openxmlformats.org/officeDocument/2006/relationships/image" Target="../media/image42.png"/><Relationship Id="rId25" Type="http://schemas.openxmlformats.org/officeDocument/2006/relationships/image" Target="../media/image87.png"/><Relationship Id="rId33" Type="http://schemas.openxmlformats.org/officeDocument/2006/relationships/image" Target="../media/image55.png"/><Relationship Id="rId2" Type="http://schemas.openxmlformats.org/officeDocument/2006/relationships/image" Target="../media/image29.png"/><Relationship Id="rId16" Type="http://schemas.openxmlformats.org/officeDocument/2006/relationships/image" Target="../media/image41.png"/><Relationship Id="rId20" Type="http://schemas.openxmlformats.org/officeDocument/2006/relationships/image" Target="../media/image48.png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24" Type="http://schemas.openxmlformats.org/officeDocument/2006/relationships/image" Target="../media/image86.png"/><Relationship Id="rId32" Type="http://schemas.openxmlformats.org/officeDocument/2006/relationships/image" Target="../media/image59.png"/><Relationship Id="rId5" Type="http://schemas.openxmlformats.org/officeDocument/2006/relationships/image" Target="../media/image32.png"/><Relationship Id="rId15" Type="http://schemas.openxmlformats.org/officeDocument/2006/relationships/image" Target="../media/image27.png"/><Relationship Id="rId23" Type="http://schemas.openxmlformats.org/officeDocument/2006/relationships/image" Target="../media/image50.png"/><Relationship Id="rId28" Type="http://schemas.openxmlformats.org/officeDocument/2006/relationships/image" Target="../media/image88.png"/><Relationship Id="rId36" Type="http://schemas.openxmlformats.org/officeDocument/2006/relationships/image" Target="../media/image63.png"/><Relationship Id="rId10" Type="http://schemas.openxmlformats.org/officeDocument/2006/relationships/image" Target="../media/image81.png"/><Relationship Id="rId19" Type="http://schemas.openxmlformats.org/officeDocument/2006/relationships/image" Target="../media/image84.png"/><Relationship Id="rId31" Type="http://schemas.openxmlformats.org/officeDocument/2006/relationships/image" Target="../media/image89.png"/><Relationship Id="rId4" Type="http://schemas.openxmlformats.org/officeDocument/2006/relationships/image" Target="../media/image31.png"/><Relationship Id="rId9" Type="http://schemas.openxmlformats.org/officeDocument/2006/relationships/image" Target="../media/image80.png"/><Relationship Id="rId14" Type="http://schemas.openxmlformats.org/officeDocument/2006/relationships/image" Target="../media/image40.png"/><Relationship Id="rId22" Type="http://schemas.openxmlformats.org/officeDocument/2006/relationships/image" Target="../media/image25.png"/><Relationship Id="rId27" Type="http://schemas.openxmlformats.org/officeDocument/2006/relationships/image" Target="../media/image54.png"/><Relationship Id="rId30" Type="http://schemas.openxmlformats.org/officeDocument/2006/relationships/image" Target="../media/image57.png"/><Relationship Id="rId35" Type="http://schemas.openxmlformats.org/officeDocument/2006/relationships/image" Target="../media/image90.png"/><Relationship Id="rId8" Type="http://schemas.openxmlformats.org/officeDocument/2006/relationships/image" Target="../media/image79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8.png"/><Relationship Id="rId18" Type="http://schemas.openxmlformats.org/officeDocument/2006/relationships/image" Target="../media/image42.png"/><Relationship Id="rId26" Type="http://schemas.openxmlformats.org/officeDocument/2006/relationships/image" Target="../media/image101.png"/><Relationship Id="rId21" Type="http://schemas.openxmlformats.org/officeDocument/2006/relationships/image" Target="../media/image97.png"/><Relationship Id="rId34" Type="http://schemas.openxmlformats.org/officeDocument/2006/relationships/image" Target="../media/image59.png"/><Relationship Id="rId7" Type="http://schemas.openxmlformats.org/officeDocument/2006/relationships/image" Target="../media/image92.png"/><Relationship Id="rId12" Type="http://schemas.openxmlformats.org/officeDocument/2006/relationships/image" Target="../media/image82.png"/><Relationship Id="rId17" Type="http://schemas.openxmlformats.org/officeDocument/2006/relationships/image" Target="../media/image41.png"/><Relationship Id="rId25" Type="http://schemas.openxmlformats.org/officeDocument/2006/relationships/image" Target="../media/image100.png"/><Relationship Id="rId33" Type="http://schemas.openxmlformats.org/officeDocument/2006/relationships/image" Target="../media/image102.png"/><Relationship Id="rId38" Type="http://schemas.openxmlformats.org/officeDocument/2006/relationships/image" Target="../media/image63.png"/><Relationship Id="rId2" Type="http://schemas.openxmlformats.org/officeDocument/2006/relationships/image" Target="../media/image91.png"/><Relationship Id="rId16" Type="http://schemas.openxmlformats.org/officeDocument/2006/relationships/image" Target="../media/image27.png"/><Relationship Id="rId20" Type="http://schemas.openxmlformats.org/officeDocument/2006/relationships/image" Target="../media/image96.png"/><Relationship Id="rId29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95.png"/><Relationship Id="rId24" Type="http://schemas.openxmlformats.org/officeDocument/2006/relationships/image" Target="../media/image25.png"/><Relationship Id="rId32" Type="http://schemas.openxmlformats.org/officeDocument/2006/relationships/image" Target="../media/image57.png"/><Relationship Id="rId37" Type="http://schemas.openxmlformats.org/officeDocument/2006/relationships/image" Target="../media/image90.png"/><Relationship Id="rId5" Type="http://schemas.openxmlformats.org/officeDocument/2006/relationships/image" Target="../media/image31.png"/><Relationship Id="rId15" Type="http://schemas.openxmlformats.org/officeDocument/2006/relationships/image" Target="../media/image40.png"/><Relationship Id="rId23" Type="http://schemas.openxmlformats.org/officeDocument/2006/relationships/image" Target="../media/image99.png"/><Relationship Id="rId28" Type="http://schemas.openxmlformats.org/officeDocument/2006/relationships/image" Target="../media/image51.png"/><Relationship Id="rId36" Type="http://schemas.openxmlformats.org/officeDocument/2006/relationships/image" Target="../media/image61.png"/><Relationship Id="rId10" Type="http://schemas.openxmlformats.org/officeDocument/2006/relationships/image" Target="../media/image94.png"/><Relationship Id="rId19" Type="http://schemas.openxmlformats.org/officeDocument/2006/relationships/image" Target="../media/image43.png"/><Relationship Id="rId31" Type="http://schemas.openxmlformats.org/officeDocument/2006/relationships/image" Target="../media/image56.png"/><Relationship Id="rId4" Type="http://schemas.openxmlformats.org/officeDocument/2006/relationships/image" Target="../media/image30.png"/><Relationship Id="rId9" Type="http://schemas.openxmlformats.org/officeDocument/2006/relationships/image" Target="../media/image79.png"/><Relationship Id="rId14" Type="http://schemas.openxmlformats.org/officeDocument/2006/relationships/image" Target="../media/image26.png"/><Relationship Id="rId22" Type="http://schemas.openxmlformats.org/officeDocument/2006/relationships/image" Target="../media/image98.png"/><Relationship Id="rId27" Type="http://schemas.openxmlformats.org/officeDocument/2006/relationships/image" Target="../media/image50.png"/><Relationship Id="rId30" Type="http://schemas.openxmlformats.org/officeDocument/2006/relationships/image" Target="../media/image88.png"/><Relationship Id="rId35" Type="http://schemas.openxmlformats.org/officeDocument/2006/relationships/image" Target="../media/image55.png"/><Relationship Id="rId8" Type="http://schemas.openxmlformats.org/officeDocument/2006/relationships/image" Target="../media/image93.png"/><Relationship Id="rId3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7" Type="http://schemas.openxmlformats.org/officeDocument/2006/relationships/image" Target="../media/image109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7" Type="http://schemas.openxmlformats.org/officeDocument/2006/relationships/image" Target="../media/image109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7" Type="http://schemas.openxmlformats.org/officeDocument/2006/relationships/image" Target="../media/image109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awl.com/kurose-ross" TargetMode="External"/><Relationship Id="rId4" Type="http://schemas.openxmlformats.org/officeDocument/2006/relationships/image" Target="../media/image11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119.png"/><Relationship Id="rId7" Type="http://schemas.openxmlformats.org/officeDocument/2006/relationships/image" Target="../media/image123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4.png"/><Relationship Id="rId4" Type="http://schemas.openxmlformats.org/officeDocument/2006/relationships/image" Target="../media/image13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7" Type="http://schemas.openxmlformats.org/officeDocument/2006/relationships/image" Target="../media/image140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png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13" Type="http://schemas.openxmlformats.org/officeDocument/2006/relationships/image" Target="../media/image153.png"/><Relationship Id="rId3" Type="http://schemas.openxmlformats.org/officeDocument/2006/relationships/image" Target="../media/image143.jpg"/><Relationship Id="rId7" Type="http://schemas.openxmlformats.org/officeDocument/2006/relationships/image" Target="../media/image147.png"/><Relationship Id="rId12" Type="http://schemas.openxmlformats.org/officeDocument/2006/relationships/image" Target="../media/image152.png"/><Relationship Id="rId17" Type="http://schemas.openxmlformats.org/officeDocument/2006/relationships/image" Target="../media/image157.jpg"/><Relationship Id="rId2" Type="http://schemas.openxmlformats.org/officeDocument/2006/relationships/image" Target="../media/image142.jpg"/><Relationship Id="rId16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.png"/><Relationship Id="rId11" Type="http://schemas.openxmlformats.org/officeDocument/2006/relationships/image" Target="../media/image151.png"/><Relationship Id="rId5" Type="http://schemas.openxmlformats.org/officeDocument/2006/relationships/image" Target="../media/image145.png"/><Relationship Id="rId15" Type="http://schemas.openxmlformats.org/officeDocument/2006/relationships/image" Target="../media/image155.png"/><Relationship Id="rId10" Type="http://schemas.openxmlformats.org/officeDocument/2006/relationships/image" Target="../media/image150.png"/><Relationship Id="rId4" Type="http://schemas.openxmlformats.org/officeDocument/2006/relationships/image" Target="../media/image144.png"/><Relationship Id="rId9" Type="http://schemas.openxmlformats.org/officeDocument/2006/relationships/image" Target="../media/image149.png"/><Relationship Id="rId14" Type="http://schemas.openxmlformats.org/officeDocument/2006/relationships/image" Target="../media/image154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13" Type="http://schemas.openxmlformats.org/officeDocument/2006/relationships/image" Target="../media/image153.png"/><Relationship Id="rId18" Type="http://schemas.openxmlformats.org/officeDocument/2006/relationships/image" Target="../media/image158.jpg"/><Relationship Id="rId3" Type="http://schemas.openxmlformats.org/officeDocument/2006/relationships/image" Target="../media/image143.jpg"/><Relationship Id="rId7" Type="http://schemas.openxmlformats.org/officeDocument/2006/relationships/image" Target="../media/image147.png"/><Relationship Id="rId12" Type="http://schemas.openxmlformats.org/officeDocument/2006/relationships/image" Target="../media/image152.png"/><Relationship Id="rId17" Type="http://schemas.openxmlformats.org/officeDocument/2006/relationships/image" Target="../media/image157.jpg"/><Relationship Id="rId2" Type="http://schemas.openxmlformats.org/officeDocument/2006/relationships/image" Target="../media/image142.jpg"/><Relationship Id="rId16" Type="http://schemas.openxmlformats.org/officeDocument/2006/relationships/image" Target="../media/image15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6.png"/><Relationship Id="rId11" Type="http://schemas.openxmlformats.org/officeDocument/2006/relationships/image" Target="../media/image151.png"/><Relationship Id="rId5" Type="http://schemas.openxmlformats.org/officeDocument/2006/relationships/image" Target="../media/image145.png"/><Relationship Id="rId15" Type="http://schemas.openxmlformats.org/officeDocument/2006/relationships/image" Target="../media/image155.png"/><Relationship Id="rId10" Type="http://schemas.openxmlformats.org/officeDocument/2006/relationships/image" Target="../media/image150.png"/><Relationship Id="rId4" Type="http://schemas.openxmlformats.org/officeDocument/2006/relationships/image" Target="../media/image144.png"/><Relationship Id="rId9" Type="http://schemas.openxmlformats.org/officeDocument/2006/relationships/image" Target="../media/image149.png"/><Relationship Id="rId14" Type="http://schemas.openxmlformats.org/officeDocument/2006/relationships/image" Target="../media/image154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7" Type="http://schemas.openxmlformats.org/officeDocument/2006/relationships/image" Target="../media/image165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4.png"/><Relationship Id="rId5" Type="http://schemas.openxmlformats.org/officeDocument/2006/relationships/image" Target="../media/image163.png"/><Relationship Id="rId4" Type="http://schemas.openxmlformats.org/officeDocument/2006/relationships/image" Target="../media/image16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9.png"/><Relationship Id="rId4" Type="http://schemas.openxmlformats.org/officeDocument/2006/relationships/image" Target="../media/image168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jp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emf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jp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7" Type="http://schemas.openxmlformats.org/officeDocument/2006/relationships/image" Target="../media/image185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4.png"/><Relationship Id="rId5" Type="http://schemas.openxmlformats.org/officeDocument/2006/relationships/image" Target="../media/image183.png"/><Relationship Id="rId4" Type="http://schemas.openxmlformats.org/officeDocument/2006/relationships/image" Target="../media/image18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9.png"/><Relationship Id="rId5" Type="http://schemas.openxmlformats.org/officeDocument/2006/relationships/image" Target="../media/image188.png"/><Relationship Id="rId4" Type="http://schemas.openxmlformats.org/officeDocument/2006/relationships/image" Target="../media/image18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4.png"/><Relationship Id="rId5" Type="http://schemas.openxmlformats.org/officeDocument/2006/relationships/image" Target="../media/image193.png"/><Relationship Id="rId4" Type="http://schemas.openxmlformats.org/officeDocument/2006/relationships/image" Target="../media/image192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2.png"/><Relationship Id="rId4" Type="http://schemas.openxmlformats.org/officeDocument/2006/relationships/image" Target="../media/image201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92A6A-9077-41C3-AD7E-69EB6562DF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2209800"/>
            <a:ext cx="7086600" cy="1750220"/>
          </a:xfrm>
        </p:spPr>
        <p:txBody>
          <a:bodyPr>
            <a:noAutofit/>
          </a:bodyPr>
          <a:lstStyle/>
          <a:p>
            <a:r>
              <a:rPr lang="en-IN" sz="4800" b="1" dirty="0"/>
              <a:t>CSE 3124 </a:t>
            </a:r>
            <a:r>
              <a:rPr lang="en-GB" alt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4800" b="1" dirty="0"/>
              <a:t>Computer Networks [</a:t>
            </a:r>
            <a:r>
              <a:rPr lang="en-GB" b="1" dirty="0"/>
              <a:t>2 1 0 3</a:t>
            </a:r>
            <a:r>
              <a:rPr lang="en-IN" sz="4800" b="1" dirty="0"/>
              <a:t>]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Content Placeholder 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2A6CEF2B-0E5D-2A23-4AC1-8C2742057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10716" y="-1"/>
            <a:ext cx="9144001" cy="1525191"/>
          </a:xfrm>
          <a:prstGeom prst="rect">
            <a:avLst/>
          </a:prstGeom>
        </p:spPr>
      </p:pic>
      <p:grpSp>
        <p:nvGrpSpPr>
          <p:cNvPr id="4" name="Group 18" descr="&quot;&quot;">
            <a:extLst>
              <a:ext uri="{FF2B5EF4-FFF2-40B4-BE49-F238E27FC236}">
                <a16:creationId xmlns:a16="http://schemas.microsoft.com/office/drawing/2014/main" id="{14E2D814-416D-5345-981C-AD3D94951AB0}"/>
              </a:ext>
            </a:extLst>
          </p:cNvPr>
          <p:cNvGrpSpPr/>
          <p:nvPr/>
        </p:nvGrpSpPr>
        <p:grpSpPr bwMode="auto">
          <a:xfrm rot="10800000" flipH="1">
            <a:off x="0" y="4978343"/>
            <a:ext cx="2533650" cy="1901428"/>
            <a:chOff x="-305" y="-1"/>
            <a:chExt cx="3832880" cy="2876136"/>
          </a:xfrm>
        </p:grpSpPr>
        <p:sp>
          <p:nvSpPr>
            <p:cNvPr id="5" name="Freeform: Shape 4" descr="&quot;&quot;">
              <a:extLst>
                <a:ext uri="{FF2B5EF4-FFF2-40B4-BE49-F238E27FC236}">
                  <a16:creationId xmlns:a16="http://schemas.microsoft.com/office/drawing/2014/main" id="{E7DDD065-1583-A912-1647-713A022B10F3}"/>
                </a:ext>
              </a:extLst>
            </p:cNvPr>
            <p:cNvSpPr/>
            <p:nvPr/>
          </p:nvSpPr>
          <p:spPr>
            <a:xfrm>
              <a:off x="-27323" y="-1"/>
              <a:ext cx="3816670" cy="2652817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" name="Freeform: Shape 5" descr="&quot;&quot;">
              <a:extLst>
                <a:ext uri="{FF2B5EF4-FFF2-40B4-BE49-F238E27FC236}">
                  <a16:creationId xmlns:a16="http://schemas.microsoft.com/office/drawing/2014/main" id="{78D4C5F5-53D6-B30A-432D-90DC395F230B}"/>
                </a:ext>
              </a:extLst>
            </p:cNvPr>
            <p:cNvSpPr/>
            <p:nvPr/>
          </p:nvSpPr>
          <p:spPr>
            <a:xfrm>
              <a:off x="-27323" y="-1"/>
              <a:ext cx="3816670" cy="2652817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7" name="Freeform: Shape 6" descr="&quot;&quot;">
              <a:extLst>
                <a:ext uri="{FF2B5EF4-FFF2-40B4-BE49-F238E27FC236}">
                  <a16:creationId xmlns:a16="http://schemas.microsoft.com/office/drawing/2014/main" id="{B705CF0F-5265-9677-42D1-CA9118CC22F7}"/>
                </a:ext>
              </a:extLst>
            </p:cNvPr>
            <p:cNvSpPr/>
            <p:nvPr/>
          </p:nvSpPr>
          <p:spPr>
            <a:xfrm>
              <a:off x="-27323" y="-27016"/>
              <a:ext cx="3816670" cy="2676230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8" name="Freeform: Shape 7" descr="&quot;&quot;">
              <a:extLst>
                <a:ext uri="{FF2B5EF4-FFF2-40B4-BE49-F238E27FC236}">
                  <a16:creationId xmlns:a16="http://schemas.microsoft.com/office/drawing/2014/main" id="{A798231B-B60C-1CC0-ED65-CDB77C4F5DB6}"/>
                </a:ext>
              </a:extLst>
            </p:cNvPr>
            <p:cNvSpPr/>
            <p:nvPr/>
          </p:nvSpPr>
          <p:spPr>
            <a:xfrm>
              <a:off x="-305" y="-1"/>
              <a:ext cx="383288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9" name="Group 12" descr="&quot;&quot;">
            <a:extLst>
              <a:ext uri="{FF2B5EF4-FFF2-40B4-BE49-F238E27FC236}">
                <a16:creationId xmlns:a16="http://schemas.microsoft.com/office/drawing/2014/main" id="{755EEC98-C9CD-CC68-D3D1-027EDD9FCD32}"/>
              </a:ext>
            </a:extLst>
          </p:cNvPr>
          <p:cNvGrpSpPr/>
          <p:nvPr/>
        </p:nvGrpSpPr>
        <p:grpSpPr bwMode="auto">
          <a:xfrm flipH="1">
            <a:off x="7214678" y="41672"/>
            <a:ext cx="1885950" cy="1631156"/>
            <a:chOff x="-305" y="-4155"/>
            <a:chExt cx="2514948" cy="2174333"/>
          </a:xfrm>
        </p:grpSpPr>
        <p:sp>
          <p:nvSpPr>
            <p:cNvPr id="10" name="Freeform: Shape 9" descr="&quot;&quot;">
              <a:extLst>
                <a:ext uri="{FF2B5EF4-FFF2-40B4-BE49-F238E27FC236}">
                  <a16:creationId xmlns:a16="http://schemas.microsoft.com/office/drawing/2014/main" id="{F1CD27AB-E79B-2390-0C4C-BBDDCC733793}"/>
                </a:ext>
              </a:extLst>
            </p:cNvPr>
            <p:cNvSpPr/>
            <p:nvPr/>
          </p:nvSpPr>
          <p:spPr>
            <a:xfrm>
              <a:off x="-305" y="607"/>
              <a:ext cx="2514948" cy="2169571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Freeform: Shape 10" descr="&quot;&quot;">
              <a:extLst>
                <a:ext uri="{FF2B5EF4-FFF2-40B4-BE49-F238E27FC236}">
                  <a16:creationId xmlns:a16="http://schemas.microsoft.com/office/drawing/2014/main" id="{D5290486-37DD-D2F8-CFBD-52B69EF9FF6F}"/>
                </a:ext>
              </a:extLst>
            </p:cNvPr>
            <p:cNvSpPr/>
            <p:nvPr/>
          </p:nvSpPr>
          <p:spPr>
            <a:xfrm>
              <a:off x="-305" y="-4155"/>
              <a:ext cx="2492720" cy="1947378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Freeform: Shape 11" descr="&quot;&quot;">
              <a:extLst>
                <a:ext uri="{FF2B5EF4-FFF2-40B4-BE49-F238E27FC236}">
                  <a16:creationId xmlns:a16="http://schemas.microsoft.com/office/drawing/2014/main" id="{BF4D7DAD-27F5-7A30-6ED3-E24E5E7A77FF}"/>
                </a:ext>
              </a:extLst>
            </p:cNvPr>
            <p:cNvSpPr/>
            <p:nvPr/>
          </p:nvSpPr>
          <p:spPr>
            <a:xfrm>
              <a:off x="-305" y="607"/>
              <a:ext cx="2500658" cy="1972770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600"/>
            </a:p>
          </p:txBody>
        </p:sp>
        <p:sp>
          <p:nvSpPr>
            <p:cNvPr id="13" name="Freeform: Shape 12" descr="&quot;&quot;">
              <a:extLst>
                <a:ext uri="{FF2B5EF4-FFF2-40B4-BE49-F238E27FC236}">
                  <a16:creationId xmlns:a16="http://schemas.microsoft.com/office/drawing/2014/main" id="{529AF84E-0808-E870-F77B-D0FDDC238BC1}"/>
                </a:ext>
              </a:extLst>
            </p:cNvPr>
            <p:cNvSpPr/>
            <p:nvPr/>
          </p:nvSpPr>
          <p:spPr>
            <a:xfrm>
              <a:off x="-305" y="607"/>
              <a:ext cx="2491132" cy="1942616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53984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/>
          <p:nvPr/>
        </p:nvSpPr>
        <p:spPr>
          <a:xfrm>
            <a:off x="4098137" y="6446185"/>
            <a:ext cx="946785" cy="20320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200" spc="-10" dirty="0">
                <a:solidFill>
                  <a:srgbClr val="8A8A8A"/>
                </a:solidFill>
                <a:latin typeface="Trebuchet MS"/>
                <a:cs typeface="Trebuchet MS"/>
              </a:rPr>
              <a:t>Introduction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848360">
              <a:lnSpc>
                <a:spcPct val="100000"/>
              </a:lnSpc>
              <a:spcBef>
                <a:spcPts val="10"/>
              </a:spcBef>
            </a:pPr>
            <a:r>
              <a:rPr sz="1200" spc="60" dirty="0">
                <a:solidFill>
                  <a:srgbClr val="8A8A8A"/>
                </a:solidFill>
                <a:latin typeface="Trebuchet MS"/>
                <a:cs typeface="Trebuchet MS"/>
              </a:rPr>
              <a:t>1-</a:t>
            </a:r>
            <a:fld id="{81D60167-4931-47E6-BA6A-407CBD079E47}" type="slidenum">
              <a:rPr sz="1200" spc="85" dirty="0">
                <a:solidFill>
                  <a:srgbClr val="8A8A8A"/>
                </a:solidFill>
                <a:latin typeface="Trebuchet MS"/>
                <a:cs typeface="Trebuchet MS"/>
              </a:rPr>
              <a:t>2</a:t>
            </a:fld>
            <a:endParaRPr sz="1200">
              <a:latin typeface="Trebuchet MS"/>
              <a:cs typeface="Trebuchet MS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4976" y="129502"/>
            <a:ext cx="6762115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14984">
              <a:lnSpc>
                <a:spcPct val="100000"/>
              </a:lnSpc>
              <a:spcBef>
                <a:spcPts val="100"/>
              </a:spcBef>
            </a:pPr>
            <a:r>
              <a:rPr b="1" u="none" spc="31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b="1" u="none" spc="8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u="none" spc="16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</a:t>
            </a:r>
            <a:r>
              <a:rPr b="1" u="none" spc="9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u="none" spc="29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</a:t>
            </a:r>
            <a:r>
              <a:rPr b="1" u="none" spc="28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Networks</a:t>
            </a:r>
            <a:r>
              <a:rPr b="1" u="none" spc="6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u="none" spc="31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b="1" u="none" spc="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u="none" spc="21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b="1" u="none" spc="8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u="none" spc="16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9823" y="1348816"/>
            <a:ext cx="18332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i="1" spc="15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</a:t>
            </a:r>
            <a:r>
              <a:rPr sz="3200" i="1" spc="55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i="1" spc="12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0819" y="2612428"/>
            <a:ext cx="1327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0819" y="3352584"/>
            <a:ext cx="1327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5419" y="1883422"/>
            <a:ext cx="3253740" cy="260159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72745" marR="720725" indent="-335280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372745" algn="l"/>
              </a:tabLst>
            </a:pPr>
            <a:r>
              <a:rPr sz="24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“feel”</a:t>
            </a:r>
            <a:r>
              <a:rPr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terminology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2745">
              <a:lnSpc>
                <a:spcPts val="2735"/>
              </a:lnSpc>
              <a:spcBef>
                <a:spcPts val="325"/>
              </a:spcBef>
            </a:pPr>
            <a:r>
              <a:rPr sz="2400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depth,</a:t>
            </a:r>
            <a:r>
              <a:rPr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2745">
              <a:lnSpc>
                <a:spcPts val="2735"/>
              </a:lnSpc>
            </a:pP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later</a:t>
            </a:r>
            <a:r>
              <a:rPr sz="2400" i="1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2745">
              <a:lnSpc>
                <a:spcPct val="100000"/>
              </a:lnSpc>
              <a:spcBef>
                <a:spcPts val="359"/>
              </a:spcBef>
            </a:pPr>
            <a:r>
              <a:rPr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approach: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73430" marR="177165" indent="-278765">
              <a:lnSpc>
                <a:spcPts val="2590"/>
              </a:lnSpc>
              <a:spcBef>
                <a:spcPts val="595"/>
              </a:spcBef>
              <a:tabLst>
                <a:tab pos="773430" algn="l"/>
              </a:tabLst>
            </a:pPr>
            <a:r>
              <a:rPr sz="3075" spc="-75" baseline="54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3075" baseline="54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00" spc="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sz="24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92104" y="1832660"/>
            <a:ext cx="106045" cy="1308100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800" spc="-50" dirty="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800" spc="-50" dirty="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800" spc="-50" dirty="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92104" y="3633381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92104" y="4427181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92104" y="5219534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92104" y="6013335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01096" y="1320075"/>
            <a:ext cx="4775200" cy="505206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3200" i="1" spc="13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r>
              <a:rPr sz="3200" spc="13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7185" marR="1352550">
              <a:lnSpc>
                <a:spcPct val="116599"/>
              </a:lnSpc>
              <a:spcBef>
                <a:spcPts val="10"/>
              </a:spcBef>
            </a:pPr>
            <a:r>
              <a:rPr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what’s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Internet? </a:t>
            </a:r>
            <a:r>
              <a:rPr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what’s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protocol?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7185" marR="5080">
              <a:lnSpc>
                <a:spcPct val="100000"/>
              </a:lnSpc>
              <a:spcBef>
                <a:spcPts val="490"/>
              </a:spcBef>
            </a:pPr>
            <a:r>
              <a:rPr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edge;</a:t>
            </a:r>
            <a:r>
              <a:rPr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Hosts,</a:t>
            </a:r>
            <a:r>
              <a:rPr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net,</a:t>
            </a:r>
            <a:r>
              <a:rPr sz="24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</a:t>
            </a:r>
            <a:r>
              <a:rPr sz="24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7185" marR="81280" algn="just">
              <a:lnSpc>
                <a:spcPct val="108500"/>
              </a:lnSpc>
              <a:spcBef>
                <a:spcPts val="235"/>
              </a:spcBef>
            </a:pPr>
            <a:r>
              <a:rPr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core:</a:t>
            </a:r>
            <a:r>
              <a:rPr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Packet/Circuit </a:t>
            </a:r>
            <a:r>
              <a:rPr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switching,</a:t>
            </a:r>
            <a:r>
              <a:rPr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</a:t>
            </a:r>
            <a:r>
              <a:rPr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Performance: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Loss,</a:t>
            </a:r>
            <a:r>
              <a:rPr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Delay,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7185">
              <a:lnSpc>
                <a:spcPct val="100000"/>
              </a:lnSpc>
            </a:pPr>
            <a:r>
              <a:rPr sz="24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7185" marR="850265">
              <a:lnSpc>
                <a:spcPct val="100000"/>
              </a:lnSpc>
              <a:spcBef>
                <a:spcPts val="480"/>
              </a:spcBef>
            </a:pPr>
            <a:r>
              <a:rPr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</a:t>
            </a:r>
            <a:r>
              <a:rPr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layers,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</a:t>
            </a:r>
            <a:r>
              <a:rPr sz="2400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7185">
              <a:lnSpc>
                <a:spcPct val="100000"/>
              </a:lnSpc>
              <a:spcBef>
                <a:spcPts val="490"/>
              </a:spcBef>
            </a:pPr>
            <a:r>
              <a:rPr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B5039-493C-A19C-D8A1-EC73610FB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AutoShape 1">
            <a:extLst>
              <a:ext uri="{FF2B5EF4-FFF2-40B4-BE49-F238E27FC236}">
                <a16:creationId xmlns:a16="http://schemas.microsoft.com/office/drawing/2014/main" id="{A0C9D34B-8C84-3A02-668C-32DFCC0D2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3450" y="5657850"/>
            <a:ext cx="2171700" cy="342900"/>
          </a:xfrm>
          <a:custGeom>
            <a:avLst/>
            <a:gdLst>
              <a:gd name="G0" fmla="+- 8044 0 0"/>
              <a:gd name="G1" fmla="+- 127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7500" tIns="35100" rIns="67500" bIns="35100"/>
          <a:lstStyle>
            <a:lvl1pPr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9426575" algn="l"/>
                <a:tab pos="9875838" algn="l"/>
                <a:tab pos="10325100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9426575" algn="l"/>
                <a:tab pos="9875838" algn="l"/>
                <a:tab pos="10325100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9426575" algn="l"/>
                <a:tab pos="9875838" algn="l"/>
                <a:tab pos="10325100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9426575" algn="l"/>
                <a:tab pos="9875838" algn="l"/>
                <a:tab pos="10325100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9426575" algn="l"/>
                <a:tab pos="9875838" algn="l"/>
                <a:tab pos="10325100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9426575" algn="l"/>
                <a:tab pos="9875838" algn="l"/>
                <a:tab pos="10325100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9426575" algn="l"/>
                <a:tab pos="9875838" algn="l"/>
                <a:tab pos="10325100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9426575" algn="l"/>
                <a:tab pos="9875838" algn="l"/>
                <a:tab pos="10325100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9426575" algn="l"/>
                <a:tab pos="9875838" algn="l"/>
                <a:tab pos="10325100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r">
              <a:lnSpc>
                <a:spcPct val="100000"/>
              </a:lnSpc>
              <a:buClrTx/>
              <a:buFontTx/>
              <a:buNone/>
            </a:pPr>
            <a:r>
              <a:rPr lang="en-IN" altLang="en-US" sz="1050" dirty="0">
                <a:latin typeface="Comic Sans MS" panose="030F0702030302020204" pitchFamily="66" charset="0"/>
                <a:cs typeface="DejaVu Sans" panose="020B0603030804020204" pitchFamily="34" charset="0"/>
              </a:rPr>
              <a:t> </a:t>
            </a:r>
          </a:p>
        </p:txBody>
      </p:sp>
      <p:sp>
        <p:nvSpPr>
          <p:cNvPr id="12291" name="AutoShape 3">
            <a:extLst>
              <a:ext uri="{FF2B5EF4-FFF2-40B4-BE49-F238E27FC236}">
                <a16:creationId xmlns:a16="http://schemas.microsoft.com/office/drawing/2014/main" id="{10AEE783-FF25-EDFE-E57B-2657F86A56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7350" y="2455070"/>
            <a:ext cx="5829300" cy="1102519"/>
          </a:xfrm>
          <a:custGeom>
            <a:avLst/>
            <a:gdLst>
              <a:gd name="G0" fmla="+- 21590 0 0"/>
              <a:gd name="G1" fmla="+- 4083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7500" tIns="33750" rIns="67500" bIns="33750" anchor="ctr"/>
          <a:lstStyle>
            <a:lvl1pPr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9426575" algn="l"/>
                <a:tab pos="9875838" algn="l"/>
                <a:tab pos="10325100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9426575" algn="l"/>
                <a:tab pos="9875838" algn="l"/>
                <a:tab pos="10325100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9426575" algn="l"/>
                <a:tab pos="9875838" algn="l"/>
                <a:tab pos="10325100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9426575" algn="l"/>
                <a:tab pos="9875838" algn="l"/>
                <a:tab pos="10325100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9426575" algn="l"/>
                <a:tab pos="9875838" algn="l"/>
                <a:tab pos="10325100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9426575" algn="l"/>
                <a:tab pos="9875838" algn="l"/>
                <a:tab pos="10325100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9426575" algn="l"/>
                <a:tab pos="9875838" algn="l"/>
                <a:tab pos="10325100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9426575" algn="l"/>
                <a:tab pos="9875838" algn="l"/>
                <a:tab pos="10325100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1325" algn="l"/>
                <a:tab pos="890588" algn="l"/>
                <a:tab pos="1339850" algn="l"/>
                <a:tab pos="1789113" algn="l"/>
                <a:tab pos="2238375" algn="l"/>
                <a:tab pos="2687638" algn="l"/>
                <a:tab pos="3136900" algn="l"/>
                <a:tab pos="3586163" algn="l"/>
                <a:tab pos="4035425" algn="l"/>
                <a:tab pos="4484688" algn="l"/>
                <a:tab pos="4933950" algn="l"/>
                <a:tab pos="5383213" algn="l"/>
                <a:tab pos="5832475" algn="l"/>
                <a:tab pos="6281738" algn="l"/>
                <a:tab pos="6731000" algn="l"/>
                <a:tab pos="7180263" algn="l"/>
                <a:tab pos="7629525" algn="l"/>
                <a:tab pos="8078788" algn="l"/>
                <a:tab pos="8528050" algn="l"/>
                <a:tab pos="8977313" algn="l"/>
                <a:tab pos="9426575" algn="l"/>
                <a:tab pos="9875838" algn="l"/>
                <a:tab pos="10325100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lnSpc>
                <a:spcPct val="100000"/>
              </a:lnSpc>
              <a:buClrTx/>
              <a:buFontTx/>
              <a:buNone/>
            </a:pPr>
            <a:endParaRPr lang="en-IN" altLang="en-US" sz="3000" u="sng" dirty="0">
              <a:solidFill>
                <a:srgbClr val="3333CC"/>
              </a:solidFill>
              <a:latin typeface="Comic Sans MS" panose="030F0702030302020204" pitchFamily="66" charset="0"/>
              <a:cs typeface="DejaVu Sans" panose="020B0603030804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4B77379-46D3-1054-B306-1B92654C7986}"/>
              </a:ext>
            </a:extLst>
          </p:cNvPr>
          <p:cNvSpPr txBox="1">
            <a:spLocks/>
          </p:cNvSpPr>
          <p:nvPr/>
        </p:nvSpPr>
        <p:spPr>
          <a:xfrm>
            <a:off x="1143000" y="2286000"/>
            <a:ext cx="6858000" cy="2686050"/>
          </a:xfrm>
          <a:prstGeom prst="rect">
            <a:avLst/>
          </a:prstGeom>
        </p:spPr>
        <p:txBody>
          <a:bodyPr/>
          <a:lstStyle>
            <a:lvl1pPr marL="342900" indent="-342900" algn="l" defTabSz="449263" rtl="0" fontAlgn="base" hangingPunct="0">
              <a:lnSpc>
                <a:spcPct val="93000"/>
              </a:lnSpc>
              <a:spcBef>
                <a:spcPts val="14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fontAlgn="base" hangingPunct="0">
              <a:lnSpc>
                <a:spcPct val="93000"/>
              </a:lnSpc>
              <a:spcBef>
                <a:spcPts val="11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fontAlgn="base" hangingPunct="0">
              <a:lnSpc>
                <a:spcPct val="93000"/>
              </a:lnSpc>
              <a:spcBef>
                <a:spcPts val="8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fontAlgn="base" hangingPunct="0">
              <a:lnSpc>
                <a:spcPct val="93000"/>
              </a:lnSpc>
              <a:spcBef>
                <a:spcPts val="57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fontAlgn="base" hangingPunct="0">
              <a:lnSpc>
                <a:spcPct val="93000"/>
              </a:lnSpc>
              <a:spcBef>
                <a:spcPts val="2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itchFamily="18"/>
                <a:cs typeface="Times New Roman" pitchFamily="18"/>
              </a:rPr>
              <a:t>A </a:t>
            </a:r>
            <a:r>
              <a:rPr lang="en-US" sz="1800" b="1" dirty="0">
                <a:latin typeface="Times New Roman" pitchFamily="18"/>
                <a:cs typeface="Times New Roman" pitchFamily="18"/>
              </a:rPr>
              <a:t>computer network </a:t>
            </a:r>
            <a:r>
              <a:rPr lang="en-US" sz="1800" dirty="0">
                <a:latin typeface="Times New Roman" pitchFamily="18"/>
                <a:cs typeface="Times New Roman" pitchFamily="18"/>
              </a:rPr>
              <a:t>is a group of interconnected devices (such as computers, servers, and routers) that communicate and share resources using wired or wireless connections.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itchFamily="18"/>
                <a:cs typeface="Times New Roman" pitchFamily="18"/>
              </a:rPr>
              <a:t>These networks allow data exchange, collaboration, and access to shared resources like printers, files, and the internet.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8A11E6-7E08-5C71-B01C-2F4EC617EE88}"/>
              </a:ext>
            </a:extLst>
          </p:cNvPr>
          <p:cNvSpPr txBox="1"/>
          <p:nvPr/>
        </p:nvSpPr>
        <p:spPr>
          <a:xfrm>
            <a:off x="1897380" y="1443990"/>
            <a:ext cx="43586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</a:t>
            </a:r>
          </a:p>
        </p:txBody>
      </p:sp>
    </p:spTree>
    <p:extLst>
      <p:ext uri="{BB962C8B-B14F-4D97-AF65-F5344CB8AC3E}">
        <p14:creationId xmlns:p14="http://schemas.microsoft.com/office/powerpoint/2010/main" val="128005906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32F83-4EFC-CCB1-36D3-B3F995374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DE722-27C4-3346-2941-A10D1EA62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387" y="914401"/>
            <a:ext cx="7406640" cy="787064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Networking</a:t>
            </a:r>
            <a:r>
              <a:rPr lang="en-US" spc="-68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pc="-38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8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“Plumbing”</a:t>
            </a:r>
            <a:endParaRPr lang="en-IN" dirty="0">
              <a:solidFill>
                <a:srgbClr val="EE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8B26F5A-8D10-0A29-796E-4BD78A7DA3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D1923F6-4467-4783-85AE-1FBF86AEC45F}" type="datetime1">
              <a:rPr lang="en-IN" smtClean="0"/>
              <a:pPr/>
              <a:t>18-08-2025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C5C604-B542-FABA-8452-BF09BF17D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7F1D3-54DA-4A0E-9542-9C59510E6D08}" type="slidenum">
              <a:rPr lang="en-IN" smtClean="0"/>
              <a:pPr/>
              <a:t>4</a:t>
            </a:fld>
            <a:endParaRPr lang="en-IN"/>
          </a:p>
        </p:txBody>
      </p:sp>
      <p:grpSp>
        <p:nvGrpSpPr>
          <p:cNvPr id="7" name="Group 18" descr="&quot;&quot;">
            <a:extLst>
              <a:ext uri="{FF2B5EF4-FFF2-40B4-BE49-F238E27FC236}">
                <a16:creationId xmlns:a16="http://schemas.microsoft.com/office/drawing/2014/main" id="{6CE527F3-7C92-3F95-A024-D592AAC42A6B}"/>
              </a:ext>
            </a:extLst>
          </p:cNvPr>
          <p:cNvGrpSpPr/>
          <p:nvPr/>
        </p:nvGrpSpPr>
        <p:grpSpPr bwMode="auto">
          <a:xfrm rot="10800000" flipH="1">
            <a:off x="0" y="4956572"/>
            <a:ext cx="2533650" cy="1901428"/>
            <a:chOff x="-305" y="-1"/>
            <a:chExt cx="3832880" cy="2876136"/>
          </a:xfrm>
        </p:grpSpPr>
        <p:sp>
          <p:nvSpPr>
            <p:cNvPr id="8" name="Freeform: Shape 7" descr="&quot;&quot;">
              <a:extLst>
                <a:ext uri="{FF2B5EF4-FFF2-40B4-BE49-F238E27FC236}">
                  <a16:creationId xmlns:a16="http://schemas.microsoft.com/office/drawing/2014/main" id="{03242F2E-6B4B-3126-B754-B0ADD1BC82F2}"/>
                </a:ext>
              </a:extLst>
            </p:cNvPr>
            <p:cNvSpPr/>
            <p:nvPr/>
          </p:nvSpPr>
          <p:spPr>
            <a:xfrm>
              <a:off x="-27323" y="-1"/>
              <a:ext cx="3816670" cy="2652817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Freeform: Shape 8" descr="&quot;&quot;">
              <a:extLst>
                <a:ext uri="{FF2B5EF4-FFF2-40B4-BE49-F238E27FC236}">
                  <a16:creationId xmlns:a16="http://schemas.microsoft.com/office/drawing/2014/main" id="{A2AE7929-3ED7-2239-8912-E74609AB9A6F}"/>
                </a:ext>
              </a:extLst>
            </p:cNvPr>
            <p:cNvSpPr/>
            <p:nvPr/>
          </p:nvSpPr>
          <p:spPr>
            <a:xfrm>
              <a:off x="-27323" y="-1"/>
              <a:ext cx="3816670" cy="2652817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0" name="Freeform: Shape 9" descr="&quot;&quot;">
              <a:extLst>
                <a:ext uri="{FF2B5EF4-FFF2-40B4-BE49-F238E27FC236}">
                  <a16:creationId xmlns:a16="http://schemas.microsoft.com/office/drawing/2014/main" id="{2AC96FD8-4741-5A5B-F48C-E79A88898E4A}"/>
                </a:ext>
              </a:extLst>
            </p:cNvPr>
            <p:cNvSpPr/>
            <p:nvPr/>
          </p:nvSpPr>
          <p:spPr>
            <a:xfrm>
              <a:off x="-27323" y="-27016"/>
              <a:ext cx="3816670" cy="2676230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1" name="Freeform: Shape 10" descr="&quot;&quot;">
              <a:extLst>
                <a:ext uri="{FF2B5EF4-FFF2-40B4-BE49-F238E27FC236}">
                  <a16:creationId xmlns:a16="http://schemas.microsoft.com/office/drawing/2014/main" id="{28FFCA43-29D6-17DA-DD22-49A5A0D8A4DA}"/>
                </a:ext>
              </a:extLst>
            </p:cNvPr>
            <p:cNvSpPr/>
            <p:nvPr/>
          </p:nvSpPr>
          <p:spPr>
            <a:xfrm>
              <a:off x="-305" y="-1"/>
              <a:ext cx="383288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2" name="Group 12" descr="&quot;&quot;">
            <a:extLst>
              <a:ext uri="{FF2B5EF4-FFF2-40B4-BE49-F238E27FC236}">
                <a16:creationId xmlns:a16="http://schemas.microsoft.com/office/drawing/2014/main" id="{CF286468-815F-DC47-16C4-BCEB158E8E16}"/>
              </a:ext>
            </a:extLst>
          </p:cNvPr>
          <p:cNvGrpSpPr/>
          <p:nvPr/>
        </p:nvGrpSpPr>
        <p:grpSpPr bwMode="auto">
          <a:xfrm flipH="1">
            <a:off x="7258050" y="0"/>
            <a:ext cx="1885950" cy="1631156"/>
            <a:chOff x="-305" y="-4155"/>
            <a:chExt cx="2514948" cy="2174333"/>
          </a:xfrm>
        </p:grpSpPr>
        <p:sp>
          <p:nvSpPr>
            <p:cNvPr id="13" name="Freeform: Shape 12" descr="&quot;&quot;">
              <a:extLst>
                <a:ext uri="{FF2B5EF4-FFF2-40B4-BE49-F238E27FC236}">
                  <a16:creationId xmlns:a16="http://schemas.microsoft.com/office/drawing/2014/main" id="{E9588833-78A7-8F14-0514-DB86B4F7AD30}"/>
                </a:ext>
              </a:extLst>
            </p:cNvPr>
            <p:cNvSpPr/>
            <p:nvPr/>
          </p:nvSpPr>
          <p:spPr>
            <a:xfrm>
              <a:off x="-305" y="607"/>
              <a:ext cx="2514948" cy="2169571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4" name="Freeform: Shape 13" descr="&quot;&quot;">
              <a:extLst>
                <a:ext uri="{FF2B5EF4-FFF2-40B4-BE49-F238E27FC236}">
                  <a16:creationId xmlns:a16="http://schemas.microsoft.com/office/drawing/2014/main" id="{979B9456-71CA-3631-63B5-5968E0B87AB9}"/>
                </a:ext>
              </a:extLst>
            </p:cNvPr>
            <p:cNvSpPr/>
            <p:nvPr/>
          </p:nvSpPr>
          <p:spPr>
            <a:xfrm>
              <a:off x="-305" y="-4155"/>
              <a:ext cx="2492720" cy="1947378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Freeform: Shape 14" descr="&quot;&quot;">
              <a:extLst>
                <a:ext uri="{FF2B5EF4-FFF2-40B4-BE49-F238E27FC236}">
                  <a16:creationId xmlns:a16="http://schemas.microsoft.com/office/drawing/2014/main" id="{68A287F2-A8CD-2DCC-1E01-74C4871C26D6}"/>
                </a:ext>
              </a:extLst>
            </p:cNvPr>
            <p:cNvSpPr/>
            <p:nvPr/>
          </p:nvSpPr>
          <p:spPr>
            <a:xfrm>
              <a:off x="-305" y="607"/>
              <a:ext cx="2500658" cy="1972770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600"/>
            </a:p>
          </p:txBody>
        </p:sp>
        <p:sp>
          <p:nvSpPr>
            <p:cNvPr id="16" name="Freeform: Shape 15" descr="&quot;&quot;">
              <a:extLst>
                <a:ext uri="{FF2B5EF4-FFF2-40B4-BE49-F238E27FC236}">
                  <a16:creationId xmlns:a16="http://schemas.microsoft.com/office/drawing/2014/main" id="{9339883E-6D88-44F1-99D1-D3214CA3A145}"/>
                </a:ext>
              </a:extLst>
            </p:cNvPr>
            <p:cNvSpPr/>
            <p:nvPr/>
          </p:nvSpPr>
          <p:spPr>
            <a:xfrm>
              <a:off x="-305" y="607"/>
              <a:ext cx="2491132" cy="1942616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</p:grpSp>
      <p:sp>
        <p:nvSpPr>
          <p:cNvPr id="19" name="object 9">
            <a:extLst>
              <a:ext uri="{FF2B5EF4-FFF2-40B4-BE49-F238E27FC236}">
                <a16:creationId xmlns:a16="http://schemas.microsoft.com/office/drawing/2014/main" id="{47C12638-8C87-8E7F-0C2F-A0ED3B7D9EE7}"/>
              </a:ext>
            </a:extLst>
          </p:cNvPr>
          <p:cNvSpPr txBox="1"/>
          <p:nvPr/>
        </p:nvSpPr>
        <p:spPr>
          <a:xfrm>
            <a:off x="234544" y="1971484"/>
            <a:ext cx="5211510" cy="2630848"/>
          </a:xfrm>
          <a:prstGeom prst="rect">
            <a:avLst/>
          </a:prstGeom>
        </p:spPr>
        <p:txBody>
          <a:bodyPr vert="horz" wrap="square" lIns="0" tIns="55245" rIns="0" bIns="0" rtlCol="0">
            <a:spAutoFit/>
          </a:bodyPr>
          <a:lstStyle/>
          <a:p>
            <a:pPr marL="267653" indent="-258128">
              <a:spcBef>
                <a:spcPts val="435"/>
              </a:spcBef>
              <a:buClr>
                <a:srgbClr val="063DE8"/>
              </a:buClr>
              <a:buSzPct val="75000"/>
              <a:buFont typeface="Segoe UI Symbol"/>
              <a:buChar char="❑"/>
              <a:tabLst>
                <a:tab pos="267653" algn="l"/>
              </a:tabLst>
            </a:pPr>
            <a:r>
              <a:rPr dirty="0">
                <a:latin typeface="Times New Roman"/>
                <a:cs typeface="Times New Roman"/>
              </a:rPr>
              <a:t>Networking</a:t>
            </a:r>
            <a:r>
              <a:rPr spc="-11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is</a:t>
            </a:r>
            <a:r>
              <a:rPr spc="-38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“plumbing”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spc="-8" dirty="0">
                <a:latin typeface="Times New Roman"/>
                <a:cs typeface="Times New Roman"/>
              </a:rPr>
              <a:t>computing</a:t>
            </a:r>
            <a:endParaRPr dirty="0">
              <a:latin typeface="Times New Roman"/>
              <a:cs typeface="Times New Roman"/>
            </a:endParaRPr>
          </a:p>
          <a:p>
            <a:pPr marL="267653" indent="-258128">
              <a:spcBef>
                <a:spcPts val="360"/>
              </a:spcBef>
              <a:buClr>
                <a:srgbClr val="063DE8"/>
              </a:buClr>
              <a:buSzPct val="75000"/>
              <a:buFont typeface="Segoe UI Symbol"/>
              <a:buChar char="❑"/>
              <a:tabLst>
                <a:tab pos="267653" algn="l"/>
              </a:tabLst>
            </a:pPr>
            <a:r>
              <a:rPr dirty="0">
                <a:latin typeface="Times New Roman"/>
                <a:cs typeface="Times New Roman"/>
              </a:rPr>
              <a:t>Almost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all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areas</a:t>
            </a:r>
            <a:r>
              <a:rPr spc="4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-23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computing</a:t>
            </a:r>
            <a:r>
              <a:rPr spc="-34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are</a:t>
            </a:r>
            <a:r>
              <a:rPr spc="-8" dirty="0">
                <a:latin typeface="Times New Roman"/>
                <a:cs typeface="Times New Roman"/>
              </a:rPr>
              <a:t> network-based.</a:t>
            </a:r>
            <a:endParaRPr dirty="0">
              <a:latin typeface="Times New Roman"/>
              <a:cs typeface="Times New Roman"/>
            </a:endParaRPr>
          </a:p>
          <a:p>
            <a:pPr marL="566738" lvl="1" indent="-214313">
              <a:spcBef>
                <a:spcPts val="379"/>
              </a:spcBef>
              <a:buSzPct val="66666"/>
              <a:buFont typeface="Segoe UI Symbol"/>
              <a:buChar char="⮚"/>
              <a:tabLst>
                <a:tab pos="566738" algn="l"/>
              </a:tabLst>
            </a:pPr>
            <a:r>
              <a:rPr dirty="0">
                <a:latin typeface="Times New Roman"/>
                <a:cs typeface="Times New Roman"/>
              </a:rPr>
              <a:t>Distributed</a:t>
            </a:r>
            <a:r>
              <a:rPr spc="-64" dirty="0">
                <a:latin typeface="Times New Roman"/>
                <a:cs typeface="Times New Roman"/>
              </a:rPr>
              <a:t> </a:t>
            </a:r>
            <a:r>
              <a:rPr spc="-8" dirty="0">
                <a:latin typeface="Times New Roman"/>
                <a:cs typeface="Times New Roman"/>
              </a:rPr>
              <a:t>computing</a:t>
            </a:r>
            <a:endParaRPr dirty="0">
              <a:latin typeface="Times New Roman"/>
              <a:cs typeface="Times New Roman"/>
            </a:endParaRPr>
          </a:p>
          <a:p>
            <a:pPr marL="566738" lvl="1" indent="-214313">
              <a:spcBef>
                <a:spcPts val="375"/>
              </a:spcBef>
              <a:buSzPct val="66666"/>
              <a:buFont typeface="Segoe UI Symbol"/>
              <a:buChar char="⮚"/>
              <a:tabLst>
                <a:tab pos="566738" algn="l"/>
              </a:tabLst>
            </a:pPr>
            <a:r>
              <a:rPr dirty="0">
                <a:latin typeface="Times New Roman"/>
                <a:cs typeface="Times New Roman"/>
              </a:rPr>
              <a:t>Big</a:t>
            </a:r>
            <a:r>
              <a:rPr spc="-23" dirty="0">
                <a:latin typeface="Times New Roman"/>
                <a:cs typeface="Times New Roman"/>
              </a:rPr>
              <a:t> </a:t>
            </a:r>
            <a:r>
              <a:rPr spc="-15" dirty="0">
                <a:latin typeface="Times New Roman"/>
                <a:cs typeface="Times New Roman"/>
              </a:rPr>
              <a:t>Data</a:t>
            </a:r>
            <a:endParaRPr dirty="0">
              <a:latin typeface="Times New Roman"/>
              <a:cs typeface="Times New Roman"/>
            </a:endParaRPr>
          </a:p>
          <a:p>
            <a:pPr marL="566738" lvl="1" indent="-214313">
              <a:spcBef>
                <a:spcPts val="379"/>
              </a:spcBef>
              <a:buSzPct val="66666"/>
              <a:buFont typeface="Segoe UI Symbol"/>
              <a:buChar char="⮚"/>
              <a:tabLst>
                <a:tab pos="566738" algn="l"/>
              </a:tabLst>
            </a:pPr>
            <a:r>
              <a:rPr dirty="0">
                <a:latin typeface="Times New Roman"/>
                <a:cs typeface="Times New Roman"/>
              </a:rPr>
              <a:t>Cloud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spc="-8" dirty="0">
                <a:latin typeface="Times New Roman"/>
                <a:cs typeface="Times New Roman"/>
              </a:rPr>
              <a:t>Computing</a:t>
            </a:r>
            <a:endParaRPr dirty="0">
              <a:latin typeface="Times New Roman"/>
              <a:cs typeface="Times New Roman"/>
            </a:endParaRPr>
          </a:p>
          <a:p>
            <a:pPr marL="566738" lvl="1" indent="-214313">
              <a:spcBef>
                <a:spcPts val="379"/>
              </a:spcBef>
              <a:buSzPct val="66666"/>
              <a:buFont typeface="Segoe UI Symbol"/>
              <a:buChar char="⮚"/>
              <a:tabLst>
                <a:tab pos="566738" algn="l"/>
              </a:tabLst>
            </a:pPr>
            <a:r>
              <a:rPr dirty="0">
                <a:latin typeface="Times New Roman"/>
                <a:cs typeface="Times New Roman"/>
              </a:rPr>
              <a:t>Internet</a:t>
            </a:r>
            <a:r>
              <a:rPr spc="-11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-38" dirty="0">
                <a:latin typeface="Times New Roman"/>
                <a:cs typeface="Times New Roman"/>
              </a:rPr>
              <a:t> </a:t>
            </a:r>
            <a:r>
              <a:rPr spc="-8" dirty="0">
                <a:latin typeface="Times New Roman"/>
                <a:cs typeface="Times New Roman"/>
              </a:rPr>
              <a:t>Things</a:t>
            </a:r>
            <a:endParaRPr dirty="0">
              <a:latin typeface="Times New Roman"/>
              <a:cs typeface="Times New Roman"/>
            </a:endParaRPr>
          </a:p>
          <a:p>
            <a:pPr marL="566738" lvl="1" indent="-214313">
              <a:spcBef>
                <a:spcPts val="379"/>
              </a:spcBef>
              <a:buSzPct val="66666"/>
              <a:buFont typeface="Segoe UI Symbol"/>
              <a:buChar char="⮚"/>
              <a:tabLst>
                <a:tab pos="566738" algn="l"/>
              </a:tabLst>
            </a:pPr>
            <a:r>
              <a:rPr dirty="0">
                <a:latin typeface="Times New Roman"/>
                <a:cs typeface="Times New Roman"/>
              </a:rPr>
              <a:t>Smart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spc="-8" dirty="0">
                <a:latin typeface="Times New Roman"/>
                <a:cs typeface="Times New Roman"/>
              </a:rPr>
              <a:t>Cities</a:t>
            </a:r>
            <a:endParaRPr dirty="0">
              <a:latin typeface="Times New Roman"/>
              <a:cs typeface="Times New Roman"/>
            </a:endParaRPr>
          </a:p>
          <a:p>
            <a:pPr marL="267653" indent="-258128">
              <a:spcBef>
                <a:spcPts val="360"/>
              </a:spcBef>
              <a:buClr>
                <a:srgbClr val="063DE8"/>
              </a:buClr>
              <a:buSzPct val="75000"/>
              <a:buFont typeface="Segoe UI Symbol"/>
              <a:buChar char="❑"/>
              <a:tabLst>
                <a:tab pos="267653" algn="l"/>
              </a:tabLst>
            </a:pPr>
            <a:r>
              <a:rPr dirty="0">
                <a:latin typeface="Times New Roman"/>
                <a:cs typeface="Times New Roman"/>
              </a:rPr>
              <a:t>Networking</a:t>
            </a:r>
            <a:r>
              <a:rPr spc="-8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is</a:t>
            </a:r>
            <a:r>
              <a:rPr spc="-38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backbone</a:t>
            </a:r>
            <a:r>
              <a:rPr spc="-11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-26" dirty="0">
                <a:latin typeface="Times New Roman"/>
                <a:cs typeface="Times New Roman"/>
              </a:rPr>
              <a:t> </a:t>
            </a:r>
            <a:r>
              <a:rPr spc="-8" dirty="0">
                <a:latin typeface="Times New Roman"/>
                <a:cs typeface="Times New Roman"/>
              </a:rPr>
              <a:t>computing.</a:t>
            </a:r>
            <a:endParaRPr dirty="0">
              <a:latin typeface="Times New Roman"/>
              <a:cs typeface="Times New Roman"/>
            </a:endParaRPr>
          </a:p>
        </p:txBody>
      </p:sp>
      <p:grpSp>
        <p:nvGrpSpPr>
          <p:cNvPr id="20" name="object 13">
            <a:extLst>
              <a:ext uri="{FF2B5EF4-FFF2-40B4-BE49-F238E27FC236}">
                <a16:creationId xmlns:a16="http://schemas.microsoft.com/office/drawing/2014/main" id="{0A7F3517-706D-81C1-9554-7C1B52C2E29A}"/>
              </a:ext>
            </a:extLst>
          </p:cNvPr>
          <p:cNvGrpSpPr/>
          <p:nvPr/>
        </p:nvGrpSpPr>
        <p:grpSpPr>
          <a:xfrm>
            <a:off x="5486400" y="2251756"/>
            <a:ext cx="3048000" cy="2472643"/>
            <a:chOff x="5565647" y="2337816"/>
            <a:chExt cx="2993390" cy="2707005"/>
          </a:xfrm>
        </p:grpSpPr>
        <p:pic>
          <p:nvPicPr>
            <p:cNvPr id="21" name="object 14">
              <a:extLst>
                <a:ext uri="{FF2B5EF4-FFF2-40B4-BE49-F238E27FC236}">
                  <a16:creationId xmlns:a16="http://schemas.microsoft.com/office/drawing/2014/main" id="{586F1C95-2D16-9008-038F-2F1230A4B65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43016" y="3627119"/>
              <a:ext cx="1182623" cy="1219199"/>
            </a:xfrm>
            <a:prstGeom prst="rect">
              <a:avLst/>
            </a:prstGeom>
          </p:spPr>
        </p:pic>
        <p:pic>
          <p:nvPicPr>
            <p:cNvPr id="22" name="object 15">
              <a:extLst>
                <a:ext uri="{FF2B5EF4-FFF2-40B4-BE49-F238E27FC236}">
                  <a16:creationId xmlns:a16="http://schemas.microsoft.com/office/drawing/2014/main" id="{5DCD4921-09FE-AB68-CE1A-083CC58EC6C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38999" y="3627120"/>
              <a:ext cx="1280159" cy="1417319"/>
            </a:xfrm>
            <a:prstGeom prst="rect">
              <a:avLst/>
            </a:prstGeom>
          </p:spPr>
        </p:pic>
        <p:pic>
          <p:nvPicPr>
            <p:cNvPr id="23" name="object 16">
              <a:extLst>
                <a:ext uri="{FF2B5EF4-FFF2-40B4-BE49-F238E27FC236}">
                  <a16:creationId xmlns:a16="http://schemas.microsoft.com/office/drawing/2014/main" id="{0C30FAC8-4B5C-0181-3840-CE88BABB4E4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65647" y="2337816"/>
              <a:ext cx="2993135" cy="1289303"/>
            </a:xfrm>
            <a:prstGeom prst="rect">
              <a:avLst/>
            </a:prstGeom>
          </p:spPr>
        </p:pic>
        <p:pic>
          <p:nvPicPr>
            <p:cNvPr id="24" name="object 17">
              <a:extLst>
                <a:ext uri="{FF2B5EF4-FFF2-40B4-BE49-F238E27FC236}">
                  <a16:creationId xmlns:a16="http://schemas.microsoft.com/office/drawing/2014/main" id="{4C4CB614-C64C-F191-1B9E-F0EB8C5989B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38999" y="3627120"/>
              <a:ext cx="1280159" cy="14173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32299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A4AD5-A284-A594-F17E-488079637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64BE0-12D5-72CC-D018-5EE3F8E00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387" y="1209829"/>
            <a:ext cx="7406640" cy="49163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lang="en-US" spc="-60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9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endParaRPr lang="en-IN" dirty="0">
              <a:solidFill>
                <a:srgbClr val="EE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71BDF8C-41CE-7DDF-DAFF-1A3BF5EF68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D1923F6-4467-4783-85AE-1FBF86AEC45F}" type="datetime1">
              <a:rPr lang="en-IN" smtClean="0"/>
              <a:pPr/>
              <a:t>18-08-2025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05B7F5-D194-6CF3-109D-370D163C9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7F1D3-54DA-4A0E-9542-9C59510E6D08}" type="slidenum">
              <a:rPr lang="en-IN" smtClean="0"/>
              <a:pPr/>
              <a:t>5</a:t>
            </a:fld>
            <a:endParaRPr lang="en-IN"/>
          </a:p>
        </p:txBody>
      </p:sp>
      <p:grpSp>
        <p:nvGrpSpPr>
          <p:cNvPr id="7" name="Group 18" descr="&quot;&quot;">
            <a:extLst>
              <a:ext uri="{FF2B5EF4-FFF2-40B4-BE49-F238E27FC236}">
                <a16:creationId xmlns:a16="http://schemas.microsoft.com/office/drawing/2014/main" id="{956E4EC4-C458-F03C-C61C-726F56B67B09}"/>
              </a:ext>
            </a:extLst>
          </p:cNvPr>
          <p:cNvGrpSpPr/>
          <p:nvPr/>
        </p:nvGrpSpPr>
        <p:grpSpPr bwMode="auto">
          <a:xfrm rot="10800000" flipH="1">
            <a:off x="0" y="4956572"/>
            <a:ext cx="2533650" cy="1901428"/>
            <a:chOff x="-305" y="-1"/>
            <a:chExt cx="3832880" cy="2876136"/>
          </a:xfrm>
        </p:grpSpPr>
        <p:sp>
          <p:nvSpPr>
            <p:cNvPr id="8" name="Freeform: Shape 7" descr="&quot;&quot;">
              <a:extLst>
                <a:ext uri="{FF2B5EF4-FFF2-40B4-BE49-F238E27FC236}">
                  <a16:creationId xmlns:a16="http://schemas.microsoft.com/office/drawing/2014/main" id="{F5B73FDE-B526-931F-DF3D-A3C953BDA083}"/>
                </a:ext>
              </a:extLst>
            </p:cNvPr>
            <p:cNvSpPr/>
            <p:nvPr/>
          </p:nvSpPr>
          <p:spPr>
            <a:xfrm>
              <a:off x="-27323" y="-1"/>
              <a:ext cx="3816670" cy="2652817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Freeform: Shape 8" descr="&quot;&quot;">
              <a:extLst>
                <a:ext uri="{FF2B5EF4-FFF2-40B4-BE49-F238E27FC236}">
                  <a16:creationId xmlns:a16="http://schemas.microsoft.com/office/drawing/2014/main" id="{D47BBD39-0D84-375C-84A2-5D98B62DE5D2}"/>
                </a:ext>
              </a:extLst>
            </p:cNvPr>
            <p:cNvSpPr/>
            <p:nvPr/>
          </p:nvSpPr>
          <p:spPr>
            <a:xfrm>
              <a:off x="-27323" y="-1"/>
              <a:ext cx="3816670" cy="2652817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0" name="Freeform: Shape 9" descr="&quot;&quot;">
              <a:extLst>
                <a:ext uri="{FF2B5EF4-FFF2-40B4-BE49-F238E27FC236}">
                  <a16:creationId xmlns:a16="http://schemas.microsoft.com/office/drawing/2014/main" id="{88FE0BF9-25F6-252D-BC36-7F763E356E6D}"/>
                </a:ext>
              </a:extLst>
            </p:cNvPr>
            <p:cNvSpPr/>
            <p:nvPr/>
          </p:nvSpPr>
          <p:spPr>
            <a:xfrm>
              <a:off x="-27323" y="-27016"/>
              <a:ext cx="3816670" cy="2676230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1" name="Freeform: Shape 10" descr="&quot;&quot;">
              <a:extLst>
                <a:ext uri="{FF2B5EF4-FFF2-40B4-BE49-F238E27FC236}">
                  <a16:creationId xmlns:a16="http://schemas.microsoft.com/office/drawing/2014/main" id="{74C1C1F8-1C9F-AF56-6584-00B94B01C4E1}"/>
                </a:ext>
              </a:extLst>
            </p:cNvPr>
            <p:cNvSpPr/>
            <p:nvPr/>
          </p:nvSpPr>
          <p:spPr>
            <a:xfrm>
              <a:off x="-305" y="-1"/>
              <a:ext cx="383288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2" name="Group 12" descr="&quot;&quot;">
            <a:extLst>
              <a:ext uri="{FF2B5EF4-FFF2-40B4-BE49-F238E27FC236}">
                <a16:creationId xmlns:a16="http://schemas.microsoft.com/office/drawing/2014/main" id="{78E5F9D8-81E3-C647-8B41-CF6585000ADB}"/>
              </a:ext>
            </a:extLst>
          </p:cNvPr>
          <p:cNvGrpSpPr/>
          <p:nvPr/>
        </p:nvGrpSpPr>
        <p:grpSpPr bwMode="auto">
          <a:xfrm flipH="1">
            <a:off x="7258050" y="0"/>
            <a:ext cx="1885950" cy="1631156"/>
            <a:chOff x="-305" y="-4155"/>
            <a:chExt cx="2514948" cy="2174333"/>
          </a:xfrm>
        </p:grpSpPr>
        <p:sp>
          <p:nvSpPr>
            <p:cNvPr id="13" name="Freeform: Shape 12" descr="&quot;&quot;">
              <a:extLst>
                <a:ext uri="{FF2B5EF4-FFF2-40B4-BE49-F238E27FC236}">
                  <a16:creationId xmlns:a16="http://schemas.microsoft.com/office/drawing/2014/main" id="{F5C430AB-C893-3E41-6D73-AADA9656E142}"/>
                </a:ext>
              </a:extLst>
            </p:cNvPr>
            <p:cNvSpPr/>
            <p:nvPr/>
          </p:nvSpPr>
          <p:spPr>
            <a:xfrm>
              <a:off x="-305" y="607"/>
              <a:ext cx="2514948" cy="2169571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4" name="Freeform: Shape 13" descr="&quot;&quot;">
              <a:extLst>
                <a:ext uri="{FF2B5EF4-FFF2-40B4-BE49-F238E27FC236}">
                  <a16:creationId xmlns:a16="http://schemas.microsoft.com/office/drawing/2014/main" id="{4C67D7F0-68FA-32A6-BFE6-D9EB9A84049C}"/>
                </a:ext>
              </a:extLst>
            </p:cNvPr>
            <p:cNvSpPr/>
            <p:nvPr/>
          </p:nvSpPr>
          <p:spPr>
            <a:xfrm>
              <a:off x="-305" y="-4155"/>
              <a:ext cx="2492720" cy="1947378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Freeform: Shape 14" descr="&quot;&quot;">
              <a:extLst>
                <a:ext uri="{FF2B5EF4-FFF2-40B4-BE49-F238E27FC236}">
                  <a16:creationId xmlns:a16="http://schemas.microsoft.com/office/drawing/2014/main" id="{6880B1EB-B8FF-0523-93D0-BAE6FF9D30D6}"/>
                </a:ext>
              </a:extLst>
            </p:cNvPr>
            <p:cNvSpPr/>
            <p:nvPr/>
          </p:nvSpPr>
          <p:spPr>
            <a:xfrm>
              <a:off x="-305" y="607"/>
              <a:ext cx="2500658" cy="1972770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600"/>
            </a:p>
          </p:txBody>
        </p:sp>
        <p:sp>
          <p:nvSpPr>
            <p:cNvPr id="16" name="Freeform: Shape 15" descr="&quot;&quot;">
              <a:extLst>
                <a:ext uri="{FF2B5EF4-FFF2-40B4-BE49-F238E27FC236}">
                  <a16:creationId xmlns:a16="http://schemas.microsoft.com/office/drawing/2014/main" id="{1C4C2E8D-B1FB-8B00-DED6-AFFDCDA73133}"/>
                </a:ext>
              </a:extLst>
            </p:cNvPr>
            <p:cNvSpPr/>
            <p:nvPr/>
          </p:nvSpPr>
          <p:spPr>
            <a:xfrm>
              <a:off x="-305" y="607"/>
              <a:ext cx="2491132" cy="1942616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</p:grpSp>
      <p:sp>
        <p:nvSpPr>
          <p:cNvPr id="3" name="object 6">
            <a:extLst>
              <a:ext uri="{FF2B5EF4-FFF2-40B4-BE49-F238E27FC236}">
                <a16:creationId xmlns:a16="http://schemas.microsoft.com/office/drawing/2014/main" id="{69999DDD-07DB-2845-9983-1709C1F9827E}"/>
              </a:ext>
            </a:extLst>
          </p:cNvPr>
          <p:cNvSpPr txBox="1"/>
          <p:nvPr/>
        </p:nvSpPr>
        <p:spPr>
          <a:xfrm>
            <a:off x="234543" y="2117932"/>
            <a:ext cx="5565934" cy="3236142"/>
          </a:xfrm>
          <a:prstGeom prst="rect">
            <a:avLst/>
          </a:prstGeom>
        </p:spPr>
        <p:txBody>
          <a:bodyPr vert="horz" wrap="square" lIns="0" tIns="55245" rIns="0" bIns="0" rtlCol="0">
            <a:spAutoFit/>
          </a:bodyPr>
          <a:lstStyle/>
          <a:p>
            <a:pPr marL="267653" indent="-258128">
              <a:spcBef>
                <a:spcPts val="435"/>
              </a:spcBef>
              <a:buClr>
                <a:srgbClr val="063DE8"/>
              </a:buClr>
              <a:buSzPct val="75000"/>
              <a:buFont typeface="Segoe UI Symbol"/>
              <a:buChar char="❑"/>
              <a:tabLst>
                <a:tab pos="267653" algn="l"/>
              </a:tabLst>
            </a:pPr>
            <a:r>
              <a:rPr dirty="0">
                <a:latin typeface="Times New Roman"/>
                <a:cs typeface="Times New Roman"/>
              </a:rPr>
              <a:t>Distributed</a:t>
            </a:r>
            <a:r>
              <a:rPr spc="-64" dirty="0">
                <a:latin typeface="Times New Roman"/>
                <a:cs typeface="Times New Roman"/>
              </a:rPr>
              <a:t> </a:t>
            </a:r>
            <a:r>
              <a:rPr spc="-8" dirty="0">
                <a:latin typeface="Times New Roman"/>
                <a:cs typeface="Times New Roman"/>
              </a:rPr>
              <a:t>Computing</a:t>
            </a:r>
            <a:endParaRPr dirty="0">
              <a:latin typeface="Times New Roman"/>
              <a:cs typeface="Times New Roman"/>
            </a:endParaRPr>
          </a:p>
          <a:p>
            <a:pPr marL="267653" indent="-258128">
              <a:spcBef>
                <a:spcPts val="360"/>
              </a:spcBef>
              <a:buClr>
                <a:srgbClr val="063DE8"/>
              </a:buClr>
              <a:buSzPct val="75000"/>
              <a:buFont typeface="Segoe UI Symbol"/>
              <a:buChar char="❑"/>
              <a:tabLst>
                <a:tab pos="267653" algn="l"/>
              </a:tabLst>
            </a:pPr>
            <a:r>
              <a:rPr dirty="0">
                <a:latin typeface="Times New Roman"/>
                <a:cs typeface="Times New Roman"/>
              </a:rPr>
              <a:t>Cloud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spc="-8" dirty="0">
                <a:latin typeface="Times New Roman"/>
                <a:cs typeface="Times New Roman"/>
              </a:rPr>
              <a:t>Computing</a:t>
            </a:r>
            <a:endParaRPr dirty="0">
              <a:latin typeface="Times New Roman"/>
              <a:cs typeface="Times New Roman"/>
            </a:endParaRPr>
          </a:p>
          <a:p>
            <a:pPr marL="267653" indent="-258128">
              <a:spcBef>
                <a:spcPts val="251"/>
              </a:spcBef>
              <a:buClr>
                <a:srgbClr val="063DE8"/>
              </a:buClr>
              <a:buSzPct val="75000"/>
              <a:buFont typeface="Segoe UI Symbol"/>
              <a:buChar char="❑"/>
              <a:tabLst>
                <a:tab pos="267653" algn="l"/>
              </a:tabLst>
            </a:pPr>
            <a:r>
              <a:rPr dirty="0">
                <a:latin typeface="Times New Roman"/>
                <a:cs typeface="Times New Roman"/>
              </a:rPr>
              <a:t>Mobile</a:t>
            </a:r>
            <a:r>
              <a:rPr spc="-19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Computing</a:t>
            </a:r>
            <a:r>
              <a:rPr spc="-49" dirty="0">
                <a:latin typeface="Times New Roman"/>
                <a:cs typeface="Times New Roman"/>
              </a:rPr>
              <a:t> </a:t>
            </a:r>
            <a:r>
              <a:rPr dirty="0">
                <a:latin typeface="Cambria Math"/>
                <a:cs typeface="Cambria Math"/>
              </a:rPr>
              <a:t>⇒</a:t>
            </a:r>
            <a:r>
              <a:rPr spc="71" dirty="0">
                <a:latin typeface="Cambria Math"/>
                <a:cs typeface="Cambria Math"/>
              </a:rPr>
              <a:t> </a:t>
            </a:r>
            <a:r>
              <a:rPr dirty="0">
                <a:latin typeface="Times New Roman"/>
                <a:cs typeface="Times New Roman"/>
              </a:rPr>
              <a:t>Smart</a:t>
            </a:r>
            <a:r>
              <a:rPr spc="-26" dirty="0">
                <a:latin typeface="Times New Roman"/>
                <a:cs typeface="Times New Roman"/>
              </a:rPr>
              <a:t> </a:t>
            </a:r>
            <a:r>
              <a:rPr spc="-8" dirty="0">
                <a:latin typeface="Times New Roman"/>
                <a:cs typeface="Times New Roman"/>
              </a:rPr>
              <a:t>Phones</a:t>
            </a:r>
            <a:endParaRPr dirty="0">
              <a:latin typeface="Times New Roman"/>
              <a:cs typeface="Times New Roman"/>
            </a:endParaRPr>
          </a:p>
          <a:p>
            <a:pPr marL="267653" indent="-258128">
              <a:spcBef>
                <a:spcPts val="503"/>
              </a:spcBef>
              <a:buClr>
                <a:srgbClr val="063DE8"/>
              </a:buClr>
              <a:buSzPct val="75000"/>
              <a:buFont typeface="Segoe UI Symbol"/>
              <a:buChar char="❑"/>
              <a:tabLst>
                <a:tab pos="267653" algn="l"/>
              </a:tabLst>
            </a:pPr>
            <a:r>
              <a:rPr dirty="0">
                <a:latin typeface="Times New Roman"/>
                <a:cs typeface="Times New Roman"/>
              </a:rPr>
              <a:t>Streaming</a:t>
            </a:r>
            <a:r>
              <a:rPr spc="-38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Video </a:t>
            </a:r>
            <a:r>
              <a:rPr dirty="0">
                <a:latin typeface="Cambria Math"/>
                <a:cs typeface="Cambria Math"/>
              </a:rPr>
              <a:t>⇒</a:t>
            </a:r>
            <a:r>
              <a:rPr spc="23" dirty="0">
                <a:latin typeface="Cambria Math"/>
                <a:cs typeface="Cambria Math"/>
              </a:rPr>
              <a:t> </a:t>
            </a:r>
            <a:r>
              <a:rPr spc="-8" dirty="0">
                <a:latin typeface="Times New Roman"/>
                <a:cs typeface="Times New Roman"/>
              </a:rPr>
              <a:t>YouTube</a:t>
            </a:r>
            <a:endParaRPr dirty="0">
              <a:latin typeface="Times New Roman"/>
              <a:cs typeface="Times New Roman"/>
            </a:endParaRPr>
          </a:p>
          <a:p>
            <a:pPr marL="267653" indent="-258128">
              <a:spcBef>
                <a:spcPts val="251"/>
              </a:spcBef>
              <a:buClr>
                <a:srgbClr val="063DE8"/>
              </a:buClr>
              <a:buSzPct val="75000"/>
              <a:buFont typeface="Segoe UI Symbol"/>
              <a:buChar char="❑"/>
              <a:tabLst>
                <a:tab pos="267653" algn="l"/>
              </a:tabLst>
            </a:pPr>
            <a:r>
              <a:rPr dirty="0">
                <a:latin typeface="Times New Roman"/>
                <a:cs typeface="Times New Roman"/>
              </a:rPr>
              <a:t>Social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Networking</a:t>
            </a:r>
            <a:r>
              <a:rPr spc="-8" dirty="0">
                <a:latin typeface="Times New Roman"/>
                <a:cs typeface="Times New Roman"/>
              </a:rPr>
              <a:t> </a:t>
            </a:r>
            <a:r>
              <a:rPr dirty="0">
                <a:latin typeface="Cambria Math"/>
                <a:cs typeface="Cambria Math"/>
              </a:rPr>
              <a:t>⇒</a:t>
            </a:r>
            <a:r>
              <a:rPr spc="49" dirty="0">
                <a:latin typeface="Cambria Math"/>
                <a:cs typeface="Cambria Math"/>
              </a:rPr>
              <a:t> </a:t>
            </a:r>
            <a:r>
              <a:rPr spc="-8" dirty="0">
                <a:latin typeface="Times New Roman"/>
                <a:cs typeface="Times New Roman"/>
              </a:rPr>
              <a:t>FaceBook</a:t>
            </a:r>
            <a:endParaRPr dirty="0">
              <a:latin typeface="Times New Roman"/>
              <a:cs typeface="Times New Roman"/>
            </a:endParaRPr>
          </a:p>
          <a:p>
            <a:pPr marL="267653" indent="-258128">
              <a:spcBef>
                <a:spcPts val="506"/>
              </a:spcBef>
              <a:buClr>
                <a:srgbClr val="063DE8"/>
              </a:buClr>
              <a:buSzPct val="75000"/>
              <a:buFont typeface="Segoe UI Symbol"/>
              <a:buChar char="❑"/>
              <a:tabLst>
                <a:tab pos="267653" algn="l"/>
              </a:tabLst>
            </a:pPr>
            <a:r>
              <a:rPr dirty="0">
                <a:latin typeface="Times New Roman"/>
                <a:cs typeface="Times New Roman"/>
              </a:rPr>
              <a:t>Big</a:t>
            </a:r>
            <a:r>
              <a:rPr spc="-23" dirty="0">
                <a:latin typeface="Times New Roman"/>
                <a:cs typeface="Times New Roman"/>
              </a:rPr>
              <a:t> </a:t>
            </a:r>
            <a:r>
              <a:rPr spc="-15" dirty="0">
                <a:latin typeface="Times New Roman"/>
                <a:cs typeface="Times New Roman"/>
              </a:rPr>
              <a:t>Data</a:t>
            </a:r>
            <a:endParaRPr dirty="0">
              <a:latin typeface="Times New Roman"/>
              <a:cs typeface="Times New Roman"/>
            </a:endParaRPr>
          </a:p>
          <a:p>
            <a:pPr marL="267653" indent="-258128">
              <a:spcBef>
                <a:spcPts val="379"/>
              </a:spcBef>
              <a:buClr>
                <a:srgbClr val="063DE8"/>
              </a:buClr>
              <a:buSzPct val="75000"/>
              <a:buFont typeface="Segoe UI Symbol"/>
              <a:buChar char="❑"/>
              <a:tabLst>
                <a:tab pos="267653" algn="l"/>
              </a:tabLst>
            </a:pPr>
            <a:r>
              <a:rPr dirty="0">
                <a:latin typeface="Times New Roman"/>
                <a:cs typeface="Times New Roman"/>
              </a:rPr>
              <a:t>Machine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Learning</a:t>
            </a:r>
            <a:r>
              <a:rPr spc="11" dirty="0">
                <a:latin typeface="Times New Roman"/>
                <a:cs typeface="Times New Roman"/>
              </a:rPr>
              <a:t> </a:t>
            </a:r>
            <a:r>
              <a:rPr dirty="0">
                <a:latin typeface="Cambria Math"/>
                <a:cs typeface="Cambria Math"/>
              </a:rPr>
              <a:t>⇒</a:t>
            </a:r>
            <a:r>
              <a:rPr spc="8" dirty="0">
                <a:latin typeface="Cambria Math"/>
                <a:cs typeface="Cambria Math"/>
              </a:rPr>
              <a:t> </a:t>
            </a:r>
            <a:r>
              <a:rPr dirty="0">
                <a:latin typeface="Times New Roman"/>
                <a:cs typeface="Times New Roman"/>
              </a:rPr>
              <a:t>Artificial</a:t>
            </a:r>
            <a:r>
              <a:rPr spc="-38" dirty="0">
                <a:latin typeface="Times New Roman"/>
                <a:cs typeface="Times New Roman"/>
              </a:rPr>
              <a:t> </a:t>
            </a:r>
            <a:r>
              <a:rPr spc="-8" dirty="0">
                <a:latin typeface="Times New Roman"/>
                <a:cs typeface="Times New Roman"/>
              </a:rPr>
              <a:t>Intelligence</a:t>
            </a:r>
            <a:endParaRPr dirty="0">
              <a:latin typeface="Times New Roman"/>
              <a:cs typeface="Times New Roman"/>
            </a:endParaRPr>
          </a:p>
          <a:p>
            <a:pPr marL="267653" indent="-258128">
              <a:spcBef>
                <a:spcPts val="375"/>
              </a:spcBef>
              <a:buClr>
                <a:srgbClr val="063DE8"/>
              </a:buClr>
              <a:buSzPct val="75000"/>
              <a:buFont typeface="Segoe UI Symbol"/>
              <a:buChar char="❑"/>
              <a:tabLst>
                <a:tab pos="267653" algn="l"/>
              </a:tabLst>
            </a:pPr>
            <a:r>
              <a:rPr dirty="0">
                <a:latin typeface="Times New Roman"/>
                <a:cs typeface="Times New Roman"/>
              </a:rPr>
              <a:t>Online</a:t>
            </a:r>
            <a:r>
              <a:rPr spc="-34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Shopping</a:t>
            </a:r>
            <a:r>
              <a:rPr spc="-41" dirty="0">
                <a:latin typeface="Times New Roman"/>
                <a:cs typeface="Times New Roman"/>
              </a:rPr>
              <a:t> </a:t>
            </a:r>
            <a:r>
              <a:rPr dirty="0">
                <a:latin typeface="Cambria Math"/>
                <a:cs typeface="Cambria Math"/>
              </a:rPr>
              <a:t>⇒</a:t>
            </a:r>
            <a:r>
              <a:rPr spc="34" dirty="0">
                <a:latin typeface="Cambria Math"/>
                <a:cs typeface="Cambria Math"/>
              </a:rPr>
              <a:t> </a:t>
            </a:r>
            <a:r>
              <a:rPr dirty="0">
                <a:latin typeface="Times New Roman"/>
                <a:cs typeface="Times New Roman"/>
              </a:rPr>
              <a:t>Amazon,</a:t>
            </a:r>
            <a:r>
              <a:rPr spc="-41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eBay</a:t>
            </a:r>
          </a:p>
          <a:p>
            <a:pPr marL="267653" marR="3810" indent="-258604">
              <a:spcBef>
                <a:spcPts val="360"/>
              </a:spcBef>
              <a:buClr>
                <a:srgbClr val="063DE8"/>
              </a:buClr>
              <a:buSzPct val="75000"/>
              <a:buFont typeface="Segoe UI Symbol"/>
              <a:buChar char="❑"/>
              <a:tabLst>
                <a:tab pos="267653" algn="l"/>
              </a:tabLst>
            </a:pPr>
            <a:r>
              <a:rPr dirty="0">
                <a:latin typeface="Times New Roman"/>
                <a:cs typeface="Times New Roman"/>
              </a:rPr>
              <a:t>Most</a:t>
            </a:r>
            <a:r>
              <a:rPr spc="-23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fields</a:t>
            </a:r>
            <a:r>
              <a:rPr spc="-19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today</a:t>
            </a:r>
            <a:r>
              <a:rPr spc="-38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–</a:t>
            </a:r>
            <a:r>
              <a:rPr spc="-19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Education,</a:t>
            </a:r>
            <a:r>
              <a:rPr spc="-19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Health,</a:t>
            </a:r>
            <a:r>
              <a:rPr spc="-19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Environment</a:t>
            </a:r>
            <a:r>
              <a:rPr spc="-19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–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spc="-19" dirty="0">
                <a:latin typeface="Times New Roman"/>
                <a:cs typeface="Times New Roman"/>
              </a:rPr>
              <a:t>are </a:t>
            </a:r>
            <a:r>
              <a:rPr dirty="0">
                <a:latin typeface="Times New Roman"/>
                <a:cs typeface="Times New Roman"/>
              </a:rPr>
              <a:t>advancing</a:t>
            </a:r>
            <a:r>
              <a:rPr spc="-23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simply</a:t>
            </a:r>
            <a:r>
              <a:rPr spc="-38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because</a:t>
            </a:r>
            <a:r>
              <a:rPr spc="-11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-11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advances in</a:t>
            </a:r>
            <a:r>
              <a:rPr spc="-23" dirty="0">
                <a:latin typeface="Times New Roman"/>
                <a:cs typeface="Times New Roman"/>
              </a:rPr>
              <a:t> </a:t>
            </a:r>
            <a:r>
              <a:rPr spc="-8" dirty="0">
                <a:latin typeface="Times New Roman"/>
                <a:cs typeface="Times New Roman"/>
              </a:rPr>
              <a:t>networking.</a:t>
            </a:r>
            <a:endParaRPr dirty="0">
              <a:latin typeface="Times New Roman"/>
              <a:cs typeface="Times New Roman"/>
            </a:endParaRPr>
          </a:p>
        </p:txBody>
      </p:sp>
      <p:pic>
        <p:nvPicPr>
          <p:cNvPr id="17" name="object 7">
            <a:extLst>
              <a:ext uri="{FF2B5EF4-FFF2-40B4-BE49-F238E27FC236}">
                <a16:creationId xmlns:a16="http://schemas.microsoft.com/office/drawing/2014/main" id="{B7FAB2D8-D30B-1AF9-CA8B-0EB1AEF05D6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51685" y="2216818"/>
            <a:ext cx="4063665" cy="1769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464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318E8-8054-9BF2-2806-CE1D353A3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5F47C-E301-DEFD-8DDF-5443450B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387" y="1209829"/>
            <a:ext cx="7406640" cy="49163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lang="en-US" b="1" spc="-19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Hot</a:t>
            </a:r>
            <a:r>
              <a:rPr lang="en-US" b="1" spc="-38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Topics</a:t>
            </a:r>
            <a:r>
              <a:rPr lang="en-US" b="1" spc="-41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b="1" spc="-26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-8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Networking</a:t>
            </a:r>
            <a:endParaRPr lang="en-IN" b="1" dirty="0">
              <a:solidFill>
                <a:srgbClr val="EE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483BF4F-75AC-2C74-23A7-F804ADB514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D1923F6-4467-4783-85AE-1FBF86AEC45F}" type="datetime1">
              <a:rPr lang="en-IN" smtClean="0"/>
              <a:pPr/>
              <a:t>18-08-2025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650B94-4C29-4302-7ECD-B3310CED0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7F1D3-54DA-4A0E-9542-9C59510E6D08}" type="slidenum">
              <a:rPr lang="en-IN" smtClean="0"/>
              <a:pPr/>
              <a:t>6</a:t>
            </a:fld>
            <a:endParaRPr lang="en-IN"/>
          </a:p>
        </p:txBody>
      </p:sp>
      <p:grpSp>
        <p:nvGrpSpPr>
          <p:cNvPr id="7" name="Group 18" descr="&quot;&quot;">
            <a:extLst>
              <a:ext uri="{FF2B5EF4-FFF2-40B4-BE49-F238E27FC236}">
                <a16:creationId xmlns:a16="http://schemas.microsoft.com/office/drawing/2014/main" id="{78875C5F-548A-2E3F-23FE-CEDD81D68CF9}"/>
              </a:ext>
            </a:extLst>
          </p:cNvPr>
          <p:cNvGrpSpPr/>
          <p:nvPr/>
        </p:nvGrpSpPr>
        <p:grpSpPr bwMode="auto">
          <a:xfrm rot="10800000" flipH="1">
            <a:off x="0" y="4099323"/>
            <a:ext cx="2533650" cy="1901428"/>
            <a:chOff x="-305" y="-1"/>
            <a:chExt cx="3832880" cy="2876136"/>
          </a:xfrm>
        </p:grpSpPr>
        <p:sp>
          <p:nvSpPr>
            <p:cNvPr id="8" name="Freeform: Shape 7" descr="&quot;&quot;">
              <a:extLst>
                <a:ext uri="{FF2B5EF4-FFF2-40B4-BE49-F238E27FC236}">
                  <a16:creationId xmlns:a16="http://schemas.microsoft.com/office/drawing/2014/main" id="{7F1534BD-6F82-6356-CF7A-C8FD5EB9A51D}"/>
                </a:ext>
              </a:extLst>
            </p:cNvPr>
            <p:cNvSpPr/>
            <p:nvPr/>
          </p:nvSpPr>
          <p:spPr>
            <a:xfrm>
              <a:off x="-27323" y="-1"/>
              <a:ext cx="3816670" cy="2652817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Freeform: Shape 8" descr="&quot;&quot;">
              <a:extLst>
                <a:ext uri="{FF2B5EF4-FFF2-40B4-BE49-F238E27FC236}">
                  <a16:creationId xmlns:a16="http://schemas.microsoft.com/office/drawing/2014/main" id="{2D3F7821-CE9E-4F3D-169A-70A9639F8BA2}"/>
                </a:ext>
              </a:extLst>
            </p:cNvPr>
            <p:cNvSpPr/>
            <p:nvPr/>
          </p:nvSpPr>
          <p:spPr>
            <a:xfrm>
              <a:off x="-27323" y="-1"/>
              <a:ext cx="3816670" cy="2652817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0" name="Freeform: Shape 9" descr="&quot;&quot;">
              <a:extLst>
                <a:ext uri="{FF2B5EF4-FFF2-40B4-BE49-F238E27FC236}">
                  <a16:creationId xmlns:a16="http://schemas.microsoft.com/office/drawing/2014/main" id="{CE176FEE-B3C6-DC27-3082-891CA8D4E303}"/>
                </a:ext>
              </a:extLst>
            </p:cNvPr>
            <p:cNvSpPr/>
            <p:nvPr/>
          </p:nvSpPr>
          <p:spPr>
            <a:xfrm>
              <a:off x="-27323" y="-27016"/>
              <a:ext cx="3816670" cy="2676230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1" name="Freeform: Shape 10" descr="&quot;&quot;">
              <a:extLst>
                <a:ext uri="{FF2B5EF4-FFF2-40B4-BE49-F238E27FC236}">
                  <a16:creationId xmlns:a16="http://schemas.microsoft.com/office/drawing/2014/main" id="{C2EB7ED4-B274-CF17-42C9-BC16535F2A63}"/>
                </a:ext>
              </a:extLst>
            </p:cNvPr>
            <p:cNvSpPr/>
            <p:nvPr/>
          </p:nvSpPr>
          <p:spPr>
            <a:xfrm>
              <a:off x="-305" y="-1"/>
              <a:ext cx="383288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2" name="Group 12" descr="&quot;&quot;">
            <a:extLst>
              <a:ext uri="{FF2B5EF4-FFF2-40B4-BE49-F238E27FC236}">
                <a16:creationId xmlns:a16="http://schemas.microsoft.com/office/drawing/2014/main" id="{5A0F9032-0A2A-B49D-94B1-8DDD7CBA6647}"/>
              </a:ext>
            </a:extLst>
          </p:cNvPr>
          <p:cNvGrpSpPr/>
          <p:nvPr/>
        </p:nvGrpSpPr>
        <p:grpSpPr bwMode="auto">
          <a:xfrm flipH="1">
            <a:off x="7258050" y="857251"/>
            <a:ext cx="1885950" cy="1631156"/>
            <a:chOff x="-305" y="-4155"/>
            <a:chExt cx="2514948" cy="2174333"/>
          </a:xfrm>
        </p:grpSpPr>
        <p:sp>
          <p:nvSpPr>
            <p:cNvPr id="13" name="Freeform: Shape 12" descr="&quot;&quot;">
              <a:extLst>
                <a:ext uri="{FF2B5EF4-FFF2-40B4-BE49-F238E27FC236}">
                  <a16:creationId xmlns:a16="http://schemas.microsoft.com/office/drawing/2014/main" id="{80CB0340-2580-C74C-6015-ABB86B8495DC}"/>
                </a:ext>
              </a:extLst>
            </p:cNvPr>
            <p:cNvSpPr/>
            <p:nvPr/>
          </p:nvSpPr>
          <p:spPr>
            <a:xfrm>
              <a:off x="-305" y="607"/>
              <a:ext cx="2514948" cy="2169571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4" name="Freeform: Shape 13" descr="&quot;&quot;">
              <a:extLst>
                <a:ext uri="{FF2B5EF4-FFF2-40B4-BE49-F238E27FC236}">
                  <a16:creationId xmlns:a16="http://schemas.microsoft.com/office/drawing/2014/main" id="{709EF39D-13E5-5118-C52E-06CC530AB921}"/>
                </a:ext>
              </a:extLst>
            </p:cNvPr>
            <p:cNvSpPr/>
            <p:nvPr/>
          </p:nvSpPr>
          <p:spPr>
            <a:xfrm>
              <a:off x="-305" y="-4155"/>
              <a:ext cx="2492720" cy="1947378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Freeform: Shape 14" descr="&quot;&quot;">
              <a:extLst>
                <a:ext uri="{FF2B5EF4-FFF2-40B4-BE49-F238E27FC236}">
                  <a16:creationId xmlns:a16="http://schemas.microsoft.com/office/drawing/2014/main" id="{CB4FF308-59CD-102D-890B-39B5268A20D7}"/>
                </a:ext>
              </a:extLst>
            </p:cNvPr>
            <p:cNvSpPr/>
            <p:nvPr/>
          </p:nvSpPr>
          <p:spPr>
            <a:xfrm>
              <a:off x="-305" y="607"/>
              <a:ext cx="2500658" cy="1972770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600"/>
            </a:p>
          </p:txBody>
        </p:sp>
        <p:sp>
          <p:nvSpPr>
            <p:cNvPr id="16" name="Freeform: Shape 15" descr="&quot;&quot;">
              <a:extLst>
                <a:ext uri="{FF2B5EF4-FFF2-40B4-BE49-F238E27FC236}">
                  <a16:creationId xmlns:a16="http://schemas.microsoft.com/office/drawing/2014/main" id="{8EC27ACE-15A5-9474-ADBA-85109A5F56A5}"/>
                </a:ext>
              </a:extLst>
            </p:cNvPr>
            <p:cNvSpPr/>
            <p:nvPr/>
          </p:nvSpPr>
          <p:spPr>
            <a:xfrm>
              <a:off x="-305" y="607"/>
              <a:ext cx="2491132" cy="1942616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</p:grpSp>
      <p:sp>
        <p:nvSpPr>
          <p:cNvPr id="18" name="object 6">
            <a:extLst>
              <a:ext uri="{FF2B5EF4-FFF2-40B4-BE49-F238E27FC236}">
                <a16:creationId xmlns:a16="http://schemas.microsoft.com/office/drawing/2014/main" id="{B022A288-AF21-05B4-317D-809D8943529C}"/>
              </a:ext>
            </a:extLst>
          </p:cNvPr>
          <p:cNvSpPr txBox="1"/>
          <p:nvPr/>
        </p:nvSpPr>
        <p:spPr>
          <a:xfrm>
            <a:off x="234543" y="3228784"/>
            <a:ext cx="3185160" cy="1974258"/>
          </a:xfrm>
          <a:prstGeom prst="rect">
            <a:avLst/>
          </a:prstGeom>
        </p:spPr>
        <p:txBody>
          <a:bodyPr vert="horz" wrap="square" lIns="0" tIns="55245" rIns="0" bIns="0" rtlCol="0">
            <a:spAutoFit/>
          </a:bodyPr>
          <a:lstStyle/>
          <a:p>
            <a:pPr marL="409099" indent="-399574">
              <a:spcBef>
                <a:spcPts val="435"/>
              </a:spcBef>
              <a:buClr>
                <a:srgbClr val="063DE8"/>
              </a:buClr>
              <a:buSzPct val="75000"/>
              <a:buAutoNum type="arabicPeriod"/>
              <a:tabLst>
                <a:tab pos="409099" algn="l"/>
              </a:tabLst>
            </a:pPr>
            <a:r>
              <a:rPr dirty="0">
                <a:latin typeface="Times New Roman"/>
                <a:cs typeface="Times New Roman"/>
              </a:rPr>
              <a:t>Internet</a:t>
            </a:r>
            <a:r>
              <a:rPr spc="-8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Things</a:t>
            </a:r>
            <a:r>
              <a:rPr spc="-41" dirty="0">
                <a:latin typeface="Times New Roman"/>
                <a:cs typeface="Times New Roman"/>
              </a:rPr>
              <a:t> </a:t>
            </a:r>
            <a:r>
              <a:rPr spc="-15" dirty="0">
                <a:latin typeface="Times New Roman"/>
                <a:cs typeface="Times New Roman"/>
              </a:rPr>
              <a:t>(IoT)</a:t>
            </a:r>
            <a:endParaRPr dirty="0">
              <a:latin typeface="Times New Roman"/>
              <a:cs typeface="Times New Roman"/>
            </a:endParaRPr>
          </a:p>
          <a:p>
            <a:pPr marL="409099" indent="-399574">
              <a:spcBef>
                <a:spcPts val="360"/>
              </a:spcBef>
              <a:buClr>
                <a:srgbClr val="063DE8"/>
              </a:buClr>
              <a:buSzPct val="75000"/>
              <a:buAutoNum type="arabicPeriod"/>
              <a:tabLst>
                <a:tab pos="409099" algn="l"/>
              </a:tabLst>
            </a:pPr>
            <a:r>
              <a:rPr spc="-8" dirty="0">
                <a:latin typeface="Times New Roman"/>
                <a:cs typeface="Times New Roman"/>
              </a:rPr>
              <a:t>Cybersecurity</a:t>
            </a:r>
            <a:endParaRPr dirty="0">
              <a:latin typeface="Times New Roman"/>
              <a:cs typeface="Times New Roman"/>
            </a:endParaRPr>
          </a:p>
          <a:p>
            <a:pPr marL="409099" indent="-399574">
              <a:spcBef>
                <a:spcPts val="379"/>
              </a:spcBef>
              <a:buClr>
                <a:srgbClr val="063DE8"/>
              </a:buClr>
              <a:buSzPct val="75000"/>
              <a:buAutoNum type="arabicPeriod"/>
              <a:tabLst>
                <a:tab pos="409099" algn="l"/>
              </a:tabLst>
            </a:pPr>
            <a:r>
              <a:rPr dirty="0">
                <a:latin typeface="Times New Roman"/>
                <a:cs typeface="Times New Roman"/>
              </a:rPr>
              <a:t>Cloud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spc="-8" dirty="0">
                <a:latin typeface="Times New Roman"/>
                <a:cs typeface="Times New Roman"/>
              </a:rPr>
              <a:t>Computing</a:t>
            </a:r>
            <a:endParaRPr dirty="0">
              <a:latin typeface="Times New Roman"/>
              <a:cs typeface="Times New Roman"/>
            </a:endParaRPr>
          </a:p>
          <a:p>
            <a:pPr marL="409099" indent="-399574">
              <a:spcBef>
                <a:spcPts val="375"/>
              </a:spcBef>
              <a:buClr>
                <a:srgbClr val="063DE8"/>
              </a:buClr>
              <a:buSzPct val="75000"/>
              <a:buAutoNum type="arabicPeriod"/>
              <a:tabLst>
                <a:tab pos="409099" algn="l"/>
              </a:tabLst>
            </a:pPr>
            <a:r>
              <a:rPr dirty="0">
                <a:latin typeface="Times New Roman"/>
                <a:cs typeface="Times New Roman"/>
              </a:rPr>
              <a:t>Software</a:t>
            </a:r>
            <a:r>
              <a:rPr spc="-49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Defined</a:t>
            </a:r>
            <a:r>
              <a:rPr spc="-41" dirty="0">
                <a:latin typeface="Times New Roman"/>
                <a:cs typeface="Times New Roman"/>
              </a:rPr>
              <a:t> </a:t>
            </a:r>
            <a:r>
              <a:rPr spc="-8" dirty="0">
                <a:latin typeface="Times New Roman"/>
                <a:cs typeface="Times New Roman"/>
              </a:rPr>
              <a:t>Networking</a:t>
            </a:r>
            <a:endParaRPr dirty="0">
              <a:latin typeface="Times New Roman"/>
              <a:cs typeface="Times New Roman"/>
            </a:endParaRPr>
          </a:p>
          <a:p>
            <a:pPr marL="409099" indent="-399574">
              <a:spcBef>
                <a:spcPts val="379"/>
              </a:spcBef>
              <a:buClr>
                <a:srgbClr val="063DE8"/>
              </a:buClr>
              <a:buSzPct val="75000"/>
              <a:buAutoNum type="arabicPeriod"/>
              <a:tabLst>
                <a:tab pos="409099" algn="l"/>
              </a:tabLst>
            </a:pPr>
            <a:r>
              <a:rPr dirty="0">
                <a:latin typeface="Times New Roman"/>
                <a:cs typeface="Times New Roman"/>
              </a:rPr>
              <a:t>Wireless</a:t>
            </a:r>
            <a:r>
              <a:rPr spc="-49" dirty="0">
                <a:latin typeface="Times New Roman"/>
                <a:cs typeface="Times New Roman"/>
              </a:rPr>
              <a:t> </a:t>
            </a:r>
            <a:r>
              <a:rPr spc="-8" dirty="0">
                <a:latin typeface="Times New Roman"/>
                <a:cs typeface="Times New Roman"/>
              </a:rPr>
              <a:t>Networking</a:t>
            </a:r>
            <a:endParaRPr dirty="0">
              <a:latin typeface="Times New Roman"/>
              <a:cs typeface="Times New Roman"/>
            </a:endParaRPr>
          </a:p>
          <a:p>
            <a:pPr marL="409099" indent="-399574">
              <a:spcBef>
                <a:spcPts val="379"/>
              </a:spcBef>
              <a:buClr>
                <a:srgbClr val="063DE8"/>
              </a:buClr>
              <a:buSzPct val="75000"/>
              <a:buAutoNum type="arabicPeriod"/>
              <a:tabLst>
                <a:tab pos="409099" algn="l"/>
              </a:tabLst>
            </a:pPr>
            <a:r>
              <a:rPr dirty="0">
                <a:latin typeface="Times New Roman"/>
                <a:cs typeface="Times New Roman"/>
              </a:rPr>
              <a:t>Streaming</a:t>
            </a:r>
            <a:r>
              <a:rPr spc="-49" dirty="0">
                <a:latin typeface="Times New Roman"/>
                <a:cs typeface="Times New Roman"/>
              </a:rPr>
              <a:t> </a:t>
            </a:r>
            <a:r>
              <a:rPr spc="-15" dirty="0">
                <a:latin typeface="Times New Roman"/>
                <a:cs typeface="Times New Roman"/>
              </a:rPr>
              <a:t>Media</a:t>
            </a:r>
            <a:endParaRPr dirty="0">
              <a:latin typeface="Times New Roman"/>
              <a:cs typeface="Times New Roman"/>
            </a:endParaRPr>
          </a:p>
        </p:txBody>
      </p:sp>
      <p:pic>
        <p:nvPicPr>
          <p:cNvPr id="19" name="object 7">
            <a:extLst>
              <a:ext uri="{FF2B5EF4-FFF2-40B4-BE49-F238E27FC236}">
                <a16:creationId xmlns:a16="http://schemas.microsoft.com/office/drawing/2014/main" id="{C79E01E6-80D9-7BEA-ED09-2DB2835C398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1308" y="1790755"/>
            <a:ext cx="4114799" cy="134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270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61925" y="1028319"/>
          <a:ext cx="6867527" cy="50295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9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8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9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5636">
                <a:tc gridSpan="3">
                  <a:txBody>
                    <a:bodyPr/>
                    <a:lstStyle/>
                    <a:p>
                      <a:pPr marR="60960" algn="ctr">
                        <a:lnSpc>
                          <a:spcPct val="100000"/>
                        </a:lnSpc>
                        <a:spcBef>
                          <a:spcPts val="1715"/>
                        </a:spcBef>
                      </a:pPr>
                      <a:r>
                        <a:rPr sz="2700" b="1" dirty="0">
                          <a:solidFill>
                            <a:srgbClr val="FC0128"/>
                          </a:solidFill>
                          <a:latin typeface="Times New Roman"/>
                          <a:cs typeface="Times New Roman"/>
                        </a:rPr>
                        <a:t>Trend:</a:t>
                      </a:r>
                      <a:r>
                        <a:rPr sz="2700" b="1" spc="-75" dirty="0">
                          <a:solidFill>
                            <a:srgbClr val="FC012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b="1" dirty="0">
                          <a:solidFill>
                            <a:srgbClr val="FC0128"/>
                          </a:solidFill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sz="2700" b="1" spc="-90" dirty="0">
                          <a:solidFill>
                            <a:srgbClr val="FC012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b="1" spc="-10" dirty="0">
                          <a:solidFill>
                            <a:srgbClr val="FC0128"/>
                          </a:solidFill>
                          <a:latin typeface="Times New Roman"/>
                          <a:cs typeface="Times New Roman"/>
                        </a:rPr>
                        <a:t>Everything</a:t>
                      </a: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63354" marB="0">
                    <a:lnL w="28575">
                      <a:solidFill>
                        <a:srgbClr val="063DE8"/>
                      </a:solidFill>
                      <a:prstDash val="solid"/>
                    </a:lnL>
                    <a:lnR w="28575">
                      <a:solidFill>
                        <a:srgbClr val="063DE8"/>
                      </a:solidFill>
                      <a:prstDash val="solid"/>
                    </a:lnR>
                    <a:lnT w="28575">
                      <a:solidFill>
                        <a:srgbClr val="063DE8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53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628015" algn="r">
                        <a:lnSpc>
                          <a:spcPct val="100000"/>
                        </a:lnSpc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sz="15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Watch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63DE8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964565">
                        <a:lnSpc>
                          <a:spcPct val="100000"/>
                        </a:lnSpc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sz="15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TV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840105" algn="r">
                        <a:lnSpc>
                          <a:spcPct val="100000"/>
                        </a:lnSpc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sz="15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Car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63DE8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226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74065">
                        <a:lnSpc>
                          <a:spcPct val="100000"/>
                        </a:lnSpc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sz="15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Health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63DE8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45490">
                        <a:lnSpc>
                          <a:spcPct val="100000"/>
                        </a:lnSpc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sz="15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Home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821055" algn="r">
                        <a:lnSpc>
                          <a:spcPct val="100000"/>
                        </a:lnSpc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sz="15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Kegs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63DE8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85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63373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Space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63DE8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6299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sz="15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Industries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537845">
                        <a:lnSpc>
                          <a:spcPct val="100000"/>
                        </a:lnSpc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sz="15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Cities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63DE8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789">
                <a:tc gridSpan="3"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1295"/>
                        </a:spcBef>
                        <a:tabLst>
                          <a:tab pos="3848100" algn="l"/>
                          <a:tab pos="7323455" algn="l"/>
                        </a:tabLst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3349" marB="0">
                    <a:lnL w="28575">
                      <a:solidFill>
                        <a:srgbClr val="063DE8"/>
                      </a:solidFill>
                      <a:prstDash val="solid"/>
                    </a:lnL>
                    <a:lnR w="28575">
                      <a:solidFill>
                        <a:srgbClr val="063DE8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63DE8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7647812" y="858392"/>
            <a:ext cx="0" cy="1143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152400"/>
                </a:moveTo>
                <a:lnTo>
                  <a:pt x="0" y="0"/>
                </a:lnTo>
              </a:path>
            </a:pathLst>
          </a:custGeom>
          <a:ln w="9525">
            <a:solidFill>
              <a:srgbClr val="DADAD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19413" y="858392"/>
            <a:ext cx="125254" cy="114300"/>
          </a:xfrm>
          <a:custGeom>
            <a:avLst/>
            <a:gdLst/>
            <a:ahLst/>
            <a:cxnLst/>
            <a:rect l="l" t="t" r="r" b="b"/>
            <a:pathLst>
              <a:path w="167004" h="152400">
                <a:moveTo>
                  <a:pt x="0" y="152400"/>
                </a:moveTo>
                <a:lnTo>
                  <a:pt x="166687" y="152400"/>
                </a:lnTo>
              </a:path>
              <a:path w="167004" h="152400">
                <a:moveTo>
                  <a:pt x="0" y="152400"/>
                </a:moveTo>
                <a:lnTo>
                  <a:pt x="0" y="0"/>
                </a:lnTo>
              </a:path>
            </a:pathLst>
          </a:custGeom>
          <a:ln w="9525">
            <a:solidFill>
              <a:srgbClr val="DADAD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019413" y="2001393"/>
            <a:ext cx="125254" cy="0"/>
          </a:xfrm>
          <a:custGeom>
            <a:avLst/>
            <a:gdLst/>
            <a:ahLst/>
            <a:cxnLst/>
            <a:rect l="l" t="t" r="r" b="b"/>
            <a:pathLst>
              <a:path w="167004">
                <a:moveTo>
                  <a:pt x="0" y="0"/>
                </a:moveTo>
                <a:lnTo>
                  <a:pt x="166687" y="0"/>
                </a:lnTo>
              </a:path>
            </a:pathLst>
          </a:custGeom>
          <a:ln w="9525">
            <a:solidFill>
              <a:srgbClr val="DADAD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1" y="3026665"/>
            <a:ext cx="1563623" cy="79552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61439" y="3024379"/>
            <a:ext cx="1757864" cy="88010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16541" y="1746995"/>
            <a:ext cx="1251222" cy="87441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7794" y="1721359"/>
            <a:ext cx="1312163" cy="86867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74285" y="4267962"/>
            <a:ext cx="1449323" cy="90296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72918" y="4318254"/>
            <a:ext cx="1188710" cy="79095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26280" y="1703070"/>
            <a:ext cx="1828799" cy="90296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289804" y="3006091"/>
            <a:ext cx="217169" cy="73151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76072" y="4261104"/>
            <a:ext cx="1277873" cy="8549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73236" y="1028318"/>
          <a:ext cx="6282214" cy="50867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9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5931">
                <a:tc gridSpan="4">
                  <a:txBody>
                    <a:bodyPr/>
                    <a:lstStyle/>
                    <a:p>
                      <a:pPr marR="31115" algn="ctr">
                        <a:lnSpc>
                          <a:spcPct val="100000"/>
                        </a:lnSpc>
                        <a:spcBef>
                          <a:spcPts val="1715"/>
                        </a:spcBef>
                      </a:pPr>
                      <a:r>
                        <a:rPr sz="2700" b="1" dirty="0">
                          <a:solidFill>
                            <a:srgbClr val="FC0128"/>
                          </a:solidFill>
                          <a:latin typeface="Times New Roman"/>
                          <a:cs typeface="Times New Roman"/>
                        </a:rPr>
                        <a:t>Trend:</a:t>
                      </a:r>
                      <a:r>
                        <a:rPr sz="2700" b="1" spc="-55" dirty="0">
                          <a:solidFill>
                            <a:srgbClr val="FC012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b="1" dirty="0">
                          <a:solidFill>
                            <a:srgbClr val="FC0128"/>
                          </a:solidFill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sz="2700" b="1" spc="-80" dirty="0">
                          <a:solidFill>
                            <a:srgbClr val="FC012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b="1" dirty="0">
                          <a:solidFill>
                            <a:srgbClr val="FC0128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700" b="1" spc="-50" dirty="0">
                          <a:solidFill>
                            <a:srgbClr val="FC012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b="1" spc="-10" dirty="0">
                          <a:solidFill>
                            <a:srgbClr val="FC0128"/>
                          </a:solidFill>
                          <a:latin typeface="Times New Roman"/>
                          <a:cs typeface="Times New Roman"/>
                        </a:rPr>
                        <a:t>Intelligent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163354" marB="0">
                    <a:lnL w="28575">
                      <a:solidFill>
                        <a:srgbClr val="063DE8"/>
                      </a:solidFill>
                      <a:prstDash val="solid"/>
                    </a:lnL>
                    <a:lnR w="28575">
                      <a:solidFill>
                        <a:srgbClr val="063DE8"/>
                      </a:solidFill>
                      <a:prstDash val="solid"/>
                    </a:lnR>
                    <a:lnT w="28575">
                      <a:solidFill>
                        <a:srgbClr val="063DE8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61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480695">
                        <a:lnSpc>
                          <a:spcPct val="100000"/>
                        </a:lnSpc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Intelligent</a:t>
                      </a:r>
                      <a:r>
                        <a:rPr sz="15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Clock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63DE8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965835">
                        <a:lnSpc>
                          <a:spcPct val="100000"/>
                        </a:lnSpc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Intelligent</a:t>
                      </a:r>
                      <a:r>
                        <a:rPr sz="15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TV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107314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Intelligent</a:t>
                      </a:r>
                      <a:r>
                        <a:rPr sz="15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Car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63DE8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05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229870" algn="r">
                        <a:lnSpc>
                          <a:spcPct val="100000"/>
                        </a:lnSpc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Intelligent</a:t>
                      </a:r>
                      <a:r>
                        <a:rPr sz="15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Health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63DE8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43180">
                        <a:lnSpc>
                          <a:spcPct val="100000"/>
                        </a:lnSpc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Intelligent</a:t>
                      </a:r>
                      <a:r>
                        <a:rPr sz="15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Home</a:t>
                      </a:r>
                      <a:r>
                        <a:rPr sz="15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Security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113664" algn="ctr">
                        <a:lnSpc>
                          <a:spcPct val="100000"/>
                        </a:lnSpc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Intelligent</a:t>
                      </a:r>
                      <a:r>
                        <a:rPr sz="15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Microwave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63DE8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901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284480" algn="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Intelligent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Light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63DE8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29615">
                        <a:lnSpc>
                          <a:spcPct val="100000"/>
                        </a:lnSpc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Amazon</a:t>
                      </a:r>
                      <a:r>
                        <a:rPr sz="15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Alexa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69215" algn="ctr">
                        <a:lnSpc>
                          <a:spcPct val="100000"/>
                        </a:lnSpc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Google</a:t>
                      </a: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Assistant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63DE8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112">
                <a:tc gridSpan="4"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245"/>
                        </a:spcBef>
                        <a:tabLst>
                          <a:tab pos="3836035" algn="l"/>
                          <a:tab pos="7310755" algn="l"/>
                        </a:tabLst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18586" marB="0">
                    <a:lnL w="28575">
                      <a:solidFill>
                        <a:srgbClr val="063DE8"/>
                      </a:solidFill>
                      <a:prstDash val="solid"/>
                    </a:lnL>
                    <a:lnR w="28575">
                      <a:solidFill>
                        <a:srgbClr val="063DE8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63DE8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7647812" y="858392"/>
            <a:ext cx="0" cy="1143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152400"/>
                </a:moveTo>
                <a:lnTo>
                  <a:pt x="0" y="0"/>
                </a:lnTo>
              </a:path>
            </a:pathLst>
          </a:custGeom>
          <a:ln w="9525">
            <a:solidFill>
              <a:srgbClr val="DADAD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19413" y="858392"/>
            <a:ext cx="125254" cy="114300"/>
          </a:xfrm>
          <a:custGeom>
            <a:avLst/>
            <a:gdLst/>
            <a:ahLst/>
            <a:cxnLst/>
            <a:rect l="l" t="t" r="r" b="b"/>
            <a:pathLst>
              <a:path w="167004" h="152400">
                <a:moveTo>
                  <a:pt x="0" y="152400"/>
                </a:moveTo>
                <a:lnTo>
                  <a:pt x="166687" y="152400"/>
                </a:lnTo>
              </a:path>
              <a:path w="167004" h="152400">
                <a:moveTo>
                  <a:pt x="0" y="152400"/>
                </a:moveTo>
                <a:lnTo>
                  <a:pt x="0" y="0"/>
                </a:lnTo>
              </a:path>
            </a:pathLst>
          </a:custGeom>
          <a:ln w="9525">
            <a:solidFill>
              <a:srgbClr val="DADAD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019413" y="2001393"/>
            <a:ext cx="125254" cy="0"/>
          </a:xfrm>
          <a:custGeom>
            <a:avLst/>
            <a:gdLst/>
            <a:ahLst/>
            <a:cxnLst/>
            <a:rect l="l" t="t" r="r" b="b"/>
            <a:pathLst>
              <a:path w="167004">
                <a:moveTo>
                  <a:pt x="0" y="0"/>
                </a:moveTo>
                <a:lnTo>
                  <a:pt x="166687" y="0"/>
                </a:lnTo>
              </a:path>
            </a:pathLst>
          </a:custGeom>
          <a:ln w="9525">
            <a:solidFill>
              <a:srgbClr val="DADAD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072" y="3031237"/>
            <a:ext cx="1565900" cy="79324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32672" y="1751567"/>
            <a:ext cx="1253162" cy="87441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39797" y="3115092"/>
            <a:ext cx="976121" cy="68059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88052" y="3106717"/>
            <a:ext cx="841247" cy="61742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4088" y="1657351"/>
            <a:ext cx="976121" cy="97612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4088" y="4372605"/>
            <a:ext cx="758951" cy="67336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49525" y="4297680"/>
            <a:ext cx="779525" cy="77952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049774" y="4345686"/>
            <a:ext cx="822959" cy="82295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704589" y="1725931"/>
            <a:ext cx="1620773" cy="909827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6566535" y="2287142"/>
            <a:ext cx="2396014" cy="2882741"/>
          </a:xfrm>
          <a:custGeom>
            <a:avLst/>
            <a:gdLst/>
            <a:ahLst/>
            <a:cxnLst/>
            <a:rect l="l" t="t" r="r" b="b"/>
            <a:pathLst>
              <a:path w="3194684" h="3843654">
                <a:moveTo>
                  <a:pt x="0" y="0"/>
                </a:moveTo>
                <a:lnTo>
                  <a:pt x="3194304" y="0"/>
                </a:lnTo>
                <a:lnTo>
                  <a:pt x="3194304" y="3843528"/>
                </a:lnTo>
                <a:lnTo>
                  <a:pt x="0" y="3843528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47812" y="858392"/>
            <a:ext cx="0" cy="1143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152400"/>
                </a:moveTo>
                <a:lnTo>
                  <a:pt x="0" y="0"/>
                </a:lnTo>
              </a:path>
            </a:pathLst>
          </a:custGeom>
          <a:ln w="9525">
            <a:solidFill>
              <a:srgbClr val="DADAD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019413" y="858392"/>
            <a:ext cx="125254" cy="114300"/>
          </a:xfrm>
          <a:custGeom>
            <a:avLst/>
            <a:gdLst/>
            <a:ahLst/>
            <a:cxnLst/>
            <a:rect l="l" t="t" r="r" b="b"/>
            <a:pathLst>
              <a:path w="167004" h="152400">
                <a:moveTo>
                  <a:pt x="0" y="152400"/>
                </a:moveTo>
                <a:lnTo>
                  <a:pt x="166687" y="152400"/>
                </a:lnTo>
              </a:path>
              <a:path w="167004" h="152400">
                <a:moveTo>
                  <a:pt x="0" y="152400"/>
                </a:moveTo>
                <a:lnTo>
                  <a:pt x="0" y="0"/>
                </a:lnTo>
              </a:path>
            </a:pathLst>
          </a:custGeom>
          <a:ln w="9525">
            <a:solidFill>
              <a:srgbClr val="DADAD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19413" y="2001393"/>
            <a:ext cx="125254" cy="0"/>
          </a:xfrm>
          <a:custGeom>
            <a:avLst/>
            <a:gdLst/>
            <a:ahLst/>
            <a:cxnLst/>
            <a:rect l="l" t="t" r="r" b="b"/>
            <a:pathLst>
              <a:path w="167004">
                <a:moveTo>
                  <a:pt x="0" y="0"/>
                </a:moveTo>
                <a:lnTo>
                  <a:pt x="166687" y="0"/>
                </a:lnTo>
              </a:path>
            </a:pathLst>
          </a:custGeom>
          <a:ln w="9525">
            <a:solidFill>
              <a:srgbClr val="DADAD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99097" y="152400"/>
            <a:ext cx="6082703" cy="124072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555784">
              <a:spcBef>
                <a:spcPts val="75"/>
              </a:spcBef>
            </a:pPr>
            <a:r>
              <a:rPr dirty="0"/>
              <a:t>Trend:</a:t>
            </a:r>
            <a:r>
              <a:rPr spc="-34" dirty="0"/>
              <a:t> </a:t>
            </a:r>
            <a:r>
              <a:rPr dirty="0"/>
              <a:t>Security</a:t>
            </a:r>
            <a:r>
              <a:rPr spc="-64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Cyber</a:t>
            </a:r>
            <a:r>
              <a:rPr spc="-60" dirty="0"/>
              <a:t> </a:t>
            </a:r>
            <a:r>
              <a:rPr spc="-8" dirty="0"/>
              <a:t>Warfare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5018" y="1800034"/>
            <a:ext cx="6161723" cy="2199961"/>
          </a:xfrm>
          <a:prstGeom prst="rect">
            <a:avLst/>
          </a:prstGeom>
        </p:spPr>
        <p:txBody>
          <a:bodyPr vert="horz" wrap="square" lIns="0" tIns="55245" rIns="0" bIns="0" rtlCol="0">
            <a:spAutoFit/>
          </a:bodyPr>
          <a:lstStyle/>
          <a:p>
            <a:pPr marL="277178" indent="-258128">
              <a:spcBef>
                <a:spcPts val="435"/>
              </a:spcBef>
              <a:buClr>
                <a:srgbClr val="063DE8"/>
              </a:buClr>
              <a:buSzPct val="75000"/>
              <a:buFont typeface="Segoe UI Symbol"/>
              <a:buChar char="❑"/>
              <a:tabLst>
                <a:tab pos="277178" algn="l"/>
              </a:tabLst>
            </a:pPr>
            <a:r>
              <a:rPr dirty="0">
                <a:latin typeface="Times New Roman"/>
                <a:cs typeface="Times New Roman"/>
              </a:rPr>
              <a:t>Security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-34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computers,</a:t>
            </a:r>
            <a:r>
              <a:rPr spc="-26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companies,</a:t>
            </a:r>
            <a:r>
              <a:rPr spc="-26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smart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grid,</a:t>
            </a:r>
            <a:r>
              <a:rPr spc="-11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spc="-8" dirty="0">
                <a:latin typeface="Times New Roman"/>
                <a:cs typeface="Times New Roman"/>
              </a:rPr>
              <a:t>nations</a:t>
            </a:r>
            <a:endParaRPr dirty="0">
              <a:latin typeface="Times New Roman"/>
              <a:cs typeface="Times New Roman"/>
            </a:endParaRPr>
          </a:p>
          <a:p>
            <a:pPr marL="277178" marR="909638" indent="-258604">
              <a:spcBef>
                <a:spcPts val="360"/>
              </a:spcBef>
              <a:buClr>
                <a:srgbClr val="063DE8"/>
              </a:buClr>
              <a:buSzPct val="75000"/>
              <a:buFont typeface="Segoe UI Symbol"/>
              <a:buChar char="❑"/>
              <a:tabLst>
                <a:tab pos="334328" algn="l"/>
              </a:tabLst>
            </a:pPr>
            <a:r>
              <a:rPr dirty="0">
                <a:latin typeface="Times New Roman"/>
                <a:cs typeface="Times New Roman"/>
              </a:rPr>
              <a:t>Nation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States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are</a:t>
            </a:r>
            <a:r>
              <a:rPr spc="-19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penetrating</a:t>
            </a:r>
            <a:r>
              <a:rPr spc="-26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other</a:t>
            </a:r>
            <a:r>
              <a:rPr spc="-34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nations’</a:t>
            </a:r>
            <a:r>
              <a:rPr spc="-38" dirty="0">
                <a:latin typeface="Times New Roman"/>
                <a:cs typeface="Times New Roman"/>
              </a:rPr>
              <a:t> </a:t>
            </a:r>
            <a:r>
              <a:rPr spc="-8" dirty="0">
                <a:latin typeface="Times New Roman"/>
                <a:cs typeface="Times New Roman"/>
              </a:rPr>
              <a:t>computers 	</a:t>
            </a:r>
            <a:r>
              <a:rPr dirty="0">
                <a:latin typeface="Times New Roman"/>
                <a:cs typeface="Times New Roman"/>
              </a:rPr>
              <a:t>5</a:t>
            </a:r>
            <a:r>
              <a:rPr baseline="24305" dirty="0">
                <a:latin typeface="Times New Roman"/>
                <a:cs typeface="Times New Roman"/>
              </a:rPr>
              <a:t>th</a:t>
            </a:r>
            <a:r>
              <a:rPr spc="174" baseline="2430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domain</a:t>
            </a:r>
            <a:r>
              <a:rPr spc="-19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-26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warfare</a:t>
            </a:r>
            <a:r>
              <a:rPr spc="8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(after</a:t>
            </a:r>
            <a:r>
              <a:rPr spc="-11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land,</a:t>
            </a:r>
            <a:r>
              <a:rPr spc="-19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sea,</a:t>
            </a:r>
            <a:r>
              <a:rPr spc="-4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air,</a:t>
            </a:r>
            <a:r>
              <a:rPr spc="-19" dirty="0">
                <a:latin typeface="Times New Roman"/>
                <a:cs typeface="Times New Roman"/>
              </a:rPr>
              <a:t> </a:t>
            </a:r>
            <a:r>
              <a:rPr spc="-8" dirty="0">
                <a:latin typeface="Times New Roman"/>
                <a:cs typeface="Times New Roman"/>
              </a:rPr>
              <a:t>space)</a:t>
            </a:r>
            <a:endParaRPr dirty="0">
              <a:latin typeface="Times New Roman"/>
              <a:cs typeface="Times New Roman"/>
            </a:endParaRPr>
          </a:p>
          <a:p>
            <a:pPr marL="277178" indent="-258128">
              <a:spcBef>
                <a:spcPts val="375"/>
              </a:spcBef>
              <a:buClr>
                <a:srgbClr val="063DE8"/>
              </a:buClr>
              <a:buSzPct val="75000"/>
              <a:buFont typeface="Segoe UI Symbol"/>
              <a:buChar char="❑"/>
              <a:tabLst>
                <a:tab pos="277178" algn="l"/>
              </a:tabLst>
            </a:pPr>
            <a:r>
              <a:rPr dirty="0">
                <a:latin typeface="Times New Roman"/>
                <a:cs typeface="Times New Roman"/>
              </a:rPr>
              <a:t>In</a:t>
            </a:r>
            <a:r>
              <a:rPr spc="8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2010,</a:t>
            </a:r>
            <a:r>
              <a:rPr spc="-23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US</a:t>
            </a:r>
            <a:r>
              <a:rPr spc="-19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set</a:t>
            </a:r>
            <a:r>
              <a:rPr spc="-23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up</a:t>
            </a:r>
            <a:r>
              <a:rPr spc="-23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US</a:t>
            </a:r>
            <a:r>
              <a:rPr spc="-19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Cyber</a:t>
            </a:r>
            <a:r>
              <a:rPr spc="38" dirty="0">
                <a:latin typeface="Times New Roman"/>
                <a:cs typeface="Times New Roman"/>
              </a:rPr>
              <a:t> </a:t>
            </a:r>
            <a:r>
              <a:rPr spc="-8" dirty="0">
                <a:latin typeface="Times New Roman"/>
                <a:cs typeface="Times New Roman"/>
              </a:rPr>
              <a:t>Command</a:t>
            </a:r>
            <a:endParaRPr dirty="0">
              <a:latin typeface="Times New Roman"/>
              <a:cs typeface="Times New Roman"/>
            </a:endParaRPr>
          </a:p>
          <a:p>
            <a:pPr marL="277178" indent="-258128">
              <a:spcBef>
                <a:spcPts val="379"/>
              </a:spcBef>
              <a:buClr>
                <a:srgbClr val="063DE8"/>
              </a:buClr>
              <a:buSzPct val="75000"/>
              <a:buFont typeface="Segoe UI Symbol"/>
              <a:buChar char="❑"/>
              <a:tabLst>
                <a:tab pos="277178" algn="l"/>
              </a:tabLst>
            </a:pPr>
            <a:r>
              <a:rPr dirty="0">
                <a:latin typeface="Times New Roman"/>
                <a:cs typeface="Times New Roman"/>
              </a:rPr>
              <a:t>UK,</a:t>
            </a:r>
            <a:r>
              <a:rPr spc="-19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China,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Russia,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Israel,</a:t>
            </a:r>
            <a:r>
              <a:rPr spc="19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North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Korea</a:t>
            </a:r>
            <a:r>
              <a:rPr spc="-8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have</a:t>
            </a:r>
            <a:r>
              <a:rPr spc="-38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similar</a:t>
            </a:r>
            <a:r>
              <a:rPr spc="-53" dirty="0">
                <a:latin typeface="Times New Roman"/>
                <a:cs typeface="Times New Roman"/>
              </a:rPr>
              <a:t> </a:t>
            </a:r>
            <a:r>
              <a:rPr spc="-8" dirty="0">
                <a:latin typeface="Times New Roman"/>
                <a:cs typeface="Times New Roman"/>
              </a:rPr>
              <a:t>centers</a:t>
            </a:r>
            <a:endParaRPr dirty="0">
              <a:latin typeface="Times New Roman"/>
              <a:cs typeface="Times New Roman"/>
            </a:endParaRPr>
          </a:p>
          <a:p>
            <a:pPr marL="277178" marR="60484" indent="-258604">
              <a:spcBef>
                <a:spcPts val="379"/>
              </a:spcBef>
              <a:buClr>
                <a:srgbClr val="063DE8"/>
              </a:buClr>
              <a:buSzPct val="75000"/>
              <a:buFont typeface="Segoe UI Symbol"/>
              <a:buChar char="❑"/>
              <a:tabLst>
                <a:tab pos="277178" algn="l"/>
              </a:tabLst>
            </a:pPr>
            <a:r>
              <a:rPr dirty="0">
                <a:latin typeface="Times New Roman"/>
                <a:cs typeface="Times New Roman"/>
              </a:rPr>
              <a:t>Many</a:t>
            </a:r>
            <a:r>
              <a:rPr spc="-49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cyber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wars: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North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Korea</a:t>
            </a:r>
            <a:r>
              <a:rPr spc="-38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vs.</a:t>
            </a:r>
            <a:r>
              <a:rPr spc="-34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USA,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Israel</a:t>
            </a:r>
            <a:r>
              <a:rPr spc="8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vs.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Syria, </a:t>
            </a:r>
            <a:r>
              <a:rPr spc="-8" dirty="0">
                <a:latin typeface="Times New Roman"/>
                <a:cs typeface="Times New Roman"/>
              </a:rPr>
              <a:t>South </a:t>
            </a:r>
            <a:r>
              <a:rPr dirty="0">
                <a:latin typeface="Times New Roman"/>
                <a:cs typeface="Times New Roman"/>
              </a:rPr>
              <a:t>Korea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vs.</a:t>
            </a:r>
            <a:r>
              <a:rPr spc="-34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North</a:t>
            </a:r>
            <a:r>
              <a:rPr spc="-23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Korea,</a:t>
            </a:r>
            <a:r>
              <a:rPr spc="-23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India</a:t>
            </a:r>
            <a:r>
              <a:rPr spc="-11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vs.</a:t>
            </a:r>
            <a:r>
              <a:rPr spc="-34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Pakistan,</a:t>
            </a:r>
            <a:r>
              <a:rPr spc="-38" dirty="0">
                <a:latin typeface="Times New Roman"/>
                <a:cs typeface="Times New Roman"/>
              </a:rPr>
              <a:t> …</a:t>
            </a:r>
            <a:endParaRPr dirty="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88436" y="4057651"/>
            <a:ext cx="1771649" cy="99669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3887" y="3989070"/>
            <a:ext cx="1600190" cy="104241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175034" y="5104242"/>
            <a:ext cx="44862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b="1" spc="-19" dirty="0">
                <a:latin typeface="Times New Roman"/>
                <a:cs typeface="Times New Roman"/>
              </a:rPr>
              <a:t>New</a:t>
            </a:r>
            <a:endParaRPr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76021" y="1735074"/>
            <a:ext cx="0" cy="378619"/>
          </a:xfrm>
          <a:custGeom>
            <a:avLst/>
            <a:gdLst/>
            <a:ahLst/>
            <a:cxnLst/>
            <a:rect l="l" t="t" r="r" b="b"/>
            <a:pathLst>
              <a:path h="504825">
                <a:moveTo>
                  <a:pt x="0" y="0"/>
                </a:moveTo>
                <a:lnTo>
                  <a:pt x="0" y="504825"/>
                </a:lnTo>
              </a:path>
            </a:pathLst>
          </a:custGeom>
          <a:ln w="25400">
            <a:solidFill>
              <a:srgbClr val="063D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573393" y="2287142"/>
            <a:ext cx="2396014" cy="628650"/>
          </a:xfrm>
          <a:custGeom>
            <a:avLst/>
            <a:gdLst/>
            <a:ahLst/>
            <a:cxnLst/>
            <a:rect l="l" t="t" r="r" b="b"/>
            <a:pathLst>
              <a:path w="3194684" h="838200">
                <a:moveTo>
                  <a:pt x="0" y="0"/>
                </a:moveTo>
                <a:lnTo>
                  <a:pt x="3194304" y="0"/>
                </a:lnTo>
                <a:lnTo>
                  <a:pt x="3194304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0">
            <a:extLst>
              <a:ext uri="{FF2B5EF4-FFF2-40B4-BE49-F238E27FC236}">
                <a16:creationId xmlns:a16="http://schemas.microsoft.com/office/drawing/2014/main" id="{AA5B2A56-27AC-7636-40B4-E5DB64C9D6DE}"/>
              </a:ext>
            </a:extLst>
          </p:cNvPr>
          <p:cNvSpPr txBox="1"/>
          <p:nvPr/>
        </p:nvSpPr>
        <p:spPr>
          <a:xfrm>
            <a:off x="1725353" y="5062510"/>
            <a:ext cx="44862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lang="en-US" b="1" spc="-19" dirty="0">
                <a:latin typeface="Times New Roman"/>
                <a:cs typeface="Times New Roman"/>
              </a:rPr>
              <a:t>Old</a:t>
            </a:r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6181" y="448462"/>
            <a:ext cx="802513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u="none" spc="305" dirty="0">
                <a:solidFill>
                  <a:srgbClr val="000000"/>
                </a:solidFill>
                <a:latin typeface="Trebuchet MS"/>
                <a:cs typeface="Trebuchet MS"/>
              </a:rPr>
              <a:t>What’s</a:t>
            </a:r>
            <a:r>
              <a:rPr sz="2600" b="1" u="none" spc="1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600" b="1" u="none" spc="254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2600" b="1" u="none" spc="1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600" b="1" u="none" spc="220" dirty="0">
                <a:solidFill>
                  <a:srgbClr val="000000"/>
                </a:solidFill>
                <a:latin typeface="Trebuchet MS"/>
                <a:cs typeface="Trebuchet MS"/>
              </a:rPr>
              <a:t>Internet:</a:t>
            </a:r>
            <a:r>
              <a:rPr sz="2600" b="1" u="none" spc="1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600" b="1" u="none" spc="280" dirty="0">
                <a:solidFill>
                  <a:srgbClr val="000000"/>
                </a:solidFill>
                <a:latin typeface="Trebuchet MS"/>
                <a:cs typeface="Trebuchet MS"/>
              </a:rPr>
              <a:t>“nuts</a:t>
            </a:r>
            <a:r>
              <a:rPr sz="2600" b="1" u="none" spc="1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600" b="1" u="none" spc="330" dirty="0">
                <a:solidFill>
                  <a:srgbClr val="000000"/>
                </a:solidFill>
                <a:latin typeface="Trebuchet MS"/>
                <a:cs typeface="Trebuchet MS"/>
              </a:rPr>
              <a:t>and</a:t>
            </a:r>
            <a:r>
              <a:rPr sz="2600" b="1" u="none" spc="1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600" b="1" u="none" spc="260" dirty="0">
                <a:solidFill>
                  <a:srgbClr val="000000"/>
                </a:solidFill>
                <a:latin typeface="Trebuchet MS"/>
                <a:cs typeface="Trebuchet MS"/>
              </a:rPr>
              <a:t>bolts”</a:t>
            </a:r>
            <a:r>
              <a:rPr sz="2600" b="1" u="none" spc="1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600" b="1" u="none" spc="229" dirty="0">
                <a:solidFill>
                  <a:srgbClr val="000000"/>
                </a:solidFill>
                <a:latin typeface="Trebuchet MS"/>
                <a:cs typeface="Trebuchet MS"/>
              </a:rPr>
              <a:t>view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34743" y="1235430"/>
            <a:ext cx="35109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SzPct val="75000"/>
              <a:buFont typeface="Arial"/>
              <a:buChar char="•"/>
              <a:tabLst>
                <a:tab pos="241300" algn="l"/>
              </a:tabLst>
            </a:pPr>
            <a:r>
              <a:rPr sz="2400" spc="105" dirty="0">
                <a:latin typeface="Trebuchet MS"/>
                <a:cs typeface="Trebuchet MS"/>
              </a:rPr>
              <a:t>millions</a:t>
            </a:r>
            <a:r>
              <a:rPr sz="2400" spc="45" dirty="0">
                <a:latin typeface="Trebuchet MS"/>
                <a:cs typeface="Trebuchet MS"/>
              </a:rPr>
              <a:t> </a:t>
            </a:r>
            <a:r>
              <a:rPr sz="2400" spc="60" dirty="0">
                <a:latin typeface="Trebuchet MS"/>
                <a:cs typeface="Trebuchet MS"/>
              </a:rPr>
              <a:t>of</a:t>
            </a:r>
            <a:r>
              <a:rPr sz="2400" spc="45" dirty="0">
                <a:latin typeface="Trebuchet MS"/>
                <a:cs typeface="Trebuchet MS"/>
              </a:rPr>
              <a:t> </a:t>
            </a:r>
            <a:r>
              <a:rPr sz="2400" spc="130" dirty="0">
                <a:latin typeface="Trebuchet MS"/>
                <a:cs typeface="Trebuchet MS"/>
              </a:rPr>
              <a:t>connected </a:t>
            </a:r>
            <a:r>
              <a:rPr sz="2400" spc="165" dirty="0">
                <a:latin typeface="Trebuchet MS"/>
                <a:cs typeface="Trebuchet MS"/>
              </a:rPr>
              <a:t>computing</a:t>
            </a:r>
            <a:r>
              <a:rPr sz="2400" spc="40" dirty="0">
                <a:latin typeface="Trebuchet MS"/>
                <a:cs typeface="Trebuchet MS"/>
              </a:rPr>
              <a:t> </a:t>
            </a:r>
            <a:r>
              <a:rPr sz="2400" spc="110" dirty="0">
                <a:latin typeface="Trebuchet MS"/>
                <a:cs typeface="Trebuchet MS"/>
              </a:rPr>
              <a:t>devices: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1098" y="2048662"/>
            <a:ext cx="131445" cy="629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CC0000"/>
                </a:solidFill>
                <a:latin typeface="Arial"/>
                <a:cs typeface="Arial"/>
              </a:rPr>
              <a:t>–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500" spc="-50" dirty="0">
                <a:latin typeface="Arial"/>
                <a:cs typeface="Arial"/>
              </a:rPr>
              <a:t>–</a:t>
            </a:r>
            <a:endParaRPr sz="1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59698" y="1948645"/>
            <a:ext cx="2814320" cy="77978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2000" i="1" spc="135" dirty="0">
                <a:solidFill>
                  <a:srgbClr val="CC0000"/>
                </a:solidFill>
                <a:latin typeface="Trebuchet MS"/>
                <a:cs typeface="Trebuchet MS"/>
              </a:rPr>
              <a:t>hosts</a:t>
            </a:r>
            <a:r>
              <a:rPr sz="2000" i="1" spc="35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2000" i="1" spc="615" dirty="0">
                <a:latin typeface="Trebuchet MS"/>
                <a:cs typeface="Trebuchet MS"/>
              </a:rPr>
              <a:t>=</a:t>
            </a:r>
            <a:r>
              <a:rPr sz="2000" i="1" spc="40" dirty="0">
                <a:latin typeface="Trebuchet MS"/>
                <a:cs typeface="Trebuchet MS"/>
              </a:rPr>
              <a:t> </a:t>
            </a:r>
            <a:r>
              <a:rPr sz="2000" i="1" spc="160" dirty="0">
                <a:solidFill>
                  <a:srgbClr val="CC0000"/>
                </a:solidFill>
                <a:latin typeface="Trebuchet MS"/>
                <a:cs typeface="Trebuchet MS"/>
              </a:rPr>
              <a:t>end</a:t>
            </a:r>
            <a:r>
              <a:rPr sz="2000" i="1" spc="30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2000" i="1" spc="160" dirty="0">
                <a:solidFill>
                  <a:srgbClr val="CC0000"/>
                </a:solidFill>
                <a:latin typeface="Trebuchet MS"/>
                <a:cs typeface="Trebuchet MS"/>
              </a:rPr>
              <a:t>systems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000" spc="140" dirty="0">
                <a:latin typeface="Trebuchet MS"/>
                <a:cs typeface="Trebuchet MS"/>
              </a:rPr>
              <a:t>running</a:t>
            </a:r>
            <a:r>
              <a:rPr sz="2000" spc="50" dirty="0">
                <a:latin typeface="Trebuchet MS"/>
                <a:cs typeface="Trebuchet MS"/>
              </a:rPr>
              <a:t> </a:t>
            </a:r>
            <a:r>
              <a:rPr sz="2000" i="1" spc="95" dirty="0">
                <a:solidFill>
                  <a:srgbClr val="CC0000"/>
                </a:solidFill>
                <a:latin typeface="Trebuchet MS"/>
                <a:cs typeface="Trebuchet MS"/>
              </a:rPr>
              <a:t>network</a:t>
            </a:r>
            <a:r>
              <a:rPr sz="2000" i="1" spc="50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2000" i="1" spc="145" dirty="0">
                <a:solidFill>
                  <a:srgbClr val="CC0000"/>
                </a:solidFill>
                <a:latin typeface="Trebuchet MS"/>
                <a:cs typeface="Trebuchet MS"/>
              </a:rPr>
              <a:t>apps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32621" y="4258335"/>
            <a:ext cx="131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90" dirty="0">
                <a:solidFill>
                  <a:srgbClr val="000099"/>
                </a:solidFill>
                <a:latin typeface="Symbol"/>
                <a:cs typeface="Symbol"/>
              </a:rPr>
              <a:t>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32621" y="3835336"/>
            <a:ext cx="2567305" cy="982344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94005" marR="5080" indent="-281940">
              <a:lnSpc>
                <a:spcPct val="82900"/>
              </a:lnSpc>
              <a:spcBef>
                <a:spcPts val="470"/>
              </a:spcBef>
              <a:buClr>
                <a:srgbClr val="000099"/>
              </a:buClr>
              <a:buFont typeface="Symbol"/>
              <a:buChar char=""/>
              <a:tabLst>
                <a:tab pos="294005" algn="l"/>
              </a:tabLst>
            </a:pPr>
            <a:r>
              <a:rPr sz="1800" dirty="0">
                <a:latin typeface="Trebuchet MS"/>
                <a:cs typeface="Trebuchet MS"/>
              </a:rPr>
              <a:t>fiber,</a:t>
            </a:r>
            <a:r>
              <a:rPr sz="1800" spc="110" dirty="0">
                <a:latin typeface="Trebuchet MS"/>
                <a:cs typeface="Trebuchet MS"/>
              </a:rPr>
              <a:t> </a:t>
            </a:r>
            <a:r>
              <a:rPr sz="1800" spc="75" dirty="0">
                <a:latin typeface="Trebuchet MS"/>
                <a:cs typeface="Trebuchet MS"/>
              </a:rPr>
              <a:t>copper,</a:t>
            </a:r>
            <a:r>
              <a:rPr sz="1800" spc="114" dirty="0">
                <a:latin typeface="Trebuchet MS"/>
                <a:cs typeface="Trebuchet MS"/>
              </a:rPr>
              <a:t> </a:t>
            </a:r>
            <a:r>
              <a:rPr sz="1800" spc="45" dirty="0">
                <a:latin typeface="Trebuchet MS"/>
                <a:cs typeface="Trebuchet MS"/>
              </a:rPr>
              <a:t>radio, satellite </a:t>
            </a:r>
            <a:r>
              <a:rPr sz="1800" spc="114" dirty="0">
                <a:latin typeface="Trebuchet MS"/>
                <a:cs typeface="Trebuchet MS"/>
              </a:rPr>
              <a:t>transmission</a:t>
            </a:r>
            <a:r>
              <a:rPr sz="1800" spc="7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rate: </a:t>
            </a:r>
            <a:r>
              <a:rPr sz="1800" i="1" spc="85" dirty="0">
                <a:solidFill>
                  <a:srgbClr val="CC0000"/>
                </a:solidFill>
                <a:latin typeface="Trebuchet MS"/>
                <a:cs typeface="Trebuchet MS"/>
              </a:rPr>
              <a:t>bandwidth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5494" y="3590175"/>
            <a:ext cx="3280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baseline="-7936" dirty="0">
                <a:latin typeface="Arial"/>
                <a:cs typeface="Arial"/>
              </a:rPr>
              <a:t>wireless</a:t>
            </a:r>
            <a:r>
              <a:rPr sz="2025" baseline="16460" dirty="0">
                <a:solidFill>
                  <a:srgbClr val="000099"/>
                </a:solidFill>
                <a:latin typeface="Symbol"/>
                <a:cs typeface="Symbol"/>
              </a:rPr>
              <a:t></a:t>
            </a:r>
            <a:r>
              <a:rPr sz="2025" spc="359" baseline="16460" dirty="0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sz="1800" i="1" spc="110" dirty="0">
                <a:solidFill>
                  <a:srgbClr val="CC0000"/>
                </a:solidFill>
                <a:latin typeface="Trebuchet MS"/>
                <a:cs typeface="Trebuchet MS"/>
              </a:rPr>
              <a:t>communication</a:t>
            </a:r>
            <a:r>
              <a:rPr sz="1800" i="1" spc="40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1800" i="1" spc="60" dirty="0">
                <a:solidFill>
                  <a:srgbClr val="CC0000"/>
                </a:solidFill>
                <a:latin typeface="Trebuchet MS"/>
                <a:cs typeface="Trebuchet MS"/>
              </a:rPr>
              <a:t>links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50364" y="5297296"/>
            <a:ext cx="3189605" cy="81153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79400" marR="43180" indent="-228600" algn="r">
              <a:lnSpc>
                <a:spcPts val="1830"/>
              </a:lnSpc>
              <a:spcBef>
                <a:spcPts val="434"/>
              </a:spcBef>
            </a:pPr>
            <a:r>
              <a:rPr sz="2025" spc="397" baseline="16460" dirty="0">
                <a:solidFill>
                  <a:srgbClr val="000099"/>
                </a:solidFill>
                <a:latin typeface="Symbol"/>
                <a:cs typeface="Symbol"/>
              </a:rPr>
              <a:t></a:t>
            </a:r>
            <a:r>
              <a:rPr sz="2025" spc="359" baseline="16460" dirty="0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sz="1800" i="1" spc="100" dirty="0">
                <a:solidFill>
                  <a:srgbClr val="CC0000"/>
                </a:solidFill>
                <a:latin typeface="Trebuchet MS"/>
                <a:cs typeface="Trebuchet MS"/>
              </a:rPr>
              <a:t>Packet</a:t>
            </a:r>
            <a:r>
              <a:rPr sz="1800" i="1" spc="50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1800" i="1" spc="85" dirty="0">
                <a:solidFill>
                  <a:srgbClr val="CC0000"/>
                </a:solidFill>
                <a:latin typeface="Trebuchet MS"/>
                <a:cs typeface="Trebuchet MS"/>
              </a:rPr>
              <a:t>switches:</a:t>
            </a:r>
            <a:r>
              <a:rPr sz="1800" i="1" spc="65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1800" spc="70" dirty="0">
                <a:latin typeface="Trebuchet MS"/>
                <a:cs typeface="Trebuchet MS"/>
              </a:rPr>
              <a:t>forward </a:t>
            </a:r>
            <a:r>
              <a:rPr sz="1800" spc="110" dirty="0">
                <a:latin typeface="Trebuchet MS"/>
                <a:cs typeface="Trebuchet MS"/>
              </a:rPr>
              <a:t>packets</a:t>
            </a:r>
            <a:r>
              <a:rPr sz="1800" spc="45" dirty="0">
                <a:latin typeface="Trebuchet MS"/>
                <a:cs typeface="Trebuchet MS"/>
              </a:rPr>
              <a:t> </a:t>
            </a:r>
            <a:r>
              <a:rPr sz="1800" spc="125" dirty="0">
                <a:latin typeface="Trebuchet MS"/>
                <a:cs typeface="Trebuchet MS"/>
              </a:rPr>
              <a:t>(chunks</a:t>
            </a:r>
            <a:r>
              <a:rPr sz="1800" spc="40" dirty="0">
                <a:latin typeface="Trebuchet MS"/>
                <a:cs typeface="Trebuchet MS"/>
              </a:rPr>
              <a:t> </a:t>
            </a:r>
            <a:r>
              <a:rPr sz="1800" spc="50" dirty="0">
                <a:latin typeface="Trebuchet MS"/>
                <a:cs typeface="Trebuchet MS"/>
              </a:rPr>
              <a:t>of</a:t>
            </a:r>
            <a:r>
              <a:rPr sz="1800" spc="45" dirty="0">
                <a:latin typeface="Trebuchet MS"/>
                <a:cs typeface="Trebuchet MS"/>
              </a:rPr>
              <a:t> </a:t>
            </a:r>
            <a:r>
              <a:rPr sz="1800" spc="70" dirty="0">
                <a:latin typeface="Trebuchet MS"/>
                <a:cs typeface="Trebuchet MS"/>
              </a:rPr>
              <a:t>data)</a:t>
            </a:r>
            <a:endParaRPr sz="1800">
              <a:latin typeface="Trebuchet MS"/>
              <a:cs typeface="Trebuchet MS"/>
            </a:endParaRPr>
          </a:p>
          <a:p>
            <a:pPr marL="227965" marR="57150" indent="-227965" algn="r">
              <a:lnSpc>
                <a:spcPct val="100000"/>
              </a:lnSpc>
              <a:spcBef>
                <a:spcPts val="30"/>
              </a:spcBef>
              <a:buClr>
                <a:srgbClr val="000099"/>
              </a:buClr>
              <a:buSzPct val="75000"/>
              <a:buFont typeface="Symbol"/>
              <a:buChar char=""/>
              <a:tabLst>
                <a:tab pos="227965" algn="l"/>
              </a:tabLst>
            </a:pPr>
            <a:r>
              <a:rPr sz="1800" i="1" spc="70" dirty="0">
                <a:solidFill>
                  <a:srgbClr val="BF0000"/>
                </a:solidFill>
                <a:latin typeface="Trebuchet MS"/>
                <a:cs typeface="Trebuchet MS"/>
              </a:rPr>
              <a:t>routers</a:t>
            </a:r>
            <a:r>
              <a:rPr sz="1800" i="1" spc="55" dirty="0">
                <a:solidFill>
                  <a:srgbClr val="BF0000"/>
                </a:solidFill>
                <a:latin typeface="Trebuchet MS"/>
                <a:cs typeface="Trebuchet MS"/>
              </a:rPr>
              <a:t> </a:t>
            </a:r>
            <a:r>
              <a:rPr sz="1800" spc="140" dirty="0">
                <a:latin typeface="Trebuchet MS"/>
                <a:cs typeface="Trebuchet MS"/>
              </a:rPr>
              <a:t>and</a:t>
            </a:r>
            <a:r>
              <a:rPr sz="1800" spc="50" dirty="0">
                <a:latin typeface="Trebuchet MS"/>
                <a:cs typeface="Trebuchet MS"/>
              </a:rPr>
              <a:t> </a:t>
            </a:r>
            <a:r>
              <a:rPr sz="1800" i="1" spc="95" dirty="0">
                <a:solidFill>
                  <a:srgbClr val="BF0000"/>
                </a:solidFill>
                <a:latin typeface="Trebuchet MS"/>
                <a:cs typeface="Trebuchet MS"/>
              </a:rPr>
              <a:t>switches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7024" y="4084459"/>
            <a:ext cx="977900" cy="39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7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1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400" u="none" spc="114" dirty="0">
                <a:latin typeface="Times New Roman"/>
                <a:cs typeface="Times New Roman"/>
              </a:rPr>
              <a:t> </a:t>
            </a:r>
            <a:r>
              <a:rPr sz="1400" u="none" dirty="0">
                <a:latin typeface="Arial"/>
                <a:cs typeface="Arial"/>
              </a:rPr>
              <a:t>wired</a:t>
            </a:r>
            <a:endParaRPr sz="1400">
              <a:latin typeface="Arial"/>
              <a:cs typeface="Arial"/>
            </a:endParaRPr>
          </a:p>
          <a:p>
            <a:pPr marL="539750">
              <a:lnSpc>
                <a:spcPts val="1470"/>
              </a:lnSpc>
            </a:pPr>
            <a:r>
              <a:rPr sz="1400" spc="-10" dirty="0">
                <a:latin typeface="Arial"/>
                <a:cs typeface="Arial"/>
              </a:rPr>
              <a:t>links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60894" y="3826344"/>
            <a:ext cx="3822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links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38035" y="3454196"/>
            <a:ext cx="767080" cy="611505"/>
            <a:chOff x="338035" y="3454196"/>
            <a:chExt cx="767080" cy="611505"/>
          </a:xfrm>
        </p:grpSpPr>
        <p:sp>
          <p:nvSpPr>
            <p:cNvPr id="13" name="object 13"/>
            <p:cNvSpPr/>
            <p:nvPr/>
          </p:nvSpPr>
          <p:spPr>
            <a:xfrm>
              <a:off x="842759" y="3571925"/>
              <a:ext cx="201930" cy="322580"/>
            </a:xfrm>
            <a:custGeom>
              <a:avLst/>
              <a:gdLst/>
              <a:ahLst/>
              <a:cxnLst/>
              <a:rect l="l" t="t" r="r" b="b"/>
              <a:pathLst>
                <a:path w="201930" h="322579">
                  <a:moveTo>
                    <a:pt x="104762" y="0"/>
                  </a:moveTo>
                  <a:lnTo>
                    <a:pt x="0" y="288709"/>
                  </a:lnTo>
                </a:path>
                <a:path w="201930" h="322579">
                  <a:moveTo>
                    <a:pt x="105117" y="0"/>
                  </a:moveTo>
                  <a:lnTo>
                    <a:pt x="196926" y="285838"/>
                  </a:lnTo>
                </a:path>
                <a:path w="201930" h="322579">
                  <a:moveTo>
                    <a:pt x="6477" y="296633"/>
                  </a:moveTo>
                  <a:lnTo>
                    <a:pt x="98285" y="322198"/>
                  </a:lnTo>
                </a:path>
                <a:path w="201930" h="322579">
                  <a:moveTo>
                    <a:pt x="201599" y="296633"/>
                  </a:moveTo>
                  <a:lnTo>
                    <a:pt x="97205" y="322198"/>
                  </a:lnTo>
                </a:path>
                <a:path w="201930" h="322579">
                  <a:moveTo>
                    <a:pt x="105117" y="7912"/>
                  </a:moveTo>
                  <a:lnTo>
                    <a:pt x="105117" y="320751"/>
                  </a:lnTo>
                </a:path>
                <a:path w="201930" h="322579">
                  <a:moveTo>
                    <a:pt x="6477" y="295198"/>
                  </a:moveTo>
                  <a:lnTo>
                    <a:pt x="98285" y="257035"/>
                  </a:lnTo>
                </a:path>
                <a:path w="201930" h="322579">
                  <a:moveTo>
                    <a:pt x="201599" y="293750"/>
                  </a:moveTo>
                  <a:lnTo>
                    <a:pt x="97205" y="257035"/>
                  </a:lnTo>
                </a:path>
                <a:path w="201930" h="322579">
                  <a:moveTo>
                    <a:pt x="48602" y="168109"/>
                  </a:moveTo>
                  <a:lnTo>
                    <a:pt x="96837" y="185750"/>
                  </a:lnTo>
                </a:path>
                <a:path w="201930" h="322579">
                  <a:moveTo>
                    <a:pt x="105117" y="191515"/>
                  </a:moveTo>
                  <a:lnTo>
                    <a:pt x="156235" y="161632"/>
                  </a:lnTo>
                </a:path>
                <a:path w="201930" h="322579">
                  <a:moveTo>
                    <a:pt x="31318" y="210959"/>
                  </a:moveTo>
                  <a:lnTo>
                    <a:pt x="97205" y="237959"/>
                  </a:lnTo>
                </a:path>
                <a:path w="201930" h="322579">
                  <a:moveTo>
                    <a:pt x="105117" y="244068"/>
                  </a:moveTo>
                  <a:lnTo>
                    <a:pt x="170637" y="209156"/>
                  </a:lnTo>
                </a:path>
                <a:path w="201930" h="322579">
                  <a:moveTo>
                    <a:pt x="105117" y="134632"/>
                  </a:moveTo>
                  <a:lnTo>
                    <a:pt x="134277" y="116992"/>
                  </a:lnTo>
                </a:path>
                <a:path w="201930" h="322579">
                  <a:moveTo>
                    <a:pt x="105117" y="71272"/>
                  </a:moveTo>
                  <a:lnTo>
                    <a:pt x="122047" y="55435"/>
                  </a:lnTo>
                </a:path>
                <a:path w="201930" h="322579">
                  <a:moveTo>
                    <a:pt x="64439" y="120599"/>
                  </a:moveTo>
                  <a:lnTo>
                    <a:pt x="101879" y="129959"/>
                  </a:lnTo>
                </a:path>
                <a:path w="201930" h="322579">
                  <a:moveTo>
                    <a:pt x="81356" y="60109"/>
                  </a:moveTo>
                  <a:lnTo>
                    <a:pt x="103314" y="69837"/>
                  </a:lnTo>
                </a:path>
              </a:pathLst>
            </a:custGeom>
            <a:ln w="19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800" y="3454196"/>
              <a:ext cx="311035" cy="22859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8446" y="354959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1E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28446" y="354959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722" y="3704755"/>
              <a:ext cx="405002" cy="36036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8035" y="3650754"/>
              <a:ext cx="555840" cy="11916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708736" y="5663057"/>
            <a:ext cx="4908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router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99839" y="5486577"/>
            <a:ext cx="486409" cy="117475"/>
            <a:chOff x="699839" y="5486577"/>
            <a:chExt cx="486409" cy="117475"/>
          </a:xfrm>
        </p:grpSpPr>
        <p:sp>
          <p:nvSpPr>
            <p:cNvPr id="21" name="object 21"/>
            <p:cNvSpPr/>
            <p:nvPr/>
          </p:nvSpPr>
          <p:spPr>
            <a:xfrm>
              <a:off x="704519" y="554795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519" y="5535739"/>
              <a:ext cx="473036" cy="6191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93242" y="5486577"/>
              <a:ext cx="23495" cy="12700"/>
            </a:xfrm>
            <a:custGeom>
              <a:avLst/>
              <a:gdLst/>
              <a:ahLst/>
              <a:cxnLst/>
              <a:rect l="l" t="t" r="r" b="b"/>
              <a:pathLst>
                <a:path w="23494" h="12700">
                  <a:moveTo>
                    <a:pt x="23063" y="6299"/>
                  </a:moveTo>
                  <a:lnTo>
                    <a:pt x="21209" y="1854"/>
                  </a:lnTo>
                  <a:lnTo>
                    <a:pt x="16764" y="0"/>
                  </a:lnTo>
                  <a:lnTo>
                    <a:pt x="12306" y="1854"/>
                  </a:lnTo>
                  <a:lnTo>
                    <a:pt x="11531" y="3721"/>
                  </a:lnTo>
                  <a:lnTo>
                    <a:pt x="10756" y="1854"/>
                  </a:lnTo>
                  <a:lnTo>
                    <a:pt x="6311" y="0"/>
                  </a:lnTo>
                  <a:lnTo>
                    <a:pt x="1854" y="1854"/>
                  </a:lnTo>
                  <a:lnTo>
                    <a:pt x="0" y="6299"/>
                  </a:lnTo>
                  <a:lnTo>
                    <a:pt x="1854" y="10756"/>
                  </a:lnTo>
                  <a:lnTo>
                    <a:pt x="6311" y="12611"/>
                  </a:lnTo>
                  <a:lnTo>
                    <a:pt x="10756" y="10756"/>
                  </a:lnTo>
                  <a:lnTo>
                    <a:pt x="11531" y="8902"/>
                  </a:lnTo>
                  <a:lnTo>
                    <a:pt x="12306" y="10756"/>
                  </a:lnTo>
                  <a:lnTo>
                    <a:pt x="16764" y="12611"/>
                  </a:lnTo>
                  <a:lnTo>
                    <a:pt x="21209" y="10756"/>
                  </a:lnTo>
                  <a:lnTo>
                    <a:pt x="23063" y="6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04519" y="5519877"/>
              <a:ext cx="476884" cy="84455"/>
            </a:xfrm>
            <a:custGeom>
              <a:avLst/>
              <a:gdLst/>
              <a:ahLst/>
              <a:cxnLst/>
              <a:rect l="l" t="t" r="r" b="b"/>
              <a:pathLst>
                <a:path w="476884" h="84454">
                  <a:moveTo>
                    <a:pt x="0" y="0"/>
                  </a:moveTo>
                  <a:lnTo>
                    <a:pt x="0" y="82448"/>
                  </a:lnTo>
                </a:path>
                <a:path w="476884" h="84454">
                  <a:moveTo>
                    <a:pt x="476643" y="1447"/>
                  </a:moveTo>
                  <a:lnTo>
                    <a:pt x="476643" y="83883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/>
          <p:nvPr/>
        </p:nvSpPr>
        <p:spPr>
          <a:xfrm>
            <a:off x="703440" y="545796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003795" y="352691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202364" y="170928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5457964" y="2928873"/>
            <a:ext cx="2776855" cy="2670175"/>
            <a:chOff x="5457964" y="2928873"/>
            <a:chExt cx="2776855" cy="2670175"/>
          </a:xfrm>
        </p:grpSpPr>
        <p:sp>
          <p:nvSpPr>
            <p:cNvPr id="29" name="object 29"/>
            <p:cNvSpPr/>
            <p:nvPr/>
          </p:nvSpPr>
          <p:spPr>
            <a:xfrm>
              <a:off x="5511964" y="3238195"/>
              <a:ext cx="979805" cy="663575"/>
            </a:xfrm>
            <a:custGeom>
              <a:avLst/>
              <a:gdLst/>
              <a:ahLst/>
              <a:cxnLst/>
              <a:rect l="l" t="t" r="r" b="b"/>
              <a:pathLst>
                <a:path w="979804" h="663575">
                  <a:moveTo>
                    <a:pt x="979195" y="0"/>
                  </a:moveTo>
                  <a:lnTo>
                    <a:pt x="0" y="0"/>
                  </a:lnTo>
                  <a:lnTo>
                    <a:pt x="0" y="663486"/>
                  </a:lnTo>
                  <a:lnTo>
                    <a:pt x="489597" y="663486"/>
                  </a:lnTo>
                  <a:lnTo>
                    <a:pt x="979195" y="663486"/>
                  </a:lnTo>
                  <a:lnTo>
                    <a:pt x="979195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396200" y="3813124"/>
              <a:ext cx="157480" cy="114935"/>
            </a:xfrm>
            <a:custGeom>
              <a:avLst/>
              <a:gdLst/>
              <a:ahLst/>
              <a:cxnLst/>
              <a:rect l="l" t="t" r="r" b="b"/>
              <a:pathLst>
                <a:path w="157479" h="114935">
                  <a:moveTo>
                    <a:pt x="0" y="0"/>
                  </a:moveTo>
                  <a:lnTo>
                    <a:pt x="156959" y="114477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556030" y="3733914"/>
              <a:ext cx="189230" cy="0"/>
            </a:xfrm>
            <a:custGeom>
              <a:avLst/>
              <a:gdLst/>
              <a:ahLst/>
              <a:cxnLst/>
              <a:rect l="l" t="t" r="r" b="b"/>
              <a:pathLst>
                <a:path w="189229">
                  <a:moveTo>
                    <a:pt x="0" y="0"/>
                  </a:moveTo>
                  <a:lnTo>
                    <a:pt x="189001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729562" y="3812755"/>
              <a:ext cx="128905" cy="111760"/>
            </a:xfrm>
            <a:custGeom>
              <a:avLst/>
              <a:gdLst/>
              <a:ahLst/>
              <a:cxnLst/>
              <a:rect l="l" t="t" r="r" b="b"/>
              <a:pathLst>
                <a:path w="128904" h="111760">
                  <a:moveTo>
                    <a:pt x="0" y="111239"/>
                  </a:moveTo>
                  <a:lnTo>
                    <a:pt x="128511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427799" y="3740035"/>
              <a:ext cx="655320" cy="0"/>
            </a:xfrm>
            <a:custGeom>
              <a:avLst/>
              <a:gdLst/>
              <a:ahLst/>
              <a:cxnLst/>
              <a:rect l="l" t="t" r="r" b="b"/>
              <a:pathLst>
                <a:path w="655320">
                  <a:moveTo>
                    <a:pt x="0" y="0"/>
                  </a:moveTo>
                  <a:lnTo>
                    <a:pt x="655193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037359" y="4960442"/>
              <a:ext cx="191135" cy="530860"/>
            </a:xfrm>
            <a:custGeom>
              <a:avLst/>
              <a:gdLst/>
              <a:ahLst/>
              <a:cxnLst/>
              <a:rect l="l" t="t" r="r" b="b"/>
              <a:pathLst>
                <a:path w="191134" h="530860">
                  <a:moveTo>
                    <a:pt x="0" y="530275"/>
                  </a:moveTo>
                  <a:lnTo>
                    <a:pt x="133565" y="0"/>
                  </a:lnTo>
                </a:path>
                <a:path w="191134" h="530860">
                  <a:moveTo>
                    <a:pt x="82803" y="213118"/>
                  </a:moveTo>
                  <a:lnTo>
                    <a:pt x="190804" y="213118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737400" y="4677841"/>
              <a:ext cx="1005205" cy="205104"/>
            </a:xfrm>
            <a:custGeom>
              <a:avLst/>
              <a:gdLst/>
              <a:ahLst/>
              <a:cxnLst/>
              <a:rect l="l" t="t" r="r" b="b"/>
              <a:pathLst>
                <a:path w="1005204" h="205104">
                  <a:moveTo>
                    <a:pt x="620636" y="19443"/>
                  </a:moveTo>
                  <a:lnTo>
                    <a:pt x="1004760" y="197281"/>
                  </a:lnTo>
                </a:path>
                <a:path w="1005204" h="205104">
                  <a:moveTo>
                    <a:pt x="0" y="204838"/>
                  </a:moveTo>
                  <a:lnTo>
                    <a:pt x="315722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857263" y="4976634"/>
              <a:ext cx="888365" cy="0"/>
            </a:xfrm>
            <a:custGeom>
              <a:avLst/>
              <a:gdLst/>
              <a:ahLst/>
              <a:cxnLst/>
              <a:rect l="l" t="t" r="r" b="b"/>
              <a:pathLst>
                <a:path w="888365">
                  <a:moveTo>
                    <a:pt x="0" y="0"/>
                  </a:moveTo>
                  <a:lnTo>
                    <a:pt x="888136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842076" y="3522598"/>
              <a:ext cx="1398905" cy="1793875"/>
            </a:xfrm>
            <a:custGeom>
              <a:avLst/>
              <a:gdLst/>
              <a:ahLst/>
              <a:cxnLst/>
              <a:rect l="l" t="t" r="r" b="b"/>
              <a:pathLst>
                <a:path w="1398904" h="1793875">
                  <a:moveTo>
                    <a:pt x="258838" y="1251000"/>
                  </a:moveTo>
                  <a:lnTo>
                    <a:pt x="515886" y="1330566"/>
                  </a:lnTo>
                </a:path>
                <a:path w="1398904" h="1793875">
                  <a:moveTo>
                    <a:pt x="0" y="1587245"/>
                  </a:moveTo>
                  <a:lnTo>
                    <a:pt x="406438" y="1453680"/>
                  </a:lnTo>
                </a:path>
                <a:path w="1398904" h="1793875">
                  <a:moveTo>
                    <a:pt x="568083" y="1548002"/>
                  </a:moveTo>
                  <a:lnTo>
                    <a:pt x="419049" y="1739887"/>
                  </a:lnTo>
                </a:path>
                <a:path w="1398904" h="1793875">
                  <a:moveTo>
                    <a:pt x="820445" y="1747799"/>
                  </a:moveTo>
                  <a:lnTo>
                    <a:pt x="739444" y="1568526"/>
                  </a:lnTo>
                </a:path>
                <a:path w="1398904" h="1793875">
                  <a:moveTo>
                    <a:pt x="901801" y="1530362"/>
                  </a:moveTo>
                  <a:lnTo>
                    <a:pt x="1398600" y="1793875"/>
                  </a:lnTo>
                </a:path>
                <a:path w="1398904" h="1793875">
                  <a:moveTo>
                    <a:pt x="439559" y="0"/>
                  </a:moveTo>
                  <a:lnTo>
                    <a:pt x="439559" y="125641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886354" y="3732117"/>
              <a:ext cx="168275" cy="0"/>
            </a:xfrm>
            <a:custGeom>
              <a:avLst/>
              <a:gdLst/>
              <a:ahLst/>
              <a:cxnLst/>
              <a:rect l="l" t="t" r="r" b="b"/>
              <a:pathLst>
                <a:path w="168275">
                  <a:moveTo>
                    <a:pt x="0" y="0"/>
                  </a:moveTo>
                  <a:lnTo>
                    <a:pt x="167760" y="0"/>
                  </a:lnTo>
                </a:path>
              </a:pathLst>
            </a:custGeom>
            <a:ln w="187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272362" y="2933636"/>
              <a:ext cx="727075" cy="1577975"/>
            </a:xfrm>
            <a:custGeom>
              <a:avLst/>
              <a:gdLst/>
              <a:ahLst/>
              <a:cxnLst/>
              <a:rect l="l" t="t" r="r" b="b"/>
              <a:pathLst>
                <a:path w="727075" h="1577975">
                  <a:moveTo>
                    <a:pt x="726833" y="0"/>
                  </a:moveTo>
                  <a:lnTo>
                    <a:pt x="609117" y="720725"/>
                  </a:lnTo>
                </a:path>
                <a:path w="727075" h="1577975">
                  <a:moveTo>
                    <a:pt x="0" y="1577886"/>
                  </a:moveTo>
                  <a:lnTo>
                    <a:pt x="220675" y="1135087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76925" y="4533480"/>
              <a:ext cx="407885" cy="36503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57964" y="4954320"/>
              <a:ext cx="476275" cy="39996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35675" y="5255996"/>
              <a:ext cx="419036" cy="34272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50202" y="5238356"/>
              <a:ext cx="419036" cy="344525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7399975" y="3997077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h="9525">
                  <a:moveTo>
                    <a:pt x="0" y="0"/>
                  </a:moveTo>
                  <a:lnTo>
                    <a:pt x="0" y="9359"/>
                  </a:lnTo>
                </a:path>
              </a:pathLst>
            </a:custGeom>
            <a:ln w="46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02309" y="3986301"/>
              <a:ext cx="474472" cy="6334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7400518" y="391176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490688" y="3940377"/>
              <a:ext cx="23495" cy="12700"/>
            </a:xfrm>
            <a:custGeom>
              <a:avLst/>
              <a:gdLst/>
              <a:ahLst/>
              <a:cxnLst/>
              <a:rect l="l" t="t" r="r" b="b"/>
              <a:pathLst>
                <a:path w="23495" h="12700">
                  <a:moveTo>
                    <a:pt x="23406" y="6299"/>
                  </a:moveTo>
                  <a:lnTo>
                    <a:pt x="21551" y="1854"/>
                  </a:lnTo>
                  <a:lnTo>
                    <a:pt x="17106" y="0"/>
                  </a:lnTo>
                  <a:lnTo>
                    <a:pt x="12649" y="1854"/>
                  </a:lnTo>
                  <a:lnTo>
                    <a:pt x="11696" y="4127"/>
                  </a:lnTo>
                  <a:lnTo>
                    <a:pt x="10756" y="1854"/>
                  </a:lnTo>
                  <a:lnTo>
                    <a:pt x="6311" y="0"/>
                  </a:lnTo>
                  <a:lnTo>
                    <a:pt x="1854" y="1854"/>
                  </a:lnTo>
                  <a:lnTo>
                    <a:pt x="0" y="6299"/>
                  </a:lnTo>
                  <a:lnTo>
                    <a:pt x="1854" y="10756"/>
                  </a:lnTo>
                  <a:lnTo>
                    <a:pt x="6311" y="12611"/>
                  </a:lnTo>
                  <a:lnTo>
                    <a:pt x="10756" y="10756"/>
                  </a:lnTo>
                  <a:lnTo>
                    <a:pt x="11696" y="8483"/>
                  </a:lnTo>
                  <a:lnTo>
                    <a:pt x="12649" y="10756"/>
                  </a:lnTo>
                  <a:lnTo>
                    <a:pt x="17106" y="12611"/>
                  </a:lnTo>
                  <a:lnTo>
                    <a:pt x="21551" y="10756"/>
                  </a:lnTo>
                  <a:lnTo>
                    <a:pt x="23406" y="6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402321" y="3973677"/>
              <a:ext cx="478155" cy="84455"/>
            </a:xfrm>
            <a:custGeom>
              <a:avLst/>
              <a:gdLst/>
              <a:ahLst/>
              <a:cxnLst/>
              <a:rect l="l" t="t" r="r" b="b"/>
              <a:pathLst>
                <a:path w="478154" h="84454">
                  <a:moveTo>
                    <a:pt x="0" y="0"/>
                  </a:moveTo>
                  <a:lnTo>
                    <a:pt x="0" y="82448"/>
                  </a:lnTo>
                </a:path>
                <a:path w="478154" h="84454">
                  <a:moveTo>
                    <a:pt x="478078" y="4686"/>
                  </a:moveTo>
                  <a:lnTo>
                    <a:pt x="478078" y="83883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77957" y="3708006"/>
              <a:ext cx="478072" cy="63715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7081557" y="363059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171372" y="3659225"/>
              <a:ext cx="25400" cy="12700"/>
            </a:xfrm>
            <a:custGeom>
              <a:avLst/>
              <a:gdLst/>
              <a:ahLst/>
              <a:cxnLst/>
              <a:rect l="l" t="t" r="r" b="b"/>
              <a:pathLst>
                <a:path w="25400" h="12700">
                  <a:moveTo>
                    <a:pt x="24841" y="6299"/>
                  </a:moveTo>
                  <a:lnTo>
                    <a:pt x="22987" y="1854"/>
                  </a:lnTo>
                  <a:lnTo>
                    <a:pt x="18542" y="0"/>
                  </a:lnTo>
                  <a:lnTo>
                    <a:pt x="14084" y="1854"/>
                  </a:lnTo>
                  <a:lnTo>
                    <a:pt x="12420" y="5854"/>
                  </a:lnTo>
                  <a:lnTo>
                    <a:pt x="10756" y="1854"/>
                  </a:lnTo>
                  <a:lnTo>
                    <a:pt x="6311" y="0"/>
                  </a:lnTo>
                  <a:lnTo>
                    <a:pt x="1854" y="1854"/>
                  </a:lnTo>
                  <a:lnTo>
                    <a:pt x="0" y="6299"/>
                  </a:lnTo>
                  <a:lnTo>
                    <a:pt x="1854" y="10756"/>
                  </a:lnTo>
                  <a:lnTo>
                    <a:pt x="6311" y="12611"/>
                  </a:lnTo>
                  <a:lnTo>
                    <a:pt x="10756" y="10756"/>
                  </a:lnTo>
                  <a:lnTo>
                    <a:pt x="12420" y="6769"/>
                  </a:lnTo>
                  <a:lnTo>
                    <a:pt x="14084" y="10756"/>
                  </a:lnTo>
                  <a:lnTo>
                    <a:pt x="18542" y="12611"/>
                  </a:lnTo>
                  <a:lnTo>
                    <a:pt x="22987" y="10756"/>
                  </a:lnTo>
                  <a:lnTo>
                    <a:pt x="24841" y="6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083005" y="3692524"/>
              <a:ext cx="476884" cy="85725"/>
            </a:xfrm>
            <a:custGeom>
              <a:avLst/>
              <a:gdLst/>
              <a:ahLst/>
              <a:cxnLst/>
              <a:rect l="l" t="t" r="r" b="b"/>
              <a:pathLst>
                <a:path w="476884" h="85725">
                  <a:moveTo>
                    <a:pt x="0" y="0"/>
                  </a:moveTo>
                  <a:lnTo>
                    <a:pt x="0" y="82435"/>
                  </a:lnTo>
                </a:path>
                <a:path w="476884" h="85725">
                  <a:moveTo>
                    <a:pt x="476630" y="4673"/>
                  </a:moveTo>
                  <a:lnTo>
                    <a:pt x="476630" y="85674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742697" y="3728878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h="9525">
                  <a:moveTo>
                    <a:pt x="0" y="0"/>
                  </a:moveTo>
                  <a:lnTo>
                    <a:pt x="0" y="9359"/>
                  </a:lnTo>
                </a:path>
              </a:pathLst>
            </a:custGeom>
            <a:ln w="46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745031" y="3719537"/>
              <a:ext cx="471589" cy="63347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7743596" y="364284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834122" y="3670375"/>
              <a:ext cx="22860" cy="12700"/>
            </a:xfrm>
            <a:custGeom>
              <a:avLst/>
              <a:gdLst/>
              <a:ahLst/>
              <a:cxnLst/>
              <a:rect l="l" t="t" r="r" b="b"/>
              <a:pathLst>
                <a:path w="22859" h="12700">
                  <a:moveTo>
                    <a:pt x="22694" y="6299"/>
                  </a:moveTo>
                  <a:lnTo>
                    <a:pt x="20840" y="1854"/>
                  </a:lnTo>
                  <a:lnTo>
                    <a:pt x="16395" y="0"/>
                  </a:lnTo>
                  <a:lnTo>
                    <a:pt x="11938" y="1854"/>
                  </a:lnTo>
                  <a:lnTo>
                    <a:pt x="11341" y="3276"/>
                  </a:lnTo>
                  <a:lnTo>
                    <a:pt x="10756" y="1854"/>
                  </a:lnTo>
                  <a:lnTo>
                    <a:pt x="6311" y="0"/>
                  </a:lnTo>
                  <a:lnTo>
                    <a:pt x="1854" y="1854"/>
                  </a:lnTo>
                  <a:lnTo>
                    <a:pt x="0" y="6299"/>
                  </a:lnTo>
                  <a:lnTo>
                    <a:pt x="1854" y="10756"/>
                  </a:lnTo>
                  <a:lnTo>
                    <a:pt x="6311" y="12611"/>
                  </a:lnTo>
                  <a:lnTo>
                    <a:pt x="10756" y="10756"/>
                  </a:lnTo>
                  <a:lnTo>
                    <a:pt x="11341" y="9347"/>
                  </a:lnTo>
                  <a:lnTo>
                    <a:pt x="11938" y="10756"/>
                  </a:lnTo>
                  <a:lnTo>
                    <a:pt x="16395" y="12611"/>
                  </a:lnTo>
                  <a:lnTo>
                    <a:pt x="20840" y="10756"/>
                  </a:lnTo>
                  <a:lnTo>
                    <a:pt x="22694" y="6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745044" y="3705123"/>
              <a:ext cx="476884" cy="85725"/>
            </a:xfrm>
            <a:custGeom>
              <a:avLst/>
              <a:gdLst/>
              <a:ahLst/>
              <a:cxnLst/>
              <a:rect l="l" t="t" r="r" b="b"/>
              <a:pathLst>
                <a:path w="476884" h="85725">
                  <a:moveTo>
                    <a:pt x="0" y="0"/>
                  </a:moveTo>
                  <a:lnTo>
                    <a:pt x="0" y="84239"/>
                  </a:lnTo>
                </a:path>
                <a:path w="476884" h="85725">
                  <a:moveTo>
                    <a:pt x="476630" y="5041"/>
                  </a:moveTo>
                  <a:lnTo>
                    <a:pt x="476630" y="85674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963114" y="4608721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h="9525">
                  <a:moveTo>
                    <a:pt x="0" y="0"/>
                  </a:moveTo>
                  <a:lnTo>
                    <a:pt x="0" y="9359"/>
                  </a:lnTo>
                </a:path>
              </a:pathLst>
            </a:custGeom>
            <a:ln w="50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965632" y="4597209"/>
              <a:ext cx="607669" cy="75958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6962762" y="450540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079208" y="4540135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12611" y="6299"/>
                  </a:moveTo>
                  <a:lnTo>
                    <a:pt x="10756" y="1854"/>
                  </a:lnTo>
                  <a:lnTo>
                    <a:pt x="6311" y="0"/>
                  </a:lnTo>
                  <a:lnTo>
                    <a:pt x="1854" y="1854"/>
                  </a:lnTo>
                  <a:lnTo>
                    <a:pt x="0" y="6299"/>
                  </a:lnTo>
                  <a:lnTo>
                    <a:pt x="1854" y="10756"/>
                  </a:lnTo>
                  <a:lnTo>
                    <a:pt x="6311" y="12611"/>
                  </a:lnTo>
                  <a:lnTo>
                    <a:pt x="10756" y="10756"/>
                  </a:lnTo>
                  <a:lnTo>
                    <a:pt x="12611" y="6299"/>
                  </a:lnTo>
                  <a:close/>
                </a:path>
                <a:path w="28575" h="12700">
                  <a:moveTo>
                    <a:pt x="28092" y="6299"/>
                  </a:moveTo>
                  <a:lnTo>
                    <a:pt x="26238" y="1854"/>
                  </a:lnTo>
                  <a:lnTo>
                    <a:pt x="21793" y="0"/>
                  </a:lnTo>
                  <a:lnTo>
                    <a:pt x="17335" y="1854"/>
                  </a:lnTo>
                  <a:lnTo>
                    <a:pt x="15481" y="6299"/>
                  </a:lnTo>
                  <a:lnTo>
                    <a:pt x="17335" y="10756"/>
                  </a:lnTo>
                  <a:lnTo>
                    <a:pt x="21793" y="12611"/>
                  </a:lnTo>
                  <a:lnTo>
                    <a:pt x="26238" y="10756"/>
                  </a:lnTo>
                  <a:lnTo>
                    <a:pt x="28092" y="6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965644" y="4579924"/>
              <a:ext cx="610235" cy="101600"/>
            </a:xfrm>
            <a:custGeom>
              <a:avLst/>
              <a:gdLst/>
              <a:ahLst/>
              <a:cxnLst/>
              <a:rect l="l" t="t" r="r" b="b"/>
              <a:pathLst>
                <a:path w="610234" h="101600">
                  <a:moveTo>
                    <a:pt x="0" y="0"/>
                  </a:moveTo>
                  <a:lnTo>
                    <a:pt x="0" y="101511"/>
                  </a:lnTo>
                </a:path>
                <a:path w="610234" h="101600">
                  <a:moveTo>
                    <a:pt x="609828" y="3238"/>
                  </a:moveTo>
                  <a:lnTo>
                    <a:pt x="609828" y="101511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596362" y="4907159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h="9525">
                  <a:moveTo>
                    <a:pt x="0" y="0"/>
                  </a:moveTo>
                  <a:lnTo>
                    <a:pt x="0" y="9359"/>
                  </a:lnTo>
                </a:path>
              </a:pathLst>
            </a:custGeom>
            <a:ln w="50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598879" y="4895646"/>
              <a:ext cx="608393" cy="75958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7596365" y="480383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712811" y="4838585"/>
              <a:ext cx="29209" cy="12700"/>
            </a:xfrm>
            <a:custGeom>
              <a:avLst/>
              <a:gdLst/>
              <a:ahLst/>
              <a:cxnLst/>
              <a:rect l="l" t="t" r="r" b="b"/>
              <a:pathLst>
                <a:path w="29209" h="12700">
                  <a:moveTo>
                    <a:pt x="12611" y="6299"/>
                  </a:moveTo>
                  <a:lnTo>
                    <a:pt x="10756" y="1854"/>
                  </a:lnTo>
                  <a:lnTo>
                    <a:pt x="6311" y="0"/>
                  </a:lnTo>
                  <a:lnTo>
                    <a:pt x="1854" y="1854"/>
                  </a:lnTo>
                  <a:lnTo>
                    <a:pt x="0" y="6299"/>
                  </a:lnTo>
                  <a:lnTo>
                    <a:pt x="1854" y="10756"/>
                  </a:lnTo>
                  <a:lnTo>
                    <a:pt x="6311" y="12611"/>
                  </a:lnTo>
                  <a:lnTo>
                    <a:pt x="10756" y="10756"/>
                  </a:lnTo>
                  <a:lnTo>
                    <a:pt x="12611" y="6299"/>
                  </a:lnTo>
                  <a:close/>
                </a:path>
                <a:path w="29209" h="12700">
                  <a:moveTo>
                    <a:pt x="28803" y="6299"/>
                  </a:moveTo>
                  <a:lnTo>
                    <a:pt x="26949" y="1854"/>
                  </a:lnTo>
                  <a:lnTo>
                    <a:pt x="22504" y="0"/>
                  </a:lnTo>
                  <a:lnTo>
                    <a:pt x="18046" y="1854"/>
                  </a:lnTo>
                  <a:lnTo>
                    <a:pt x="16192" y="6299"/>
                  </a:lnTo>
                  <a:lnTo>
                    <a:pt x="18046" y="10756"/>
                  </a:lnTo>
                  <a:lnTo>
                    <a:pt x="22504" y="12611"/>
                  </a:lnTo>
                  <a:lnTo>
                    <a:pt x="26949" y="10756"/>
                  </a:lnTo>
                  <a:lnTo>
                    <a:pt x="28803" y="6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597444" y="4878362"/>
              <a:ext cx="612140" cy="101600"/>
            </a:xfrm>
            <a:custGeom>
              <a:avLst/>
              <a:gdLst/>
              <a:ahLst/>
              <a:cxnLst/>
              <a:rect l="l" t="t" r="r" b="b"/>
              <a:pathLst>
                <a:path w="612140" h="101600">
                  <a:moveTo>
                    <a:pt x="0" y="0"/>
                  </a:moveTo>
                  <a:lnTo>
                    <a:pt x="0" y="101523"/>
                  </a:lnTo>
                </a:path>
                <a:path w="612140" h="101600">
                  <a:moveTo>
                    <a:pt x="611631" y="3238"/>
                  </a:moveTo>
                  <a:lnTo>
                    <a:pt x="611631" y="101523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247253" y="4951075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h="9525">
                  <a:moveTo>
                    <a:pt x="0" y="0"/>
                  </a:moveTo>
                  <a:lnTo>
                    <a:pt x="0" y="9359"/>
                  </a:lnTo>
                </a:path>
              </a:pathLst>
            </a:custGeom>
            <a:ln w="4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249593" y="4940300"/>
              <a:ext cx="607669" cy="77749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6246723" y="484775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363170" y="4882857"/>
              <a:ext cx="26670" cy="12700"/>
            </a:xfrm>
            <a:custGeom>
              <a:avLst/>
              <a:gdLst/>
              <a:ahLst/>
              <a:cxnLst/>
              <a:rect l="l" t="t" r="r" b="b"/>
              <a:pathLst>
                <a:path w="26670" h="12700">
                  <a:moveTo>
                    <a:pt x="12611" y="6299"/>
                  </a:moveTo>
                  <a:lnTo>
                    <a:pt x="10756" y="1854"/>
                  </a:lnTo>
                  <a:lnTo>
                    <a:pt x="6311" y="0"/>
                  </a:lnTo>
                  <a:lnTo>
                    <a:pt x="1854" y="1854"/>
                  </a:lnTo>
                  <a:lnTo>
                    <a:pt x="0" y="6299"/>
                  </a:lnTo>
                  <a:lnTo>
                    <a:pt x="1854" y="10756"/>
                  </a:lnTo>
                  <a:lnTo>
                    <a:pt x="6311" y="12611"/>
                  </a:lnTo>
                  <a:lnTo>
                    <a:pt x="10756" y="10756"/>
                  </a:lnTo>
                  <a:lnTo>
                    <a:pt x="12611" y="6299"/>
                  </a:lnTo>
                  <a:close/>
                </a:path>
                <a:path w="26670" h="12700">
                  <a:moveTo>
                    <a:pt x="26644" y="6299"/>
                  </a:moveTo>
                  <a:lnTo>
                    <a:pt x="24790" y="1854"/>
                  </a:lnTo>
                  <a:lnTo>
                    <a:pt x="20345" y="0"/>
                  </a:lnTo>
                  <a:lnTo>
                    <a:pt x="15887" y="1854"/>
                  </a:lnTo>
                  <a:lnTo>
                    <a:pt x="14033" y="6299"/>
                  </a:lnTo>
                  <a:lnTo>
                    <a:pt x="15887" y="10756"/>
                  </a:lnTo>
                  <a:lnTo>
                    <a:pt x="20345" y="12611"/>
                  </a:lnTo>
                  <a:lnTo>
                    <a:pt x="24790" y="10756"/>
                  </a:lnTo>
                  <a:lnTo>
                    <a:pt x="26644" y="6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249593" y="4923002"/>
              <a:ext cx="610235" cy="103505"/>
            </a:xfrm>
            <a:custGeom>
              <a:avLst/>
              <a:gdLst/>
              <a:ahLst/>
              <a:cxnLst/>
              <a:rect l="l" t="t" r="r" b="b"/>
              <a:pathLst>
                <a:path w="610234" h="103504">
                  <a:moveTo>
                    <a:pt x="0" y="0"/>
                  </a:moveTo>
                  <a:lnTo>
                    <a:pt x="0" y="101511"/>
                  </a:lnTo>
                </a:path>
                <a:path w="610234" h="103504">
                  <a:moveTo>
                    <a:pt x="609841" y="4673"/>
                  </a:moveTo>
                  <a:lnTo>
                    <a:pt x="609841" y="102958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051775" y="3709803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h="9525">
                  <a:moveTo>
                    <a:pt x="0" y="0"/>
                  </a:moveTo>
                  <a:lnTo>
                    <a:pt x="0" y="9359"/>
                  </a:lnTo>
                </a:path>
              </a:pathLst>
            </a:custGeom>
            <a:ln w="4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054115" y="3703332"/>
              <a:ext cx="377634" cy="52197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6052680" y="363960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123406" y="3662095"/>
              <a:ext cx="22860" cy="12700"/>
            </a:xfrm>
            <a:custGeom>
              <a:avLst/>
              <a:gdLst/>
              <a:ahLst/>
              <a:cxnLst/>
              <a:rect l="l" t="t" r="r" b="b"/>
              <a:pathLst>
                <a:path w="22860" h="12700">
                  <a:moveTo>
                    <a:pt x="22326" y="6299"/>
                  </a:moveTo>
                  <a:lnTo>
                    <a:pt x="20472" y="1854"/>
                  </a:lnTo>
                  <a:lnTo>
                    <a:pt x="16027" y="0"/>
                  </a:lnTo>
                  <a:lnTo>
                    <a:pt x="11569" y="1854"/>
                  </a:lnTo>
                  <a:lnTo>
                    <a:pt x="11163" y="2832"/>
                  </a:lnTo>
                  <a:lnTo>
                    <a:pt x="10756" y="1854"/>
                  </a:lnTo>
                  <a:lnTo>
                    <a:pt x="6311" y="0"/>
                  </a:lnTo>
                  <a:lnTo>
                    <a:pt x="1854" y="1854"/>
                  </a:lnTo>
                  <a:lnTo>
                    <a:pt x="0" y="6299"/>
                  </a:lnTo>
                  <a:lnTo>
                    <a:pt x="1854" y="10756"/>
                  </a:lnTo>
                  <a:lnTo>
                    <a:pt x="6311" y="12611"/>
                  </a:lnTo>
                  <a:lnTo>
                    <a:pt x="10756" y="10756"/>
                  </a:lnTo>
                  <a:lnTo>
                    <a:pt x="11163" y="9791"/>
                  </a:lnTo>
                  <a:lnTo>
                    <a:pt x="11569" y="10756"/>
                  </a:lnTo>
                  <a:lnTo>
                    <a:pt x="16027" y="12611"/>
                  </a:lnTo>
                  <a:lnTo>
                    <a:pt x="20472" y="10756"/>
                  </a:lnTo>
                  <a:lnTo>
                    <a:pt x="22326" y="6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054483" y="3692524"/>
              <a:ext cx="382905" cy="69850"/>
            </a:xfrm>
            <a:custGeom>
              <a:avLst/>
              <a:gdLst/>
              <a:ahLst/>
              <a:cxnLst/>
              <a:rect l="l" t="t" r="r" b="b"/>
              <a:pathLst>
                <a:path w="382904" h="69850">
                  <a:moveTo>
                    <a:pt x="0" y="0"/>
                  </a:moveTo>
                  <a:lnTo>
                    <a:pt x="0" y="68389"/>
                  </a:lnTo>
                </a:path>
                <a:path w="382904" h="69850">
                  <a:moveTo>
                    <a:pt x="382676" y="3238"/>
                  </a:moveTo>
                  <a:lnTo>
                    <a:pt x="382676" y="69837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40476" y="3546005"/>
              <a:ext cx="363600" cy="300240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611685" y="3499916"/>
              <a:ext cx="500037" cy="98640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4361" y="5057279"/>
              <a:ext cx="405002" cy="360362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32675" y="5003279"/>
              <a:ext cx="555485" cy="119164"/>
            </a:xfrm>
            <a:prstGeom prst="rect">
              <a:avLst/>
            </a:prstGeom>
          </p:spPr>
        </p:pic>
      </p:grpSp>
      <p:sp>
        <p:nvSpPr>
          <p:cNvPr id="82" name="object 82"/>
          <p:cNvSpPr/>
          <p:nvPr/>
        </p:nvSpPr>
        <p:spPr>
          <a:xfrm>
            <a:off x="5277954" y="297503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3" name="object 83"/>
          <p:cNvGrpSpPr/>
          <p:nvPr/>
        </p:nvGrpSpPr>
        <p:grpSpPr>
          <a:xfrm>
            <a:off x="5613476" y="1545844"/>
            <a:ext cx="2905760" cy="1343660"/>
            <a:chOff x="5613476" y="1545844"/>
            <a:chExt cx="2905760" cy="1343660"/>
          </a:xfrm>
        </p:grpSpPr>
        <p:sp>
          <p:nvSpPr>
            <p:cNvPr id="84" name="object 84"/>
            <p:cNvSpPr/>
            <p:nvPr/>
          </p:nvSpPr>
          <p:spPr>
            <a:xfrm>
              <a:off x="6730187" y="2587675"/>
              <a:ext cx="474980" cy="0"/>
            </a:xfrm>
            <a:custGeom>
              <a:avLst/>
              <a:gdLst/>
              <a:ahLst/>
              <a:cxnLst/>
              <a:rect l="l" t="t" r="r" b="b"/>
              <a:pathLst>
                <a:path w="474979">
                  <a:moveTo>
                    <a:pt x="0" y="0"/>
                  </a:moveTo>
                  <a:lnTo>
                    <a:pt x="474840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6289560" y="2403360"/>
              <a:ext cx="1544955" cy="448309"/>
            </a:xfrm>
            <a:custGeom>
              <a:avLst/>
              <a:gdLst/>
              <a:ahLst/>
              <a:cxnLst/>
              <a:rect l="l" t="t" r="r" b="b"/>
              <a:pathLst>
                <a:path w="1544954" h="448310">
                  <a:moveTo>
                    <a:pt x="0" y="0"/>
                  </a:moveTo>
                  <a:lnTo>
                    <a:pt x="146164" y="88925"/>
                  </a:lnTo>
                </a:path>
                <a:path w="1544954" h="448310">
                  <a:moveTo>
                    <a:pt x="1287716" y="176402"/>
                  </a:moveTo>
                  <a:lnTo>
                    <a:pt x="1405077" y="82804"/>
                  </a:lnTo>
                </a:path>
                <a:path w="1544954" h="448310">
                  <a:moveTo>
                    <a:pt x="1287716" y="447840"/>
                  </a:moveTo>
                  <a:lnTo>
                    <a:pt x="1544764" y="152641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596365" y="2867037"/>
              <a:ext cx="168275" cy="0"/>
            </a:xfrm>
            <a:custGeom>
              <a:avLst/>
              <a:gdLst/>
              <a:ahLst/>
              <a:cxnLst/>
              <a:rect l="l" t="t" r="r" b="b"/>
              <a:pathLst>
                <a:path w="168275">
                  <a:moveTo>
                    <a:pt x="0" y="0"/>
                  </a:moveTo>
                  <a:lnTo>
                    <a:pt x="167754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150402" y="2857677"/>
              <a:ext cx="171450" cy="0"/>
            </a:xfrm>
            <a:custGeom>
              <a:avLst/>
              <a:gdLst/>
              <a:ahLst/>
              <a:cxnLst/>
              <a:rect l="l" t="t" r="r" b="b"/>
              <a:pathLst>
                <a:path w="171450">
                  <a:moveTo>
                    <a:pt x="0" y="0"/>
                  </a:moveTo>
                  <a:lnTo>
                    <a:pt x="171361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342126" y="1720430"/>
              <a:ext cx="842759" cy="160566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772239" y="1603070"/>
              <a:ext cx="129959" cy="320763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613476" y="1545844"/>
              <a:ext cx="407885" cy="82435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7688335" y="2467083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h="9525">
                  <a:moveTo>
                    <a:pt x="0" y="0"/>
                  </a:moveTo>
                  <a:lnTo>
                    <a:pt x="0" y="9359"/>
                  </a:lnTo>
                </a:path>
              </a:pathLst>
            </a:custGeom>
            <a:ln w="4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690675" y="2460612"/>
              <a:ext cx="376199" cy="52552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7760322" y="2417584"/>
              <a:ext cx="20955" cy="12700"/>
            </a:xfrm>
            <a:custGeom>
              <a:avLst/>
              <a:gdLst/>
              <a:ahLst/>
              <a:cxnLst/>
              <a:rect l="l" t="t" r="r" b="b"/>
              <a:pathLst>
                <a:path w="20954" h="12700">
                  <a:moveTo>
                    <a:pt x="20535" y="6299"/>
                  </a:moveTo>
                  <a:lnTo>
                    <a:pt x="18681" y="1854"/>
                  </a:lnTo>
                  <a:lnTo>
                    <a:pt x="14236" y="0"/>
                  </a:lnTo>
                  <a:lnTo>
                    <a:pt x="10261" y="1651"/>
                  </a:lnTo>
                  <a:lnTo>
                    <a:pt x="6311" y="0"/>
                  </a:lnTo>
                  <a:lnTo>
                    <a:pt x="1854" y="1854"/>
                  </a:lnTo>
                  <a:lnTo>
                    <a:pt x="0" y="6299"/>
                  </a:lnTo>
                  <a:lnTo>
                    <a:pt x="1854" y="10756"/>
                  </a:lnTo>
                  <a:lnTo>
                    <a:pt x="6311" y="12611"/>
                  </a:lnTo>
                  <a:lnTo>
                    <a:pt x="10261" y="10972"/>
                  </a:lnTo>
                  <a:lnTo>
                    <a:pt x="14236" y="12611"/>
                  </a:lnTo>
                  <a:lnTo>
                    <a:pt x="18681" y="10756"/>
                  </a:lnTo>
                  <a:lnTo>
                    <a:pt x="20535" y="6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691043" y="2448001"/>
              <a:ext cx="381635" cy="69850"/>
            </a:xfrm>
            <a:custGeom>
              <a:avLst/>
              <a:gdLst/>
              <a:ahLst/>
              <a:cxnLst/>
              <a:rect l="l" t="t" r="r" b="b"/>
              <a:pathLst>
                <a:path w="381634" h="69850">
                  <a:moveTo>
                    <a:pt x="0" y="0"/>
                  </a:moveTo>
                  <a:lnTo>
                    <a:pt x="0" y="68033"/>
                  </a:lnTo>
                </a:path>
                <a:path w="381634" h="69850">
                  <a:moveTo>
                    <a:pt x="381241" y="3238"/>
                  </a:moveTo>
                  <a:lnTo>
                    <a:pt x="381241" y="69837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7761779" y="2830315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h="9525">
                  <a:moveTo>
                    <a:pt x="0" y="0"/>
                  </a:moveTo>
                  <a:lnTo>
                    <a:pt x="0" y="9359"/>
                  </a:lnTo>
                </a:path>
              </a:pathLst>
            </a:custGeom>
            <a:ln w="4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6" name="object 9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764119" y="2824213"/>
              <a:ext cx="375831" cy="53987"/>
            </a:xfrm>
            <a:prstGeom prst="rect">
              <a:avLst/>
            </a:prstGeom>
          </p:spPr>
        </p:pic>
        <p:sp>
          <p:nvSpPr>
            <p:cNvPr id="97" name="object 97"/>
            <p:cNvSpPr/>
            <p:nvPr/>
          </p:nvSpPr>
          <p:spPr>
            <a:xfrm>
              <a:off x="7763040" y="275760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7833411" y="2781185"/>
              <a:ext cx="20320" cy="12700"/>
            </a:xfrm>
            <a:custGeom>
              <a:avLst/>
              <a:gdLst/>
              <a:ahLst/>
              <a:cxnLst/>
              <a:rect l="l" t="t" r="r" b="b"/>
              <a:pathLst>
                <a:path w="20320" h="12700">
                  <a:moveTo>
                    <a:pt x="20167" y="6299"/>
                  </a:moveTo>
                  <a:lnTo>
                    <a:pt x="18313" y="1854"/>
                  </a:lnTo>
                  <a:lnTo>
                    <a:pt x="13868" y="0"/>
                  </a:lnTo>
                  <a:lnTo>
                    <a:pt x="10083" y="1574"/>
                  </a:lnTo>
                  <a:lnTo>
                    <a:pt x="6311" y="0"/>
                  </a:lnTo>
                  <a:lnTo>
                    <a:pt x="1854" y="1854"/>
                  </a:lnTo>
                  <a:lnTo>
                    <a:pt x="0" y="6299"/>
                  </a:lnTo>
                  <a:lnTo>
                    <a:pt x="1854" y="10756"/>
                  </a:lnTo>
                  <a:lnTo>
                    <a:pt x="6311" y="12611"/>
                  </a:lnTo>
                  <a:lnTo>
                    <a:pt x="10083" y="11049"/>
                  </a:lnTo>
                  <a:lnTo>
                    <a:pt x="13868" y="12611"/>
                  </a:lnTo>
                  <a:lnTo>
                    <a:pt x="18313" y="10756"/>
                  </a:lnTo>
                  <a:lnTo>
                    <a:pt x="20167" y="6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7764119" y="2811602"/>
              <a:ext cx="381635" cy="73025"/>
            </a:xfrm>
            <a:custGeom>
              <a:avLst/>
              <a:gdLst/>
              <a:ahLst/>
              <a:cxnLst/>
              <a:rect l="l" t="t" r="r" b="b"/>
              <a:pathLst>
                <a:path w="381634" h="73025">
                  <a:moveTo>
                    <a:pt x="0" y="0"/>
                  </a:moveTo>
                  <a:lnTo>
                    <a:pt x="0" y="71272"/>
                  </a:lnTo>
                </a:path>
                <a:path w="381634" h="73025">
                  <a:moveTo>
                    <a:pt x="381241" y="2882"/>
                  </a:moveTo>
                  <a:lnTo>
                    <a:pt x="381241" y="7272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7202694" y="2563920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h="9525">
                  <a:moveTo>
                    <a:pt x="0" y="0"/>
                  </a:moveTo>
                  <a:lnTo>
                    <a:pt x="0" y="9359"/>
                  </a:lnTo>
                </a:path>
              </a:pathLst>
            </a:custGeom>
            <a:ln w="46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205027" y="2557449"/>
              <a:ext cx="377634" cy="52552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7203605" y="249407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274331" y="2516225"/>
              <a:ext cx="22860" cy="12700"/>
            </a:xfrm>
            <a:custGeom>
              <a:avLst/>
              <a:gdLst/>
              <a:ahLst/>
              <a:cxnLst/>
              <a:rect l="l" t="t" r="r" b="b"/>
              <a:pathLst>
                <a:path w="22859" h="12700">
                  <a:moveTo>
                    <a:pt x="22326" y="6299"/>
                  </a:moveTo>
                  <a:lnTo>
                    <a:pt x="20472" y="1854"/>
                  </a:lnTo>
                  <a:lnTo>
                    <a:pt x="16027" y="0"/>
                  </a:lnTo>
                  <a:lnTo>
                    <a:pt x="11569" y="1854"/>
                  </a:lnTo>
                  <a:lnTo>
                    <a:pt x="11163" y="2832"/>
                  </a:lnTo>
                  <a:lnTo>
                    <a:pt x="10756" y="1854"/>
                  </a:lnTo>
                  <a:lnTo>
                    <a:pt x="6311" y="0"/>
                  </a:lnTo>
                  <a:lnTo>
                    <a:pt x="1854" y="1854"/>
                  </a:lnTo>
                  <a:lnTo>
                    <a:pt x="0" y="6299"/>
                  </a:lnTo>
                  <a:lnTo>
                    <a:pt x="1854" y="10756"/>
                  </a:lnTo>
                  <a:lnTo>
                    <a:pt x="6311" y="12611"/>
                  </a:lnTo>
                  <a:lnTo>
                    <a:pt x="10756" y="10756"/>
                  </a:lnTo>
                  <a:lnTo>
                    <a:pt x="11163" y="9791"/>
                  </a:lnTo>
                  <a:lnTo>
                    <a:pt x="11569" y="10756"/>
                  </a:lnTo>
                  <a:lnTo>
                    <a:pt x="16027" y="12611"/>
                  </a:lnTo>
                  <a:lnTo>
                    <a:pt x="20472" y="10756"/>
                  </a:lnTo>
                  <a:lnTo>
                    <a:pt x="22326" y="6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205395" y="2546273"/>
              <a:ext cx="382905" cy="69850"/>
            </a:xfrm>
            <a:custGeom>
              <a:avLst/>
              <a:gdLst/>
              <a:ahLst/>
              <a:cxnLst/>
              <a:rect l="l" t="t" r="r" b="b"/>
              <a:pathLst>
                <a:path w="382904" h="69850">
                  <a:moveTo>
                    <a:pt x="0" y="0"/>
                  </a:moveTo>
                  <a:lnTo>
                    <a:pt x="0" y="68402"/>
                  </a:lnTo>
                </a:path>
                <a:path w="382904" h="69850">
                  <a:moveTo>
                    <a:pt x="382689" y="3251"/>
                  </a:moveTo>
                  <a:lnTo>
                    <a:pt x="382689" y="6985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7213857" y="2827445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h="9525">
                  <a:moveTo>
                    <a:pt x="0" y="0"/>
                  </a:moveTo>
                  <a:lnTo>
                    <a:pt x="0" y="9359"/>
                  </a:lnTo>
                </a:path>
              </a:pathLst>
            </a:custGeom>
            <a:ln w="46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6" name="object 10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216190" y="2820974"/>
              <a:ext cx="377634" cy="52552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7214755" y="275760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7285482" y="2779737"/>
              <a:ext cx="22225" cy="12700"/>
            </a:xfrm>
            <a:custGeom>
              <a:avLst/>
              <a:gdLst/>
              <a:ahLst/>
              <a:cxnLst/>
              <a:rect l="l" t="t" r="r" b="b"/>
              <a:pathLst>
                <a:path w="22225" h="12700">
                  <a:moveTo>
                    <a:pt x="21971" y="6299"/>
                  </a:moveTo>
                  <a:lnTo>
                    <a:pt x="20116" y="1854"/>
                  </a:lnTo>
                  <a:lnTo>
                    <a:pt x="15671" y="0"/>
                  </a:lnTo>
                  <a:lnTo>
                    <a:pt x="11214" y="1854"/>
                  </a:lnTo>
                  <a:lnTo>
                    <a:pt x="10985" y="2413"/>
                  </a:lnTo>
                  <a:lnTo>
                    <a:pt x="10756" y="1854"/>
                  </a:lnTo>
                  <a:lnTo>
                    <a:pt x="6311" y="0"/>
                  </a:lnTo>
                  <a:lnTo>
                    <a:pt x="1854" y="1854"/>
                  </a:lnTo>
                  <a:lnTo>
                    <a:pt x="0" y="6299"/>
                  </a:lnTo>
                  <a:lnTo>
                    <a:pt x="1854" y="10756"/>
                  </a:lnTo>
                  <a:lnTo>
                    <a:pt x="6311" y="12611"/>
                  </a:lnTo>
                  <a:lnTo>
                    <a:pt x="10756" y="10756"/>
                  </a:lnTo>
                  <a:lnTo>
                    <a:pt x="10985" y="10210"/>
                  </a:lnTo>
                  <a:lnTo>
                    <a:pt x="11214" y="10756"/>
                  </a:lnTo>
                  <a:lnTo>
                    <a:pt x="15671" y="12611"/>
                  </a:lnTo>
                  <a:lnTo>
                    <a:pt x="20116" y="10756"/>
                  </a:lnTo>
                  <a:lnTo>
                    <a:pt x="21971" y="6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7216559" y="2808363"/>
              <a:ext cx="382905" cy="71755"/>
            </a:xfrm>
            <a:custGeom>
              <a:avLst/>
              <a:gdLst/>
              <a:ahLst/>
              <a:cxnLst/>
              <a:rect l="l" t="t" r="r" b="b"/>
              <a:pathLst>
                <a:path w="382904" h="71755">
                  <a:moveTo>
                    <a:pt x="0" y="0"/>
                  </a:moveTo>
                  <a:lnTo>
                    <a:pt x="0" y="68033"/>
                  </a:lnTo>
                </a:path>
                <a:path w="382904" h="71755">
                  <a:moveTo>
                    <a:pt x="382676" y="4673"/>
                  </a:moveTo>
                  <a:lnTo>
                    <a:pt x="382676" y="71272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8345525" y="2855874"/>
              <a:ext cx="168910" cy="0"/>
            </a:xfrm>
            <a:custGeom>
              <a:avLst/>
              <a:gdLst/>
              <a:ahLst/>
              <a:cxnLst/>
              <a:rect l="l" t="t" r="r" b="b"/>
              <a:pathLst>
                <a:path w="168909">
                  <a:moveTo>
                    <a:pt x="0" y="0"/>
                  </a:moveTo>
                  <a:lnTo>
                    <a:pt x="37439" y="0"/>
                  </a:lnTo>
                </a:path>
                <a:path w="168909">
                  <a:moveTo>
                    <a:pt x="65519" y="0"/>
                  </a:moveTo>
                  <a:lnTo>
                    <a:pt x="102958" y="0"/>
                  </a:lnTo>
                </a:path>
                <a:path w="168909">
                  <a:moveTo>
                    <a:pt x="131038" y="0"/>
                  </a:moveTo>
                  <a:lnTo>
                    <a:pt x="168478" y="0"/>
                  </a:lnTo>
                </a:path>
              </a:pathLst>
            </a:custGeom>
            <a:ln w="9359">
              <a:solidFill>
                <a:srgbClr val="EDEB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6351654" y="2557075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h="9525">
                  <a:moveTo>
                    <a:pt x="0" y="0"/>
                  </a:moveTo>
                  <a:lnTo>
                    <a:pt x="0" y="9359"/>
                  </a:lnTo>
                </a:path>
              </a:pathLst>
            </a:custGeom>
            <a:ln w="46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2" name="object 11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353987" y="2552408"/>
              <a:ext cx="376199" cy="52197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6353276" y="248724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6423647" y="2509735"/>
              <a:ext cx="20955" cy="12700"/>
            </a:xfrm>
            <a:custGeom>
              <a:avLst/>
              <a:gdLst/>
              <a:ahLst/>
              <a:cxnLst/>
              <a:rect l="l" t="t" r="r" b="b"/>
              <a:pathLst>
                <a:path w="20954" h="12700">
                  <a:moveTo>
                    <a:pt x="20535" y="6299"/>
                  </a:moveTo>
                  <a:lnTo>
                    <a:pt x="18681" y="1854"/>
                  </a:lnTo>
                  <a:lnTo>
                    <a:pt x="14236" y="0"/>
                  </a:lnTo>
                  <a:lnTo>
                    <a:pt x="10261" y="1651"/>
                  </a:lnTo>
                  <a:lnTo>
                    <a:pt x="6311" y="0"/>
                  </a:lnTo>
                  <a:lnTo>
                    <a:pt x="1854" y="1854"/>
                  </a:lnTo>
                  <a:lnTo>
                    <a:pt x="0" y="6299"/>
                  </a:lnTo>
                  <a:lnTo>
                    <a:pt x="1854" y="10756"/>
                  </a:lnTo>
                  <a:lnTo>
                    <a:pt x="6311" y="12611"/>
                  </a:lnTo>
                  <a:lnTo>
                    <a:pt x="10261" y="10972"/>
                  </a:lnTo>
                  <a:lnTo>
                    <a:pt x="14236" y="12611"/>
                  </a:lnTo>
                  <a:lnTo>
                    <a:pt x="18681" y="10756"/>
                  </a:lnTo>
                  <a:lnTo>
                    <a:pt x="20535" y="6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6354356" y="2540165"/>
              <a:ext cx="381635" cy="69850"/>
            </a:xfrm>
            <a:custGeom>
              <a:avLst/>
              <a:gdLst/>
              <a:ahLst/>
              <a:cxnLst/>
              <a:rect l="l" t="t" r="r" b="b"/>
              <a:pathLst>
                <a:path w="381634" h="69850">
                  <a:moveTo>
                    <a:pt x="0" y="0"/>
                  </a:moveTo>
                  <a:lnTo>
                    <a:pt x="0" y="68033"/>
                  </a:lnTo>
                </a:path>
                <a:path w="381634" h="69850">
                  <a:moveTo>
                    <a:pt x="381241" y="2870"/>
                  </a:moveTo>
                  <a:lnTo>
                    <a:pt x="381241" y="69837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132245" y="2013115"/>
              <a:ext cx="292100" cy="457200"/>
            </a:xfrm>
            <a:custGeom>
              <a:avLst/>
              <a:gdLst/>
              <a:ahLst/>
              <a:cxnLst/>
              <a:rect l="l" t="t" r="r" b="b"/>
              <a:pathLst>
                <a:path w="292100" h="457200">
                  <a:moveTo>
                    <a:pt x="148678" y="0"/>
                  </a:moveTo>
                  <a:lnTo>
                    <a:pt x="0" y="414007"/>
                  </a:lnTo>
                </a:path>
                <a:path w="292100" h="457200">
                  <a:moveTo>
                    <a:pt x="150837" y="0"/>
                  </a:moveTo>
                  <a:lnTo>
                    <a:pt x="286918" y="412559"/>
                  </a:lnTo>
                </a:path>
                <a:path w="292100" h="457200">
                  <a:moveTo>
                    <a:pt x="7912" y="417245"/>
                  </a:moveTo>
                  <a:lnTo>
                    <a:pt x="144348" y="457200"/>
                  </a:lnTo>
                </a:path>
                <a:path w="292100" h="457200">
                  <a:moveTo>
                    <a:pt x="291592" y="417245"/>
                  </a:moveTo>
                  <a:lnTo>
                    <a:pt x="142913" y="457200"/>
                  </a:lnTo>
                </a:path>
                <a:path w="292100" h="457200">
                  <a:moveTo>
                    <a:pt x="150837" y="9359"/>
                  </a:moveTo>
                  <a:lnTo>
                    <a:pt x="150837" y="457200"/>
                  </a:lnTo>
                </a:path>
              </a:pathLst>
            </a:custGeom>
            <a:ln w="19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7" name="object 11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130618" y="2233254"/>
              <a:ext cx="302759" cy="208080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6218999" y="2093404"/>
              <a:ext cx="112395" cy="110489"/>
            </a:xfrm>
            <a:custGeom>
              <a:avLst/>
              <a:gdLst/>
              <a:ahLst/>
              <a:cxnLst/>
              <a:rect l="l" t="t" r="r" b="b"/>
              <a:pathLst>
                <a:path w="112395" h="110489">
                  <a:moveTo>
                    <a:pt x="64084" y="110159"/>
                  </a:moveTo>
                  <a:lnTo>
                    <a:pt x="112318" y="86398"/>
                  </a:lnTo>
                </a:path>
                <a:path w="112395" h="110489">
                  <a:moveTo>
                    <a:pt x="64084" y="19075"/>
                  </a:moveTo>
                  <a:lnTo>
                    <a:pt x="92163" y="0"/>
                  </a:lnTo>
                </a:path>
                <a:path w="112395" h="110489">
                  <a:moveTo>
                    <a:pt x="0" y="87833"/>
                  </a:moveTo>
                  <a:lnTo>
                    <a:pt x="59042" y="103670"/>
                  </a:lnTo>
                </a:path>
                <a:path w="112395" h="110489">
                  <a:moveTo>
                    <a:pt x="30962" y="2159"/>
                  </a:moveTo>
                  <a:lnTo>
                    <a:pt x="61925" y="17995"/>
                  </a:lnTo>
                </a:path>
              </a:pathLst>
            </a:custGeom>
            <a:ln w="19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9" name="object 1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0960" y="1844281"/>
              <a:ext cx="451078" cy="325437"/>
            </a:xfrm>
            <a:prstGeom prst="rect">
              <a:avLst/>
            </a:prstGeom>
          </p:spPr>
        </p:pic>
        <p:sp>
          <p:nvSpPr>
            <p:cNvPr id="120" name="object 120"/>
            <p:cNvSpPr/>
            <p:nvPr/>
          </p:nvSpPr>
          <p:spPr>
            <a:xfrm>
              <a:off x="6254635" y="197928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1E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6254635" y="197928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2" name="object 122"/>
          <p:cNvSpPr/>
          <p:nvPr/>
        </p:nvSpPr>
        <p:spPr>
          <a:xfrm>
            <a:off x="5497195" y="437832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7405560" y="2665437"/>
            <a:ext cx="0" cy="76835"/>
          </a:xfrm>
          <a:custGeom>
            <a:avLst/>
            <a:gdLst/>
            <a:ahLst/>
            <a:cxnLst/>
            <a:rect l="l" t="t" r="r" b="b"/>
            <a:pathLst>
              <a:path h="76835">
                <a:moveTo>
                  <a:pt x="0" y="0"/>
                </a:moveTo>
                <a:lnTo>
                  <a:pt x="0" y="76326"/>
                </a:lnTo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7942326" y="2560675"/>
            <a:ext cx="0" cy="190500"/>
          </a:xfrm>
          <a:custGeom>
            <a:avLst/>
            <a:gdLst/>
            <a:ahLst/>
            <a:cxnLst/>
            <a:rect l="l" t="t" r="r" b="b"/>
            <a:pathLst>
              <a:path h="190500">
                <a:moveTo>
                  <a:pt x="0" y="0"/>
                </a:moveTo>
                <a:lnTo>
                  <a:pt x="0" y="190449"/>
                </a:lnTo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7289279" y="2933636"/>
            <a:ext cx="104775" cy="698500"/>
          </a:xfrm>
          <a:custGeom>
            <a:avLst/>
            <a:gdLst/>
            <a:ahLst/>
            <a:cxnLst/>
            <a:rect l="l" t="t" r="r" b="b"/>
            <a:pathLst>
              <a:path w="104775" h="698500">
                <a:moveTo>
                  <a:pt x="104762" y="0"/>
                </a:moveTo>
                <a:lnTo>
                  <a:pt x="0" y="698398"/>
                </a:lnTo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689963" y="239508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 txBox="1"/>
          <p:nvPr/>
        </p:nvSpPr>
        <p:spPr>
          <a:xfrm>
            <a:off x="6034938" y="1416138"/>
            <a:ext cx="13887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"/>
                <a:cs typeface="Arial"/>
              </a:rPr>
              <a:t>mobile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network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7637665" y="2103386"/>
            <a:ext cx="9512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"/>
                <a:cs typeface="Arial"/>
              </a:rPr>
              <a:t>global</a:t>
            </a:r>
            <a:r>
              <a:rPr sz="1600" spc="-25" dirty="0">
                <a:latin typeface="Arial"/>
                <a:cs typeface="Arial"/>
              </a:rPr>
              <a:t> ISP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6397104" y="2947949"/>
            <a:ext cx="2149475" cy="65151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1419860">
              <a:lnSpc>
                <a:spcPct val="79600"/>
              </a:lnSpc>
              <a:spcBef>
                <a:spcPts val="490"/>
              </a:spcBef>
            </a:pPr>
            <a:r>
              <a:rPr sz="1600" spc="-20" dirty="0">
                <a:latin typeface="Arial"/>
                <a:cs typeface="Arial"/>
              </a:rPr>
              <a:t>home </a:t>
            </a:r>
            <a:r>
              <a:rPr sz="1600" spc="-10" dirty="0">
                <a:latin typeface="Arial"/>
                <a:cs typeface="Arial"/>
              </a:rPr>
              <a:t>network</a:t>
            </a:r>
            <a:endParaRPr sz="1600">
              <a:latin typeface="Arial"/>
              <a:cs typeface="Arial"/>
            </a:endParaRPr>
          </a:p>
          <a:p>
            <a:pPr marL="1030605">
              <a:lnSpc>
                <a:spcPts val="1485"/>
              </a:lnSpc>
            </a:pPr>
            <a:r>
              <a:rPr sz="1600" dirty="0">
                <a:latin typeface="Arial"/>
                <a:cs typeface="Arial"/>
              </a:rPr>
              <a:t>regional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ISP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5665584" y="5629948"/>
            <a:ext cx="1129665" cy="463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725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institutional</a:t>
            </a:r>
            <a:endParaRPr sz="1600">
              <a:latin typeface="Arial"/>
              <a:cs typeface="Arial"/>
            </a:endParaRPr>
          </a:p>
          <a:p>
            <a:pPr marL="407034">
              <a:lnSpc>
                <a:spcPts val="1725"/>
              </a:lnSpc>
            </a:pPr>
            <a:r>
              <a:rPr sz="1600" spc="-10" dirty="0">
                <a:latin typeface="Arial"/>
                <a:cs typeface="Arial"/>
              </a:rPr>
              <a:t>network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31" name="object 131"/>
          <p:cNvGrpSpPr/>
          <p:nvPr/>
        </p:nvGrpSpPr>
        <p:grpSpPr>
          <a:xfrm>
            <a:off x="5560923" y="3041281"/>
            <a:ext cx="2897505" cy="2877185"/>
            <a:chOff x="5560923" y="3041281"/>
            <a:chExt cx="2897505" cy="2877185"/>
          </a:xfrm>
        </p:grpSpPr>
        <p:pic>
          <p:nvPicPr>
            <p:cNvPr id="132" name="object 13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251558" y="5002212"/>
              <a:ext cx="158750" cy="450710"/>
            </a:xfrm>
            <a:prstGeom prst="rect">
              <a:avLst/>
            </a:prstGeom>
          </p:spPr>
        </p:pic>
        <p:sp>
          <p:nvSpPr>
            <p:cNvPr id="133" name="object 133"/>
            <p:cNvSpPr/>
            <p:nvPr/>
          </p:nvSpPr>
          <p:spPr>
            <a:xfrm>
              <a:off x="8251558" y="5054765"/>
              <a:ext cx="89535" cy="1905"/>
            </a:xfrm>
            <a:custGeom>
              <a:avLst/>
              <a:gdLst/>
              <a:ahLst/>
              <a:cxnLst/>
              <a:rect l="l" t="t" r="r" b="b"/>
              <a:pathLst>
                <a:path w="89534" h="1904">
                  <a:moveTo>
                    <a:pt x="88925" y="0"/>
                  </a:moveTo>
                  <a:lnTo>
                    <a:pt x="0" y="0"/>
                  </a:lnTo>
                  <a:lnTo>
                    <a:pt x="0" y="1435"/>
                  </a:lnTo>
                  <a:lnTo>
                    <a:pt x="44640" y="1435"/>
                  </a:lnTo>
                  <a:lnTo>
                    <a:pt x="88925" y="1435"/>
                  </a:lnTo>
                  <a:lnTo>
                    <a:pt x="88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8251558" y="5054765"/>
              <a:ext cx="89535" cy="1905"/>
            </a:xfrm>
            <a:custGeom>
              <a:avLst/>
              <a:gdLst/>
              <a:ahLst/>
              <a:cxnLst/>
              <a:rect l="l" t="t" r="r" b="b"/>
              <a:pathLst>
                <a:path w="89534" h="1904">
                  <a:moveTo>
                    <a:pt x="44640" y="1435"/>
                  </a:moveTo>
                  <a:lnTo>
                    <a:pt x="0" y="1435"/>
                  </a:lnTo>
                  <a:lnTo>
                    <a:pt x="0" y="0"/>
                  </a:lnTo>
                  <a:lnTo>
                    <a:pt x="88925" y="0"/>
                  </a:lnTo>
                  <a:lnTo>
                    <a:pt x="88925" y="1435"/>
                  </a:lnTo>
                  <a:lnTo>
                    <a:pt x="44640" y="1435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8253006" y="5121363"/>
              <a:ext cx="89535" cy="1905"/>
            </a:xfrm>
            <a:custGeom>
              <a:avLst/>
              <a:gdLst/>
              <a:ahLst/>
              <a:cxnLst/>
              <a:rect l="l" t="t" r="r" b="b"/>
              <a:pathLst>
                <a:path w="89534" h="1904">
                  <a:moveTo>
                    <a:pt x="88912" y="0"/>
                  </a:moveTo>
                  <a:lnTo>
                    <a:pt x="0" y="0"/>
                  </a:lnTo>
                  <a:lnTo>
                    <a:pt x="0" y="1435"/>
                  </a:lnTo>
                  <a:lnTo>
                    <a:pt x="44627" y="1435"/>
                  </a:lnTo>
                  <a:lnTo>
                    <a:pt x="88912" y="1435"/>
                  </a:lnTo>
                  <a:lnTo>
                    <a:pt x="889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8253006" y="5121363"/>
              <a:ext cx="89535" cy="1905"/>
            </a:xfrm>
            <a:custGeom>
              <a:avLst/>
              <a:gdLst/>
              <a:ahLst/>
              <a:cxnLst/>
              <a:rect l="l" t="t" r="r" b="b"/>
              <a:pathLst>
                <a:path w="89534" h="1904">
                  <a:moveTo>
                    <a:pt x="44627" y="1435"/>
                  </a:moveTo>
                  <a:lnTo>
                    <a:pt x="0" y="1435"/>
                  </a:lnTo>
                  <a:lnTo>
                    <a:pt x="0" y="0"/>
                  </a:lnTo>
                  <a:lnTo>
                    <a:pt x="88912" y="0"/>
                  </a:lnTo>
                  <a:lnTo>
                    <a:pt x="88912" y="1435"/>
                  </a:lnTo>
                  <a:lnTo>
                    <a:pt x="44627" y="1435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8253006" y="5187962"/>
              <a:ext cx="89535" cy="1905"/>
            </a:xfrm>
            <a:custGeom>
              <a:avLst/>
              <a:gdLst/>
              <a:ahLst/>
              <a:cxnLst/>
              <a:rect l="l" t="t" r="r" b="b"/>
              <a:pathLst>
                <a:path w="89534" h="1904">
                  <a:moveTo>
                    <a:pt x="88912" y="0"/>
                  </a:moveTo>
                  <a:lnTo>
                    <a:pt x="0" y="0"/>
                  </a:lnTo>
                  <a:lnTo>
                    <a:pt x="0" y="1435"/>
                  </a:lnTo>
                  <a:lnTo>
                    <a:pt x="44627" y="1435"/>
                  </a:lnTo>
                  <a:lnTo>
                    <a:pt x="88912" y="1435"/>
                  </a:lnTo>
                  <a:lnTo>
                    <a:pt x="889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8253006" y="5187962"/>
              <a:ext cx="89535" cy="1905"/>
            </a:xfrm>
            <a:custGeom>
              <a:avLst/>
              <a:gdLst/>
              <a:ahLst/>
              <a:cxnLst/>
              <a:rect l="l" t="t" r="r" b="b"/>
              <a:pathLst>
                <a:path w="89534" h="1904">
                  <a:moveTo>
                    <a:pt x="44627" y="1435"/>
                  </a:moveTo>
                  <a:lnTo>
                    <a:pt x="0" y="1435"/>
                  </a:lnTo>
                  <a:lnTo>
                    <a:pt x="0" y="0"/>
                  </a:lnTo>
                  <a:lnTo>
                    <a:pt x="88912" y="0"/>
                  </a:lnTo>
                  <a:lnTo>
                    <a:pt x="88912" y="1435"/>
                  </a:lnTo>
                  <a:lnTo>
                    <a:pt x="44627" y="1435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8254796" y="5248440"/>
              <a:ext cx="89535" cy="1905"/>
            </a:xfrm>
            <a:custGeom>
              <a:avLst/>
              <a:gdLst/>
              <a:ahLst/>
              <a:cxnLst/>
              <a:rect l="l" t="t" r="r" b="b"/>
              <a:pathLst>
                <a:path w="89534" h="1904">
                  <a:moveTo>
                    <a:pt x="88925" y="0"/>
                  </a:moveTo>
                  <a:lnTo>
                    <a:pt x="0" y="0"/>
                  </a:lnTo>
                  <a:lnTo>
                    <a:pt x="0" y="1435"/>
                  </a:lnTo>
                  <a:lnTo>
                    <a:pt x="44640" y="1435"/>
                  </a:lnTo>
                  <a:lnTo>
                    <a:pt x="88925" y="1435"/>
                  </a:lnTo>
                  <a:lnTo>
                    <a:pt x="88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8254796" y="5248440"/>
              <a:ext cx="89535" cy="1905"/>
            </a:xfrm>
            <a:custGeom>
              <a:avLst/>
              <a:gdLst/>
              <a:ahLst/>
              <a:cxnLst/>
              <a:rect l="l" t="t" r="r" b="b"/>
              <a:pathLst>
                <a:path w="89534" h="1904">
                  <a:moveTo>
                    <a:pt x="44640" y="1435"/>
                  </a:moveTo>
                  <a:lnTo>
                    <a:pt x="0" y="1435"/>
                  </a:lnTo>
                  <a:lnTo>
                    <a:pt x="0" y="0"/>
                  </a:lnTo>
                  <a:lnTo>
                    <a:pt x="88925" y="0"/>
                  </a:lnTo>
                  <a:lnTo>
                    <a:pt x="88925" y="1435"/>
                  </a:lnTo>
                  <a:lnTo>
                    <a:pt x="44640" y="1435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1" name="object 14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414994" y="5002212"/>
              <a:ext cx="11519" cy="450710"/>
            </a:xfrm>
            <a:prstGeom prst="rect">
              <a:avLst/>
            </a:prstGeom>
          </p:spPr>
        </p:pic>
        <p:sp>
          <p:nvSpPr>
            <p:cNvPr id="142" name="object 142"/>
            <p:cNvSpPr/>
            <p:nvPr/>
          </p:nvSpPr>
          <p:spPr>
            <a:xfrm>
              <a:off x="8414994" y="5002199"/>
              <a:ext cx="5080" cy="450850"/>
            </a:xfrm>
            <a:custGeom>
              <a:avLst/>
              <a:gdLst/>
              <a:ahLst/>
              <a:cxnLst/>
              <a:rect l="l" t="t" r="r" b="b"/>
              <a:pathLst>
                <a:path w="5079" h="450850">
                  <a:moveTo>
                    <a:pt x="2527" y="450722"/>
                  </a:moveTo>
                  <a:lnTo>
                    <a:pt x="0" y="450722"/>
                  </a:lnTo>
                  <a:lnTo>
                    <a:pt x="0" y="0"/>
                  </a:lnTo>
                  <a:lnTo>
                    <a:pt x="4686" y="0"/>
                  </a:lnTo>
                  <a:lnTo>
                    <a:pt x="4686" y="450722"/>
                  </a:lnTo>
                  <a:lnTo>
                    <a:pt x="2527" y="450722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8240395" y="545255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8240395" y="5452554"/>
              <a:ext cx="12065" cy="8255"/>
            </a:xfrm>
            <a:custGeom>
              <a:avLst/>
              <a:gdLst/>
              <a:ahLst/>
              <a:cxnLst/>
              <a:rect l="l" t="t" r="r" b="b"/>
              <a:pathLst>
                <a:path w="12065" h="8254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  <a:path w="12065" h="8254">
                  <a:moveTo>
                    <a:pt x="11518" y="7924"/>
                  </a:moveTo>
                  <a:lnTo>
                    <a:pt x="11518" y="7924"/>
                  </a:lnTo>
                  <a:lnTo>
                    <a:pt x="11518" y="7924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8267763" y="539423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8295843" y="539423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8322843" y="539423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8386559" y="5284444"/>
              <a:ext cx="5080" cy="144780"/>
            </a:xfrm>
            <a:custGeom>
              <a:avLst/>
              <a:gdLst/>
              <a:ahLst/>
              <a:cxnLst/>
              <a:rect l="l" t="t" r="r" b="b"/>
              <a:pathLst>
                <a:path w="5079" h="144779">
                  <a:moveTo>
                    <a:pt x="4686" y="0"/>
                  </a:moveTo>
                  <a:lnTo>
                    <a:pt x="0" y="0"/>
                  </a:lnTo>
                  <a:lnTo>
                    <a:pt x="0" y="144360"/>
                  </a:lnTo>
                  <a:lnTo>
                    <a:pt x="2514" y="144360"/>
                  </a:lnTo>
                  <a:lnTo>
                    <a:pt x="4686" y="144360"/>
                  </a:lnTo>
                  <a:lnTo>
                    <a:pt x="4686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8386559" y="5284444"/>
              <a:ext cx="5080" cy="144780"/>
            </a:xfrm>
            <a:custGeom>
              <a:avLst/>
              <a:gdLst/>
              <a:ahLst/>
              <a:cxnLst/>
              <a:rect l="l" t="t" r="r" b="b"/>
              <a:pathLst>
                <a:path w="5079" h="144779">
                  <a:moveTo>
                    <a:pt x="2514" y="144360"/>
                  </a:moveTo>
                  <a:lnTo>
                    <a:pt x="0" y="144360"/>
                  </a:lnTo>
                  <a:lnTo>
                    <a:pt x="0" y="0"/>
                  </a:lnTo>
                  <a:lnTo>
                    <a:pt x="4686" y="0"/>
                  </a:lnTo>
                  <a:lnTo>
                    <a:pt x="4686" y="144360"/>
                  </a:lnTo>
                  <a:lnTo>
                    <a:pt x="2514" y="14436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0" name="object 15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935836" y="5303900"/>
              <a:ext cx="160553" cy="450710"/>
            </a:xfrm>
            <a:prstGeom prst="rect">
              <a:avLst/>
            </a:prstGeom>
          </p:spPr>
        </p:pic>
        <p:sp>
          <p:nvSpPr>
            <p:cNvPr id="151" name="object 151"/>
            <p:cNvSpPr/>
            <p:nvPr/>
          </p:nvSpPr>
          <p:spPr>
            <a:xfrm>
              <a:off x="7935480" y="5355716"/>
              <a:ext cx="89535" cy="1905"/>
            </a:xfrm>
            <a:custGeom>
              <a:avLst/>
              <a:gdLst/>
              <a:ahLst/>
              <a:cxnLst/>
              <a:rect l="l" t="t" r="r" b="b"/>
              <a:pathLst>
                <a:path w="89534" h="1904">
                  <a:moveTo>
                    <a:pt x="88925" y="0"/>
                  </a:moveTo>
                  <a:lnTo>
                    <a:pt x="0" y="0"/>
                  </a:lnTo>
                  <a:lnTo>
                    <a:pt x="0" y="1803"/>
                  </a:lnTo>
                  <a:lnTo>
                    <a:pt x="44640" y="1803"/>
                  </a:lnTo>
                  <a:lnTo>
                    <a:pt x="88925" y="1803"/>
                  </a:lnTo>
                  <a:lnTo>
                    <a:pt x="88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7935480" y="5355716"/>
              <a:ext cx="89535" cy="1905"/>
            </a:xfrm>
            <a:custGeom>
              <a:avLst/>
              <a:gdLst/>
              <a:ahLst/>
              <a:cxnLst/>
              <a:rect l="l" t="t" r="r" b="b"/>
              <a:pathLst>
                <a:path w="89534" h="1904">
                  <a:moveTo>
                    <a:pt x="44640" y="1803"/>
                  </a:moveTo>
                  <a:lnTo>
                    <a:pt x="0" y="1803"/>
                  </a:lnTo>
                  <a:lnTo>
                    <a:pt x="0" y="0"/>
                  </a:lnTo>
                  <a:lnTo>
                    <a:pt x="88925" y="0"/>
                  </a:lnTo>
                  <a:lnTo>
                    <a:pt x="88925" y="1803"/>
                  </a:lnTo>
                  <a:lnTo>
                    <a:pt x="44640" y="1803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7937284" y="5423039"/>
              <a:ext cx="89535" cy="1905"/>
            </a:xfrm>
            <a:custGeom>
              <a:avLst/>
              <a:gdLst/>
              <a:ahLst/>
              <a:cxnLst/>
              <a:rect l="l" t="t" r="r" b="b"/>
              <a:pathLst>
                <a:path w="89534" h="1904">
                  <a:moveTo>
                    <a:pt x="88912" y="0"/>
                  </a:moveTo>
                  <a:lnTo>
                    <a:pt x="0" y="0"/>
                  </a:lnTo>
                  <a:lnTo>
                    <a:pt x="0" y="1435"/>
                  </a:lnTo>
                  <a:lnTo>
                    <a:pt x="44640" y="1435"/>
                  </a:lnTo>
                  <a:lnTo>
                    <a:pt x="88912" y="1435"/>
                  </a:lnTo>
                  <a:lnTo>
                    <a:pt x="889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7937284" y="5423039"/>
              <a:ext cx="89535" cy="1905"/>
            </a:xfrm>
            <a:custGeom>
              <a:avLst/>
              <a:gdLst/>
              <a:ahLst/>
              <a:cxnLst/>
              <a:rect l="l" t="t" r="r" b="b"/>
              <a:pathLst>
                <a:path w="89534" h="1904">
                  <a:moveTo>
                    <a:pt x="44640" y="1435"/>
                  </a:moveTo>
                  <a:lnTo>
                    <a:pt x="0" y="1435"/>
                  </a:lnTo>
                  <a:lnTo>
                    <a:pt x="0" y="0"/>
                  </a:lnTo>
                  <a:lnTo>
                    <a:pt x="88912" y="0"/>
                  </a:lnTo>
                  <a:lnTo>
                    <a:pt x="88912" y="1435"/>
                  </a:lnTo>
                  <a:lnTo>
                    <a:pt x="44640" y="1435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7937284" y="5489638"/>
              <a:ext cx="89535" cy="1905"/>
            </a:xfrm>
            <a:custGeom>
              <a:avLst/>
              <a:gdLst/>
              <a:ahLst/>
              <a:cxnLst/>
              <a:rect l="l" t="t" r="r" b="b"/>
              <a:pathLst>
                <a:path w="89534" h="1904">
                  <a:moveTo>
                    <a:pt x="88912" y="0"/>
                  </a:moveTo>
                  <a:lnTo>
                    <a:pt x="0" y="0"/>
                  </a:lnTo>
                  <a:lnTo>
                    <a:pt x="0" y="1447"/>
                  </a:lnTo>
                  <a:lnTo>
                    <a:pt x="44640" y="1447"/>
                  </a:lnTo>
                  <a:lnTo>
                    <a:pt x="88912" y="1447"/>
                  </a:lnTo>
                  <a:lnTo>
                    <a:pt x="889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7937284" y="5489638"/>
              <a:ext cx="89535" cy="1905"/>
            </a:xfrm>
            <a:custGeom>
              <a:avLst/>
              <a:gdLst/>
              <a:ahLst/>
              <a:cxnLst/>
              <a:rect l="l" t="t" r="r" b="b"/>
              <a:pathLst>
                <a:path w="89534" h="1904">
                  <a:moveTo>
                    <a:pt x="44640" y="1447"/>
                  </a:moveTo>
                  <a:lnTo>
                    <a:pt x="0" y="1447"/>
                  </a:lnTo>
                  <a:lnTo>
                    <a:pt x="0" y="0"/>
                  </a:lnTo>
                  <a:lnTo>
                    <a:pt x="88912" y="0"/>
                  </a:lnTo>
                  <a:lnTo>
                    <a:pt x="88912" y="1447"/>
                  </a:lnTo>
                  <a:lnTo>
                    <a:pt x="44640" y="1447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7938719" y="5549404"/>
              <a:ext cx="89535" cy="1905"/>
            </a:xfrm>
            <a:custGeom>
              <a:avLst/>
              <a:gdLst/>
              <a:ahLst/>
              <a:cxnLst/>
              <a:rect l="l" t="t" r="r" b="b"/>
              <a:pathLst>
                <a:path w="89534" h="1904">
                  <a:moveTo>
                    <a:pt x="88925" y="0"/>
                  </a:moveTo>
                  <a:lnTo>
                    <a:pt x="0" y="0"/>
                  </a:lnTo>
                  <a:lnTo>
                    <a:pt x="0" y="1790"/>
                  </a:lnTo>
                  <a:lnTo>
                    <a:pt x="44640" y="1790"/>
                  </a:lnTo>
                  <a:lnTo>
                    <a:pt x="88925" y="1790"/>
                  </a:lnTo>
                  <a:lnTo>
                    <a:pt x="88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7938719" y="5549404"/>
              <a:ext cx="89535" cy="1905"/>
            </a:xfrm>
            <a:custGeom>
              <a:avLst/>
              <a:gdLst/>
              <a:ahLst/>
              <a:cxnLst/>
              <a:rect l="l" t="t" r="r" b="b"/>
              <a:pathLst>
                <a:path w="89534" h="1904">
                  <a:moveTo>
                    <a:pt x="44640" y="1790"/>
                  </a:moveTo>
                  <a:lnTo>
                    <a:pt x="0" y="1790"/>
                  </a:lnTo>
                  <a:lnTo>
                    <a:pt x="0" y="0"/>
                  </a:lnTo>
                  <a:lnTo>
                    <a:pt x="88925" y="0"/>
                  </a:lnTo>
                  <a:lnTo>
                    <a:pt x="88925" y="1790"/>
                  </a:lnTo>
                  <a:lnTo>
                    <a:pt x="44640" y="179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9" name="object 159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100708" y="5303900"/>
              <a:ext cx="12966" cy="450710"/>
            </a:xfrm>
            <a:prstGeom prst="rect">
              <a:avLst/>
            </a:prstGeom>
          </p:spPr>
        </p:pic>
        <p:sp>
          <p:nvSpPr>
            <p:cNvPr id="160" name="object 160"/>
            <p:cNvSpPr/>
            <p:nvPr/>
          </p:nvSpPr>
          <p:spPr>
            <a:xfrm>
              <a:off x="8100720" y="5303875"/>
              <a:ext cx="5080" cy="450850"/>
            </a:xfrm>
            <a:custGeom>
              <a:avLst/>
              <a:gdLst/>
              <a:ahLst/>
              <a:cxnLst/>
              <a:rect l="l" t="t" r="r" b="b"/>
              <a:pathLst>
                <a:path w="5079" h="450850">
                  <a:moveTo>
                    <a:pt x="2514" y="450723"/>
                  </a:moveTo>
                  <a:lnTo>
                    <a:pt x="0" y="450723"/>
                  </a:lnTo>
                  <a:lnTo>
                    <a:pt x="0" y="0"/>
                  </a:lnTo>
                  <a:lnTo>
                    <a:pt x="4673" y="0"/>
                  </a:lnTo>
                  <a:lnTo>
                    <a:pt x="4673" y="450723"/>
                  </a:lnTo>
                  <a:lnTo>
                    <a:pt x="2514" y="450723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7924685" y="575459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7924685" y="5754598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  <a:path w="11429" h="7620">
                  <a:moveTo>
                    <a:pt x="11150" y="7556"/>
                  </a:moveTo>
                  <a:lnTo>
                    <a:pt x="11150" y="7556"/>
                  </a:lnTo>
                  <a:lnTo>
                    <a:pt x="11150" y="7556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7951317" y="569555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7980477" y="569555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8007477" y="569555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8072285" y="5586120"/>
              <a:ext cx="5080" cy="144780"/>
            </a:xfrm>
            <a:custGeom>
              <a:avLst/>
              <a:gdLst/>
              <a:ahLst/>
              <a:cxnLst/>
              <a:rect l="l" t="t" r="r" b="b"/>
              <a:pathLst>
                <a:path w="5079" h="144779">
                  <a:moveTo>
                    <a:pt x="5029" y="0"/>
                  </a:moveTo>
                  <a:lnTo>
                    <a:pt x="0" y="0"/>
                  </a:lnTo>
                  <a:lnTo>
                    <a:pt x="0" y="144360"/>
                  </a:lnTo>
                  <a:lnTo>
                    <a:pt x="2514" y="144360"/>
                  </a:lnTo>
                  <a:lnTo>
                    <a:pt x="5029" y="144360"/>
                  </a:lnTo>
                  <a:lnTo>
                    <a:pt x="5029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8072285" y="5586120"/>
              <a:ext cx="5080" cy="144780"/>
            </a:xfrm>
            <a:custGeom>
              <a:avLst/>
              <a:gdLst/>
              <a:ahLst/>
              <a:cxnLst/>
              <a:rect l="l" t="t" r="r" b="b"/>
              <a:pathLst>
                <a:path w="5079" h="144779">
                  <a:moveTo>
                    <a:pt x="2514" y="144360"/>
                  </a:moveTo>
                  <a:lnTo>
                    <a:pt x="0" y="144360"/>
                  </a:lnTo>
                  <a:lnTo>
                    <a:pt x="0" y="0"/>
                  </a:lnTo>
                  <a:lnTo>
                    <a:pt x="5029" y="0"/>
                  </a:lnTo>
                  <a:lnTo>
                    <a:pt x="5029" y="144360"/>
                  </a:lnTo>
                  <a:lnTo>
                    <a:pt x="2514" y="14436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8" name="object 16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872401" y="5486044"/>
              <a:ext cx="463321" cy="232918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897954" y="5743079"/>
              <a:ext cx="386283" cy="174955"/>
            </a:xfrm>
            <a:prstGeom prst="rect">
              <a:avLst/>
            </a:prstGeom>
          </p:spPr>
        </p:pic>
        <p:sp>
          <p:nvSpPr>
            <p:cNvPr id="170" name="object 170"/>
            <p:cNvSpPr/>
            <p:nvPr/>
          </p:nvSpPr>
          <p:spPr>
            <a:xfrm>
              <a:off x="7023239" y="558647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7023239" y="558647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2" name="object 172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039076" y="5591162"/>
              <a:ext cx="276123" cy="195478"/>
            </a:xfrm>
            <a:prstGeom prst="rect">
              <a:avLst/>
            </a:prstGeom>
          </p:spPr>
        </p:pic>
        <p:sp>
          <p:nvSpPr>
            <p:cNvPr id="173" name="object 173"/>
            <p:cNvSpPr/>
            <p:nvPr/>
          </p:nvSpPr>
          <p:spPr>
            <a:xfrm>
              <a:off x="7021080" y="557999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7271994" y="561060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C4C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7016394" y="582264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7024674" y="583667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E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7023239" y="584315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7048436" y="584460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E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9" name="object 17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560923" y="3041281"/>
              <a:ext cx="435241" cy="232562"/>
            </a:xfrm>
            <a:prstGeom prst="rect">
              <a:avLst/>
            </a:prstGeom>
          </p:spPr>
        </p:pic>
        <p:pic>
          <p:nvPicPr>
            <p:cNvPr id="180" name="object 18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585041" y="3293287"/>
              <a:ext cx="362521" cy="173875"/>
            </a:xfrm>
            <a:prstGeom prst="rect">
              <a:avLst/>
            </a:prstGeom>
          </p:spPr>
        </p:pic>
        <p:sp>
          <p:nvSpPr>
            <p:cNvPr id="181" name="object 181"/>
            <p:cNvSpPr/>
            <p:nvPr/>
          </p:nvSpPr>
          <p:spPr>
            <a:xfrm>
              <a:off x="5702401" y="314100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5702401" y="314100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3" name="object 183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716435" y="3145688"/>
              <a:ext cx="258838" cy="195834"/>
            </a:xfrm>
            <a:prstGeom prst="rect">
              <a:avLst/>
            </a:prstGeom>
          </p:spPr>
        </p:pic>
        <p:sp>
          <p:nvSpPr>
            <p:cNvPr id="184" name="object 184"/>
            <p:cNvSpPr/>
            <p:nvPr/>
          </p:nvSpPr>
          <p:spPr>
            <a:xfrm>
              <a:off x="5700598" y="313415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5937123" y="316655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C4C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5695556" y="337680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5703481" y="339120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E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5702046" y="339732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5725795" y="339911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E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0" name="object 19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40361" y="3222358"/>
              <a:ext cx="407885" cy="365036"/>
            </a:xfrm>
            <a:prstGeom prst="rect">
              <a:avLst/>
            </a:prstGeom>
          </p:spPr>
        </p:pic>
        <p:pic>
          <p:nvPicPr>
            <p:cNvPr id="191" name="object 19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307275" y="5422683"/>
              <a:ext cx="465124" cy="232918"/>
            </a:xfrm>
            <a:prstGeom prst="rect">
              <a:avLst/>
            </a:prstGeom>
          </p:spPr>
        </p:pic>
        <p:pic>
          <p:nvPicPr>
            <p:cNvPr id="192" name="object 19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332840" y="5679363"/>
              <a:ext cx="388073" cy="174955"/>
            </a:xfrm>
            <a:prstGeom prst="rect">
              <a:avLst/>
            </a:prstGeom>
          </p:spPr>
        </p:pic>
        <p:sp>
          <p:nvSpPr>
            <p:cNvPr id="193" name="object 193"/>
            <p:cNvSpPr/>
            <p:nvPr/>
          </p:nvSpPr>
          <p:spPr>
            <a:xfrm>
              <a:off x="7457757" y="552311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7457757" y="552311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5" name="object 19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473962" y="5527446"/>
              <a:ext cx="276123" cy="195834"/>
            </a:xfrm>
            <a:prstGeom prst="rect">
              <a:avLst/>
            </a:prstGeom>
          </p:spPr>
        </p:pic>
        <p:sp>
          <p:nvSpPr>
            <p:cNvPr id="196" name="object 196"/>
            <p:cNvSpPr/>
            <p:nvPr/>
          </p:nvSpPr>
          <p:spPr>
            <a:xfrm>
              <a:off x="7456322" y="551628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7708684" y="554724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C4C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7449845" y="575928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7458125" y="577331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E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7458125" y="577943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7483322" y="578124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E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2" name="object 202"/>
          <p:cNvGrpSpPr/>
          <p:nvPr/>
        </p:nvGrpSpPr>
        <p:grpSpPr>
          <a:xfrm>
            <a:off x="5302084" y="2042642"/>
            <a:ext cx="525780" cy="420370"/>
            <a:chOff x="5302084" y="2042642"/>
            <a:chExt cx="525780" cy="420370"/>
          </a:xfrm>
        </p:grpSpPr>
        <p:pic>
          <p:nvPicPr>
            <p:cNvPr id="203" name="object 203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302084" y="2042642"/>
              <a:ext cx="525602" cy="229679"/>
            </a:xfrm>
            <a:prstGeom prst="rect">
              <a:avLst/>
            </a:prstGeom>
          </p:spPr>
        </p:pic>
        <p:pic>
          <p:nvPicPr>
            <p:cNvPr id="204" name="object 204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332679" y="2296083"/>
              <a:ext cx="434517" cy="166319"/>
            </a:xfrm>
            <a:prstGeom prst="rect">
              <a:avLst/>
            </a:prstGeom>
          </p:spPr>
        </p:pic>
        <p:sp>
          <p:nvSpPr>
            <p:cNvPr id="205" name="object 205"/>
            <p:cNvSpPr/>
            <p:nvPr/>
          </p:nvSpPr>
          <p:spPr>
            <a:xfrm>
              <a:off x="5471642" y="214271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5471642" y="214271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7" name="object 207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489638" y="2147036"/>
              <a:ext cx="312839" cy="191160"/>
            </a:xfrm>
            <a:prstGeom prst="rect">
              <a:avLst/>
            </a:prstGeom>
          </p:spPr>
        </p:pic>
        <p:sp>
          <p:nvSpPr>
            <p:cNvPr id="208" name="object 208"/>
            <p:cNvSpPr/>
            <p:nvPr/>
          </p:nvSpPr>
          <p:spPr>
            <a:xfrm>
              <a:off x="5470563" y="213300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5754598" y="216648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C4C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5464086" y="237239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5473445" y="238644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E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5471642" y="239292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5500446" y="239435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E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4" name="object 214"/>
          <p:cNvSpPr txBox="1"/>
          <p:nvPr/>
        </p:nvSpPr>
        <p:spPr>
          <a:xfrm>
            <a:off x="840854" y="2188336"/>
            <a:ext cx="965200" cy="67945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29845" marR="283845">
              <a:lnSpc>
                <a:spcPct val="74900"/>
              </a:lnSpc>
              <a:spcBef>
                <a:spcPts val="520"/>
              </a:spcBef>
            </a:pPr>
            <a:r>
              <a:rPr sz="1400" spc="-10" dirty="0">
                <a:latin typeface="Arial"/>
                <a:cs typeface="Arial"/>
              </a:rPr>
              <a:t>wireless laptop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400" spc="-10" dirty="0">
                <a:latin typeface="Arial"/>
                <a:cs typeface="Arial"/>
              </a:rPr>
              <a:t>smartphone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5" name="object 215"/>
          <p:cNvSpPr txBox="1"/>
          <p:nvPr/>
        </p:nvSpPr>
        <p:spPr>
          <a:xfrm>
            <a:off x="845896" y="1416139"/>
            <a:ext cx="525780" cy="594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PC</a:t>
            </a:r>
            <a:endParaRPr sz="1400" dirty="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1115"/>
              </a:spcBef>
            </a:pPr>
            <a:r>
              <a:rPr sz="1400" spc="-10" dirty="0">
                <a:latin typeface="Arial"/>
                <a:cs typeface="Arial"/>
              </a:rPr>
              <a:t>server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216" name="object 2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7362" y="1321917"/>
            <a:ext cx="407885" cy="365404"/>
          </a:xfrm>
          <a:prstGeom prst="rect">
            <a:avLst/>
          </a:prstGeom>
        </p:spPr>
      </p:pic>
      <p:pic>
        <p:nvPicPr>
          <p:cNvPr id="217" name="object 217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473036" y="2669768"/>
            <a:ext cx="365036" cy="268185"/>
          </a:xfrm>
          <a:prstGeom prst="rect">
            <a:avLst/>
          </a:prstGeom>
        </p:spPr>
      </p:pic>
      <p:grpSp>
        <p:nvGrpSpPr>
          <p:cNvPr id="218" name="object 218"/>
          <p:cNvGrpSpPr/>
          <p:nvPr/>
        </p:nvGrpSpPr>
        <p:grpSpPr>
          <a:xfrm>
            <a:off x="333362" y="1736274"/>
            <a:ext cx="467359" cy="831850"/>
            <a:chOff x="333362" y="1736274"/>
            <a:chExt cx="467359" cy="831850"/>
          </a:xfrm>
        </p:grpSpPr>
        <p:pic>
          <p:nvPicPr>
            <p:cNvPr id="219" name="object 219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33362" y="2171522"/>
              <a:ext cx="466915" cy="210235"/>
            </a:xfrm>
            <a:prstGeom prst="rect">
              <a:avLst/>
            </a:prstGeom>
          </p:spPr>
        </p:pic>
        <p:pic>
          <p:nvPicPr>
            <p:cNvPr id="220" name="object 220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59638" y="2405875"/>
              <a:ext cx="389166" cy="162001"/>
            </a:xfrm>
            <a:prstGeom prst="rect">
              <a:avLst/>
            </a:prstGeom>
          </p:spPr>
        </p:pic>
        <p:sp>
          <p:nvSpPr>
            <p:cNvPr id="221" name="object 221"/>
            <p:cNvSpPr/>
            <p:nvPr/>
          </p:nvSpPr>
          <p:spPr>
            <a:xfrm>
              <a:off x="485635" y="226368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485635" y="226368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3" name="object 223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501484" y="2268372"/>
              <a:ext cx="277914" cy="178193"/>
            </a:xfrm>
            <a:prstGeom prst="rect">
              <a:avLst/>
            </a:prstGeom>
          </p:spPr>
        </p:pic>
        <p:sp>
          <p:nvSpPr>
            <p:cNvPr id="224" name="object 224"/>
            <p:cNvSpPr/>
            <p:nvPr/>
          </p:nvSpPr>
          <p:spPr>
            <a:xfrm>
              <a:off x="482396" y="225576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736206" y="228635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C4C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477354" y="248075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485279" y="249480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E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484200" y="249984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511200" y="250127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E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0" name="object 230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50799" y="1740979"/>
              <a:ext cx="177838" cy="381228"/>
            </a:xfrm>
            <a:prstGeom prst="rect">
              <a:avLst/>
            </a:prstGeom>
          </p:spPr>
        </p:pic>
        <p:sp>
          <p:nvSpPr>
            <p:cNvPr id="231" name="object 231"/>
            <p:cNvSpPr/>
            <p:nvPr/>
          </p:nvSpPr>
          <p:spPr>
            <a:xfrm>
              <a:off x="552234" y="1785962"/>
              <a:ext cx="98425" cy="1905"/>
            </a:xfrm>
            <a:custGeom>
              <a:avLst/>
              <a:gdLst/>
              <a:ahLst/>
              <a:cxnLst/>
              <a:rect l="l" t="t" r="r" b="b"/>
              <a:pathLst>
                <a:path w="98425" h="1905">
                  <a:moveTo>
                    <a:pt x="98285" y="0"/>
                  </a:moveTo>
                  <a:lnTo>
                    <a:pt x="0" y="0"/>
                  </a:lnTo>
                  <a:lnTo>
                    <a:pt x="0" y="1435"/>
                  </a:lnTo>
                  <a:lnTo>
                    <a:pt x="49326" y="1435"/>
                  </a:lnTo>
                  <a:lnTo>
                    <a:pt x="98285" y="1435"/>
                  </a:lnTo>
                  <a:lnTo>
                    <a:pt x="982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552234" y="1785962"/>
              <a:ext cx="98425" cy="1905"/>
            </a:xfrm>
            <a:custGeom>
              <a:avLst/>
              <a:gdLst/>
              <a:ahLst/>
              <a:cxnLst/>
              <a:rect l="l" t="t" r="r" b="b"/>
              <a:pathLst>
                <a:path w="98425" h="1905">
                  <a:moveTo>
                    <a:pt x="49326" y="1435"/>
                  </a:moveTo>
                  <a:lnTo>
                    <a:pt x="0" y="1435"/>
                  </a:lnTo>
                  <a:lnTo>
                    <a:pt x="0" y="0"/>
                  </a:lnTo>
                  <a:lnTo>
                    <a:pt x="98285" y="0"/>
                  </a:lnTo>
                  <a:lnTo>
                    <a:pt x="98285" y="1435"/>
                  </a:lnTo>
                  <a:lnTo>
                    <a:pt x="49326" y="1435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553681" y="1841042"/>
              <a:ext cx="98425" cy="1905"/>
            </a:xfrm>
            <a:custGeom>
              <a:avLst/>
              <a:gdLst/>
              <a:ahLst/>
              <a:cxnLst/>
              <a:rect l="l" t="t" r="r" b="b"/>
              <a:pathLst>
                <a:path w="98425" h="1905">
                  <a:moveTo>
                    <a:pt x="98272" y="0"/>
                  </a:moveTo>
                  <a:lnTo>
                    <a:pt x="0" y="0"/>
                  </a:lnTo>
                  <a:lnTo>
                    <a:pt x="0" y="1803"/>
                  </a:lnTo>
                  <a:lnTo>
                    <a:pt x="49314" y="1803"/>
                  </a:lnTo>
                  <a:lnTo>
                    <a:pt x="98272" y="1803"/>
                  </a:lnTo>
                  <a:lnTo>
                    <a:pt x="982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553681" y="1841042"/>
              <a:ext cx="98425" cy="1905"/>
            </a:xfrm>
            <a:custGeom>
              <a:avLst/>
              <a:gdLst/>
              <a:ahLst/>
              <a:cxnLst/>
              <a:rect l="l" t="t" r="r" b="b"/>
              <a:pathLst>
                <a:path w="98425" h="1905">
                  <a:moveTo>
                    <a:pt x="49314" y="1803"/>
                  </a:moveTo>
                  <a:lnTo>
                    <a:pt x="0" y="1803"/>
                  </a:lnTo>
                  <a:lnTo>
                    <a:pt x="0" y="0"/>
                  </a:lnTo>
                  <a:lnTo>
                    <a:pt x="98272" y="0"/>
                  </a:lnTo>
                  <a:lnTo>
                    <a:pt x="98272" y="1803"/>
                  </a:lnTo>
                  <a:lnTo>
                    <a:pt x="49314" y="1803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552234" y="1898637"/>
              <a:ext cx="98425" cy="1905"/>
            </a:xfrm>
            <a:custGeom>
              <a:avLst/>
              <a:gdLst/>
              <a:ahLst/>
              <a:cxnLst/>
              <a:rect l="l" t="t" r="r" b="b"/>
              <a:pathLst>
                <a:path w="98425" h="1905">
                  <a:moveTo>
                    <a:pt x="98285" y="0"/>
                  </a:moveTo>
                  <a:lnTo>
                    <a:pt x="0" y="0"/>
                  </a:lnTo>
                  <a:lnTo>
                    <a:pt x="0" y="1447"/>
                  </a:lnTo>
                  <a:lnTo>
                    <a:pt x="49326" y="1447"/>
                  </a:lnTo>
                  <a:lnTo>
                    <a:pt x="98285" y="1447"/>
                  </a:lnTo>
                  <a:lnTo>
                    <a:pt x="982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552234" y="1898637"/>
              <a:ext cx="98425" cy="1905"/>
            </a:xfrm>
            <a:custGeom>
              <a:avLst/>
              <a:gdLst/>
              <a:ahLst/>
              <a:cxnLst/>
              <a:rect l="l" t="t" r="r" b="b"/>
              <a:pathLst>
                <a:path w="98425" h="1905">
                  <a:moveTo>
                    <a:pt x="49326" y="1447"/>
                  </a:moveTo>
                  <a:lnTo>
                    <a:pt x="0" y="1447"/>
                  </a:lnTo>
                  <a:lnTo>
                    <a:pt x="0" y="0"/>
                  </a:lnTo>
                  <a:lnTo>
                    <a:pt x="98285" y="0"/>
                  </a:lnTo>
                  <a:lnTo>
                    <a:pt x="98285" y="1447"/>
                  </a:lnTo>
                  <a:lnTo>
                    <a:pt x="49326" y="1447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555117" y="1949043"/>
              <a:ext cx="97155" cy="1905"/>
            </a:xfrm>
            <a:custGeom>
              <a:avLst/>
              <a:gdLst/>
              <a:ahLst/>
              <a:cxnLst/>
              <a:rect l="l" t="t" r="r" b="b"/>
              <a:pathLst>
                <a:path w="97154" h="1905">
                  <a:moveTo>
                    <a:pt x="96837" y="0"/>
                  </a:moveTo>
                  <a:lnTo>
                    <a:pt x="0" y="0"/>
                  </a:lnTo>
                  <a:lnTo>
                    <a:pt x="0" y="1790"/>
                  </a:lnTo>
                  <a:lnTo>
                    <a:pt x="48602" y="1790"/>
                  </a:lnTo>
                  <a:lnTo>
                    <a:pt x="96837" y="1790"/>
                  </a:lnTo>
                  <a:lnTo>
                    <a:pt x="968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555117" y="1949043"/>
              <a:ext cx="97155" cy="1905"/>
            </a:xfrm>
            <a:custGeom>
              <a:avLst/>
              <a:gdLst/>
              <a:ahLst/>
              <a:cxnLst/>
              <a:rect l="l" t="t" r="r" b="b"/>
              <a:pathLst>
                <a:path w="97154" h="1905">
                  <a:moveTo>
                    <a:pt x="48602" y="1790"/>
                  </a:moveTo>
                  <a:lnTo>
                    <a:pt x="0" y="1790"/>
                  </a:lnTo>
                  <a:lnTo>
                    <a:pt x="0" y="0"/>
                  </a:lnTo>
                  <a:lnTo>
                    <a:pt x="96837" y="0"/>
                  </a:lnTo>
                  <a:lnTo>
                    <a:pt x="96837" y="1790"/>
                  </a:lnTo>
                  <a:lnTo>
                    <a:pt x="48602" y="179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9" name="object 239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733310" y="1740979"/>
              <a:ext cx="12966" cy="381228"/>
            </a:xfrm>
            <a:prstGeom prst="rect">
              <a:avLst/>
            </a:prstGeom>
          </p:spPr>
        </p:pic>
        <p:sp>
          <p:nvSpPr>
            <p:cNvPr id="240" name="object 240"/>
            <p:cNvSpPr/>
            <p:nvPr/>
          </p:nvSpPr>
          <p:spPr>
            <a:xfrm>
              <a:off x="733323" y="1740954"/>
              <a:ext cx="5080" cy="381635"/>
            </a:xfrm>
            <a:custGeom>
              <a:avLst/>
              <a:gdLst/>
              <a:ahLst/>
              <a:cxnLst/>
              <a:rect l="l" t="t" r="r" b="b"/>
              <a:pathLst>
                <a:path w="5079" h="381635">
                  <a:moveTo>
                    <a:pt x="2514" y="381241"/>
                  </a:moveTo>
                  <a:lnTo>
                    <a:pt x="0" y="381241"/>
                  </a:lnTo>
                  <a:lnTo>
                    <a:pt x="0" y="0"/>
                  </a:lnTo>
                  <a:lnTo>
                    <a:pt x="5041" y="0"/>
                  </a:lnTo>
                  <a:lnTo>
                    <a:pt x="5041" y="381241"/>
                  </a:lnTo>
                  <a:lnTo>
                    <a:pt x="2514" y="381241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539280" y="212219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539280" y="2122195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5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  <a:path w="12065" h="6985">
                  <a:moveTo>
                    <a:pt x="11518" y="6489"/>
                  </a:moveTo>
                  <a:lnTo>
                    <a:pt x="11518" y="6489"/>
                  </a:lnTo>
                  <a:lnTo>
                    <a:pt x="11518" y="6489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569518" y="207288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599757" y="207288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631444" y="207288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701636" y="1979282"/>
              <a:ext cx="8255" cy="122555"/>
            </a:xfrm>
            <a:custGeom>
              <a:avLst/>
              <a:gdLst/>
              <a:ahLst/>
              <a:cxnLst/>
              <a:rect l="l" t="t" r="r" b="b"/>
              <a:pathLst>
                <a:path w="8254" h="122555">
                  <a:moveTo>
                    <a:pt x="7924" y="0"/>
                  </a:moveTo>
                  <a:lnTo>
                    <a:pt x="0" y="0"/>
                  </a:lnTo>
                  <a:lnTo>
                    <a:pt x="0" y="122034"/>
                  </a:lnTo>
                  <a:lnTo>
                    <a:pt x="3962" y="122034"/>
                  </a:lnTo>
                  <a:lnTo>
                    <a:pt x="7924" y="122034"/>
                  </a:lnTo>
                  <a:lnTo>
                    <a:pt x="7924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" name="object 247"/>
            <p:cNvSpPr/>
            <p:nvPr/>
          </p:nvSpPr>
          <p:spPr>
            <a:xfrm>
              <a:off x="701636" y="1979282"/>
              <a:ext cx="8255" cy="122555"/>
            </a:xfrm>
            <a:custGeom>
              <a:avLst/>
              <a:gdLst/>
              <a:ahLst/>
              <a:cxnLst/>
              <a:rect l="l" t="t" r="r" b="b"/>
              <a:pathLst>
                <a:path w="8254" h="122555">
                  <a:moveTo>
                    <a:pt x="3962" y="122034"/>
                  </a:moveTo>
                  <a:lnTo>
                    <a:pt x="0" y="122034"/>
                  </a:lnTo>
                  <a:lnTo>
                    <a:pt x="0" y="0"/>
                  </a:lnTo>
                  <a:lnTo>
                    <a:pt x="7924" y="0"/>
                  </a:lnTo>
                  <a:lnTo>
                    <a:pt x="7924" y="122034"/>
                  </a:lnTo>
                  <a:lnTo>
                    <a:pt x="3962" y="122034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8" name="object 248"/>
          <p:cNvSpPr txBox="1"/>
          <p:nvPr/>
        </p:nvSpPr>
        <p:spPr>
          <a:xfrm>
            <a:off x="4098137" y="6446185"/>
            <a:ext cx="946785" cy="20320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200" spc="-10" dirty="0">
                <a:solidFill>
                  <a:srgbClr val="8A8A8A"/>
                </a:solidFill>
                <a:latin typeface="Trebuchet MS"/>
                <a:cs typeface="Trebuchet MS"/>
              </a:rPr>
              <a:t>Introduction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49" name="object 2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848360">
              <a:lnSpc>
                <a:spcPct val="100000"/>
              </a:lnSpc>
              <a:spcBef>
                <a:spcPts val="10"/>
              </a:spcBef>
            </a:pPr>
            <a:r>
              <a:rPr sz="1200" spc="60" dirty="0">
                <a:solidFill>
                  <a:srgbClr val="8A8A8A"/>
                </a:solidFill>
                <a:latin typeface="Trebuchet MS"/>
                <a:cs typeface="Trebuchet MS"/>
              </a:rPr>
              <a:t>1-</a:t>
            </a:r>
            <a:fld id="{81D60167-4931-47E6-BA6A-407CBD079E47}" type="slidenum">
              <a:rPr sz="1200" spc="85" dirty="0">
                <a:solidFill>
                  <a:srgbClr val="8A8A8A"/>
                </a:solidFill>
                <a:latin typeface="Trebuchet MS"/>
                <a:cs typeface="Trebuchet MS"/>
              </a:rPr>
              <a:t>10</a:t>
            </a:fld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235" y="961555"/>
            <a:ext cx="5942164" cy="14842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8824" y="376097"/>
            <a:ext cx="720788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u="none" spc="165" dirty="0">
                <a:solidFill>
                  <a:srgbClr val="000000"/>
                </a:solidFill>
                <a:latin typeface="Trebuchet MS"/>
                <a:cs typeface="Trebuchet MS"/>
              </a:rPr>
              <a:t>“Fun”</a:t>
            </a:r>
            <a:r>
              <a:rPr sz="4400" u="none" spc="9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4400" u="none" spc="160" dirty="0">
                <a:solidFill>
                  <a:srgbClr val="000000"/>
                </a:solidFill>
                <a:latin typeface="Trebuchet MS"/>
                <a:cs typeface="Trebuchet MS"/>
              </a:rPr>
              <a:t>internet</a:t>
            </a:r>
            <a:r>
              <a:rPr sz="4400" u="none" spc="9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4400" u="none" spc="254" dirty="0">
                <a:solidFill>
                  <a:srgbClr val="000000"/>
                </a:solidFill>
                <a:latin typeface="Trebuchet MS"/>
                <a:cs typeface="Trebuchet MS"/>
              </a:rPr>
              <a:t>appliances</a:t>
            </a:r>
            <a:endParaRPr sz="44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25926" y="1460157"/>
            <a:ext cx="2495524" cy="293543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6965" y="1425244"/>
            <a:ext cx="1895398" cy="15606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75499" y="2820860"/>
            <a:ext cx="199771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"/>
                <a:cs typeface="Arial"/>
              </a:rPr>
              <a:t>IP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picture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frame </a:t>
            </a:r>
            <a:r>
              <a:rPr sz="1600" spc="-10" dirty="0">
                <a:latin typeface="Arial"/>
                <a:cs typeface="Arial"/>
                <a:hlinkClick r:id="rId5"/>
              </a:rPr>
              <a:t>http://www.ceiva.com/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06262" y="2020582"/>
            <a:ext cx="2081530" cy="513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Arial"/>
                <a:cs typeface="Arial"/>
              </a:rPr>
              <a:t>Web-</a:t>
            </a:r>
            <a:r>
              <a:rPr sz="1600" dirty="0">
                <a:latin typeface="Arial"/>
                <a:cs typeface="Arial"/>
              </a:rPr>
              <a:t>enabled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toaster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+ </a:t>
            </a:r>
            <a:r>
              <a:rPr sz="1600" dirty="0">
                <a:latin typeface="Arial"/>
                <a:cs typeface="Arial"/>
              </a:rPr>
              <a:t>weather</a:t>
            </a:r>
            <a:r>
              <a:rPr sz="1600" spc="-8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forecaster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68835" y="4387329"/>
            <a:ext cx="2395804" cy="191951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991745" y="6049340"/>
            <a:ext cx="14331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"/>
                <a:cs typeface="Arial"/>
              </a:rPr>
              <a:t>Internet</a:t>
            </a:r>
            <a:r>
              <a:rPr sz="1600" spc="-8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phones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16293" y="4584242"/>
            <a:ext cx="1504703" cy="74303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061897" y="5233949"/>
            <a:ext cx="4163695" cy="1099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52295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"/>
                <a:cs typeface="Arial"/>
              </a:rPr>
              <a:t>Slingbox: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watch,</a:t>
            </a:r>
            <a:endParaRPr sz="1600">
              <a:latin typeface="Arial"/>
              <a:cs typeface="Arial"/>
            </a:endParaRPr>
          </a:p>
          <a:p>
            <a:pPr marL="1852295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control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cable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TV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remotely</a:t>
            </a:r>
            <a:endParaRPr sz="1600">
              <a:latin typeface="Arial"/>
              <a:cs typeface="Arial"/>
            </a:endParaRPr>
          </a:p>
          <a:p>
            <a:pPr marL="12700" marR="3153410">
              <a:lnSpc>
                <a:spcPct val="100000"/>
              </a:lnSpc>
              <a:spcBef>
                <a:spcPts val="790"/>
              </a:spcBef>
            </a:pPr>
            <a:r>
              <a:rPr sz="1600" spc="-10" dirty="0">
                <a:latin typeface="Arial"/>
                <a:cs typeface="Arial"/>
              </a:rPr>
              <a:t>Internet refrigerator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891477" y="2754376"/>
            <a:ext cx="695159" cy="1095463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841337" y="3873500"/>
            <a:ext cx="1760855" cy="513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Arial"/>
                <a:cs typeface="Arial"/>
              </a:rPr>
              <a:t>Tweet-</a:t>
            </a:r>
            <a:r>
              <a:rPr sz="1600" spc="-10" dirty="0">
                <a:latin typeface="Arial"/>
                <a:cs typeface="Arial"/>
              </a:rPr>
              <a:t>a-watt: </a:t>
            </a:r>
            <a:r>
              <a:rPr sz="1600" dirty="0">
                <a:latin typeface="Arial"/>
                <a:cs typeface="Arial"/>
              </a:rPr>
              <a:t>monitor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energy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use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14400" y="3580917"/>
            <a:ext cx="800277" cy="215927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098137" y="6446185"/>
            <a:ext cx="946785" cy="20320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200" spc="-10" dirty="0">
                <a:solidFill>
                  <a:srgbClr val="8A8A8A"/>
                </a:solidFill>
                <a:latin typeface="Trebuchet MS"/>
                <a:cs typeface="Trebuchet MS"/>
              </a:rPr>
              <a:t>Introduction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848360">
              <a:lnSpc>
                <a:spcPct val="100000"/>
              </a:lnSpc>
              <a:spcBef>
                <a:spcPts val="10"/>
              </a:spcBef>
            </a:pPr>
            <a:r>
              <a:rPr sz="1200" spc="60" dirty="0">
                <a:solidFill>
                  <a:srgbClr val="8A8A8A"/>
                </a:solidFill>
                <a:latin typeface="Trebuchet MS"/>
                <a:cs typeface="Trebuchet MS"/>
              </a:rPr>
              <a:t>1-</a:t>
            </a:r>
            <a:fld id="{81D60167-4931-47E6-BA6A-407CBD079E47}" type="slidenum">
              <a:rPr sz="1200" spc="85" dirty="0">
                <a:solidFill>
                  <a:srgbClr val="8A8A8A"/>
                </a:solidFill>
                <a:latin typeface="Trebuchet MS"/>
                <a:cs typeface="Trebuchet MS"/>
              </a:rPr>
              <a:t>11</a:t>
            </a:fld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3341" y="1581022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CC0000"/>
                </a:solidFill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9942" y="1537145"/>
            <a:ext cx="3704590" cy="40208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70230">
              <a:lnSpc>
                <a:spcPct val="100000"/>
              </a:lnSpc>
              <a:spcBef>
                <a:spcPts val="135"/>
              </a:spcBef>
            </a:pPr>
            <a:r>
              <a:rPr sz="2450" i="1" spc="-20" dirty="0">
                <a:solidFill>
                  <a:srgbClr val="CC0000"/>
                </a:solidFill>
                <a:latin typeface="Comic Sans MS"/>
                <a:cs typeface="Comic Sans MS"/>
              </a:rPr>
              <a:t>Internet:</a:t>
            </a:r>
            <a:r>
              <a:rPr sz="2450" i="1" spc="-85" dirty="0">
                <a:solidFill>
                  <a:srgbClr val="CC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CC0000"/>
                </a:solidFill>
                <a:latin typeface="Comic Sans MS"/>
                <a:cs typeface="Comic Sans MS"/>
              </a:rPr>
              <a:t>“network</a:t>
            </a:r>
            <a:r>
              <a:rPr sz="2400" spc="-85" dirty="0">
                <a:solidFill>
                  <a:srgbClr val="CC0000"/>
                </a:solidFill>
                <a:latin typeface="Comic Sans MS"/>
                <a:cs typeface="Comic Sans MS"/>
              </a:rPr>
              <a:t> </a:t>
            </a:r>
            <a:r>
              <a:rPr sz="2400" spc="-25" dirty="0">
                <a:solidFill>
                  <a:srgbClr val="CC0000"/>
                </a:solidFill>
                <a:latin typeface="Comic Sans MS"/>
                <a:cs typeface="Comic Sans MS"/>
              </a:rPr>
              <a:t>of </a:t>
            </a:r>
            <a:r>
              <a:rPr sz="2400" spc="-10" dirty="0">
                <a:solidFill>
                  <a:srgbClr val="CC0000"/>
                </a:solidFill>
                <a:latin typeface="Comic Sans MS"/>
                <a:cs typeface="Comic Sans MS"/>
              </a:rPr>
              <a:t>networks”</a:t>
            </a:r>
            <a:endParaRPr sz="2400">
              <a:latin typeface="Comic Sans MS"/>
              <a:cs typeface="Comic Sans MS"/>
            </a:endParaRPr>
          </a:p>
          <a:p>
            <a:pPr marL="412115" indent="-279400">
              <a:lnSpc>
                <a:spcPct val="100000"/>
              </a:lnSpc>
              <a:spcBef>
                <a:spcPts val="390"/>
              </a:spcBef>
              <a:buFont typeface="Arial"/>
              <a:buChar char="–"/>
              <a:tabLst>
                <a:tab pos="412115" algn="l"/>
              </a:tabLst>
            </a:pPr>
            <a:r>
              <a:rPr sz="2000" dirty="0">
                <a:latin typeface="Comic Sans MS"/>
                <a:cs typeface="Comic Sans MS"/>
              </a:rPr>
              <a:t>Interconnected</a:t>
            </a:r>
            <a:r>
              <a:rPr sz="2000" spc="-100" dirty="0">
                <a:latin typeface="Comic Sans MS"/>
                <a:cs typeface="Comic Sans MS"/>
              </a:rPr>
              <a:t> </a:t>
            </a:r>
            <a:r>
              <a:rPr sz="2000" spc="-20" dirty="0">
                <a:latin typeface="Comic Sans MS"/>
                <a:cs typeface="Comic Sans MS"/>
              </a:rPr>
              <a:t>ISPs</a:t>
            </a:r>
            <a:endParaRPr sz="2000">
              <a:latin typeface="Comic Sans MS"/>
              <a:cs typeface="Comic Sans MS"/>
            </a:endParaRPr>
          </a:p>
          <a:p>
            <a:pPr marL="12700" marR="26670">
              <a:lnSpc>
                <a:spcPct val="100000"/>
              </a:lnSpc>
              <a:spcBef>
                <a:spcPts val="430"/>
              </a:spcBef>
            </a:pPr>
            <a:r>
              <a:rPr sz="2450" i="1" spc="-20" dirty="0">
                <a:solidFill>
                  <a:srgbClr val="CC0000"/>
                </a:solidFill>
                <a:latin typeface="Comic Sans MS"/>
                <a:cs typeface="Comic Sans MS"/>
              </a:rPr>
              <a:t>protocols</a:t>
            </a:r>
            <a:r>
              <a:rPr sz="2450" i="1" spc="-95" dirty="0">
                <a:solidFill>
                  <a:srgbClr val="CC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control</a:t>
            </a:r>
            <a:r>
              <a:rPr sz="2400" spc="-7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sending, </a:t>
            </a:r>
            <a:r>
              <a:rPr sz="2400" dirty="0">
                <a:latin typeface="Comic Sans MS"/>
                <a:cs typeface="Comic Sans MS"/>
              </a:rPr>
              <a:t>receiving</a:t>
            </a:r>
            <a:r>
              <a:rPr sz="2400" spc="-6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of</a:t>
            </a:r>
            <a:r>
              <a:rPr sz="2400" spc="-50" dirty="0">
                <a:latin typeface="Comic Sans MS"/>
                <a:cs typeface="Comic Sans MS"/>
              </a:rPr>
              <a:t> </a:t>
            </a:r>
            <a:r>
              <a:rPr sz="2400" spc="-20" dirty="0">
                <a:latin typeface="Comic Sans MS"/>
                <a:cs typeface="Comic Sans MS"/>
              </a:rPr>
              <a:t>msgs</a:t>
            </a:r>
            <a:endParaRPr sz="2400">
              <a:latin typeface="Comic Sans MS"/>
              <a:cs typeface="Comic Sans MS"/>
            </a:endParaRPr>
          </a:p>
          <a:p>
            <a:pPr marL="412115" marR="100330" indent="-279400">
              <a:lnSpc>
                <a:spcPct val="100499"/>
              </a:lnSpc>
              <a:spcBef>
                <a:spcPts val="375"/>
              </a:spcBef>
              <a:buFont typeface="Arial"/>
              <a:buChar char="–"/>
              <a:tabLst>
                <a:tab pos="412115" algn="l"/>
              </a:tabLst>
            </a:pPr>
            <a:r>
              <a:rPr sz="2000" dirty="0">
                <a:latin typeface="Comic Sans MS"/>
                <a:cs typeface="Comic Sans MS"/>
              </a:rPr>
              <a:t>e.g.,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TCP,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IP,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HTTP,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Skype, 802.11</a:t>
            </a:r>
            <a:endParaRPr sz="20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  <a:tabLst>
                <a:tab pos="1447165" algn="l"/>
              </a:tabLst>
            </a:pPr>
            <a:r>
              <a:rPr sz="2450" i="1" spc="-10" dirty="0">
                <a:solidFill>
                  <a:srgbClr val="BF0000"/>
                </a:solidFill>
                <a:latin typeface="Comic Sans MS"/>
                <a:cs typeface="Comic Sans MS"/>
              </a:rPr>
              <a:t>Internet</a:t>
            </a:r>
            <a:r>
              <a:rPr sz="2450" i="1" dirty="0">
                <a:solidFill>
                  <a:srgbClr val="BF0000"/>
                </a:solidFill>
                <a:latin typeface="Comic Sans MS"/>
                <a:cs typeface="Comic Sans MS"/>
              </a:rPr>
              <a:t>	</a:t>
            </a:r>
            <a:r>
              <a:rPr sz="2450" i="1" spc="-10" dirty="0">
                <a:solidFill>
                  <a:srgbClr val="BF0000"/>
                </a:solidFill>
                <a:latin typeface="Comic Sans MS"/>
                <a:cs typeface="Comic Sans MS"/>
              </a:rPr>
              <a:t>standards</a:t>
            </a:r>
            <a:endParaRPr sz="2450">
              <a:latin typeface="Comic Sans MS"/>
              <a:cs typeface="Comic Sans MS"/>
            </a:endParaRPr>
          </a:p>
          <a:p>
            <a:pPr marL="412115" indent="-279400">
              <a:lnSpc>
                <a:spcPct val="100000"/>
              </a:lnSpc>
              <a:spcBef>
                <a:spcPts val="390"/>
              </a:spcBef>
              <a:buFont typeface="Arial"/>
              <a:buChar char="–"/>
              <a:tabLst>
                <a:tab pos="412115" algn="l"/>
              </a:tabLst>
            </a:pPr>
            <a:r>
              <a:rPr sz="2000" dirty="0">
                <a:latin typeface="Comic Sans MS"/>
                <a:cs typeface="Comic Sans MS"/>
              </a:rPr>
              <a:t>RFC:</a:t>
            </a:r>
            <a:r>
              <a:rPr sz="2000" spc="-4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Request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for</a:t>
            </a:r>
            <a:r>
              <a:rPr sz="2000" spc="-4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comments</a:t>
            </a:r>
            <a:endParaRPr sz="2000">
              <a:latin typeface="Comic Sans MS"/>
              <a:cs typeface="Comic Sans MS"/>
            </a:endParaRPr>
          </a:p>
          <a:p>
            <a:pPr marL="412115" marR="17780" indent="-279400">
              <a:lnSpc>
                <a:spcPct val="100000"/>
              </a:lnSpc>
              <a:spcBef>
                <a:spcPts val="400"/>
              </a:spcBef>
              <a:buFont typeface="Arial"/>
              <a:buChar char="–"/>
              <a:tabLst>
                <a:tab pos="412115" algn="l"/>
              </a:tabLst>
            </a:pPr>
            <a:r>
              <a:rPr sz="2000" dirty="0">
                <a:latin typeface="Comic Sans MS"/>
                <a:cs typeface="Comic Sans MS"/>
              </a:rPr>
              <a:t>IETF:</a:t>
            </a:r>
            <a:r>
              <a:rPr sz="2000" spc="-6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Internet</a:t>
            </a:r>
            <a:r>
              <a:rPr sz="2000" spc="-6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Engineering </a:t>
            </a:r>
            <a:r>
              <a:rPr sz="2000" dirty="0">
                <a:latin typeface="Comic Sans MS"/>
                <a:cs typeface="Comic Sans MS"/>
              </a:rPr>
              <a:t>Task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spc="-20" dirty="0">
                <a:latin typeface="Comic Sans MS"/>
                <a:cs typeface="Comic Sans MS"/>
              </a:rPr>
              <a:t>Force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3341" y="2730500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CC0000"/>
                </a:solidFill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3341" y="4183456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BF0000"/>
                </a:solidFill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89699" y="432981"/>
            <a:ext cx="754125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u="none" spc="160" dirty="0">
                <a:solidFill>
                  <a:srgbClr val="000099"/>
                </a:solidFill>
                <a:latin typeface="Trebuchet MS"/>
                <a:cs typeface="Trebuchet MS"/>
              </a:rPr>
              <a:t>What’s</a:t>
            </a:r>
            <a:r>
              <a:rPr sz="2800" u="none" spc="4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800" u="none" spc="125" dirty="0">
                <a:solidFill>
                  <a:srgbClr val="000099"/>
                </a:solidFill>
                <a:latin typeface="Trebuchet MS"/>
                <a:cs typeface="Trebuchet MS"/>
              </a:rPr>
              <a:t>the</a:t>
            </a:r>
            <a:r>
              <a:rPr sz="2800" u="none" spc="5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800" u="none" spc="85" dirty="0">
                <a:solidFill>
                  <a:srgbClr val="000099"/>
                </a:solidFill>
                <a:latin typeface="Trebuchet MS"/>
                <a:cs typeface="Trebuchet MS"/>
              </a:rPr>
              <a:t>Internet:</a:t>
            </a:r>
            <a:r>
              <a:rPr sz="2800" u="none" spc="5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800" u="none" spc="145" dirty="0">
                <a:solidFill>
                  <a:srgbClr val="000099"/>
                </a:solidFill>
                <a:latin typeface="Trebuchet MS"/>
                <a:cs typeface="Trebuchet MS"/>
              </a:rPr>
              <a:t>“nuts</a:t>
            </a:r>
            <a:r>
              <a:rPr sz="2800" u="none" spc="35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800" u="none" spc="225" dirty="0">
                <a:solidFill>
                  <a:srgbClr val="000099"/>
                </a:solidFill>
                <a:latin typeface="Trebuchet MS"/>
                <a:cs typeface="Trebuchet MS"/>
              </a:rPr>
              <a:t>and</a:t>
            </a:r>
            <a:r>
              <a:rPr sz="2800" u="none" spc="4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800" u="none" spc="100" dirty="0">
                <a:solidFill>
                  <a:srgbClr val="000099"/>
                </a:solidFill>
                <a:latin typeface="Trebuchet MS"/>
                <a:cs typeface="Trebuchet MS"/>
              </a:rPr>
              <a:t>bolts”</a:t>
            </a:r>
            <a:r>
              <a:rPr sz="2800" u="none" spc="5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800" u="none" spc="130" dirty="0">
                <a:solidFill>
                  <a:srgbClr val="000099"/>
                </a:solidFill>
                <a:latin typeface="Trebuchet MS"/>
                <a:cs typeface="Trebuchet MS"/>
              </a:rPr>
              <a:t>view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003795" y="352728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202364" y="170928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5457964" y="2928873"/>
            <a:ext cx="2774950" cy="2668905"/>
            <a:chOff x="5457964" y="2928873"/>
            <a:chExt cx="2774950" cy="2668905"/>
          </a:xfrm>
        </p:grpSpPr>
        <p:sp>
          <p:nvSpPr>
            <p:cNvPr id="10" name="object 10"/>
            <p:cNvSpPr/>
            <p:nvPr/>
          </p:nvSpPr>
          <p:spPr>
            <a:xfrm>
              <a:off x="5511964" y="3238195"/>
              <a:ext cx="979805" cy="662305"/>
            </a:xfrm>
            <a:custGeom>
              <a:avLst/>
              <a:gdLst/>
              <a:ahLst/>
              <a:cxnLst/>
              <a:rect l="l" t="t" r="r" b="b"/>
              <a:pathLst>
                <a:path w="979804" h="662304">
                  <a:moveTo>
                    <a:pt x="979195" y="0"/>
                  </a:moveTo>
                  <a:lnTo>
                    <a:pt x="0" y="0"/>
                  </a:lnTo>
                  <a:lnTo>
                    <a:pt x="0" y="662051"/>
                  </a:lnTo>
                  <a:lnTo>
                    <a:pt x="489597" y="662051"/>
                  </a:lnTo>
                  <a:lnTo>
                    <a:pt x="979195" y="662051"/>
                  </a:lnTo>
                  <a:lnTo>
                    <a:pt x="979195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396200" y="3813124"/>
              <a:ext cx="155575" cy="113030"/>
            </a:xfrm>
            <a:custGeom>
              <a:avLst/>
              <a:gdLst/>
              <a:ahLst/>
              <a:cxnLst/>
              <a:rect l="l" t="t" r="r" b="b"/>
              <a:pathLst>
                <a:path w="155575" h="113029">
                  <a:moveTo>
                    <a:pt x="0" y="0"/>
                  </a:moveTo>
                  <a:lnTo>
                    <a:pt x="155524" y="112674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556030" y="3733914"/>
              <a:ext cx="189230" cy="0"/>
            </a:xfrm>
            <a:custGeom>
              <a:avLst/>
              <a:gdLst/>
              <a:ahLst/>
              <a:cxnLst/>
              <a:rect l="l" t="t" r="r" b="b"/>
              <a:pathLst>
                <a:path w="189229">
                  <a:moveTo>
                    <a:pt x="0" y="0"/>
                  </a:moveTo>
                  <a:lnTo>
                    <a:pt x="189001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729562" y="3811320"/>
              <a:ext cx="127635" cy="113030"/>
            </a:xfrm>
            <a:custGeom>
              <a:avLst/>
              <a:gdLst/>
              <a:ahLst/>
              <a:cxnLst/>
              <a:rect l="l" t="t" r="r" b="b"/>
              <a:pathLst>
                <a:path w="127634" h="113029">
                  <a:moveTo>
                    <a:pt x="0" y="112674"/>
                  </a:moveTo>
                  <a:lnTo>
                    <a:pt x="127076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27799" y="3740035"/>
              <a:ext cx="655320" cy="0"/>
            </a:xfrm>
            <a:custGeom>
              <a:avLst/>
              <a:gdLst/>
              <a:ahLst/>
              <a:cxnLst/>
              <a:rect l="l" t="t" r="r" b="b"/>
              <a:pathLst>
                <a:path w="655320">
                  <a:moveTo>
                    <a:pt x="0" y="0"/>
                  </a:moveTo>
                  <a:lnTo>
                    <a:pt x="655193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037359" y="4958994"/>
              <a:ext cx="189230" cy="532130"/>
            </a:xfrm>
            <a:custGeom>
              <a:avLst/>
              <a:gdLst/>
              <a:ahLst/>
              <a:cxnLst/>
              <a:rect l="l" t="t" r="r" b="b"/>
              <a:pathLst>
                <a:path w="189229" h="532129">
                  <a:moveTo>
                    <a:pt x="0" y="531723"/>
                  </a:moveTo>
                  <a:lnTo>
                    <a:pt x="131762" y="0"/>
                  </a:lnTo>
                </a:path>
                <a:path w="189229" h="532129">
                  <a:moveTo>
                    <a:pt x="82803" y="214566"/>
                  </a:moveTo>
                  <a:lnTo>
                    <a:pt x="189001" y="214566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737400" y="4676394"/>
              <a:ext cx="1003935" cy="206375"/>
            </a:xfrm>
            <a:custGeom>
              <a:avLst/>
              <a:gdLst/>
              <a:ahLst/>
              <a:cxnLst/>
              <a:rect l="l" t="t" r="r" b="b"/>
              <a:pathLst>
                <a:path w="1003934" h="206375">
                  <a:moveTo>
                    <a:pt x="620636" y="20891"/>
                  </a:moveTo>
                  <a:lnTo>
                    <a:pt x="1003325" y="197281"/>
                  </a:lnTo>
                </a:path>
                <a:path w="1003934" h="206375">
                  <a:moveTo>
                    <a:pt x="0" y="206286"/>
                  </a:moveTo>
                  <a:lnTo>
                    <a:pt x="314274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54392" y="4976634"/>
              <a:ext cx="889635" cy="0"/>
            </a:xfrm>
            <a:custGeom>
              <a:avLst/>
              <a:gdLst/>
              <a:ahLst/>
              <a:cxnLst/>
              <a:rect l="l" t="t" r="r" b="b"/>
              <a:pathLst>
                <a:path w="889634">
                  <a:moveTo>
                    <a:pt x="0" y="0"/>
                  </a:moveTo>
                  <a:lnTo>
                    <a:pt x="889571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842076" y="3522598"/>
              <a:ext cx="1397000" cy="1792605"/>
            </a:xfrm>
            <a:custGeom>
              <a:avLst/>
              <a:gdLst/>
              <a:ahLst/>
              <a:cxnLst/>
              <a:rect l="l" t="t" r="r" b="b"/>
              <a:pathLst>
                <a:path w="1397000" h="1792604">
                  <a:moveTo>
                    <a:pt x="258838" y="1251000"/>
                  </a:moveTo>
                  <a:lnTo>
                    <a:pt x="514438" y="1328762"/>
                  </a:lnTo>
                </a:path>
                <a:path w="1397000" h="1792604">
                  <a:moveTo>
                    <a:pt x="0" y="1587245"/>
                  </a:moveTo>
                  <a:lnTo>
                    <a:pt x="404647" y="1452245"/>
                  </a:lnTo>
                </a:path>
                <a:path w="1397000" h="1792604">
                  <a:moveTo>
                    <a:pt x="568083" y="1548002"/>
                  </a:moveTo>
                  <a:lnTo>
                    <a:pt x="417601" y="1738439"/>
                  </a:lnTo>
                </a:path>
                <a:path w="1397000" h="1792604">
                  <a:moveTo>
                    <a:pt x="820801" y="1747799"/>
                  </a:moveTo>
                  <a:lnTo>
                    <a:pt x="738009" y="1567078"/>
                  </a:lnTo>
                </a:path>
                <a:path w="1397000" h="1792604">
                  <a:moveTo>
                    <a:pt x="901801" y="1530362"/>
                  </a:moveTo>
                  <a:lnTo>
                    <a:pt x="1396809" y="1792439"/>
                  </a:lnTo>
                </a:path>
                <a:path w="1397000" h="1792604">
                  <a:moveTo>
                    <a:pt x="439559" y="0"/>
                  </a:moveTo>
                  <a:lnTo>
                    <a:pt x="439559" y="123837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86354" y="3731399"/>
              <a:ext cx="168275" cy="0"/>
            </a:xfrm>
            <a:custGeom>
              <a:avLst/>
              <a:gdLst/>
              <a:ahLst/>
              <a:cxnLst/>
              <a:rect l="l" t="t" r="r" b="b"/>
              <a:pathLst>
                <a:path w="168275">
                  <a:moveTo>
                    <a:pt x="0" y="0"/>
                  </a:moveTo>
                  <a:lnTo>
                    <a:pt x="167760" y="0"/>
                  </a:lnTo>
                </a:path>
              </a:pathLst>
            </a:custGeom>
            <a:ln w="20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272362" y="2933636"/>
              <a:ext cx="727075" cy="1577975"/>
            </a:xfrm>
            <a:custGeom>
              <a:avLst/>
              <a:gdLst/>
              <a:ahLst/>
              <a:cxnLst/>
              <a:rect l="l" t="t" r="r" b="b"/>
              <a:pathLst>
                <a:path w="727075" h="1577975">
                  <a:moveTo>
                    <a:pt x="726833" y="0"/>
                  </a:moveTo>
                  <a:lnTo>
                    <a:pt x="607682" y="719277"/>
                  </a:lnTo>
                </a:path>
                <a:path w="727075" h="1577975">
                  <a:moveTo>
                    <a:pt x="0" y="1577886"/>
                  </a:moveTo>
                  <a:lnTo>
                    <a:pt x="218871" y="113364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75477" y="4533480"/>
              <a:ext cx="406082" cy="36503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57964" y="4954308"/>
              <a:ext cx="474484" cy="39852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35675" y="5256009"/>
              <a:ext cx="419036" cy="34127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50202" y="5238356"/>
              <a:ext cx="419036" cy="343077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7399797" y="3997077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h="9525">
                  <a:moveTo>
                    <a:pt x="0" y="0"/>
                  </a:moveTo>
                  <a:lnTo>
                    <a:pt x="0" y="9359"/>
                  </a:lnTo>
                </a:path>
              </a:pathLst>
            </a:custGeom>
            <a:ln w="43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01953" y="3987736"/>
              <a:ext cx="472668" cy="6191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400518" y="391176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490333" y="3940377"/>
              <a:ext cx="24130" cy="12700"/>
            </a:xfrm>
            <a:custGeom>
              <a:avLst/>
              <a:gdLst/>
              <a:ahLst/>
              <a:cxnLst/>
              <a:rect l="l" t="t" r="r" b="b"/>
              <a:pathLst>
                <a:path w="24129" h="12700">
                  <a:moveTo>
                    <a:pt x="23761" y="6299"/>
                  </a:moveTo>
                  <a:lnTo>
                    <a:pt x="21907" y="1854"/>
                  </a:lnTo>
                  <a:lnTo>
                    <a:pt x="17462" y="0"/>
                  </a:lnTo>
                  <a:lnTo>
                    <a:pt x="13004" y="1854"/>
                  </a:lnTo>
                  <a:lnTo>
                    <a:pt x="11874" y="4559"/>
                  </a:lnTo>
                  <a:lnTo>
                    <a:pt x="10756" y="1854"/>
                  </a:lnTo>
                  <a:lnTo>
                    <a:pt x="6311" y="0"/>
                  </a:lnTo>
                  <a:lnTo>
                    <a:pt x="1854" y="1854"/>
                  </a:lnTo>
                  <a:lnTo>
                    <a:pt x="0" y="6299"/>
                  </a:lnTo>
                  <a:lnTo>
                    <a:pt x="1854" y="10756"/>
                  </a:lnTo>
                  <a:lnTo>
                    <a:pt x="6311" y="12611"/>
                  </a:lnTo>
                  <a:lnTo>
                    <a:pt x="10756" y="10756"/>
                  </a:lnTo>
                  <a:lnTo>
                    <a:pt x="11874" y="8064"/>
                  </a:lnTo>
                  <a:lnTo>
                    <a:pt x="13004" y="10756"/>
                  </a:lnTo>
                  <a:lnTo>
                    <a:pt x="17462" y="12611"/>
                  </a:lnTo>
                  <a:lnTo>
                    <a:pt x="21907" y="10756"/>
                  </a:lnTo>
                  <a:lnTo>
                    <a:pt x="23761" y="6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402321" y="3973677"/>
              <a:ext cx="476884" cy="84455"/>
            </a:xfrm>
            <a:custGeom>
              <a:avLst/>
              <a:gdLst/>
              <a:ahLst/>
              <a:cxnLst/>
              <a:rect l="l" t="t" r="r" b="b"/>
              <a:pathLst>
                <a:path w="476884" h="84454">
                  <a:moveTo>
                    <a:pt x="0" y="0"/>
                  </a:moveTo>
                  <a:lnTo>
                    <a:pt x="0" y="82448"/>
                  </a:lnTo>
                </a:path>
                <a:path w="476884" h="84454">
                  <a:moveTo>
                    <a:pt x="476275" y="4686"/>
                  </a:moveTo>
                  <a:lnTo>
                    <a:pt x="476275" y="83883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080475" y="3715924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h="9525">
                  <a:moveTo>
                    <a:pt x="0" y="0"/>
                  </a:moveTo>
                  <a:lnTo>
                    <a:pt x="0" y="9359"/>
                  </a:lnTo>
                </a:path>
              </a:pathLst>
            </a:custGeom>
            <a:ln w="50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82993" y="3708374"/>
              <a:ext cx="473036" cy="61912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081913" y="363059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171728" y="3659225"/>
              <a:ext cx="24765" cy="12700"/>
            </a:xfrm>
            <a:custGeom>
              <a:avLst/>
              <a:gdLst/>
              <a:ahLst/>
              <a:cxnLst/>
              <a:rect l="l" t="t" r="r" b="b"/>
              <a:pathLst>
                <a:path w="24765" h="12700">
                  <a:moveTo>
                    <a:pt x="24485" y="6299"/>
                  </a:moveTo>
                  <a:lnTo>
                    <a:pt x="22631" y="1854"/>
                  </a:lnTo>
                  <a:lnTo>
                    <a:pt x="18186" y="0"/>
                  </a:lnTo>
                  <a:lnTo>
                    <a:pt x="13728" y="1854"/>
                  </a:lnTo>
                  <a:lnTo>
                    <a:pt x="12242" y="5422"/>
                  </a:lnTo>
                  <a:lnTo>
                    <a:pt x="10756" y="1854"/>
                  </a:lnTo>
                  <a:lnTo>
                    <a:pt x="6311" y="0"/>
                  </a:lnTo>
                  <a:lnTo>
                    <a:pt x="1854" y="1854"/>
                  </a:lnTo>
                  <a:lnTo>
                    <a:pt x="0" y="6299"/>
                  </a:lnTo>
                  <a:lnTo>
                    <a:pt x="1854" y="10756"/>
                  </a:lnTo>
                  <a:lnTo>
                    <a:pt x="6311" y="12611"/>
                  </a:lnTo>
                  <a:lnTo>
                    <a:pt x="10756" y="10756"/>
                  </a:lnTo>
                  <a:lnTo>
                    <a:pt x="12242" y="7188"/>
                  </a:lnTo>
                  <a:lnTo>
                    <a:pt x="13728" y="10756"/>
                  </a:lnTo>
                  <a:lnTo>
                    <a:pt x="18186" y="12611"/>
                  </a:lnTo>
                  <a:lnTo>
                    <a:pt x="22631" y="10756"/>
                  </a:lnTo>
                  <a:lnTo>
                    <a:pt x="24485" y="6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083005" y="3692524"/>
              <a:ext cx="476884" cy="84455"/>
            </a:xfrm>
            <a:custGeom>
              <a:avLst/>
              <a:gdLst/>
              <a:ahLst/>
              <a:cxnLst/>
              <a:rect l="l" t="t" r="r" b="b"/>
              <a:pathLst>
                <a:path w="476884" h="84454">
                  <a:moveTo>
                    <a:pt x="0" y="0"/>
                  </a:moveTo>
                  <a:lnTo>
                    <a:pt x="0" y="81000"/>
                  </a:lnTo>
                </a:path>
                <a:path w="476884" h="84454">
                  <a:moveTo>
                    <a:pt x="476630" y="4673"/>
                  </a:moveTo>
                  <a:lnTo>
                    <a:pt x="476630" y="84239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742513" y="3728878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h="9525">
                  <a:moveTo>
                    <a:pt x="0" y="0"/>
                  </a:moveTo>
                  <a:lnTo>
                    <a:pt x="0" y="9359"/>
                  </a:lnTo>
                </a:path>
              </a:pathLst>
            </a:custGeom>
            <a:ln w="50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45031" y="3719537"/>
              <a:ext cx="471589" cy="61912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7743596" y="364319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834122" y="3670375"/>
              <a:ext cx="22860" cy="12700"/>
            </a:xfrm>
            <a:custGeom>
              <a:avLst/>
              <a:gdLst/>
              <a:ahLst/>
              <a:cxnLst/>
              <a:rect l="l" t="t" r="r" b="b"/>
              <a:pathLst>
                <a:path w="22859" h="12700">
                  <a:moveTo>
                    <a:pt x="22694" y="6299"/>
                  </a:moveTo>
                  <a:lnTo>
                    <a:pt x="20840" y="1854"/>
                  </a:lnTo>
                  <a:lnTo>
                    <a:pt x="16395" y="0"/>
                  </a:lnTo>
                  <a:lnTo>
                    <a:pt x="11938" y="1854"/>
                  </a:lnTo>
                  <a:lnTo>
                    <a:pt x="11341" y="3276"/>
                  </a:lnTo>
                  <a:lnTo>
                    <a:pt x="10756" y="1854"/>
                  </a:lnTo>
                  <a:lnTo>
                    <a:pt x="6311" y="0"/>
                  </a:lnTo>
                  <a:lnTo>
                    <a:pt x="1854" y="1854"/>
                  </a:lnTo>
                  <a:lnTo>
                    <a:pt x="0" y="6299"/>
                  </a:lnTo>
                  <a:lnTo>
                    <a:pt x="1854" y="10756"/>
                  </a:lnTo>
                  <a:lnTo>
                    <a:pt x="6311" y="12611"/>
                  </a:lnTo>
                  <a:lnTo>
                    <a:pt x="10756" y="10756"/>
                  </a:lnTo>
                  <a:lnTo>
                    <a:pt x="11341" y="9347"/>
                  </a:lnTo>
                  <a:lnTo>
                    <a:pt x="11938" y="10756"/>
                  </a:lnTo>
                  <a:lnTo>
                    <a:pt x="16395" y="12611"/>
                  </a:lnTo>
                  <a:lnTo>
                    <a:pt x="20840" y="10756"/>
                  </a:lnTo>
                  <a:lnTo>
                    <a:pt x="22694" y="6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745044" y="3705123"/>
              <a:ext cx="476884" cy="84455"/>
            </a:xfrm>
            <a:custGeom>
              <a:avLst/>
              <a:gdLst/>
              <a:ahLst/>
              <a:cxnLst/>
              <a:rect l="l" t="t" r="r" b="b"/>
              <a:pathLst>
                <a:path w="476884" h="84454">
                  <a:moveTo>
                    <a:pt x="0" y="0"/>
                  </a:moveTo>
                  <a:lnTo>
                    <a:pt x="0" y="82791"/>
                  </a:lnTo>
                </a:path>
                <a:path w="476884" h="84454">
                  <a:moveTo>
                    <a:pt x="476630" y="5041"/>
                  </a:moveTo>
                  <a:lnTo>
                    <a:pt x="476630" y="84239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963298" y="4608721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h="9525">
                  <a:moveTo>
                    <a:pt x="0" y="0"/>
                  </a:moveTo>
                  <a:lnTo>
                    <a:pt x="0" y="9359"/>
                  </a:lnTo>
                </a:path>
              </a:pathLst>
            </a:custGeom>
            <a:ln w="46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65632" y="4597209"/>
              <a:ext cx="604799" cy="75958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962762" y="450504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079932" y="4539779"/>
              <a:ext cx="26670" cy="12700"/>
            </a:xfrm>
            <a:custGeom>
              <a:avLst/>
              <a:gdLst/>
              <a:ahLst/>
              <a:cxnLst/>
              <a:rect l="l" t="t" r="r" b="b"/>
              <a:pathLst>
                <a:path w="26670" h="12700">
                  <a:moveTo>
                    <a:pt x="12611" y="6299"/>
                  </a:moveTo>
                  <a:lnTo>
                    <a:pt x="10756" y="1854"/>
                  </a:lnTo>
                  <a:lnTo>
                    <a:pt x="6311" y="0"/>
                  </a:lnTo>
                  <a:lnTo>
                    <a:pt x="1854" y="1854"/>
                  </a:lnTo>
                  <a:lnTo>
                    <a:pt x="0" y="6299"/>
                  </a:lnTo>
                  <a:lnTo>
                    <a:pt x="1854" y="10756"/>
                  </a:lnTo>
                  <a:lnTo>
                    <a:pt x="6311" y="12611"/>
                  </a:lnTo>
                  <a:lnTo>
                    <a:pt x="10756" y="10756"/>
                  </a:lnTo>
                  <a:lnTo>
                    <a:pt x="12611" y="6299"/>
                  </a:lnTo>
                  <a:close/>
                </a:path>
                <a:path w="26670" h="12700">
                  <a:moveTo>
                    <a:pt x="26644" y="6299"/>
                  </a:moveTo>
                  <a:lnTo>
                    <a:pt x="24790" y="1854"/>
                  </a:lnTo>
                  <a:lnTo>
                    <a:pt x="20345" y="0"/>
                  </a:lnTo>
                  <a:lnTo>
                    <a:pt x="15887" y="1854"/>
                  </a:lnTo>
                  <a:lnTo>
                    <a:pt x="14033" y="6299"/>
                  </a:lnTo>
                  <a:lnTo>
                    <a:pt x="15887" y="10756"/>
                  </a:lnTo>
                  <a:lnTo>
                    <a:pt x="20345" y="12611"/>
                  </a:lnTo>
                  <a:lnTo>
                    <a:pt x="24790" y="10756"/>
                  </a:lnTo>
                  <a:lnTo>
                    <a:pt x="26644" y="6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965644" y="4579924"/>
              <a:ext cx="608965" cy="101600"/>
            </a:xfrm>
            <a:custGeom>
              <a:avLst/>
              <a:gdLst/>
              <a:ahLst/>
              <a:cxnLst/>
              <a:rect l="l" t="t" r="r" b="b"/>
              <a:pathLst>
                <a:path w="608965" h="101600">
                  <a:moveTo>
                    <a:pt x="0" y="0"/>
                  </a:moveTo>
                  <a:lnTo>
                    <a:pt x="0" y="100075"/>
                  </a:lnTo>
                </a:path>
                <a:path w="608965" h="101600">
                  <a:moveTo>
                    <a:pt x="608393" y="4673"/>
                  </a:moveTo>
                  <a:lnTo>
                    <a:pt x="608393" y="101511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596362" y="4907159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h="9525">
                  <a:moveTo>
                    <a:pt x="0" y="0"/>
                  </a:moveTo>
                  <a:lnTo>
                    <a:pt x="0" y="9359"/>
                  </a:lnTo>
                </a:path>
              </a:pathLst>
            </a:custGeom>
            <a:ln w="50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98879" y="4895646"/>
              <a:ext cx="604799" cy="75958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7595996" y="480348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712443" y="4838217"/>
              <a:ext cx="29209" cy="12700"/>
            </a:xfrm>
            <a:custGeom>
              <a:avLst/>
              <a:gdLst/>
              <a:ahLst/>
              <a:cxnLst/>
              <a:rect l="l" t="t" r="r" b="b"/>
              <a:pathLst>
                <a:path w="29209" h="12700">
                  <a:moveTo>
                    <a:pt x="12611" y="6299"/>
                  </a:moveTo>
                  <a:lnTo>
                    <a:pt x="10756" y="1854"/>
                  </a:lnTo>
                  <a:lnTo>
                    <a:pt x="6311" y="0"/>
                  </a:lnTo>
                  <a:lnTo>
                    <a:pt x="1854" y="1854"/>
                  </a:lnTo>
                  <a:lnTo>
                    <a:pt x="0" y="6299"/>
                  </a:lnTo>
                  <a:lnTo>
                    <a:pt x="1854" y="10756"/>
                  </a:lnTo>
                  <a:lnTo>
                    <a:pt x="6311" y="12611"/>
                  </a:lnTo>
                  <a:lnTo>
                    <a:pt x="10756" y="10756"/>
                  </a:lnTo>
                  <a:lnTo>
                    <a:pt x="12611" y="6299"/>
                  </a:lnTo>
                  <a:close/>
                </a:path>
                <a:path w="29209" h="12700">
                  <a:moveTo>
                    <a:pt x="28816" y="6299"/>
                  </a:moveTo>
                  <a:lnTo>
                    <a:pt x="26962" y="1854"/>
                  </a:lnTo>
                  <a:lnTo>
                    <a:pt x="22517" y="0"/>
                  </a:lnTo>
                  <a:lnTo>
                    <a:pt x="18059" y="1854"/>
                  </a:lnTo>
                  <a:lnTo>
                    <a:pt x="16205" y="6299"/>
                  </a:lnTo>
                  <a:lnTo>
                    <a:pt x="18059" y="10756"/>
                  </a:lnTo>
                  <a:lnTo>
                    <a:pt x="22517" y="12611"/>
                  </a:lnTo>
                  <a:lnTo>
                    <a:pt x="26962" y="10756"/>
                  </a:lnTo>
                  <a:lnTo>
                    <a:pt x="28816" y="6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597444" y="4878362"/>
              <a:ext cx="610235" cy="101600"/>
            </a:xfrm>
            <a:custGeom>
              <a:avLst/>
              <a:gdLst/>
              <a:ahLst/>
              <a:cxnLst/>
              <a:rect l="l" t="t" r="r" b="b"/>
              <a:pathLst>
                <a:path w="610234" h="101600">
                  <a:moveTo>
                    <a:pt x="0" y="0"/>
                  </a:moveTo>
                  <a:lnTo>
                    <a:pt x="0" y="100075"/>
                  </a:lnTo>
                </a:path>
                <a:path w="610234" h="101600">
                  <a:moveTo>
                    <a:pt x="609841" y="4673"/>
                  </a:moveTo>
                  <a:lnTo>
                    <a:pt x="609841" y="101523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247075" y="4951075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h="9525">
                  <a:moveTo>
                    <a:pt x="0" y="0"/>
                  </a:moveTo>
                  <a:lnTo>
                    <a:pt x="0" y="9359"/>
                  </a:lnTo>
                </a:path>
              </a:pathLst>
            </a:custGeom>
            <a:ln w="43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49237" y="4940287"/>
              <a:ext cx="605154" cy="76314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6246723" y="484775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362446" y="4882857"/>
              <a:ext cx="26034" cy="12700"/>
            </a:xfrm>
            <a:custGeom>
              <a:avLst/>
              <a:gdLst/>
              <a:ahLst/>
              <a:cxnLst/>
              <a:rect l="l" t="t" r="r" b="b"/>
              <a:pathLst>
                <a:path w="26035" h="12700">
                  <a:moveTo>
                    <a:pt x="12611" y="6299"/>
                  </a:moveTo>
                  <a:lnTo>
                    <a:pt x="10756" y="1854"/>
                  </a:lnTo>
                  <a:lnTo>
                    <a:pt x="6311" y="0"/>
                  </a:lnTo>
                  <a:lnTo>
                    <a:pt x="1854" y="1854"/>
                  </a:lnTo>
                  <a:lnTo>
                    <a:pt x="0" y="6299"/>
                  </a:lnTo>
                  <a:lnTo>
                    <a:pt x="1854" y="10756"/>
                  </a:lnTo>
                  <a:lnTo>
                    <a:pt x="6311" y="12611"/>
                  </a:lnTo>
                  <a:lnTo>
                    <a:pt x="10756" y="10756"/>
                  </a:lnTo>
                  <a:lnTo>
                    <a:pt x="12611" y="6299"/>
                  </a:lnTo>
                  <a:close/>
                </a:path>
                <a:path w="26035" h="12700">
                  <a:moveTo>
                    <a:pt x="25933" y="6299"/>
                  </a:moveTo>
                  <a:lnTo>
                    <a:pt x="24079" y="1854"/>
                  </a:lnTo>
                  <a:lnTo>
                    <a:pt x="19634" y="0"/>
                  </a:lnTo>
                  <a:lnTo>
                    <a:pt x="15176" y="1854"/>
                  </a:lnTo>
                  <a:lnTo>
                    <a:pt x="13322" y="6299"/>
                  </a:lnTo>
                  <a:lnTo>
                    <a:pt x="15176" y="10756"/>
                  </a:lnTo>
                  <a:lnTo>
                    <a:pt x="19634" y="12611"/>
                  </a:lnTo>
                  <a:lnTo>
                    <a:pt x="24079" y="10756"/>
                  </a:lnTo>
                  <a:lnTo>
                    <a:pt x="25933" y="6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249593" y="4923002"/>
              <a:ext cx="608965" cy="101600"/>
            </a:xfrm>
            <a:custGeom>
              <a:avLst/>
              <a:gdLst/>
              <a:ahLst/>
              <a:cxnLst/>
              <a:rect l="l" t="t" r="r" b="b"/>
              <a:pathLst>
                <a:path w="608965" h="101600">
                  <a:moveTo>
                    <a:pt x="0" y="0"/>
                  </a:moveTo>
                  <a:lnTo>
                    <a:pt x="0" y="99720"/>
                  </a:lnTo>
                </a:path>
                <a:path w="608965" h="101600">
                  <a:moveTo>
                    <a:pt x="608406" y="4673"/>
                  </a:moveTo>
                  <a:lnTo>
                    <a:pt x="608406" y="101511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051775" y="3711594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h="9525">
                  <a:moveTo>
                    <a:pt x="0" y="0"/>
                  </a:moveTo>
                  <a:lnTo>
                    <a:pt x="0" y="9359"/>
                  </a:lnTo>
                </a:path>
              </a:pathLst>
            </a:custGeom>
            <a:ln w="4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54115" y="3703332"/>
              <a:ext cx="376199" cy="50749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6052680" y="363995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122327" y="3662095"/>
              <a:ext cx="22225" cy="12700"/>
            </a:xfrm>
            <a:custGeom>
              <a:avLst/>
              <a:gdLst/>
              <a:ahLst/>
              <a:cxnLst/>
              <a:rect l="l" t="t" r="r" b="b"/>
              <a:pathLst>
                <a:path w="22225" h="12700">
                  <a:moveTo>
                    <a:pt x="21971" y="6299"/>
                  </a:moveTo>
                  <a:lnTo>
                    <a:pt x="20116" y="1854"/>
                  </a:lnTo>
                  <a:lnTo>
                    <a:pt x="15671" y="0"/>
                  </a:lnTo>
                  <a:lnTo>
                    <a:pt x="11214" y="1854"/>
                  </a:lnTo>
                  <a:lnTo>
                    <a:pt x="10985" y="2413"/>
                  </a:lnTo>
                  <a:lnTo>
                    <a:pt x="10756" y="1854"/>
                  </a:lnTo>
                  <a:lnTo>
                    <a:pt x="6311" y="0"/>
                  </a:lnTo>
                  <a:lnTo>
                    <a:pt x="1854" y="1854"/>
                  </a:lnTo>
                  <a:lnTo>
                    <a:pt x="0" y="6299"/>
                  </a:lnTo>
                  <a:lnTo>
                    <a:pt x="1854" y="10756"/>
                  </a:lnTo>
                  <a:lnTo>
                    <a:pt x="6311" y="12611"/>
                  </a:lnTo>
                  <a:lnTo>
                    <a:pt x="10756" y="10756"/>
                  </a:lnTo>
                  <a:lnTo>
                    <a:pt x="10985" y="10210"/>
                  </a:lnTo>
                  <a:lnTo>
                    <a:pt x="11214" y="10756"/>
                  </a:lnTo>
                  <a:lnTo>
                    <a:pt x="15671" y="12611"/>
                  </a:lnTo>
                  <a:lnTo>
                    <a:pt x="20116" y="10756"/>
                  </a:lnTo>
                  <a:lnTo>
                    <a:pt x="21971" y="6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054483" y="3692524"/>
              <a:ext cx="381635" cy="68580"/>
            </a:xfrm>
            <a:custGeom>
              <a:avLst/>
              <a:gdLst/>
              <a:ahLst/>
              <a:cxnLst/>
              <a:rect l="l" t="t" r="r" b="b"/>
              <a:pathLst>
                <a:path w="381635" h="68579">
                  <a:moveTo>
                    <a:pt x="0" y="0"/>
                  </a:moveTo>
                  <a:lnTo>
                    <a:pt x="0" y="66598"/>
                  </a:lnTo>
                </a:path>
                <a:path w="381635" h="68579">
                  <a:moveTo>
                    <a:pt x="381241" y="3238"/>
                  </a:moveTo>
                  <a:lnTo>
                    <a:pt x="381241" y="68389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40476" y="3546005"/>
              <a:ext cx="361797" cy="298437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611685" y="3499916"/>
              <a:ext cx="498601" cy="96837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164361" y="5057279"/>
              <a:ext cx="403199" cy="358914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32675" y="5003279"/>
              <a:ext cx="555485" cy="119164"/>
            </a:xfrm>
            <a:prstGeom prst="rect">
              <a:avLst/>
            </a:prstGeom>
          </p:spPr>
        </p:pic>
      </p:grpSp>
      <p:sp>
        <p:nvSpPr>
          <p:cNvPr id="64" name="object 64"/>
          <p:cNvSpPr/>
          <p:nvPr/>
        </p:nvSpPr>
        <p:spPr>
          <a:xfrm>
            <a:off x="5277954" y="297503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5" name="object 65"/>
          <p:cNvGrpSpPr/>
          <p:nvPr/>
        </p:nvGrpSpPr>
        <p:grpSpPr>
          <a:xfrm>
            <a:off x="5613476" y="1545844"/>
            <a:ext cx="2905760" cy="1342390"/>
            <a:chOff x="5613476" y="1545844"/>
            <a:chExt cx="2905760" cy="1342390"/>
          </a:xfrm>
        </p:grpSpPr>
        <p:sp>
          <p:nvSpPr>
            <p:cNvPr id="66" name="object 66"/>
            <p:cNvSpPr/>
            <p:nvPr/>
          </p:nvSpPr>
          <p:spPr>
            <a:xfrm>
              <a:off x="6730187" y="2587675"/>
              <a:ext cx="474980" cy="0"/>
            </a:xfrm>
            <a:custGeom>
              <a:avLst/>
              <a:gdLst/>
              <a:ahLst/>
              <a:cxnLst/>
              <a:rect l="l" t="t" r="r" b="b"/>
              <a:pathLst>
                <a:path w="474979">
                  <a:moveTo>
                    <a:pt x="0" y="0"/>
                  </a:moveTo>
                  <a:lnTo>
                    <a:pt x="474840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289560" y="2403360"/>
              <a:ext cx="1543685" cy="447675"/>
            </a:xfrm>
            <a:custGeom>
              <a:avLst/>
              <a:gdLst/>
              <a:ahLst/>
              <a:cxnLst/>
              <a:rect l="l" t="t" r="r" b="b"/>
              <a:pathLst>
                <a:path w="1543684" h="447675">
                  <a:moveTo>
                    <a:pt x="0" y="0"/>
                  </a:moveTo>
                  <a:lnTo>
                    <a:pt x="144716" y="87477"/>
                  </a:lnTo>
                </a:path>
                <a:path w="1543684" h="447675">
                  <a:moveTo>
                    <a:pt x="1287716" y="176034"/>
                  </a:moveTo>
                  <a:lnTo>
                    <a:pt x="1403642" y="80645"/>
                  </a:lnTo>
                </a:path>
                <a:path w="1543684" h="447675">
                  <a:moveTo>
                    <a:pt x="1287716" y="447484"/>
                  </a:moveTo>
                  <a:lnTo>
                    <a:pt x="1543316" y="150482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96365" y="2867037"/>
              <a:ext cx="168275" cy="0"/>
            </a:xfrm>
            <a:custGeom>
              <a:avLst/>
              <a:gdLst/>
              <a:ahLst/>
              <a:cxnLst/>
              <a:rect l="l" t="t" r="r" b="b"/>
              <a:pathLst>
                <a:path w="168275">
                  <a:moveTo>
                    <a:pt x="0" y="0"/>
                  </a:moveTo>
                  <a:lnTo>
                    <a:pt x="167754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50402" y="2857677"/>
              <a:ext cx="170180" cy="0"/>
            </a:xfrm>
            <a:custGeom>
              <a:avLst/>
              <a:gdLst/>
              <a:ahLst/>
              <a:cxnLst/>
              <a:rect l="l" t="t" r="r" b="b"/>
              <a:pathLst>
                <a:path w="170179">
                  <a:moveTo>
                    <a:pt x="0" y="0"/>
                  </a:moveTo>
                  <a:lnTo>
                    <a:pt x="169557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342126" y="1720430"/>
              <a:ext cx="841324" cy="160566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772239" y="1603070"/>
              <a:ext cx="128524" cy="320763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613476" y="1545844"/>
              <a:ext cx="407885" cy="81000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7688519" y="2467083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h="9525">
                  <a:moveTo>
                    <a:pt x="0" y="0"/>
                  </a:moveTo>
                  <a:lnTo>
                    <a:pt x="0" y="9359"/>
                  </a:lnTo>
                </a:path>
              </a:pathLst>
            </a:custGeom>
            <a:ln w="43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690675" y="2460256"/>
              <a:ext cx="376199" cy="50749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7760691" y="2417584"/>
              <a:ext cx="20320" cy="12700"/>
            </a:xfrm>
            <a:custGeom>
              <a:avLst/>
              <a:gdLst/>
              <a:ahLst/>
              <a:cxnLst/>
              <a:rect l="l" t="t" r="r" b="b"/>
              <a:pathLst>
                <a:path w="20320" h="12700">
                  <a:moveTo>
                    <a:pt x="19812" y="6299"/>
                  </a:moveTo>
                  <a:lnTo>
                    <a:pt x="17957" y="1854"/>
                  </a:lnTo>
                  <a:lnTo>
                    <a:pt x="13512" y="0"/>
                  </a:lnTo>
                  <a:lnTo>
                    <a:pt x="9906" y="1511"/>
                  </a:lnTo>
                  <a:lnTo>
                    <a:pt x="6311" y="0"/>
                  </a:lnTo>
                  <a:lnTo>
                    <a:pt x="1854" y="1854"/>
                  </a:lnTo>
                  <a:lnTo>
                    <a:pt x="0" y="6299"/>
                  </a:lnTo>
                  <a:lnTo>
                    <a:pt x="1854" y="10756"/>
                  </a:lnTo>
                  <a:lnTo>
                    <a:pt x="6311" y="12611"/>
                  </a:lnTo>
                  <a:lnTo>
                    <a:pt x="9906" y="11112"/>
                  </a:lnTo>
                  <a:lnTo>
                    <a:pt x="13512" y="12611"/>
                  </a:lnTo>
                  <a:lnTo>
                    <a:pt x="17957" y="10756"/>
                  </a:lnTo>
                  <a:lnTo>
                    <a:pt x="19812" y="6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691043" y="2448001"/>
              <a:ext cx="381635" cy="68580"/>
            </a:xfrm>
            <a:custGeom>
              <a:avLst/>
              <a:gdLst/>
              <a:ahLst/>
              <a:cxnLst/>
              <a:rect l="l" t="t" r="r" b="b"/>
              <a:pathLst>
                <a:path w="381634" h="68580">
                  <a:moveTo>
                    <a:pt x="0" y="0"/>
                  </a:moveTo>
                  <a:lnTo>
                    <a:pt x="0" y="66598"/>
                  </a:lnTo>
                </a:path>
                <a:path w="381634" h="68580">
                  <a:moveTo>
                    <a:pt x="381241" y="3238"/>
                  </a:moveTo>
                  <a:lnTo>
                    <a:pt x="381241" y="68033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761779" y="2830315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h="9525">
                  <a:moveTo>
                    <a:pt x="0" y="0"/>
                  </a:moveTo>
                  <a:lnTo>
                    <a:pt x="0" y="9359"/>
                  </a:lnTo>
                </a:path>
              </a:pathLst>
            </a:custGeom>
            <a:ln w="4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764119" y="2823844"/>
              <a:ext cx="375831" cy="52197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7763040" y="275724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7833766" y="2781185"/>
              <a:ext cx="20320" cy="12700"/>
            </a:xfrm>
            <a:custGeom>
              <a:avLst/>
              <a:gdLst/>
              <a:ahLst/>
              <a:cxnLst/>
              <a:rect l="l" t="t" r="r" b="b"/>
              <a:pathLst>
                <a:path w="20320" h="12700">
                  <a:moveTo>
                    <a:pt x="19812" y="6299"/>
                  </a:moveTo>
                  <a:lnTo>
                    <a:pt x="17957" y="1854"/>
                  </a:lnTo>
                  <a:lnTo>
                    <a:pt x="13512" y="0"/>
                  </a:lnTo>
                  <a:lnTo>
                    <a:pt x="9906" y="1511"/>
                  </a:lnTo>
                  <a:lnTo>
                    <a:pt x="6311" y="0"/>
                  </a:lnTo>
                  <a:lnTo>
                    <a:pt x="1854" y="1854"/>
                  </a:lnTo>
                  <a:lnTo>
                    <a:pt x="0" y="6299"/>
                  </a:lnTo>
                  <a:lnTo>
                    <a:pt x="1854" y="10756"/>
                  </a:lnTo>
                  <a:lnTo>
                    <a:pt x="6311" y="12611"/>
                  </a:lnTo>
                  <a:lnTo>
                    <a:pt x="9906" y="11112"/>
                  </a:lnTo>
                  <a:lnTo>
                    <a:pt x="13512" y="12611"/>
                  </a:lnTo>
                  <a:lnTo>
                    <a:pt x="17957" y="10756"/>
                  </a:lnTo>
                  <a:lnTo>
                    <a:pt x="19812" y="6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7764119" y="2811602"/>
              <a:ext cx="381635" cy="71755"/>
            </a:xfrm>
            <a:custGeom>
              <a:avLst/>
              <a:gdLst/>
              <a:ahLst/>
              <a:cxnLst/>
              <a:rect l="l" t="t" r="r" b="b"/>
              <a:pathLst>
                <a:path w="381634" h="71755">
                  <a:moveTo>
                    <a:pt x="0" y="0"/>
                  </a:moveTo>
                  <a:lnTo>
                    <a:pt x="0" y="69837"/>
                  </a:lnTo>
                </a:path>
                <a:path w="381634" h="71755">
                  <a:moveTo>
                    <a:pt x="381241" y="2882"/>
                  </a:moveTo>
                  <a:lnTo>
                    <a:pt x="381241" y="71272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7202694" y="2563920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h="9525">
                  <a:moveTo>
                    <a:pt x="0" y="0"/>
                  </a:moveTo>
                  <a:lnTo>
                    <a:pt x="0" y="9359"/>
                  </a:lnTo>
                </a:path>
              </a:pathLst>
            </a:custGeom>
            <a:ln w="46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205027" y="2557094"/>
              <a:ext cx="376199" cy="50749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7203605" y="249407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273252" y="2515857"/>
              <a:ext cx="22225" cy="12700"/>
            </a:xfrm>
            <a:custGeom>
              <a:avLst/>
              <a:gdLst/>
              <a:ahLst/>
              <a:cxnLst/>
              <a:rect l="l" t="t" r="r" b="b"/>
              <a:pathLst>
                <a:path w="22225" h="12700">
                  <a:moveTo>
                    <a:pt x="21971" y="6299"/>
                  </a:moveTo>
                  <a:lnTo>
                    <a:pt x="20116" y="1854"/>
                  </a:lnTo>
                  <a:lnTo>
                    <a:pt x="15671" y="0"/>
                  </a:lnTo>
                  <a:lnTo>
                    <a:pt x="11214" y="1854"/>
                  </a:lnTo>
                  <a:lnTo>
                    <a:pt x="10985" y="2413"/>
                  </a:lnTo>
                  <a:lnTo>
                    <a:pt x="10756" y="1854"/>
                  </a:lnTo>
                  <a:lnTo>
                    <a:pt x="6311" y="0"/>
                  </a:lnTo>
                  <a:lnTo>
                    <a:pt x="1854" y="1854"/>
                  </a:lnTo>
                  <a:lnTo>
                    <a:pt x="0" y="6299"/>
                  </a:lnTo>
                  <a:lnTo>
                    <a:pt x="1854" y="10756"/>
                  </a:lnTo>
                  <a:lnTo>
                    <a:pt x="6311" y="12611"/>
                  </a:lnTo>
                  <a:lnTo>
                    <a:pt x="10756" y="10756"/>
                  </a:lnTo>
                  <a:lnTo>
                    <a:pt x="10985" y="10210"/>
                  </a:lnTo>
                  <a:lnTo>
                    <a:pt x="11214" y="10756"/>
                  </a:lnTo>
                  <a:lnTo>
                    <a:pt x="15671" y="12611"/>
                  </a:lnTo>
                  <a:lnTo>
                    <a:pt x="20116" y="10756"/>
                  </a:lnTo>
                  <a:lnTo>
                    <a:pt x="21971" y="6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205395" y="2546273"/>
              <a:ext cx="381635" cy="68580"/>
            </a:xfrm>
            <a:custGeom>
              <a:avLst/>
              <a:gdLst/>
              <a:ahLst/>
              <a:cxnLst/>
              <a:rect l="l" t="t" r="r" b="b"/>
              <a:pathLst>
                <a:path w="381634" h="68580">
                  <a:moveTo>
                    <a:pt x="0" y="0"/>
                  </a:moveTo>
                  <a:lnTo>
                    <a:pt x="0" y="66611"/>
                  </a:lnTo>
                </a:path>
                <a:path w="381634" h="68580">
                  <a:moveTo>
                    <a:pt x="381241" y="3251"/>
                  </a:moveTo>
                  <a:lnTo>
                    <a:pt x="381241" y="68402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213857" y="2827445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h="9525">
                  <a:moveTo>
                    <a:pt x="0" y="0"/>
                  </a:moveTo>
                  <a:lnTo>
                    <a:pt x="0" y="9359"/>
                  </a:lnTo>
                </a:path>
              </a:pathLst>
            </a:custGeom>
            <a:ln w="46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216190" y="2820619"/>
              <a:ext cx="376199" cy="50749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7214755" y="275760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284403" y="2779382"/>
              <a:ext cx="22225" cy="12700"/>
            </a:xfrm>
            <a:custGeom>
              <a:avLst/>
              <a:gdLst/>
              <a:ahLst/>
              <a:cxnLst/>
              <a:rect l="l" t="t" r="r" b="b"/>
              <a:pathLst>
                <a:path w="22225" h="12700">
                  <a:moveTo>
                    <a:pt x="21971" y="6299"/>
                  </a:moveTo>
                  <a:lnTo>
                    <a:pt x="20116" y="1854"/>
                  </a:lnTo>
                  <a:lnTo>
                    <a:pt x="15671" y="0"/>
                  </a:lnTo>
                  <a:lnTo>
                    <a:pt x="11214" y="1854"/>
                  </a:lnTo>
                  <a:lnTo>
                    <a:pt x="10985" y="2413"/>
                  </a:lnTo>
                  <a:lnTo>
                    <a:pt x="10756" y="1854"/>
                  </a:lnTo>
                  <a:lnTo>
                    <a:pt x="6311" y="0"/>
                  </a:lnTo>
                  <a:lnTo>
                    <a:pt x="1854" y="1854"/>
                  </a:lnTo>
                  <a:lnTo>
                    <a:pt x="0" y="6299"/>
                  </a:lnTo>
                  <a:lnTo>
                    <a:pt x="1854" y="10756"/>
                  </a:lnTo>
                  <a:lnTo>
                    <a:pt x="6311" y="12611"/>
                  </a:lnTo>
                  <a:lnTo>
                    <a:pt x="10756" y="10756"/>
                  </a:lnTo>
                  <a:lnTo>
                    <a:pt x="10985" y="10210"/>
                  </a:lnTo>
                  <a:lnTo>
                    <a:pt x="11214" y="10756"/>
                  </a:lnTo>
                  <a:lnTo>
                    <a:pt x="15671" y="12611"/>
                  </a:lnTo>
                  <a:lnTo>
                    <a:pt x="20116" y="10756"/>
                  </a:lnTo>
                  <a:lnTo>
                    <a:pt x="21971" y="6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216559" y="2808363"/>
              <a:ext cx="381635" cy="69850"/>
            </a:xfrm>
            <a:custGeom>
              <a:avLst/>
              <a:gdLst/>
              <a:ahLst/>
              <a:cxnLst/>
              <a:rect l="l" t="t" r="r" b="b"/>
              <a:pathLst>
                <a:path w="381634" h="69850">
                  <a:moveTo>
                    <a:pt x="0" y="0"/>
                  </a:moveTo>
                  <a:lnTo>
                    <a:pt x="0" y="66598"/>
                  </a:lnTo>
                </a:path>
                <a:path w="381634" h="69850">
                  <a:moveTo>
                    <a:pt x="381241" y="4673"/>
                  </a:moveTo>
                  <a:lnTo>
                    <a:pt x="381241" y="69837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8345525" y="2855874"/>
              <a:ext cx="168910" cy="0"/>
            </a:xfrm>
            <a:custGeom>
              <a:avLst/>
              <a:gdLst/>
              <a:ahLst/>
              <a:cxnLst/>
              <a:rect l="l" t="t" r="r" b="b"/>
              <a:pathLst>
                <a:path w="168909">
                  <a:moveTo>
                    <a:pt x="0" y="0"/>
                  </a:moveTo>
                  <a:lnTo>
                    <a:pt x="37439" y="0"/>
                  </a:lnTo>
                </a:path>
                <a:path w="168909">
                  <a:moveTo>
                    <a:pt x="65519" y="0"/>
                  </a:moveTo>
                  <a:lnTo>
                    <a:pt x="102958" y="0"/>
                  </a:lnTo>
                </a:path>
                <a:path w="168909">
                  <a:moveTo>
                    <a:pt x="131038" y="0"/>
                  </a:moveTo>
                  <a:lnTo>
                    <a:pt x="168478" y="0"/>
                  </a:lnTo>
                </a:path>
              </a:pathLst>
            </a:custGeom>
            <a:ln w="9359">
              <a:solidFill>
                <a:srgbClr val="EDEB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6351832" y="2557443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h="9525">
                  <a:moveTo>
                    <a:pt x="0" y="0"/>
                  </a:moveTo>
                  <a:lnTo>
                    <a:pt x="0" y="9359"/>
                  </a:lnTo>
                </a:path>
              </a:pathLst>
            </a:custGeom>
            <a:ln w="43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353987" y="2552420"/>
              <a:ext cx="376199" cy="50749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6353276" y="248724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6424003" y="2509380"/>
              <a:ext cx="20320" cy="12700"/>
            </a:xfrm>
            <a:custGeom>
              <a:avLst/>
              <a:gdLst/>
              <a:ahLst/>
              <a:cxnLst/>
              <a:rect l="l" t="t" r="r" b="b"/>
              <a:pathLst>
                <a:path w="20320" h="12700">
                  <a:moveTo>
                    <a:pt x="19812" y="6299"/>
                  </a:moveTo>
                  <a:lnTo>
                    <a:pt x="17957" y="1854"/>
                  </a:lnTo>
                  <a:lnTo>
                    <a:pt x="13512" y="0"/>
                  </a:lnTo>
                  <a:lnTo>
                    <a:pt x="9906" y="1511"/>
                  </a:lnTo>
                  <a:lnTo>
                    <a:pt x="6311" y="0"/>
                  </a:lnTo>
                  <a:lnTo>
                    <a:pt x="1854" y="1854"/>
                  </a:lnTo>
                  <a:lnTo>
                    <a:pt x="0" y="6299"/>
                  </a:lnTo>
                  <a:lnTo>
                    <a:pt x="1854" y="10756"/>
                  </a:lnTo>
                  <a:lnTo>
                    <a:pt x="6311" y="12611"/>
                  </a:lnTo>
                  <a:lnTo>
                    <a:pt x="9906" y="11112"/>
                  </a:lnTo>
                  <a:lnTo>
                    <a:pt x="13512" y="12611"/>
                  </a:lnTo>
                  <a:lnTo>
                    <a:pt x="17957" y="10756"/>
                  </a:lnTo>
                  <a:lnTo>
                    <a:pt x="19812" y="6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6354356" y="2540165"/>
              <a:ext cx="381635" cy="68580"/>
            </a:xfrm>
            <a:custGeom>
              <a:avLst/>
              <a:gdLst/>
              <a:ahLst/>
              <a:cxnLst/>
              <a:rect l="l" t="t" r="r" b="b"/>
              <a:pathLst>
                <a:path w="381634" h="68580">
                  <a:moveTo>
                    <a:pt x="0" y="0"/>
                  </a:moveTo>
                  <a:lnTo>
                    <a:pt x="0" y="66598"/>
                  </a:lnTo>
                </a:path>
                <a:path w="381634" h="68580">
                  <a:moveTo>
                    <a:pt x="381241" y="2870"/>
                  </a:moveTo>
                  <a:lnTo>
                    <a:pt x="381241" y="68033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132601" y="2013115"/>
              <a:ext cx="290195" cy="455930"/>
            </a:xfrm>
            <a:custGeom>
              <a:avLst/>
              <a:gdLst/>
              <a:ahLst/>
              <a:cxnLst/>
              <a:rect l="l" t="t" r="r" b="b"/>
              <a:pathLst>
                <a:path w="290195" h="455930">
                  <a:moveTo>
                    <a:pt x="148323" y="0"/>
                  </a:moveTo>
                  <a:lnTo>
                    <a:pt x="0" y="412559"/>
                  </a:lnTo>
                </a:path>
                <a:path w="290195" h="455930">
                  <a:moveTo>
                    <a:pt x="151561" y="0"/>
                  </a:moveTo>
                  <a:lnTo>
                    <a:pt x="284403" y="411124"/>
                  </a:lnTo>
                </a:path>
                <a:path w="290195" h="455930">
                  <a:moveTo>
                    <a:pt x="10795" y="417245"/>
                  </a:moveTo>
                  <a:lnTo>
                    <a:pt x="143637" y="455409"/>
                  </a:lnTo>
                </a:path>
                <a:path w="290195" h="455930">
                  <a:moveTo>
                    <a:pt x="290156" y="417245"/>
                  </a:moveTo>
                  <a:lnTo>
                    <a:pt x="141833" y="455409"/>
                  </a:lnTo>
                </a:path>
                <a:path w="290195" h="455930">
                  <a:moveTo>
                    <a:pt x="151561" y="9359"/>
                  </a:moveTo>
                  <a:lnTo>
                    <a:pt x="151561" y="455409"/>
                  </a:lnTo>
                </a:path>
              </a:pathLst>
            </a:custGeom>
            <a:ln w="19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133856" y="2231819"/>
              <a:ext cx="298441" cy="209884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6221514" y="2091956"/>
              <a:ext cx="107950" cy="111760"/>
            </a:xfrm>
            <a:custGeom>
              <a:avLst/>
              <a:gdLst/>
              <a:ahLst/>
              <a:cxnLst/>
              <a:rect l="l" t="t" r="r" b="b"/>
              <a:pathLst>
                <a:path w="107950" h="111760">
                  <a:moveTo>
                    <a:pt x="62649" y="111239"/>
                  </a:moveTo>
                  <a:lnTo>
                    <a:pt x="107645" y="85686"/>
                  </a:lnTo>
                </a:path>
                <a:path w="107950" h="111760">
                  <a:moveTo>
                    <a:pt x="62649" y="20523"/>
                  </a:moveTo>
                  <a:lnTo>
                    <a:pt x="88925" y="0"/>
                  </a:lnTo>
                </a:path>
                <a:path w="107950" h="111760">
                  <a:moveTo>
                    <a:pt x="0" y="89280"/>
                  </a:moveTo>
                  <a:lnTo>
                    <a:pt x="57607" y="103682"/>
                  </a:lnTo>
                </a:path>
                <a:path w="107950" h="111760">
                  <a:moveTo>
                    <a:pt x="29527" y="3606"/>
                  </a:moveTo>
                  <a:lnTo>
                    <a:pt x="59042" y="18008"/>
                  </a:lnTo>
                </a:path>
              </a:pathLst>
            </a:custGeom>
            <a:ln w="19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060960" y="1844281"/>
              <a:ext cx="449275" cy="324002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6254635" y="197928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1E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6254635" y="197928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" name="object 104"/>
          <p:cNvSpPr/>
          <p:nvPr/>
        </p:nvSpPr>
        <p:spPr>
          <a:xfrm>
            <a:off x="5497195" y="437832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7405560" y="2665437"/>
            <a:ext cx="0" cy="74930"/>
          </a:xfrm>
          <a:custGeom>
            <a:avLst/>
            <a:gdLst/>
            <a:ahLst/>
            <a:cxnLst/>
            <a:rect l="l" t="t" r="r" b="b"/>
            <a:pathLst>
              <a:path h="74930">
                <a:moveTo>
                  <a:pt x="0" y="0"/>
                </a:moveTo>
                <a:lnTo>
                  <a:pt x="0" y="74523"/>
                </a:lnTo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7942326" y="2560675"/>
            <a:ext cx="0" cy="189230"/>
          </a:xfrm>
          <a:custGeom>
            <a:avLst/>
            <a:gdLst/>
            <a:ahLst/>
            <a:cxnLst/>
            <a:rect l="l" t="t" r="r" b="b"/>
            <a:pathLst>
              <a:path h="189230">
                <a:moveTo>
                  <a:pt x="0" y="0"/>
                </a:moveTo>
                <a:lnTo>
                  <a:pt x="0" y="189001"/>
                </a:lnTo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7287844" y="2933636"/>
            <a:ext cx="106680" cy="697230"/>
          </a:xfrm>
          <a:custGeom>
            <a:avLst/>
            <a:gdLst/>
            <a:ahLst/>
            <a:cxnLst/>
            <a:rect l="l" t="t" r="r" b="b"/>
            <a:pathLst>
              <a:path w="106679" h="697229">
                <a:moveTo>
                  <a:pt x="106197" y="0"/>
                </a:moveTo>
                <a:lnTo>
                  <a:pt x="0" y="696963"/>
                </a:lnTo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7689963" y="239508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 txBox="1"/>
          <p:nvPr/>
        </p:nvSpPr>
        <p:spPr>
          <a:xfrm>
            <a:off x="6034938" y="1416138"/>
            <a:ext cx="13887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"/>
                <a:cs typeface="Arial"/>
              </a:rPr>
              <a:t>mobile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network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7636586" y="2103386"/>
            <a:ext cx="95059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"/>
                <a:cs typeface="Arial"/>
              </a:rPr>
              <a:t>global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ISP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7414094" y="3330270"/>
            <a:ext cx="11296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"/>
                <a:cs typeface="Arial"/>
              </a:rPr>
              <a:t>regional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ISP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6395656" y="2947949"/>
            <a:ext cx="734695" cy="46355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5080">
              <a:lnSpc>
                <a:spcPct val="79600"/>
              </a:lnSpc>
              <a:spcBef>
                <a:spcPts val="490"/>
              </a:spcBef>
            </a:pPr>
            <a:r>
              <a:rPr sz="1600" spc="-20" dirty="0">
                <a:latin typeface="Arial"/>
                <a:cs typeface="Arial"/>
              </a:rPr>
              <a:t>home </a:t>
            </a:r>
            <a:r>
              <a:rPr sz="1600" spc="-10" dirty="0">
                <a:latin typeface="Arial"/>
                <a:cs typeface="Arial"/>
              </a:rPr>
              <a:t>network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5665584" y="5629948"/>
            <a:ext cx="1129665" cy="463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725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institutional</a:t>
            </a:r>
            <a:endParaRPr sz="1600">
              <a:latin typeface="Arial"/>
              <a:cs typeface="Arial"/>
            </a:endParaRPr>
          </a:p>
          <a:p>
            <a:pPr marL="407034">
              <a:lnSpc>
                <a:spcPts val="1725"/>
              </a:lnSpc>
            </a:pPr>
            <a:r>
              <a:rPr sz="1600" spc="-10" dirty="0">
                <a:latin typeface="Arial"/>
                <a:cs typeface="Arial"/>
              </a:rPr>
              <a:t>network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5560923" y="3041269"/>
            <a:ext cx="2898775" cy="2880360"/>
            <a:chOff x="5560923" y="3041269"/>
            <a:chExt cx="2898775" cy="2880360"/>
          </a:xfrm>
        </p:grpSpPr>
        <p:pic>
          <p:nvPicPr>
            <p:cNvPr id="115" name="object 11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251558" y="5002212"/>
              <a:ext cx="158750" cy="450710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8251914" y="5054765"/>
              <a:ext cx="87630" cy="1905"/>
            </a:xfrm>
            <a:custGeom>
              <a:avLst/>
              <a:gdLst/>
              <a:ahLst/>
              <a:cxnLst/>
              <a:rect l="l" t="t" r="r" b="b"/>
              <a:pathLst>
                <a:path w="87629" h="1904">
                  <a:moveTo>
                    <a:pt x="87122" y="0"/>
                  </a:moveTo>
                  <a:lnTo>
                    <a:pt x="0" y="0"/>
                  </a:lnTo>
                  <a:lnTo>
                    <a:pt x="0" y="1435"/>
                  </a:lnTo>
                  <a:lnTo>
                    <a:pt x="43561" y="1435"/>
                  </a:lnTo>
                  <a:lnTo>
                    <a:pt x="87122" y="1435"/>
                  </a:lnTo>
                  <a:lnTo>
                    <a:pt x="871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8251914" y="5054765"/>
              <a:ext cx="87630" cy="1905"/>
            </a:xfrm>
            <a:custGeom>
              <a:avLst/>
              <a:gdLst/>
              <a:ahLst/>
              <a:cxnLst/>
              <a:rect l="l" t="t" r="r" b="b"/>
              <a:pathLst>
                <a:path w="87629" h="1904">
                  <a:moveTo>
                    <a:pt x="43561" y="1435"/>
                  </a:moveTo>
                  <a:lnTo>
                    <a:pt x="0" y="1435"/>
                  </a:lnTo>
                  <a:lnTo>
                    <a:pt x="0" y="0"/>
                  </a:lnTo>
                  <a:lnTo>
                    <a:pt x="87122" y="0"/>
                  </a:lnTo>
                  <a:lnTo>
                    <a:pt x="87122" y="1435"/>
                  </a:lnTo>
                  <a:lnTo>
                    <a:pt x="43561" y="1435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8253006" y="5121363"/>
              <a:ext cx="87630" cy="1905"/>
            </a:xfrm>
            <a:custGeom>
              <a:avLst/>
              <a:gdLst/>
              <a:ahLst/>
              <a:cxnLst/>
              <a:rect l="l" t="t" r="r" b="b"/>
              <a:pathLst>
                <a:path w="87629" h="1904">
                  <a:moveTo>
                    <a:pt x="87477" y="0"/>
                  </a:moveTo>
                  <a:lnTo>
                    <a:pt x="0" y="0"/>
                  </a:lnTo>
                  <a:lnTo>
                    <a:pt x="0" y="1435"/>
                  </a:lnTo>
                  <a:lnTo>
                    <a:pt x="43916" y="1435"/>
                  </a:lnTo>
                  <a:lnTo>
                    <a:pt x="87477" y="1435"/>
                  </a:lnTo>
                  <a:lnTo>
                    <a:pt x="874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8253006" y="5121363"/>
              <a:ext cx="87630" cy="1905"/>
            </a:xfrm>
            <a:custGeom>
              <a:avLst/>
              <a:gdLst/>
              <a:ahLst/>
              <a:cxnLst/>
              <a:rect l="l" t="t" r="r" b="b"/>
              <a:pathLst>
                <a:path w="87629" h="1904">
                  <a:moveTo>
                    <a:pt x="43916" y="1435"/>
                  </a:moveTo>
                  <a:lnTo>
                    <a:pt x="0" y="1435"/>
                  </a:lnTo>
                  <a:lnTo>
                    <a:pt x="0" y="0"/>
                  </a:lnTo>
                  <a:lnTo>
                    <a:pt x="87477" y="0"/>
                  </a:lnTo>
                  <a:lnTo>
                    <a:pt x="87477" y="1435"/>
                  </a:lnTo>
                  <a:lnTo>
                    <a:pt x="43916" y="1435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8253006" y="5187962"/>
              <a:ext cx="87630" cy="1905"/>
            </a:xfrm>
            <a:custGeom>
              <a:avLst/>
              <a:gdLst/>
              <a:ahLst/>
              <a:cxnLst/>
              <a:rect l="l" t="t" r="r" b="b"/>
              <a:pathLst>
                <a:path w="87629" h="1904">
                  <a:moveTo>
                    <a:pt x="87477" y="0"/>
                  </a:moveTo>
                  <a:lnTo>
                    <a:pt x="0" y="0"/>
                  </a:lnTo>
                  <a:lnTo>
                    <a:pt x="0" y="1435"/>
                  </a:lnTo>
                  <a:lnTo>
                    <a:pt x="43916" y="1435"/>
                  </a:lnTo>
                  <a:lnTo>
                    <a:pt x="87477" y="1435"/>
                  </a:lnTo>
                  <a:lnTo>
                    <a:pt x="874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8253006" y="5187962"/>
              <a:ext cx="87630" cy="1905"/>
            </a:xfrm>
            <a:custGeom>
              <a:avLst/>
              <a:gdLst/>
              <a:ahLst/>
              <a:cxnLst/>
              <a:rect l="l" t="t" r="r" b="b"/>
              <a:pathLst>
                <a:path w="87629" h="1904">
                  <a:moveTo>
                    <a:pt x="43916" y="1435"/>
                  </a:moveTo>
                  <a:lnTo>
                    <a:pt x="0" y="1435"/>
                  </a:lnTo>
                  <a:lnTo>
                    <a:pt x="0" y="0"/>
                  </a:lnTo>
                  <a:lnTo>
                    <a:pt x="87477" y="0"/>
                  </a:lnTo>
                  <a:lnTo>
                    <a:pt x="87477" y="1435"/>
                  </a:lnTo>
                  <a:lnTo>
                    <a:pt x="43916" y="1435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8255165" y="5248440"/>
              <a:ext cx="87630" cy="1905"/>
            </a:xfrm>
            <a:custGeom>
              <a:avLst/>
              <a:gdLst/>
              <a:ahLst/>
              <a:cxnLst/>
              <a:rect l="l" t="t" r="r" b="b"/>
              <a:pathLst>
                <a:path w="87629" h="1904">
                  <a:moveTo>
                    <a:pt x="87109" y="0"/>
                  </a:moveTo>
                  <a:lnTo>
                    <a:pt x="0" y="0"/>
                  </a:lnTo>
                  <a:lnTo>
                    <a:pt x="0" y="1435"/>
                  </a:lnTo>
                  <a:lnTo>
                    <a:pt x="43560" y="1435"/>
                  </a:lnTo>
                  <a:lnTo>
                    <a:pt x="87109" y="1435"/>
                  </a:lnTo>
                  <a:lnTo>
                    <a:pt x="871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255165" y="5248440"/>
              <a:ext cx="87630" cy="1905"/>
            </a:xfrm>
            <a:custGeom>
              <a:avLst/>
              <a:gdLst/>
              <a:ahLst/>
              <a:cxnLst/>
              <a:rect l="l" t="t" r="r" b="b"/>
              <a:pathLst>
                <a:path w="87629" h="1904">
                  <a:moveTo>
                    <a:pt x="43560" y="1435"/>
                  </a:moveTo>
                  <a:lnTo>
                    <a:pt x="0" y="1435"/>
                  </a:lnTo>
                  <a:lnTo>
                    <a:pt x="0" y="0"/>
                  </a:lnTo>
                  <a:lnTo>
                    <a:pt x="87109" y="0"/>
                  </a:lnTo>
                  <a:lnTo>
                    <a:pt x="87109" y="1435"/>
                  </a:lnTo>
                  <a:lnTo>
                    <a:pt x="43560" y="1435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4" name="object 12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416430" y="5002212"/>
              <a:ext cx="11531" cy="450710"/>
            </a:xfrm>
            <a:prstGeom prst="rect">
              <a:avLst/>
            </a:prstGeom>
          </p:spPr>
        </p:pic>
        <p:sp>
          <p:nvSpPr>
            <p:cNvPr id="125" name="object 125"/>
            <p:cNvSpPr/>
            <p:nvPr/>
          </p:nvSpPr>
          <p:spPr>
            <a:xfrm>
              <a:off x="8416442" y="5002199"/>
              <a:ext cx="3810" cy="450850"/>
            </a:xfrm>
            <a:custGeom>
              <a:avLst/>
              <a:gdLst/>
              <a:ahLst/>
              <a:cxnLst/>
              <a:rect l="l" t="t" r="r" b="b"/>
              <a:pathLst>
                <a:path w="3809" h="450850">
                  <a:moveTo>
                    <a:pt x="1803" y="450722"/>
                  </a:moveTo>
                  <a:lnTo>
                    <a:pt x="0" y="450722"/>
                  </a:lnTo>
                  <a:lnTo>
                    <a:pt x="0" y="0"/>
                  </a:lnTo>
                  <a:lnTo>
                    <a:pt x="3238" y="0"/>
                  </a:lnTo>
                  <a:lnTo>
                    <a:pt x="3238" y="450722"/>
                  </a:lnTo>
                  <a:lnTo>
                    <a:pt x="1803" y="450722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8240395" y="545292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8235709" y="5448249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4" h="17779">
                  <a:moveTo>
                    <a:pt x="9359" y="4673"/>
                  </a:moveTo>
                  <a:lnTo>
                    <a:pt x="7988" y="1371"/>
                  </a:lnTo>
                  <a:lnTo>
                    <a:pt x="4686" y="0"/>
                  </a:lnTo>
                  <a:lnTo>
                    <a:pt x="1371" y="1371"/>
                  </a:lnTo>
                  <a:lnTo>
                    <a:pt x="0" y="4673"/>
                  </a:lnTo>
                  <a:lnTo>
                    <a:pt x="1371" y="7988"/>
                  </a:lnTo>
                  <a:lnTo>
                    <a:pt x="4686" y="9359"/>
                  </a:lnTo>
                  <a:lnTo>
                    <a:pt x="7988" y="7988"/>
                  </a:lnTo>
                  <a:lnTo>
                    <a:pt x="9359" y="4673"/>
                  </a:lnTo>
                  <a:close/>
                </a:path>
                <a:path w="20954" h="17779">
                  <a:moveTo>
                    <a:pt x="20878" y="12585"/>
                  </a:moveTo>
                  <a:lnTo>
                    <a:pt x="19507" y="9283"/>
                  </a:lnTo>
                  <a:lnTo>
                    <a:pt x="16205" y="7912"/>
                  </a:lnTo>
                  <a:lnTo>
                    <a:pt x="12890" y="9283"/>
                  </a:lnTo>
                  <a:lnTo>
                    <a:pt x="11518" y="12585"/>
                  </a:lnTo>
                  <a:lnTo>
                    <a:pt x="12890" y="15900"/>
                  </a:lnTo>
                  <a:lnTo>
                    <a:pt x="16205" y="17272"/>
                  </a:lnTo>
                  <a:lnTo>
                    <a:pt x="19507" y="15900"/>
                  </a:lnTo>
                  <a:lnTo>
                    <a:pt x="20878" y="125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8267763" y="539423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8295843" y="539423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8322843" y="539423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8387994" y="5284444"/>
              <a:ext cx="5080" cy="144780"/>
            </a:xfrm>
            <a:custGeom>
              <a:avLst/>
              <a:gdLst/>
              <a:ahLst/>
              <a:cxnLst/>
              <a:rect l="l" t="t" r="r" b="b"/>
              <a:pathLst>
                <a:path w="5079" h="144779">
                  <a:moveTo>
                    <a:pt x="4686" y="0"/>
                  </a:moveTo>
                  <a:lnTo>
                    <a:pt x="0" y="0"/>
                  </a:lnTo>
                  <a:lnTo>
                    <a:pt x="0" y="144360"/>
                  </a:lnTo>
                  <a:lnTo>
                    <a:pt x="2527" y="144360"/>
                  </a:lnTo>
                  <a:lnTo>
                    <a:pt x="4686" y="144360"/>
                  </a:lnTo>
                  <a:lnTo>
                    <a:pt x="4686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8387994" y="5284444"/>
              <a:ext cx="5080" cy="144780"/>
            </a:xfrm>
            <a:custGeom>
              <a:avLst/>
              <a:gdLst/>
              <a:ahLst/>
              <a:cxnLst/>
              <a:rect l="l" t="t" r="r" b="b"/>
              <a:pathLst>
                <a:path w="5079" h="144779">
                  <a:moveTo>
                    <a:pt x="2527" y="144360"/>
                  </a:moveTo>
                  <a:lnTo>
                    <a:pt x="0" y="144360"/>
                  </a:lnTo>
                  <a:lnTo>
                    <a:pt x="0" y="0"/>
                  </a:lnTo>
                  <a:lnTo>
                    <a:pt x="4686" y="0"/>
                  </a:lnTo>
                  <a:lnTo>
                    <a:pt x="4686" y="144360"/>
                  </a:lnTo>
                  <a:lnTo>
                    <a:pt x="2527" y="14436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3" name="object 13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935468" y="5303901"/>
              <a:ext cx="158750" cy="450710"/>
            </a:xfrm>
            <a:prstGeom prst="rect">
              <a:avLst/>
            </a:prstGeom>
          </p:spPr>
        </p:pic>
        <p:sp>
          <p:nvSpPr>
            <p:cNvPr id="134" name="object 134"/>
            <p:cNvSpPr/>
            <p:nvPr/>
          </p:nvSpPr>
          <p:spPr>
            <a:xfrm>
              <a:off x="7935480" y="5355717"/>
              <a:ext cx="87630" cy="1905"/>
            </a:xfrm>
            <a:custGeom>
              <a:avLst/>
              <a:gdLst/>
              <a:ahLst/>
              <a:cxnLst/>
              <a:rect l="l" t="t" r="r" b="b"/>
              <a:pathLst>
                <a:path w="87629" h="1904">
                  <a:moveTo>
                    <a:pt x="87477" y="0"/>
                  </a:moveTo>
                  <a:lnTo>
                    <a:pt x="0" y="0"/>
                  </a:lnTo>
                  <a:lnTo>
                    <a:pt x="0" y="1803"/>
                  </a:lnTo>
                  <a:lnTo>
                    <a:pt x="43916" y="1803"/>
                  </a:lnTo>
                  <a:lnTo>
                    <a:pt x="87477" y="1803"/>
                  </a:lnTo>
                  <a:lnTo>
                    <a:pt x="874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7935480" y="5355717"/>
              <a:ext cx="87630" cy="1905"/>
            </a:xfrm>
            <a:custGeom>
              <a:avLst/>
              <a:gdLst/>
              <a:ahLst/>
              <a:cxnLst/>
              <a:rect l="l" t="t" r="r" b="b"/>
              <a:pathLst>
                <a:path w="87629" h="1904">
                  <a:moveTo>
                    <a:pt x="43916" y="1803"/>
                  </a:moveTo>
                  <a:lnTo>
                    <a:pt x="0" y="1803"/>
                  </a:lnTo>
                  <a:lnTo>
                    <a:pt x="0" y="0"/>
                  </a:lnTo>
                  <a:lnTo>
                    <a:pt x="87477" y="0"/>
                  </a:lnTo>
                  <a:lnTo>
                    <a:pt x="87477" y="1803"/>
                  </a:lnTo>
                  <a:lnTo>
                    <a:pt x="43916" y="1803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7937640" y="5423039"/>
              <a:ext cx="87630" cy="1905"/>
            </a:xfrm>
            <a:custGeom>
              <a:avLst/>
              <a:gdLst/>
              <a:ahLst/>
              <a:cxnLst/>
              <a:rect l="l" t="t" r="r" b="b"/>
              <a:pathLst>
                <a:path w="87629" h="1904">
                  <a:moveTo>
                    <a:pt x="87122" y="0"/>
                  </a:moveTo>
                  <a:lnTo>
                    <a:pt x="0" y="0"/>
                  </a:lnTo>
                  <a:lnTo>
                    <a:pt x="0" y="1435"/>
                  </a:lnTo>
                  <a:lnTo>
                    <a:pt x="43561" y="1435"/>
                  </a:lnTo>
                  <a:lnTo>
                    <a:pt x="87122" y="1435"/>
                  </a:lnTo>
                  <a:lnTo>
                    <a:pt x="871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7937639" y="5423039"/>
              <a:ext cx="87630" cy="1905"/>
            </a:xfrm>
            <a:custGeom>
              <a:avLst/>
              <a:gdLst/>
              <a:ahLst/>
              <a:cxnLst/>
              <a:rect l="l" t="t" r="r" b="b"/>
              <a:pathLst>
                <a:path w="87629" h="1904">
                  <a:moveTo>
                    <a:pt x="43561" y="1435"/>
                  </a:moveTo>
                  <a:lnTo>
                    <a:pt x="0" y="1435"/>
                  </a:lnTo>
                  <a:lnTo>
                    <a:pt x="0" y="0"/>
                  </a:lnTo>
                  <a:lnTo>
                    <a:pt x="87122" y="0"/>
                  </a:lnTo>
                  <a:lnTo>
                    <a:pt x="87122" y="1435"/>
                  </a:lnTo>
                  <a:lnTo>
                    <a:pt x="43561" y="1435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7937640" y="5489638"/>
              <a:ext cx="87630" cy="1905"/>
            </a:xfrm>
            <a:custGeom>
              <a:avLst/>
              <a:gdLst/>
              <a:ahLst/>
              <a:cxnLst/>
              <a:rect l="l" t="t" r="r" b="b"/>
              <a:pathLst>
                <a:path w="87629" h="1904">
                  <a:moveTo>
                    <a:pt x="87122" y="0"/>
                  </a:moveTo>
                  <a:lnTo>
                    <a:pt x="0" y="0"/>
                  </a:lnTo>
                  <a:lnTo>
                    <a:pt x="0" y="1447"/>
                  </a:lnTo>
                  <a:lnTo>
                    <a:pt x="43561" y="1447"/>
                  </a:lnTo>
                  <a:lnTo>
                    <a:pt x="87122" y="1447"/>
                  </a:lnTo>
                  <a:lnTo>
                    <a:pt x="871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7937639" y="5489638"/>
              <a:ext cx="87630" cy="1905"/>
            </a:xfrm>
            <a:custGeom>
              <a:avLst/>
              <a:gdLst/>
              <a:ahLst/>
              <a:cxnLst/>
              <a:rect l="l" t="t" r="r" b="b"/>
              <a:pathLst>
                <a:path w="87629" h="1904">
                  <a:moveTo>
                    <a:pt x="43561" y="1447"/>
                  </a:moveTo>
                  <a:lnTo>
                    <a:pt x="0" y="1447"/>
                  </a:lnTo>
                  <a:lnTo>
                    <a:pt x="0" y="0"/>
                  </a:lnTo>
                  <a:lnTo>
                    <a:pt x="87122" y="0"/>
                  </a:lnTo>
                  <a:lnTo>
                    <a:pt x="87122" y="1447"/>
                  </a:lnTo>
                  <a:lnTo>
                    <a:pt x="43561" y="1447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7938719" y="5549404"/>
              <a:ext cx="87630" cy="1905"/>
            </a:xfrm>
            <a:custGeom>
              <a:avLst/>
              <a:gdLst/>
              <a:ahLst/>
              <a:cxnLst/>
              <a:rect l="l" t="t" r="r" b="b"/>
              <a:pathLst>
                <a:path w="87629" h="1904">
                  <a:moveTo>
                    <a:pt x="87477" y="0"/>
                  </a:moveTo>
                  <a:lnTo>
                    <a:pt x="0" y="0"/>
                  </a:lnTo>
                  <a:lnTo>
                    <a:pt x="0" y="1790"/>
                  </a:lnTo>
                  <a:lnTo>
                    <a:pt x="43916" y="1790"/>
                  </a:lnTo>
                  <a:lnTo>
                    <a:pt x="87477" y="1790"/>
                  </a:lnTo>
                  <a:lnTo>
                    <a:pt x="874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7938719" y="5549404"/>
              <a:ext cx="87630" cy="1905"/>
            </a:xfrm>
            <a:custGeom>
              <a:avLst/>
              <a:gdLst/>
              <a:ahLst/>
              <a:cxnLst/>
              <a:rect l="l" t="t" r="r" b="b"/>
              <a:pathLst>
                <a:path w="87629" h="1904">
                  <a:moveTo>
                    <a:pt x="43916" y="1790"/>
                  </a:moveTo>
                  <a:lnTo>
                    <a:pt x="0" y="1790"/>
                  </a:lnTo>
                  <a:lnTo>
                    <a:pt x="0" y="0"/>
                  </a:lnTo>
                  <a:lnTo>
                    <a:pt x="87477" y="0"/>
                  </a:lnTo>
                  <a:lnTo>
                    <a:pt x="87477" y="1790"/>
                  </a:lnTo>
                  <a:lnTo>
                    <a:pt x="43916" y="179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2" name="object 14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100708" y="5303901"/>
              <a:ext cx="12966" cy="450710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8100720" y="5303875"/>
              <a:ext cx="3810" cy="450850"/>
            </a:xfrm>
            <a:custGeom>
              <a:avLst/>
              <a:gdLst/>
              <a:ahLst/>
              <a:cxnLst/>
              <a:rect l="l" t="t" r="r" b="b"/>
              <a:pathLst>
                <a:path w="3809" h="450850">
                  <a:moveTo>
                    <a:pt x="1803" y="450723"/>
                  </a:moveTo>
                  <a:lnTo>
                    <a:pt x="0" y="450723"/>
                  </a:lnTo>
                  <a:lnTo>
                    <a:pt x="0" y="0"/>
                  </a:lnTo>
                  <a:lnTo>
                    <a:pt x="3238" y="0"/>
                  </a:lnTo>
                  <a:lnTo>
                    <a:pt x="3238" y="450723"/>
                  </a:lnTo>
                  <a:lnTo>
                    <a:pt x="1803" y="450723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7924317" y="575459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7919631" y="5749925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4" h="17779">
                  <a:moveTo>
                    <a:pt x="9359" y="4673"/>
                  </a:moveTo>
                  <a:lnTo>
                    <a:pt x="7988" y="1371"/>
                  </a:lnTo>
                  <a:lnTo>
                    <a:pt x="4686" y="0"/>
                  </a:lnTo>
                  <a:lnTo>
                    <a:pt x="1371" y="1371"/>
                  </a:lnTo>
                  <a:lnTo>
                    <a:pt x="0" y="4673"/>
                  </a:lnTo>
                  <a:lnTo>
                    <a:pt x="1371" y="7988"/>
                  </a:lnTo>
                  <a:lnTo>
                    <a:pt x="4686" y="9359"/>
                  </a:lnTo>
                  <a:lnTo>
                    <a:pt x="7988" y="7988"/>
                  </a:lnTo>
                  <a:lnTo>
                    <a:pt x="9359" y="4673"/>
                  </a:lnTo>
                  <a:close/>
                </a:path>
                <a:path w="20954" h="17779">
                  <a:moveTo>
                    <a:pt x="20878" y="12598"/>
                  </a:moveTo>
                  <a:lnTo>
                    <a:pt x="19507" y="9296"/>
                  </a:lnTo>
                  <a:lnTo>
                    <a:pt x="16205" y="7924"/>
                  </a:lnTo>
                  <a:lnTo>
                    <a:pt x="12890" y="9296"/>
                  </a:lnTo>
                  <a:lnTo>
                    <a:pt x="11518" y="12598"/>
                  </a:lnTo>
                  <a:lnTo>
                    <a:pt x="12890" y="15913"/>
                  </a:lnTo>
                  <a:lnTo>
                    <a:pt x="16205" y="17284"/>
                  </a:lnTo>
                  <a:lnTo>
                    <a:pt x="19507" y="15913"/>
                  </a:lnTo>
                  <a:lnTo>
                    <a:pt x="20878" y="125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7951317" y="569555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7980477" y="569555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8007477" y="569555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8072285" y="5586120"/>
              <a:ext cx="5080" cy="144780"/>
            </a:xfrm>
            <a:custGeom>
              <a:avLst/>
              <a:gdLst/>
              <a:ahLst/>
              <a:cxnLst/>
              <a:rect l="l" t="t" r="r" b="b"/>
              <a:pathLst>
                <a:path w="5079" h="144779">
                  <a:moveTo>
                    <a:pt x="5029" y="0"/>
                  </a:moveTo>
                  <a:lnTo>
                    <a:pt x="0" y="0"/>
                  </a:lnTo>
                  <a:lnTo>
                    <a:pt x="0" y="144360"/>
                  </a:lnTo>
                  <a:lnTo>
                    <a:pt x="2514" y="144360"/>
                  </a:lnTo>
                  <a:lnTo>
                    <a:pt x="5029" y="144360"/>
                  </a:lnTo>
                  <a:lnTo>
                    <a:pt x="5029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8072285" y="5586120"/>
              <a:ext cx="5080" cy="144780"/>
            </a:xfrm>
            <a:custGeom>
              <a:avLst/>
              <a:gdLst/>
              <a:ahLst/>
              <a:cxnLst/>
              <a:rect l="l" t="t" r="r" b="b"/>
              <a:pathLst>
                <a:path w="5079" h="144779">
                  <a:moveTo>
                    <a:pt x="2514" y="144360"/>
                  </a:moveTo>
                  <a:lnTo>
                    <a:pt x="0" y="144360"/>
                  </a:lnTo>
                  <a:lnTo>
                    <a:pt x="0" y="0"/>
                  </a:lnTo>
                  <a:lnTo>
                    <a:pt x="5029" y="0"/>
                  </a:lnTo>
                  <a:lnTo>
                    <a:pt x="5029" y="144360"/>
                  </a:lnTo>
                  <a:lnTo>
                    <a:pt x="2514" y="14436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1" name="object 15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872401" y="5486031"/>
              <a:ext cx="463321" cy="234365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899402" y="5746330"/>
              <a:ext cx="386638" cy="174955"/>
            </a:xfrm>
            <a:prstGeom prst="rect">
              <a:avLst/>
            </a:prstGeom>
          </p:spPr>
        </p:pic>
        <p:sp>
          <p:nvSpPr>
            <p:cNvPr id="153" name="object 153"/>
            <p:cNvSpPr/>
            <p:nvPr/>
          </p:nvSpPr>
          <p:spPr>
            <a:xfrm>
              <a:off x="7023239" y="558827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7023239" y="558827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5" name="object 15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039076" y="5592610"/>
              <a:ext cx="274675" cy="195834"/>
            </a:xfrm>
            <a:prstGeom prst="rect">
              <a:avLst/>
            </a:prstGeom>
          </p:spPr>
        </p:pic>
        <p:sp>
          <p:nvSpPr>
            <p:cNvPr id="156" name="object 156"/>
            <p:cNvSpPr/>
            <p:nvPr/>
          </p:nvSpPr>
          <p:spPr>
            <a:xfrm>
              <a:off x="7021080" y="558143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7273442" y="561239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C4C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7016762" y="582731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7024674" y="584136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E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7022884" y="584784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7048436" y="584927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E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2" name="object 16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560923" y="3041269"/>
              <a:ext cx="433438" cy="234365"/>
            </a:xfrm>
            <a:prstGeom prst="rect">
              <a:avLst/>
            </a:prstGeom>
          </p:spPr>
        </p:pic>
        <p:pic>
          <p:nvPicPr>
            <p:cNvPr id="163" name="object 16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586844" y="3298329"/>
              <a:ext cx="360718" cy="176034"/>
            </a:xfrm>
            <a:prstGeom prst="rect">
              <a:avLst/>
            </a:prstGeom>
          </p:spPr>
        </p:pic>
        <p:sp>
          <p:nvSpPr>
            <p:cNvPr id="164" name="object 164"/>
            <p:cNvSpPr/>
            <p:nvPr/>
          </p:nvSpPr>
          <p:spPr>
            <a:xfrm>
              <a:off x="5702046" y="314243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5702046" y="314243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6" name="object 16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716435" y="3147110"/>
              <a:ext cx="257403" cy="199085"/>
            </a:xfrm>
            <a:prstGeom prst="rect">
              <a:avLst/>
            </a:prstGeom>
          </p:spPr>
        </p:pic>
        <p:sp>
          <p:nvSpPr>
            <p:cNvPr id="167" name="object 167"/>
            <p:cNvSpPr/>
            <p:nvPr/>
          </p:nvSpPr>
          <p:spPr>
            <a:xfrm>
              <a:off x="5700598" y="313596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5935675" y="316980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C4C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5695556" y="338328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5703481" y="339768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E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5702046" y="340415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5725795" y="340559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E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3" name="object 17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0361" y="3222358"/>
              <a:ext cx="406438" cy="365036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307275" y="5422671"/>
              <a:ext cx="461886" cy="234365"/>
            </a:xfrm>
            <a:prstGeom prst="rect">
              <a:avLst/>
            </a:prstGeom>
          </p:spPr>
        </p:pic>
        <p:pic>
          <p:nvPicPr>
            <p:cNvPr id="175" name="object 17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334643" y="5682602"/>
              <a:ext cx="386283" cy="174955"/>
            </a:xfrm>
            <a:prstGeom prst="rect">
              <a:avLst/>
            </a:prstGeom>
          </p:spPr>
        </p:pic>
        <p:sp>
          <p:nvSpPr>
            <p:cNvPr id="176" name="object 176"/>
            <p:cNvSpPr/>
            <p:nvPr/>
          </p:nvSpPr>
          <p:spPr>
            <a:xfrm>
              <a:off x="7458125" y="552456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7458125" y="552456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8" name="object 17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473962" y="5529237"/>
              <a:ext cx="274675" cy="197281"/>
            </a:xfrm>
            <a:prstGeom prst="rect">
              <a:avLst/>
            </a:prstGeom>
          </p:spPr>
        </p:pic>
        <p:sp>
          <p:nvSpPr>
            <p:cNvPr id="179" name="object 179"/>
            <p:cNvSpPr/>
            <p:nvPr/>
          </p:nvSpPr>
          <p:spPr>
            <a:xfrm>
              <a:off x="7455954" y="551807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7709039" y="554868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C4C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7450201" y="576360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7458125" y="577800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E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7458125" y="578412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7483322" y="578591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E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5" name="object 185"/>
          <p:cNvGrpSpPr/>
          <p:nvPr/>
        </p:nvGrpSpPr>
        <p:grpSpPr>
          <a:xfrm>
            <a:off x="5302084" y="2042642"/>
            <a:ext cx="524510" cy="421640"/>
            <a:chOff x="5302084" y="2042642"/>
            <a:chExt cx="524510" cy="421640"/>
          </a:xfrm>
        </p:grpSpPr>
        <p:pic>
          <p:nvPicPr>
            <p:cNvPr id="186" name="object 18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302084" y="2042642"/>
              <a:ext cx="524154" cy="230035"/>
            </a:xfrm>
            <a:prstGeom prst="rect">
              <a:avLst/>
            </a:prstGeom>
          </p:spPr>
        </p:pic>
        <p:pic>
          <p:nvPicPr>
            <p:cNvPr id="187" name="object 18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334114" y="2298242"/>
              <a:ext cx="433082" cy="165595"/>
            </a:xfrm>
            <a:prstGeom prst="rect">
              <a:avLst/>
            </a:prstGeom>
          </p:spPr>
        </p:pic>
        <p:sp>
          <p:nvSpPr>
            <p:cNvPr id="188" name="object 188"/>
            <p:cNvSpPr/>
            <p:nvPr/>
          </p:nvSpPr>
          <p:spPr>
            <a:xfrm>
              <a:off x="5471642" y="214344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5471642" y="214344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0" name="object 19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489638" y="2148128"/>
              <a:ext cx="311035" cy="190436"/>
            </a:xfrm>
            <a:prstGeom prst="rect">
              <a:avLst/>
            </a:prstGeom>
          </p:spPr>
        </p:pic>
        <p:sp>
          <p:nvSpPr>
            <p:cNvPr id="191" name="object 191"/>
            <p:cNvSpPr/>
            <p:nvPr/>
          </p:nvSpPr>
          <p:spPr>
            <a:xfrm>
              <a:off x="5470194" y="213696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5754598" y="216755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C4C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5464086" y="237708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5473801" y="238968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E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5471642" y="239615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5500801" y="239759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E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7" name="object 19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200" spc="50" dirty="0">
                <a:solidFill>
                  <a:srgbClr val="8A8A8A"/>
                </a:solidFill>
                <a:latin typeface="Trebuchet MS"/>
                <a:cs typeface="Trebuchet MS"/>
              </a:rPr>
              <a:t>Introductio</a:t>
            </a:r>
            <a:r>
              <a:rPr sz="1800" spc="75" baseline="-6944" dirty="0">
                <a:solidFill>
                  <a:srgbClr val="8A8A8A"/>
                </a:solidFill>
                <a:latin typeface="Trebuchet MS"/>
                <a:cs typeface="Trebuchet MS"/>
              </a:rPr>
              <a:t>1-</a:t>
            </a:r>
            <a:fld id="{81D60167-4931-47E6-BA6A-407CBD079E47}" type="slidenum">
              <a:rPr sz="1800" spc="127" baseline="-6944" dirty="0">
                <a:solidFill>
                  <a:srgbClr val="8A8A8A"/>
                </a:solidFill>
                <a:latin typeface="Trebuchet MS"/>
                <a:cs typeface="Trebuchet MS"/>
              </a:rPr>
              <a:t>12</a:t>
            </a:fld>
            <a:endParaRPr sz="1800" baseline="-6944">
              <a:latin typeface="Trebuchet MS"/>
              <a:cs typeface="Trebuchet MS"/>
            </a:endParaRPr>
          </a:p>
          <a:p>
            <a:pPr marL="377190">
              <a:lnSpc>
                <a:spcPct val="100000"/>
              </a:lnSpc>
            </a:pPr>
            <a:r>
              <a:rPr sz="1200" spc="60" dirty="0">
                <a:solidFill>
                  <a:srgbClr val="8A8A8A"/>
                </a:solidFill>
                <a:latin typeface="Trebuchet MS"/>
                <a:cs typeface="Trebuchet MS"/>
              </a:rPr>
              <a:t>n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7621" y="305904"/>
            <a:ext cx="80308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none" spc="215" dirty="0">
                <a:solidFill>
                  <a:srgbClr val="000000"/>
                </a:solidFill>
                <a:latin typeface="Trebuchet MS"/>
                <a:cs typeface="Trebuchet MS"/>
              </a:rPr>
              <a:t>What’s</a:t>
            </a:r>
            <a:r>
              <a:rPr sz="3600" u="none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3600" u="none" spc="175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3600" u="none" spc="6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3600" u="none" spc="114" dirty="0">
                <a:solidFill>
                  <a:srgbClr val="000000"/>
                </a:solidFill>
                <a:latin typeface="Trebuchet MS"/>
                <a:cs typeface="Trebuchet MS"/>
              </a:rPr>
              <a:t>Internet:</a:t>
            </a:r>
            <a:r>
              <a:rPr sz="3600" u="none" spc="7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3600" u="none" spc="300" dirty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sz="3600" u="none" spc="6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3600" u="none" spc="200" dirty="0">
                <a:solidFill>
                  <a:srgbClr val="000000"/>
                </a:solidFill>
                <a:latin typeface="Trebuchet MS"/>
                <a:cs typeface="Trebuchet MS"/>
              </a:rPr>
              <a:t>service</a:t>
            </a:r>
            <a:r>
              <a:rPr sz="3600" u="none" spc="6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3600" u="none" spc="180" dirty="0">
                <a:solidFill>
                  <a:srgbClr val="000000"/>
                </a:solidFill>
                <a:latin typeface="Trebuchet MS"/>
                <a:cs typeface="Trebuchet MS"/>
              </a:rPr>
              <a:t>view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2056" y="1720697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CC0000"/>
                </a:solidFill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8657" y="1676833"/>
            <a:ext cx="3274695" cy="311848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395605" algn="just">
              <a:lnSpc>
                <a:spcPts val="2880"/>
              </a:lnSpc>
              <a:spcBef>
                <a:spcPts val="280"/>
              </a:spcBef>
            </a:pPr>
            <a:r>
              <a:rPr sz="2450" i="1" spc="-30" dirty="0">
                <a:solidFill>
                  <a:srgbClr val="CC0000"/>
                </a:solidFill>
                <a:latin typeface="Comic Sans MS"/>
                <a:cs typeface="Comic Sans MS"/>
              </a:rPr>
              <a:t>Infrastructure</a:t>
            </a:r>
            <a:r>
              <a:rPr sz="2450" i="1" spc="-75" dirty="0">
                <a:solidFill>
                  <a:srgbClr val="CC0000"/>
                </a:solidFill>
                <a:latin typeface="Comic Sans MS"/>
                <a:cs typeface="Comic Sans MS"/>
              </a:rPr>
              <a:t> </a:t>
            </a:r>
            <a:r>
              <a:rPr sz="2450" i="1" spc="-20" dirty="0">
                <a:solidFill>
                  <a:srgbClr val="CC0000"/>
                </a:solidFill>
                <a:latin typeface="Comic Sans MS"/>
                <a:cs typeface="Comic Sans MS"/>
              </a:rPr>
              <a:t>that provides</a:t>
            </a:r>
            <a:r>
              <a:rPr sz="2450" i="1" spc="-140" dirty="0">
                <a:solidFill>
                  <a:srgbClr val="CC0000"/>
                </a:solidFill>
                <a:latin typeface="Comic Sans MS"/>
                <a:cs typeface="Comic Sans MS"/>
              </a:rPr>
              <a:t> </a:t>
            </a:r>
            <a:r>
              <a:rPr sz="2450" i="1" spc="-10" dirty="0">
                <a:solidFill>
                  <a:srgbClr val="CC0000"/>
                </a:solidFill>
                <a:latin typeface="Comic Sans MS"/>
                <a:cs typeface="Comic Sans MS"/>
              </a:rPr>
              <a:t>services</a:t>
            </a:r>
            <a:r>
              <a:rPr sz="2450" i="1" spc="-135" dirty="0">
                <a:solidFill>
                  <a:srgbClr val="CC0000"/>
                </a:solidFill>
                <a:latin typeface="Comic Sans MS"/>
                <a:cs typeface="Comic Sans MS"/>
              </a:rPr>
              <a:t> </a:t>
            </a:r>
            <a:r>
              <a:rPr sz="2450" i="1" spc="-25" dirty="0">
                <a:solidFill>
                  <a:srgbClr val="CC0000"/>
                </a:solidFill>
                <a:latin typeface="Comic Sans MS"/>
                <a:cs typeface="Comic Sans MS"/>
              </a:rPr>
              <a:t>to </a:t>
            </a:r>
            <a:r>
              <a:rPr sz="2450" i="1" spc="-10" dirty="0">
                <a:solidFill>
                  <a:srgbClr val="CC0000"/>
                </a:solidFill>
                <a:latin typeface="Comic Sans MS"/>
                <a:cs typeface="Comic Sans MS"/>
              </a:rPr>
              <a:t>applications:</a:t>
            </a:r>
            <a:endParaRPr sz="2450" dirty="0">
              <a:latin typeface="Comic Sans MS"/>
              <a:cs typeface="Comic Sans MS"/>
            </a:endParaRPr>
          </a:p>
          <a:p>
            <a:pPr marL="412115" marR="5080" indent="-279400">
              <a:lnSpc>
                <a:spcPct val="100000"/>
              </a:lnSpc>
              <a:spcBef>
                <a:spcPts val="465"/>
              </a:spcBef>
            </a:pPr>
            <a:r>
              <a:rPr sz="3600" baseline="3472" dirty="0">
                <a:latin typeface="Arial"/>
                <a:cs typeface="Arial"/>
              </a:rPr>
              <a:t>–</a:t>
            </a:r>
            <a:r>
              <a:rPr sz="3600" spc="209" baseline="3472" dirty="0">
                <a:latin typeface="Arial"/>
                <a:cs typeface="Arial"/>
              </a:rPr>
              <a:t> </a:t>
            </a:r>
            <a:r>
              <a:rPr sz="2400" dirty="0">
                <a:latin typeface="Comic Sans MS"/>
                <a:cs typeface="Comic Sans MS"/>
              </a:rPr>
              <a:t>Web,</a:t>
            </a:r>
            <a:r>
              <a:rPr sz="2400" spc="-5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VoIP,</a:t>
            </a:r>
            <a:r>
              <a:rPr sz="2400" spc="-4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email, </a:t>
            </a:r>
            <a:r>
              <a:rPr sz="2400" dirty="0">
                <a:latin typeface="Comic Sans MS"/>
                <a:cs typeface="Comic Sans MS"/>
              </a:rPr>
              <a:t>games,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e-commerce, </a:t>
            </a:r>
            <a:r>
              <a:rPr sz="2400" dirty="0">
                <a:latin typeface="Comic Sans MS"/>
                <a:cs typeface="Comic Sans MS"/>
              </a:rPr>
              <a:t>social</a:t>
            </a:r>
            <a:r>
              <a:rPr sz="2400" spc="-4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nets,</a:t>
            </a:r>
            <a:r>
              <a:rPr sz="2400" spc="-45" dirty="0">
                <a:latin typeface="Comic Sans MS"/>
                <a:cs typeface="Comic Sans MS"/>
              </a:rPr>
              <a:t> </a:t>
            </a:r>
            <a:r>
              <a:rPr sz="2400" spc="-50" dirty="0">
                <a:latin typeface="Comic Sans MS"/>
                <a:cs typeface="Comic Sans MS"/>
              </a:rPr>
              <a:t>…</a:t>
            </a:r>
            <a:endParaRPr sz="2400" dirty="0">
              <a:latin typeface="Comic Sans MS"/>
              <a:cs typeface="Comic Sans MS"/>
            </a:endParaRPr>
          </a:p>
          <a:p>
            <a:pPr marL="12700" marR="155575">
              <a:lnSpc>
                <a:spcPts val="2880"/>
              </a:lnSpc>
              <a:spcBef>
                <a:spcPts val="745"/>
              </a:spcBef>
            </a:pPr>
            <a:r>
              <a:rPr sz="2450" i="1" spc="-20" dirty="0">
                <a:solidFill>
                  <a:srgbClr val="CC0000"/>
                </a:solidFill>
                <a:latin typeface="Comic Sans MS"/>
                <a:cs typeface="Comic Sans MS"/>
              </a:rPr>
              <a:t>provides</a:t>
            </a:r>
            <a:r>
              <a:rPr sz="2450" i="1" spc="-105" dirty="0">
                <a:solidFill>
                  <a:srgbClr val="CC0000"/>
                </a:solidFill>
                <a:latin typeface="Comic Sans MS"/>
                <a:cs typeface="Comic Sans MS"/>
              </a:rPr>
              <a:t> </a:t>
            </a:r>
            <a:r>
              <a:rPr sz="2450" i="1" spc="-35" dirty="0">
                <a:solidFill>
                  <a:srgbClr val="CC0000"/>
                </a:solidFill>
                <a:latin typeface="Comic Sans MS"/>
                <a:cs typeface="Comic Sans MS"/>
              </a:rPr>
              <a:t>programming </a:t>
            </a:r>
            <a:r>
              <a:rPr sz="2450" i="1" spc="-20" dirty="0">
                <a:solidFill>
                  <a:srgbClr val="CC0000"/>
                </a:solidFill>
                <a:latin typeface="Comic Sans MS"/>
                <a:cs typeface="Comic Sans MS"/>
              </a:rPr>
              <a:t>interface</a:t>
            </a:r>
            <a:r>
              <a:rPr sz="2450" i="1" spc="-105" dirty="0">
                <a:solidFill>
                  <a:srgbClr val="CC0000"/>
                </a:solidFill>
                <a:latin typeface="Comic Sans MS"/>
                <a:cs typeface="Comic Sans MS"/>
              </a:rPr>
              <a:t> </a:t>
            </a:r>
            <a:r>
              <a:rPr sz="2450" i="1" dirty="0">
                <a:solidFill>
                  <a:srgbClr val="CC0000"/>
                </a:solidFill>
                <a:latin typeface="Comic Sans MS"/>
                <a:cs typeface="Comic Sans MS"/>
              </a:rPr>
              <a:t>to</a:t>
            </a:r>
            <a:r>
              <a:rPr sz="2450" i="1" spc="-105" dirty="0">
                <a:solidFill>
                  <a:srgbClr val="CC0000"/>
                </a:solidFill>
                <a:latin typeface="Comic Sans MS"/>
                <a:cs typeface="Comic Sans MS"/>
              </a:rPr>
              <a:t> </a:t>
            </a:r>
            <a:r>
              <a:rPr sz="2450" i="1" spc="-20" dirty="0">
                <a:solidFill>
                  <a:srgbClr val="CC0000"/>
                </a:solidFill>
                <a:latin typeface="Comic Sans MS"/>
                <a:cs typeface="Comic Sans MS"/>
              </a:rPr>
              <a:t>apps</a:t>
            </a:r>
            <a:endParaRPr sz="2450" dirty="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2056" y="4068978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CC0000"/>
                </a:solidFill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6036" y="782269"/>
            <a:ext cx="6548399" cy="173164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6968883" y="353843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167439" y="172044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5423039" y="2940037"/>
            <a:ext cx="2774950" cy="2668905"/>
            <a:chOff x="5423039" y="2940037"/>
            <a:chExt cx="2774950" cy="2668905"/>
          </a:xfrm>
        </p:grpSpPr>
        <p:sp>
          <p:nvSpPr>
            <p:cNvPr id="10" name="object 10"/>
            <p:cNvSpPr/>
            <p:nvPr/>
          </p:nvSpPr>
          <p:spPr>
            <a:xfrm>
              <a:off x="5477039" y="3249358"/>
              <a:ext cx="979805" cy="662305"/>
            </a:xfrm>
            <a:custGeom>
              <a:avLst/>
              <a:gdLst/>
              <a:ahLst/>
              <a:cxnLst/>
              <a:rect l="l" t="t" r="r" b="b"/>
              <a:pathLst>
                <a:path w="979804" h="662304">
                  <a:moveTo>
                    <a:pt x="979195" y="0"/>
                  </a:moveTo>
                  <a:lnTo>
                    <a:pt x="0" y="0"/>
                  </a:lnTo>
                  <a:lnTo>
                    <a:pt x="0" y="662038"/>
                  </a:lnTo>
                  <a:lnTo>
                    <a:pt x="489597" y="662038"/>
                  </a:lnTo>
                  <a:lnTo>
                    <a:pt x="979195" y="662038"/>
                  </a:lnTo>
                  <a:lnTo>
                    <a:pt x="979195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361275" y="3824274"/>
              <a:ext cx="155575" cy="113030"/>
            </a:xfrm>
            <a:custGeom>
              <a:avLst/>
              <a:gdLst/>
              <a:ahLst/>
              <a:cxnLst/>
              <a:rect l="l" t="t" r="r" b="b"/>
              <a:pathLst>
                <a:path w="155575" h="113029">
                  <a:moveTo>
                    <a:pt x="0" y="0"/>
                  </a:moveTo>
                  <a:lnTo>
                    <a:pt x="155524" y="112687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521104" y="3745077"/>
              <a:ext cx="189230" cy="0"/>
            </a:xfrm>
            <a:custGeom>
              <a:avLst/>
              <a:gdLst/>
              <a:ahLst/>
              <a:cxnLst/>
              <a:rect l="l" t="t" r="r" b="b"/>
              <a:pathLst>
                <a:path w="189229">
                  <a:moveTo>
                    <a:pt x="0" y="0"/>
                  </a:moveTo>
                  <a:lnTo>
                    <a:pt x="189014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694637" y="3822484"/>
              <a:ext cx="127635" cy="113030"/>
            </a:xfrm>
            <a:custGeom>
              <a:avLst/>
              <a:gdLst/>
              <a:ahLst/>
              <a:cxnLst/>
              <a:rect l="l" t="t" r="r" b="b"/>
              <a:pathLst>
                <a:path w="127634" h="113029">
                  <a:moveTo>
                    <a:pt x="0" y="112674"/>
                  </a:moveTo>
                  <a:lnTo>
                    <a:pt x="127076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92874" y="3751198"/>
              <a:ext cx="655320" cy="0"/>
            </a:xfrm>
            <a:custGeom>
              <a:avLst/>
              <a:gdLst/>
              <a:ahLst/>
              <a:cxnLst/>
              <a:rect l="l" t="t" r="r" b="b"/>
              <a:pathLst>
                <a:path w="655320">
                  <a:moveTo>
                    <a:pt x="0" y="0"/>
                  </a:moveTo>
                  <a:lnTo>
                    <a:pt x="654837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002434" y="4970157"/>
              <a:ext cx="189230" cy="532130"/>
            </a:xfrm>
            <a:custGeom>
              <a:avLst/>
              <a:gdLst/>
              <a:ahLst/>
              <a:cxnLst/>
              <a:rect l="l" t="t" r="r" b="b"/>
              <a:pathLst>
                <a:path w="189229" h="532129">
                  <a:moveTo>
                    <a:pt x="0" y="531723"/>
                  </a:moveTo>
                  <a:lnTo>
                    <a:pt x="131762" y="0"/>
                  </a:lnTo>
                </a:path>
                <a:path w="189229" h="532129">
                  <a:moveTo>
                    <a:pt x="82803" y="214566"/>
                  </a:moveTo>
                  <a:lnTo>
                    <a:pt x="189001" y="214566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702475" y="4687557"/>
              <a:ext cx="1003935" cy="206375"/>
            </a:xfrm>
            <a:custGeom>
              <a:avLst/>
              <a:gdLst/>
              <a:ahLst/>
              <a:cxnLst/>
              <a:rect l="l" t="t" r="r" b="b"/>
              <a:pathLst>
                <a:path w="1003934" h="206375">
                  <a:moveTo>
                    <a:pt x="620649" y="20878"/>
                  </a:moveTo>
                  <a:lnTo>
                    <a:pt x="1003325" y="197281"/>
                  </a:lnTo>
                </a:path>
                <a:path w="1003934" h="206375">
                  <a:moveTo>
                    <a:pt x="0" y="206286"/>
                  </a:moveTo>
                  <a:lnTo>
                    <a:pt x="314286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19468" y="4987797"/>
              <a:ext cx="889635" cy="0"/>
            </a:xfrm>
            <a:custGeom>
              <a:avLst/>
              <a:gdLst/>
              <a:ahLst/>
              <a:cxnLst/>
              <a:rect l="l" t="t" r="r" b="b"/>
              <a:pathLst>
                <a:path w="889634">
                  <a:moveTo>
                    <a:pt x="0" y="0"/>
                  </a:moveTo>
                  <a:lnTo>
                    <a:pt x="889571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807163" y="3533762"/>
              <a:ext cx="1397000" cy="1792605"/>
            </a:xfrm>
            <a:custGeom>
              <a:avLst/>
              <a:gdLst/>
              <a:ahLst/>
              <a:cxnLst/>
              <a:rect l="l" t="t" r="r" b="b"/>
              <a:pathLst>
                <a:path w="1397000" h="1792604">
                  <a:moveTo>
                    <a:pt x="258838" y="1251000"/>
                  </a:moveTo>
                  <a:lnTo>
                    <a:pt x="514438" y="1328762"/>
                  </a:lnTo>
                </a:path>
                <a:path w="1397000" h="1792604">
                  <a:moveTo>
                    <a:pt x="0" y="1587233"/>
                  </a:moveTo>
                  <a:lnTo>
                    <a:pt x="404634" y="1452232"/>
                  </a:lnTo>
                </a:path>
                <a:path w="1397000" h="1792604">
                  <a:moveTo>
                    <a:pt x="568071" y="1548002"/>
                  </a:moveTo>
                  <a:lnTo>
                    <a:pt x="417601" y="1738439"/>
                  </a:lnTo>
                </a:path>
                <a:path w="1397000" h="1792604">
                  <a:moveTo>
                    <a:pt x="820800" y="1747443"/>
                  </a:moveTo>
                  <a:lnTo>
                    <a:pt x="737996" y="1566354"/>
                  </a:lnTo>
                </a:path>
                <a:path w="1397000" h="1792604">
                  <a:moveTo>
                    <a:pt x="901433" y="1530362"/>
                  </a:moveTo>
                  <a:lnTo>
                    <a:pt x="1396796" y="1792439"/>
                  </a:lnTo>
                </a:path>
                <a:path w="1397000" h="1792604">
                  <a:moveTo>
                    <a:pt x="439559" y="0"/>
                  </a:moveTo>
                  <a:lnTo>
                    <a:pt x="439559" y="123837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51442" y="3742023"/>
              <a:ext cx="168275" cy="0"/>
            </a:xfrm>
            <a:custGeom>
              <a:avLst/>
              <a:gdLst/>
              <a:ahLst/>
              <a:cxnLst/>
              <a:rect l="l" t="t" r="r" b="b"/>
              <a:pathLst>
                <a:path w="168275">
                  <a:moveTo>
                    <a:pt x="0" y="0"/>
                  </a:moveTo>
                  <a:lnTo>
                    <a:pt x="167747" y="0"/>
                  </a:lnTo>
                </a:path>
              </a:pathLst>
            </a:custGeom>
            <a:ln w="205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237437" y="2944799"/>
              <a:ext cx="727075" cy="1577975"/>
            </a:xfrm>
            <a:custGeom>
              <a:avLst/>
              <a:gdLst/>
              <a:ahLst/>
              <a:cxnLst/>
              <a:rect l="l" t="t" r="r" b="b"/>
              <a:pathLst>
                <a:path w="727075" h="1577975">
                  <a:moveTo>
                    <a:pt x="726846" y="0"/>
                  </a:moveTo>
                  <a:lnTo>
                    <a:pt x="607682" y="719277"/>
                  </a:lnTo>
                </a:path>
                <a:path w="727075" h="1577975">
                  <a:moveTo>
                    <a:pt x="0" y="1577886"/>
                  </a:moveTo>
                  <a:lnTo>
                    <a:pt x="218884" y="113364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40564" y="4544644"/>
              <a:ext cx="406082" cy="36503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23039" y="4965483"/>
              <a:ext cx="474484" cy="39815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00762" y="5266791"/>
              <a:ext cx="419036" cy="34164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15277" y="5249519"/>
              <a:ext cx="419036" cy="342722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7364872" y="4008240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h="9525">
                  <a:moveTo>
                    <a:pt x="0" y="0"/>
                  </a:moveTo>
                  <a:lnTo>
                    <a:pt x="0" y="9359"/>
                  </a:lnTo>
                </a:path>
              </a:pathLst>
            </a:custGeom>
            <a:ln w="43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67028" y="3998899"/>
              <a:ext cx="472668" cy="6191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365606" y="392255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455408" y="3949737"/>
              <a:ext cx="24130" cy="12700"/>
            </a:xfrm>
            <a:custGeom>
              <a:avLst/>
              <a:gdLst/>
              <a:ahLst/>
              <a:cxnLst/>
              <a:rect l="l" t="t" r="r" b="b"/>
              <a:pathLst>
                <a:path w="24129" h="12700">
                  <a:moveTo>
                    <a:pt x="23774" y="6299"/>
                  </a:moveTo>
                  <a:lnTo>
                    <a:pt x="21920" y="1854"/>
                  </a:lnTo>
                  <a:lnTo>
                    <a:pt x="17475" y="0"/>
                  </a:lnTo>
                  <a:lnTo>
                    <a:pt x="13017" y="1854"/>
                  </a:lnTo>
                  <a:lnTo>
                    <a:pt x="11887" y="4572"/>
                  </a:lnTo>
                  <a:lnTo>
                    <a:pt x="10756" y="1854"/>
                  </a:lnTo>
                  <a:lnTo>
                    <a:pt x="6311" y="0"/>
                  </a:lnTo>
                  <a:lnTo>
                    <a:pt x="1854" y="1854"/>
                  </a:lnTo>
                  <a:lnTo>
                    <a:pt x="0" y="6299"/>
                  </a:lnTo>
                  <a:lnTo>
                    <a:pt x="1854" y="10756"/>
                  </a:lnTo>
                  <a:lnTo>
                    <a:pt x="6311" y="12611"/>
                  </a:lnTo>
                  <a:lnTo>
                    <a:pt x="10756" y="10756"/>
                  </a:lnTo>
                  <a:lnTo>
                    <a:pt x="11887" y="8051"/>
                  </a:lnTo>
                  <a:lnTo>
                    <a:pt x="13017" y="10756"/>
                  </a:lnTo>
                  <a:lnTo>
                    <a:pt x="17475" y="12611"/>
                  </a:lnTo>
                  <a:lnTo>
                    <a:pt x="21920" y="10756"/>
                  </a:lnTo>
                  <a:lnTo>
                    <a:pt x="23774" y="6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367396" y="3984485"/>
              <a:ext cx="476884" cy="84455"/>
            </a:xfrm>
            <a:custGeom>
              <a:avLst/>
              <a:gdLst/>
              <a:ahLst/>
              <a:cxnLst/>
              <a:rect l="l" t="t" r="r" b="b"/>
              <a:pathLst>
                <a:path w="476884" h="84454">
                  <a:moveTo>
                    <a:pt x="0" y="0"/>
                  </a:moveTo>
                  <a:lnTo>
                    <a:pt x="0" y="82791"/>
                  </a:lnTo>
                </a:path>
                <a:path w="476884" h="84454">
                  <a:moveTo>
                    <a:pt x="476288" y="5029"/>
                  </a:moveTo>
                  <a:lnTo>
                    <a:pt x="476288" y="84239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045556" y="3725995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h="9525">
                  <a:moveTo>
                    <a:pt x="0" y="0"/>
                  </a:moveTo>
                  <a:lnTo>
                    <a:pt x="0" y="9359"/>
                  </a:lnTo>
                </a:path>
              </a:pathLst>
            </a:custGeom>
            <a:ln w="43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47712" y="3719537"/>
              <a:ext cx="473392" cy="62268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046645" y="364139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137171" y="3670375"/>
              <a:ext cx="23495" cy="12700"/>
            </a:xfrm>
            <a:custGeom>
              <a:avLst/>
              <a:gdLst/>
              <a:ahLst/>
              <a:cxnLst/>
              <a:rect l="l" t="t" r="r" b="b"/>
              <a:pathLst>
                <a:path w="23495" h="12700">
                  <a:moveTo>
                    <a:pt x="23406" y="6299"/>
                  </a:moveTo>
                  <a:lnTo>
                    <a:pt x="21551" y="1854"/>
                  </a:lnTo>
                  <a:lnTo>
                    <a:pt x="17106" y="0"/>
                  </a:lnTo>
                  <a:lnTo>
                    <a:pt x="12649" y="1854"/>
                  </a:lnTo>
                  <a:lnTo>
                    <a:pt x="11696" y="4127"/>
                  </a:lnTo>
                  <a:lnTo>
                    <a:pt x="10756" y="1854"/>
                  </a:lnTo>
                  <a:lnTo>
                    <a:pt x="6311" y="0"/>
                  </a:lnTo>
                  <a:lnTo>
                    <a:pt x="1854" y="1854"/>
                  </a:lnTo>
                  <a:lnTo>
                    <a:pt x="0" y="6299"/>
                  </a:lnTo>
                  <a:lnTo>
                    <a:pt x="1854" y="10756"/>
                  </a:lnTo>
                  <a:lnTo>
                    <a:pt x="6311" y="12611"/>
                  </a:lnTo>
                  <a:lnTo>
                    <a:pt x="10756" y="10756"/>
                  </a:lnTo>
                  <a:lnTo>
                    <a:pt x="11696" y="8483"/>
                  </a:lnTo>
                  <a:lnTo>
                    <a:pt x="12649" y="10756"/>
                  </a:lnTo>
                  <a:lnTo>
                    <a:pt x="17106" y="12611"/>
                  </a:lnTo>
                  <a:lnTo>
                    <a:pt x="21551" y="10756"/>
                  </a:lnTo>
                  <a:lnTo>
                    <a:pt x="23406" y="6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048080" y="3704043"/>
              <a:ext cx="476884" cy="86360"/>
            </a:xfrm>
            <a:custGeom>
              <a:avLst/>
              <a:gdLst/>
              <a:ahLst/>
              <a:cxnLst/>
              <a:rect l="l" t="t" r="r" b="b"/>
              <a:pathLst>
                <a:path w="476884" h="86360">
                  <a:moveTo>
                    <a:pt x="0" y="0"/>
                  </a:moveTo>
                  <a:lnTo>
                    <a:pt x="0" y="81356"/>
                  </a:lnTo>
                </a:path>
                <a:path w="476884" h="86360">
                  <a:moveTo>
                    <a:pt x="476643" y="4673"/>
                  </a:moveTo>
                  <a:lnTo>
                    <a:pt x="476643" y="86029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707601" y="3740042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h="9525">
                  <a:moveTo>
                    <a:pt x="0" y="0"/>
                  </a:moveTo>
                  <a:lnTo>
                    <a:pt x="0" y="9359"/>
                  </a:lnTo>
                </a:path>
              </a:pathLst>
            </a:custGeom>
            <a:ln w="50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10118" y="3730688"/>
              <a:ext cx="471589" cy="61912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7708683" y="365436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799209" y="3682974"/>
              <a:ext cx="22860" cy="12700"/>
            </a:xfrm>
            <a:custGeom>
              <a:avLst/>
              <a:gdLst/>
              <a:ahLst/>
              <a:cxnLst/>
              <a:rect l="l" t="t" r="r" b="b"/>
              <a:pathLst>
                <a:path w="22859" h="12700">
                  <a:moveTo>
                    <a:pt x="22694" y="6299"/>
                  </a:moveTo>
                  <a:lnTo>
                    <a:pt x="20840" y="1854"/>
                  </a:lnTo>
                  <a:lnTo>
                    <a:pt x="16395" y="0"/>
                  </a:lnTo>
                  <a:lnTo>
                    <a:pt x="11938" y="1854"/>
                  </a:lnTo>
                  <a:lnTo>
                    <a:pt x="11341" y="3276"/>
                  </a:lnTo>
                  <a:lnTo>
                    <a:pt x="10756" y="1854"/>
                  </a:lnTo>
                  <a:lnTo>
                    <a:pt x="6311" y="0"/>
                  </a:lnTo>
                  <a:lnTo>
                    <a:pt x="1854" y="1854"/>
                  </a:lnTo>
                  <a:lnTo>
                    <a:pt x="0" y="6299"/>
                  </a:lnTo>
                  <a:lnTo>
                    <a:pt x="1854" y="10756"/>
                  </a:lnTo>
                  <a:lnTo>
                    <a:pt x="6311" y="12611"/>
                  </a:lnTo>
                  <a:lnTo>
                    <a:pt x="10756" y="10756"/>
                  </a:lnTo>
                  <a:lnTo>
                    <a:pt x="11341" y="9347"/>
                  </a:lnTo>
                  <a:lnTo>
                    <a:pt x="11938" y="10756"/>
                  </a:lnTo>
                  <a:lnTo>
                    <a:pt x="16395" y="12611"/>
                  </a:lnTo>
                  <a:lnTo>
                    <a:pt x="20840" y="10756"/>
                  </a:lnTo>
                  <a:lnTo>
                    <a:pt x="22694" y="6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710119" y="3716273"/>
              <a:ext cx="476884" cy="84455"/>
            </a:xfrm>
            <a:custGeom>
              <a:avLst/>
              <a:gdLst/>
              <a:ahLst/>
              <a:cxnLst/>
              <a:rect l="l" t="t" r="r" b="b"/>
              <a:pathLst>
                <a:path w="476884" h="84454">
                  <a:moveTo>
                    <a:pt x="0" y="0"/>
                  </a:moveTo>
                  <a:lnTo>
                    <a:pt x="0" y="82448"/>
                  </a:lnTo>
                </a:path>
                <a:path w="476884" h="84454">
                  <a:moveTo>
                    <a:pt x="476643" y="4686"/>
                  </a:moveTo>
                  <a:lnTo>
                    <a:pt x="476643" y="84251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928373" y="4619885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h="9525">
                  <a:moveTo>
                    <a:pt x="0" y="0"/>
                  </a:moveTo>
                  <a:lnTo>
                    <a:pt x="0" y="9359"/>
                  </a:lnTo>
                </a:path>
              </a:pathLst>
            </a:custGeom>
            <a:ln w="46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30707" y="4608372"/>
              <a:ext cx="604799" cy="76314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927837" y="451619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045007" y="4550943"/>
              <a:ext cx="26670" cy="12700"/>
            </a:xfrm>
            <a:custGeom>
              <a:avLst/>
              <a:gdLst/>
              <a:ahLst/>
              <a:cxnLst/>
              <a:rect l="l" t="t" r="r" b="b"/>
              <a:pathLst>
                <a:path w="26670" h="12700">
                  <a:moveTo>
                    <a:pt x="12611" y="6299"/>
                  </a:moveTo>
                  <a:lnTo>
                    <a:pt x="10756" y="1854"/>
                  </a:lnTo>
                  <a:lnTo>
                    <a:pt x="6311" y="0"/>
                  </a:lnTo>
                  <a:lnTo>
                    <a:pt x="1854" y="1854"/>
                  </a:lnTo>
                  <a:lnTo>
                    <a:pt x="0" y="6299"/>
                  </a:lnTo>
                  <a:lnTo>
                    <a:pt x="1854" y="10756"/>
                  </a:lnTo>
                  <a:lnTo>
                    <a:pt x="6311" y="12611"/>
                  </a:lnTo>
                  <a:lnTo>
                    <a:pt x="10756" y="10756"/>
                  </a:lnTo>
                  <a:lnTo>
                    <a:pt x="12611" y="6299"/>
                  </a:lnTo>
                  <a:close/>
                </a:path>
                <a:path w="26670" h="12700">
                  <a:moveTo>
                    <a:pt x="26657" y="6299"/>
                  </a:moveTo>
                  <a:lnTo>
                    <a:pt x="24803" y="1854"/>
                  </a:lnTo>
                  <a:lnTo>
                    <a:pt x="20358" y="0"/>
                  </a:lnTo>
                  <a:lnTo>
                    <a:pt x="15900" y="1854"/>
                  </a:lnTo>
                  <a:lnTo>
                    <a:pt x="14046" y="6299"/>
                  </a:lnTo>
                  <a:lnTo>
                    <a:pt x="15900" y="10756"/>
                  </a:lnTo>
                  <a:lnTo>
                    <a:pt x="20358" y="12611"/>
                  </a:lnTo>
                  <a:lnTo>
                    <a:pt x="24803" y="10756"/>
                  </a:lnTo>
                  <a:lnTo>
                    <a:pt x="26657" y="6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930719" y="4591075"/>
              <a:ext cx="608965" cy="101600"/>
            </a:xfrm>
            <a:custGeom>
              <a:avLst/>
              <a:gdLst/>
              <a:ahLst/>
              <a:cxnLst/>
              <a:rect l="l" t="t" r="r" b="b"/>
              <a:pathLst>
                <a:path w="608965" h="101600">
                  <a:moveTo>
                    <a:pt x="0" y="0"/>
                  </a:moveTo>
                  <a:lnTo>
                    <a:pt x="0" y="100088"/>
                  </a:lnTo>
                </a:path>
                <a:path w="608965" h="101600">
                  <a:moveTo>
                    <a:pt x="608393" y="4686"/>
                  </a:moveTo>
                  <a:lnTo>
                    <a:pt x="608393" y="101523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560179" y="4918322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h="9525">
                  <a:moveTo>
                    <a:pt x="0" y="0"/>
                  </a:moveTo>
                  <a:lnTo>
                    <a:pt x="0" y="9359"/>
                  </a:lnTo>
                </a:path>
              </a:pathLst>
            </a:custGeom>
            <a:ln w="4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562519" y="4906810"/>
              <a:ext cx="603351" cy="76314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7561084" y="481464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676807" y="4849380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12611" y="6299"/>
                  </a:moveTo>
                  <a:lnTo>
                    <a:pt x="10756" y="1854"/>
                  </a:lnTo>
                  <a:lnTo>
                    <a:pt x="6311" y="0"/>
                  </a:lnTo>
                  <a:lnTo>
                    <a:pt x="1854" y="1854"/>
                  </a:lnTo>
                  <a:lnTo>
                    <a:pt x="0" y="6299"/>
                  </a:lnTo>
                  <a:lnTo>
                    <a:pt x="1854" y="10756"/>
                  </a:lnTo>
                  <a:lnTo>
                    <a:pt x="6311" y="12611"/>
                  </a:lnTo>
                  <a:lnTo>
                    <a:pt x="10756" y="10756"/>
                  </a:lnTo>
                  <a:lnTo>
                    <a:pt x="12611" y="6299"/>
                  </a:lnTo>
                  <a:close/>
                </a:path>
                <a:path w="27940" h="12700">
                  <a:moveTo>
                    <a:pt x="27736" y="6299"/>
                  </a:moveTo>
                  <a:lnTo>
                    <a:pt x="25882" y="1854"/>
                  </a:lnTo>
                  <a:lnTo>
                    <a:pt x="21437" y="0"/>
                  </a:lnTo>
                  <a:lnTo>
                    <a:pt x="16979" y="1854"/>
                  </a:lnTo>
                  <a:lnTo>
                    <a:pt x="15125" y="6299"/>
                  </a:lnTo>
                  <a:lnTo>
                    <a:pt x="16979" y="10756"/>
                  </a:lnTo>
                  <a:lnTo>
                    <a:pt x="21437" y="12611"/>
                  </a:lnTo>
                  <a:lnTo>
                    <a:pt x="25882" y="10756"/>
                  </a:lnTo>
                  <a:lnTo>
                    <a:pt x="27736" y="6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562519" y="4889525"/>
              <a:ext cx="608965" cy="101600"/>
            </a:xfrm>
            <a:custGeom>
              <a:avLst/>
              <a:gdLst/>
              <a:ahLst/>
              <a:cxnLst/>
              <a:rect l="l" t="t" r="r" b="b"/>
              <a:pathLst>
                <a:path w="608965" h="101600">
                  <a:moveTo>
                    <a:pt x="0" y="0"/>
                  </a:moveTo>
                  <a:lnTo>
                    <a:pt x="0" y="100075"/>
                  </a:lnTo>
                </a:path>
                <a:path w="608965" h="101600">
                  <a:moveTo>
                    <a:pt x="608406" y="4673"/>
                  </a:moveTo>
                  <a:lnTo>
                    <a:pt x="608406" y="101511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212157" y="4962239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h="9525">
                  <a:moveTo>
                    <a:pt x="0" y="0"/>
                  </a:moveTo>
                  <a:lnTo>
                    <a:pt x="0" y="9359"/>
                  </a:lnTo>
                </a:path>
              </a:pathLst>
            </a:custGeom>
            <a:ln w="43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214313" y="4951450"/>
              <a:ext cx="605155" cy="76314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6211798" y="485891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328968" y="4894021"/>
              <a:ext cx="24765" cy="12700"/>
            </a:xfrm>
            <a:custGeom>
              <a:avLst/>
              <a:gdLst/>
              <a:ahLst/>
              <a:cxnLst/>
              <a:rect l="l" t="t" r="r" b="b"/>
              <a:pathLst>
                <a:path w="24764" h="12700">
                  <a:moveTo>
                    <a:pt x="24485" y="6299"/>
                  </a:moveTo>
                  <a:lnTo>
                    <a:pt x="22631" y="1854"/>
                  </a:lnTo>
                  <a:lnTo>
                    <a:pt x="18186" y="0"/>
                  </a:lnTo>
                  <a:lnTo>
                    <a:pt x="13728" y="1854"/>
                  </a:lnTo>
                  <a:lnTo>
                    <a:pt x="12242" y="5422"/>
                  </a:lnTo>
                  <a:lnTo>
                    <a:pt x="10756" y="1854"/>
                  </a:lnTo>
                  <a:lnTo>
                    <a:pt x="6311" y="0"/>
                  </a:lnTo>
                  <a:lnTo>
                    <a:pt x="1854" y="1854"/>
                  </a:lnTo>
                  <a:lnTo>
                    <a:pt x="0" y="6299"/>
                  </a:lnTo>
                  <a:lnTo>
                    <a:pt x="1854" y="10756"/>
                  </a:lnTo>
                  <a:lnTo>
                    <a:pt x="6311" y="12611"/>
                  </a:lnTo>
                  <a:lnTo>
                    <a:pt x="10756" y="10756"/>
                  </a:lnTo>
                  <a:lnTo>
                    <a:pt x="12242" y="7188"/>
                  </a:lnTo>
                  <a:lnTo>
                    <a:pt x="13728" y="10756"/>
                  </a:lnTo>
                  <a:lnTo>
                    <a:pt x="18186" y="12611"/>
                  </a:lnTo>
                  <a:lnTo>
                    <a:pt x="22631" y="10756"/>
                  </a:lnTo>
                  <a:lnTo>
                    <a:pt x="24485" y="6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214681" y="4933797"/>
              <a:ext cx="608965" cy="102235"/>
            </a:xfrm>
            <a:custGeom>
              <a:avLst/>
              <a:gdLst/>
              <a:ahLst/>
              <a:cxnLst/>
              <a:rect l="l" t="t" r="r" b="b"/>
              <a:pathLst>
                <a:path w="608965" h="102235">
                  <a:moveTo>
                    <a:pt x="0" y="0"/>
                  </a:moveTo>
                  <a:lnTo>
                    <a:pt x="0" y="100088"/>
                  </a:lnTo>
                </a:path>
                <a:path w="608965" h="102235">
                  <a:moveTo>
                    <a:pt x="608393" y="5041"/>
                  </a:moveTo>
                  <a:lnTo>
                    <a:pt x="608393" y="101879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016856" y="3722757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h="9525">
                  <a:moveTo>
                    <a:pt x="0" y="0"/>
                  </a:moveTo>
                  <a:lnTo>
                    <a:pt x="0" y="9359"/>
                  </a:lnTo>
                </a:path>
              </a:pathLst>
            </a:custGeom>
            <a:ln w="46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019190" y="3715930"/>
              <a:ext cx="376199" cy="50749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6017755" y="365075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087402" y="3673258"/>
              <a:ext cx="22225" cy="12700"/>
            </a:xfrm>
            <a:custGeom>
              <a:avLst/>
              <a:gdLst/>
              <a:ahLst/>
              <a:cxnLst/>
              <a:rect l="l" t="t" r="r" b="b"/>
              <a:pathLst>
                <a:path w="22225" h="12700">
                  <a:moveTo>
                    <a:pt x="21971" y="6299"/>
                  </a:moveTo>
                  <a:lnTo>
                    <a:pt x="20116" y="1854"/>
                  </a:lnTo>
                  <a:lnTo>
                    <a:pt x="15671" y="0"/>
                  </a:lnTo>
                  <a:lnTo>
                    <a:pt x="11214" y="1854"/>
                  </a:lnTo>
                  <a:lnTo>
                    <a:pt x="10985" y="2413"/>
                  </a:lnTo>
                  <a:lnTo>
                    <a:pt x="10756" y="1854"/>
                  </a:lnTo>
                  <a:lnTo>
                    <a:pt x="6311" y="0"/>
                  </a:lnTo>
                  <a:lnTo>
                    <a:pt x="1854" y="1854"/>
                  </a:lnTo>
                  <a:lnTo>
                    <a:pt x="0" y="6299"/>
                  </a:lnTo>
                  <a:lnTo>
                    <a:pt x="1854" y="10756"/>
                  </a:lnTo>
                  <a:lnTo>
                    <a:pt x="6311" y="12611"/>
                  </a:lnTo>
                  <a:lnTo>
                    <a:pt x="10756" y="10756"/>
                  </a:lnTo>
                  <a:lnTo>
                    <a:pt x="10985" y="10210"/>
                  </a:lnTo>
                  <a:lnTo>
                    <a:pt x="11214" y="10756"/>
                  </a:lnTo>
                  <a:lnTo>
                    <a:pt x="15671" y="12611"/>
                  </a:lnTo>
                  <a:lnTo>
                    <a:pt x="20116" y="10756"/>
                  </a:lnTo>
                  <a:lnTo>
                    <a:pt x="21971" y="6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019558" y="3703675"/>
              <a:ext cx="381635" cy="68580"/>
            </a:xfrm>
            <a:custGeom>
              <a:avLst/>
              <a:gdLst/>
              <a:ahLst/>
              <a:cxnLst/>
              <a:rect l="l" t="t" r="r" b="b"/>
              <a:pathLst>
                <a:path w="381635" h="68579">
                  <a:moveTo>
                    <a:pt x="0" y="0"/>
                  </a:moveTo>
                  <a:lnTo>
                    <a:pt x="0" y="66598"/>
                  </a:lnTo>
                </a:path>
                <a:path w="381635" h="68579">
                  <a:moveTo>
                    <a:pt x="381241" y="3238"/>
                  </a:moveTo>
                  <a:lnTo>
                    <a:pt x="381241" y="68402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605563" y="3557168"/>
              <a:ext cx="361797" cy="298437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576760" y="3511080"/>
              <a:ext cx="498601" cy="96837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129436" y="5068442"/>
              <a:ext cx="403199" cy="358914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097763" y="5014429"/>
              <a:ext cx="555485" cy="119164"/>
            </a:xfrm>
            <a:prstGeom prst="rect">
              <a:avLst/>
            </a:prstGeom>
          </p:spPr>
        </p:pic>
      </p:grpSp>
      <p:sp>
        <p:nvSpPr>
          <p:cNvPr id="64" name="object 64"/>
          <p:cNvSpPr/>
          <p:nvPr/>
        </p:nvSpPr>
        <p:spPr>
          <a:xfrm>
            <a:off x="5243042" y="298620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5" name="object 65"/>
          <p:cNvGrpSpPr/>
          <p:nvPr/>
        </p:nvGrpSpPr>
        <p:grpSpPr>
          <a:xfrm>
            <a:off x="5578563" y="1556994"/>
            <a:ext cx="2905760" cy="1342390"/>
            <a:chOff x="5578563" y="1556994"/>
            <a:chExt cx="2905760" cy="1342390"/>
          </a:xfrm>
        </p:grpSpPr>
        <p:sp>
          <p:nvSpPr>
            <p:cNvPr id="66" name="object 66"/>
            <p:cNvSpPr/>
            <p:nvPr/>
          </p:nvSpPr>
          <p:spPr>
            <a:xfrm>
              <a:off x="6695274" y="2598839"/>
              <a:ext cx="474980" cy="0"/>
            </a:xfrm>
            <a:custGeom>
              <a:avLst/>
              <a:gdLst/>
              <a:ahLst/>
              <a:cxnLst/>
              <a:rect l="l" t="t" r="r" b="b"/>
              <a:pathLst>
                <a:path w="474979">
                  <a:moveTo>
                    <a:pt x="0" y="0"/>
                  </a:moveTo>
                  <a:lnTo>
                    <a:pt x="474840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254635" y="2414524"/>
              <a:ext cx="1543685" cy="447675"/>
            </a:xfrm>
            <a:custGeom>
              <a:avLst/>
              <a:gdLst/>
              <a:ahLst/>
              <a:cxnLst/>
              <a:rect l="l" t="t" r="r" b="b"/>
              <a:pathLst>
                <a:path w="1543684" h="447675">
                  <a:moveTo>
                    <a:pt x="0" y="0"/>
                  </a:moveTo>
                  <a:lnTo>
                    <a:pt x="144729" y="87477"/>
                  </a:lnTo>
                </a:path>
                <a:path w="1543684" h="447675">
                  <a:moveTo>
                    <a:pt x="1287729" y="176034"/>
                  </a:moveTo>
                  <a:lnTo>
                    <a:pt x="1403642" y="80632"/>
                  </a:lnTo>
                </a:path>
                <a:path w="1543684" h="447675">
                  <a:moveTo>
                    <a:pt x="1287729" y="447471"/>
                  </a:moveTo>
                  <a:lnTo>
                    <a:pt x="1543329" y="150482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61440" y="2878200"/>
              <a:ext cx="168275" cy="0"/>
            </a:xfrm>
            <a:custGeom>
              <a:avLst/>
              <a:gdLst/>
              <a:ahLst/>
              <a:cxnLst/>
              <a:rect l="l" t="t" r="r" b="b"/>
              <a:pathLst>
                <a:path w="168275">
                  <a:moveTo>
                    <a:pt x="0" y="0"/>
                  </a:moveTo>
                  <a:lnTo>
                    <a:pt x="167754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15477" y="2868485"/>
              <a:ext cx="170180" cy="0"/>
            </a:xfrm>
            <a:custGeom>
              <a:avLst/>
              <a:gdLst/>
              <a:ahLst/>
              <a:cxnLst/>
              <a:rect l="l" t="t" r="r" b="b"/>
              <a:pathLst>
                <a:path w="170179">
                  <a:moveTo>
                    <a:pt x="0" y="0"/>
                  </a:moveTo>
                  <a:lnTo>
                    <a:pt x="169557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307200" y="1731606"/>
              <a:ext cx="841324" cy="160197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737313" y="1614246"/>
              <a:ext cx="128524" cy="320395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578563" y="1556994"/>
              <a:ext cx="407885" cy="81000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7653594" y="2476074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h="9525">
                  <a:moveTo>
                    <a:pt x="0" y="0"/>
                  </a:moveTo>
                  <a:lnTo>
                    <a:pt x="0" y="9359"/>
                  </a:lnTo>
                </a:path>
              </a:pathLst>
            </a:custGeom>
            <a:ln w="43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55750" y="2471420"/>
              <a:ext cx="376199" cy="50749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7725765" y="2428735"/>
              <a:ext cx="20320" cy="12700"/>
            </a:xfrm>
            <a:custGeom>
              <a:avLst/>
              <a:gdLst/>
              <a:ahLst/>
              <a:cxnLst/>
              <a:rect l="l" t="t" r="r" b="b"/>
              <a:pathLst>
                <a:path w="20320" h="12700">
                  <a:moveTo>
                    <a:pt x="19812" y="6299"/>
                  </a:moveTo>
                  <a:lnTo>
                    <a:pt x="17957" y="1854"/>
                  </a:lnTo>
                  <a:lnTo>
                    <a:pt x="13512" y="0"/>
                  </a:lnTo>
                  <a:lnTo>
                    <a:pt x="9906" y="1511"/>
                  </a:lnTo>
                  <a:lnTo>
                    <a:pt x="6311" y="0"/>
                  </a:lnTo>
                  <a:lnTo>
                    <a:pt x="1854" y="1854"/>
                  </a:lnTo>
                  <a:lnTo>
                    <a:pt x="0" y="6299"/>
                  </a:lnTo>
                  <a:lnTo>
                    <a:pt x="1854" y="10756"/>
                  </a:lnTo>
                  <a:lnTo>
                    <a:pt x="6311" y="12611"/>
                  </a:lnTo>
                  <a:lnTo>
                    <a:pt x="9906" y="11112"/>
                  </a:lnTo>
                  <a:lnTo>
                    <a:pt x="13512" y="12611"/>
                  </a:lnTo>
                  <a:lnTo>
                    <a:pt x="17957" y="10756"/>
                  </a:lnTo>
                  <a:lnTo>
                    <a:pt x="19812" y="6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656118" y="2459164"/>
              <a:ext cx="381635" cy="69850"/>
            </a:xfrm>
            <a:custGeom>
              <a:avLst/>
              <a:gdLst/>
              <a:ahLst/>
              <a:cxnLst/>
              <a:rect l="l" t="t" r="r" b="b"/>
              <a:pathLst>
                <a:path w="381634" h="69850">
                  <a:moveTo>
                    <a:pt x="0" y="0"/>
                  </a:moveTo>
                  <a:lnTo>
                    <a:pt x="0" y="66598"/>
                  </a:lnTo>
                </a:path>
                <a:path w="381634" h="69850">
                  <a:moveTo>
                    <a:pt x="381241" y="2870"/>
                  </a:moveTo>
                  <a:lnTo>
                    <a:pt x="381241" y="69837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726854" y="2841478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h="9525">
                  <a:moveTo>
                    <a:pt x="0" y="0"/>
                  </a:moveTo>
                  <a:lnTo>
                    <a:pt x="0" y="9359"/>
                  </a:lnTo>
                </a:path>
              </a:pathLst>
            </a:custGeom>
            <a:ln w="4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729194" y="2835008"/>
              <a:ext cx="375831" cy="52197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7728114" y="276839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7798854" y="2792336"/>
              <a:ext cx="20320" cy="12700"/>
            </a:xfrm>
            <a:custGeom>
              <a:avLst/>
              <a:gdLst/>
              <a:ahLst/>
              <a:cxnLst/>
              <a:rect l="l" t="t" r="r" b="b"/>
              <a:pathLst>
                <a:path w="20320" h="12700">
                  <a:moveTo>
                    <a:pt x="19799" y="6299"/>
                  </a:moveTo>
                  <a:lnTo>
                    <a:pt x="17945" y="1854"/>
                  </a:lnTo>
                  <a:lnTo>
                    <a:pt x="13500" y="0"/>
                  </a:lnTo>
                  <a:lnTo>
                    <a:pt x="9893" y="1498"/>
                  </a:lnTo>
                  <a:lnTo>
                    <a:pt x="6311" y="0"/>
                  </a:lnTo>
                  <a:lnTo>
                    <a:pt x="1854" y="1854"/>
                  </a:lnTo>
                  <a:lnTo>
                    <a:pt x="0" y="6299"/>
                  </a:lnTo>
                  <a:lnTo>
                    <a:pt x="1854" y="10756"/>
                  </a:lnTo>
                  <a:lnTo>
                    <a:pt x="6311" y="12611"/>
                  </a:lnTo>
                  <a:lnTo>
                    <a:pt x="9893" y="11125"/>
                  </a:lnTo>
                  <a:lnTo>
                    <a:pt x="13500" y="12611"/>
                  </a:lnTo>
                  <a:lnTo>
                    <a:pt x="17945" y="10756"/>
                  </a:lnTo>
                  <a:lnTo>
                    <a:pt x="19799" y="6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7729194" y="2822397"/>
              <a:ext cx="381635" cy="71755"/>
            </a:xfrm>
            <a:custGeom>
              <a:avLst/>
              <a:gdLst/>
              <a:ahLst/>
              <a:cxnLst/>
              <a:rect l="l" t="t" r="r" b="b"/>
              <a:pathLst>
                <a:path w="381634" h="71755">
                  <a:moveTo>
                    <a:pt x="0" y="0"/>
                  </a:moveTo>
                  <a:lnTo>
                    <a:pt x="0" y="70205"/>
                  </a:lnTo>
                </a:path>
                <a:path w="381634" h="71755">
                  <a:moveTo>
                    <a:pt x="381241" y="3238"/>
                  </a:moveTo>
                  <a:lnTo>
                    <a:pt x="381241" y="7164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7167775" y="2575083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h="9525">
                  <a:moveTo>
                    <a:pt x="0" y="0"/>
                  </a:moveTo>
                  <a:lnTo>
                    <a:pt x="0" y="9359"/>
                  </a:lnTo>
                </a:path>
              </a:pathLst>
            </a:custGeom>
            <a:ln w="46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170115" y="2568257"/>
              <a:ext cx="376199" cy="50749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7168679" y="250524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238327" y="2527020"/>
              <a:ext cx="22225" cy="12700"/>
            </a:xfrm>
            <a:custGeom>
              <a:avLst/>
              <a:gdLst/>
              <a:ahLst/>
              <a:cxnLst/>
              <a:rect l="l" t="t" r="r" b="b"/>
              <a:pathLst>
                <a:path w="22225" h="12700">
                  <a:moveTo>
                    <a:pt x="21971" y="6299"/>
                  </a:moveTo>
                  <a:lnTo>
                    <a:pt x="20116" y="1854"/>
                  </a:lnTo>
                  <a:lnTo>
                    <a:pt x="15671" y="0"/>
                  </a:lnTo>
                  <a:lnTo>
                    <a:pt x="11214" y="1854"/>
                  </a:lnTo>
                  <a:lnTo>
                    <a:pt x="10985" y="2413"/>
                  </a:lnTo>
                  <a:lnTo>
                    <a:pt x="10756" y="1854"/>
                  </a:lnTo>
                  <a:lnTo>
                    <a:pt x="6311" y="0"/>
                  </a:lnTo>
                  <a:lnTo>
                    <a:pt x="1854" y="1854"/>
                  </a:lnTo>
                  <a:lnTo>
                    <a:pt x="0" y="6299"/>
                  </a:lnTo>
                  <a:lnTo>
                    <a:pt x="1854" y="10756"/>
                  </a:lnTo>
                  <a:lnTo>
                    <a:pt x="6311" y="12611"/>
                  </a:lnTo>
                  <a:lnTo>
                    <a:pt x="10756" y="10756"/>
                  </a:lnTo>
                  <a:lnTo>
                    <a:pt x="10985" y="10210"/>
                  </a:lnTo>
                  <a:lnTo>
                    <a:pt x="11214" y="10756"/>
                  </a:lnTo>
                  <a:lnTo>
                    <a:pt x="15671" y="12611"/>
                  </a:lnTo>
                  <a:lnTo>
                    <a:pt x="20116" y="10756"/>
                  </a:lnTo>
                  <a:lnTo>
                    <a:pt x="21971" y="6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170483" y="2557437"/>
              <a:ext cx="381635" cy="68580"/>
            </a:xfrm>
            <a:custGeom>
              <a:avLst/>
              <a:gdLst/>
              <a:ahLst/>
              <a:cxnLst/>
              <a:rect l="l" t="t" r="r" b="b"/>
              <a:pathLst>
                <a:path w="381634" h="68580">
                  <a:moveTo>
                    <a:pt x="0" y="0"/>
                  </a:moveTo>
                  <a:lnTo>
                    <a:pt x="0" y="66598"/>
                  </a:lnTo>
                </a:path>
                <a:path w="381634" h="68580">
                  <a:moveTo>
                    <a:pt x="381241" y="3238"/>
                  </a:moveTo>
                  <a:lnTo>
                    <a:pt x="381241" y="68402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178938" y="2838596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h="9525">
                  <a:moveTo>
                    <a:pt x="0" y="0"/>
                  </a:moveTo>
                  <a:lnTo>
                    <a:pt x="0" y="9359"/>
                  </a:lnTo>
                </a:path>
              </a:pathLst>
            </a:custGeom>
            <a:ln w="4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181278" y="2831782"/>
              <a:ext cx="376199" cy="50749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7179843" y="276876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249490" y="2790545"/>
              <a:ext cx="22225" cy="12700"/>
            </a:xfrm>
            <a:custGeom>
              <a:avLst/>
              <a:gdLst/>
              <a:ahLst/>
              <a:cxnLst/>
              <a:rect l="l" t="t" r="r" b="b"/>
              <a:pathLst>
                <a:path w="22225" h="12700">
                  <a:moveTo>
                    <a:pt x="21971" y="6299"/>
                  </a:moveTo>
                  <a:lnTo>
                    <a:pt x="20116" y="1854"/>
                  </a:lnTo>
                  <a:lnTo>
                    <a:pt x="15671" y="0"/>
                  </a:lnTo>
                  <a:lnTo>
                    <a:pt x="11214" y="1854"/>
                  </a:lnTo>
                  <a:lnTo>
                    <a:pt x="10985" y="2413"/>
                  </a:lnTo>
                  <a:lnTo>
                    <a:pt x="10756" y="1854"/>
                  </a:lnTo>
                  <a:lnTo>
                    <a:pt x="6311" y="0"/>
                  </a:lnTo>
                  <a:lnTo>
                    <a:pt x="1854" y="1854"/>
                  </a:lnTo>
                  <a:lnTo>
                    <a:pt x="0" y="6299"/>
                  </a:lnTo>
                  <a:lnTo>
                    <a:pt x="1854" y="10756"/>
                  </a:lnTo>
                  <a:lnTo>
                    <a:pt x="6311" y="12611"/>
                  </a:lnTo>
                  <a:lnTo>
                    <a:pt x="10756" y="10756"/>
                  </a:lnTo>
                  <a:lnTo>
                    <a:pt x="10985" y="10210"/>
                  </a:lnTo>
                  <a:lnTo>
                    <a:pt x="11214" y="10756"/>
                  </a:lnTo>
                  <a:lnTo>
                    <a:pt x="15671" y="12611"/>
                  </a:lnTo>
                  <a:lnTo>
                    <a:pt x="20116" y="10756"/>
                  </a:lnTo>
                  <a:lnTo>
                    <a:pt x="21971" y="6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181633" y="2820962"/>
              <a:ext cx="381635" cy="68580"/>
            </a:xfrm>
            <a:custGeom>
              <a:avLst/>
              <a:gdLst/>
              <a:ahLst/>
              <a:cxnLst/>
              <a:rect l="l" t="t" r="r" b="b"/>
              <a:pathLst>
                <a:path w="381634" h="68580">
                  <a:moveTo>
                    <a:pt x="0" y="0"/>
                  </a:moveTo>
                  <a:lnTo>
                    <a:pt x="0" y="66598"/>
                  </a:lnTo>
                </a:path>
                <a:path w="381634" h="68580">
                  <a:moveTo>
                    <a:pt x="381241" y="3238"/>
                  </a:moveTo>
                  <a:lnTo>
                    <a:pt x="381241" y="68402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8310600" y="2867037"/>
              <a:ext cx="168910" cy="0"/>
            </a:xfrm>
            <a:custGeom>
              <a:avLst/>
              <a:gdLst/>
              <a:ahLst/>
              <a:cxnLst/>
              <a:rect l="l" t="t" r="r" b="b"/>
              <a:pathLst>
                <a:path w="168909">
                  <a:moveTo>
                    <a:pt x="0" y="0"/>
                  </a:moveTo>
                  <a:lnTo>
                    <a:pt x="37439" y="0"/>
                  </a:lnTo>
                </a:path>
                <a:path w="168909">
                  <a:moveTo>
                    <a:pt x="65519" y="0"/>
                  </a:moveTo>
                  <a:lnTo>
                    <a:pt x="102958" y="0"/>
                  </a:lnTo>
                </a:path>
                <a:path w="168909">
                  <a:moveTo>
                    <a:pt x="131038" y="0"/>
                  </a:moveTo>
                  <a:lnTo>
                    <a:pt x="168478" y="0"/>
                  </a:lnTo>
                </a:path>
              </a:pathLst>
            </a:custGeom>
            <a:ln w="9359">
              <a:solidFill>
                <a:srgbClr val="EDEB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6316919" y="2568594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h="9525">
                  <a:moveTo>
                    <a:pt x="0" y="0"/>
                  </a:moveTo>
                  <a:lnTo>
                    <a:pt x="0" y="9359"/>
                  </a:lnTo>
                </a:path>
              </a:pathLst>
            </a:custGeom>
            <a:ln w="43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319075" y="2563571"/>
              <a:ext cx="376199" cy="50749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6318364" y="249839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6389090" y="2520543"/>
              <a:ext cx="20320" cy="12700"/>
            </a:xfrm>
            <a:custGeom>
              <a:avLst/>
              <a:gdLst/>
              <a:ahLst/>
              <a:cxnLst/>
              <a:rect l="l" t="t" r="r" b="b"/>
              <a:pathLst>
                <a:path w="20320" h="12700">
                  <a:moveTo>
                    <a:pt x="19812" y="6299"/>
                  </a:moveTo>
                  <a:lnTo>
                    <a:pt x="17957" y="1854"/>
                  </a:lnTo>
                  <a:lnTo>
                    <a:pt x="13512" y="0"/>
                  </a:lnTo>
                  <a:lnTo>
                    <a:pt x="9906" y="1511"/>
                  </a:lnTo>
                  <a:lnTo>
                    <a:pt x="6311" y="0"/>
                  </a:lnTo>
                  <a:lnTo>
                    <a:pt x="1854" y="1854"/>
                  </a:lnTo>
                  <a:lnTo>
                    <a:pt x="0" y="6299"/>
                  </a:lnTo>
                  <a:lnTo>
                    <a:pt x="1854" y="10756"/>
                  </a:lnTo>
                  <a:lnTo>
                    <a:pt x="6311" y="12611"/>
                  </a:lnTo>
                  <a:lnTo>
                    <a:pt x="9906" y="11112"/>
                  </a:lnTo>
                  <a:lnTo>
                    <a:pt x="13512" y="12611"/>
                  </a:lnTo>
                  <a:lnTo>
                    <a:pt x="17957" y="10756"/>
                  </a:lnTo>
                  <a:lnTo>
                    <a:pt x="19812" y="6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6319443" y="2549525"/>
              <a:ext cx="381635" cy="69850"/>
            </a:xfrm>
            <a:custGeom>
              <a:avLst/>
              <a:gdLst/>
              <a:ahLst/>
              <a:cxnLst/>
              <a:rect l="l" t="t" r="r" b="b"/>
              <a:pathLst>
                <a:path w="381634" h="69850">
                  <a:moveTo>
                    <a:pt x="0" y="0"/>
                  </a:moveTo>
                  <a:lnTo>
                    <a:pt x="0" y="66598"/>
                  </a:lnTo>
                </a:path>
                <a:path w="381634" h="69850">
                  <a:moveTo>
                    <a:pt x="381241" y="4673"/>
                  </a:moveTo>
                  <a:lnTo>
                    <a:pt x="381241" y="69837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097676" y="2023922"/>
              <a:ext cx="290195" cy="455930"/>
            </a:xfrm>
            <a:custGeom>
              <a:avLst/>
              <a:gdLst/>
              <a:ahLst/>
              <a:cxnLst/>
              <a:rect l="l" t="t" r="r" b="b"/>
              <a:pathLst>
                <a:path w="290195" h="455930">
                  <a:moveTo>
                    <a:pt x="148323" y="0"/>
                  </a:moveTo>
                  <a:lnTo>
                    <a:pt x="0" y="412915"/>
                  </a:lnTo>
                </a:path>
                <a:path w="290195" h="455930">
                  <a:moveTo>
                    <a:pt x="149758" y="0"/>
                  </a:moveTo>
                  <a:lnTo>
                    <a:pt x="282600" y="411480"/>
                  </a:lnTo>
                </a:path>
                <a:path w="290195" h="455930">
                  <a:moveTo>
                    <a:pt x="10807" y="417601"/>
                  </a:moveTo>
                  <a:lnTo>
                    <a:pt x="143649" y="455752"/>
                  </a:lnTo>
                </a:path>
                <a:path w="290195" h="455930">
                  <a:moveTo>
                    <a:pt x="290169" y="417601"/>
                  </a:moveTo>
                  <a:lnTo>
                    <a:pt x="141846" y="455752"/>
                  </a:lnTo>
                </a:path>
                <a:path w="290195" h="455930">
                  <a:moveTo>
                    <a:pt x="149758" y="9715"/>
                  </a:moveTo>
                  <a:lnTo>
                    <a:pt x="149758" y="455752"/>
                  </a:lnTo>
                </a:path>
                <a:path w="290195" h="455930">
                  <a:moveTo>
                    <a:pt x="10807" y="419392"/>
                  </a:moveTo>
                  <a:lnTo>
                    <a:pt x="143649" y="366839"/>
                  </a:lnTo>
                </a:path>
                <a:path w="290195" h="455930">
                  <a:moveTo>
                    <a:pt x="290169" y="417233"/>
                  </a:moveTo>
                  <a:lnTo>
                    <a:pt x="141846" y="366471"/>
                  </a:lnTo>
                </a:path>
                <a:path w="290195" h="455930">
                  <a:moveTo>
                    <a:pt x="68402" y="236512"/>
                  </a:moveTo>
                  <a:lnTo>
                    <a:pt x="138239" y="263512"/>
                  </a:lnTo>
                </a:path>
                <a:path w="290195" h="455930">
                  <a:moveTo>
                    <a:pt x="149758" y="271081"/>
                  </a:moveTo>
                  <a:lnTo>
                    <a:pt x="224637" y="228231"/>
                  </a:lnTo>
                </a:path>
                <a:path w="290195" h="455930">
                  <a:moveTo>
                    <a:pt x="45008" y="298437"/>
                  </a:moveTo>
                  <a:lnTo>
                    <a:pt x="140042" y="336600"/>
                  </a:lnTo>
                </a:path>
                <a:path w="290195" h="455930">
                  <a:moveTo>
                    <a:pt x="149758" y="349199"/>
                  </a:moveTo>
                  <a:lnTo>
                    <a:pt x="244805" y="299872"/>
                  </a:lnTo>
                </a:path>
                <a:path w="290195" h="455930">
                  <a:moveTo>
                    <a:pt x="149758" y="190436"/>
                  </a:moveTo>
                  <a:lnTo>
                    <a:pt x="198005" y="164871"/>
                  </a:lnTo>
                </a:path>
                <a:path w="290195" h="455930">
                  <a:moveTo>
                    <a:pt x="149758" y="99720"/>
                  </a:moveTo>
                  <a:lnTo>
                    <a:pt x="176047" y="79197"/>
                  </a:lnTo>
                </a:path>
                <a:path w="290195" h="455930">
                  <a:moveTo>
                    <a:pt x="88925" y="168478"/>
                  </a:moveTo>
                  <a:lnTo>
                    <a:pt x="146519" y="182880"/>
                  </a:lnTo>
                </a:path>
                <a:path w="290195" h="455930">
                  <a:moveTo>
                    <a:pt x="118440" y="82791"/>
                  </a:moveTo>
                  <a:lnTo>
                    <a:pt x="147967" y="96837"/>
                  </a:lnTo>
                </a:path>
              </a:pathLst>
            </a:custGeom>
            <a:ln w="19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026035" y="1855431"/>
              <a:ext cx="449275" cy="324002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6219723" y="199080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1E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219723" y="199080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102"/>
          <p:cNvSpPr/>
          <p:nvPr/>
        </p:nvSpPr>
        <p:spPr>
          <a:xfrm>
            <a:off x="5462282" y="438947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7370635" y="2676601"/>
            <a:ext cx="0" cy="74930"/>
          </a:xfrm>
          <a:custGeom>
            <a:avLst/>
            <a:gdLst/>
            <a:ahLst/>
            <a:cxnLst/>
            <a:rect l="l" t="t" r="r" b="b"/>
            <a:pathLst>
              <a:path h="74930">
                <a:moveTo>
                  <a:pt x="0" y="0"/>
                </a:moveTo>
                <a:lnTo>
                  <a:pt x="0" y="74523"/>
                </a:lnTo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7907401" y="2571838"/>
            <a:ext cx="0" cy="189230"/>
          </a:xfrm>
          <a:custGeom>
            <a:avLst/>
            <a:gdLst/>
            <a:ahLst/>
            <a:cxnLst/>
            <a:rect l="l" t="t" r="r" b="b"/>
            <a:pathLst>
              <a:path h="189230">
                <a:moveTo>
                  <a:pt x="0" y="0"/>
                </a:moveTo>
                <a:lnTo>
                  <a:pt x="0" y="189001"/>
                </a:lnTo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7252919" y="2944799"/>
            <a:ext cx="106680" cy="697230"/>
          </a:xfrm>
          <a:custGeom>
            <a:avLst/>
            <a:gdLst/>
            <a:ahLst/>
            <a:cxnLst/>
            <a:rect l="l" t="t" r="r" b="b"/>
            <a:pathLst>
              <a:path w="106679" h="697229">
                <a:moveTo>
                  <a:pt x="106197" y="0"/>
                </a:moveTo>
                <a:lnTo>
                  <a:pt x="0" y="696963"/>
                </a:lnTo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7655038" y="240624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 txBox="1"/>
          <p:nvPr/>
        </p:nvSpPr>
        <p:spPr>
          <a:xfrm>
            <a:off x="6000737" y="1427670"/>
            <a:ext cx="13887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"/>
                <a:cs typeface="Arial"/>
              </a:rPr>
              <a:t>mobile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network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7602384" y="2114550"/>
            <a:ext cx="9499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"/>
                <a:cs typeface="Arial"/>
              </a:rPr>
              <a:t>global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ISP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7378813" y="3341420"/>
            <a:ext cx="11309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"/>
                <a:cs typeface="Arial"/>
              </a:rPr>
              <a:t>regional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ISP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6361455" y="2959100"/>
            <a:ext cx="734695" cy="46355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5080">
              <a:lnSpc>
                <a:spcPct val="79700"/>
              </a:lnSpc>
              <a:spcBef>
                <a:spcPts val="484"/>
              </a:spcBef>
            </a:pPr>
            <a:r>
              <a:rPr sz="1600" spc="-20" dirty="0">
                <a:latin typeface="Arial"/>
                <a:cs typeface="Arial"/>
              </a:rPr>
              <a:t>home </a:t>
            </a:r>
            <a:r>
              <a:rPr sz="1600" spc="-10" dirty="0">
                <a:latin typeface="Arial"/>
                <a:cs typeface="Arial"/>
              </a:rPr>
              <a:t>network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5631014" y="5640387"/>
            <a:ext cx="1128395" cy="463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725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institutional</a:t>
            </a:r>
            <a:endParaRPr sz="1600">
              <a:latin typeface="Arial"/>
              <a:cs typeface="Arial"/>
            </a:endParaRPr>
          </a:p>
          <a:p>
            <a:pPr marL="407670">
              <a:lnSpc>
                <a:spcPts val="1725"/>
              </a:lnSpc>
            </a:pPr>
            <a:r>
              <a:rPr sz="1600" spc="-10" dirty="0">
                <a:latin typeface="Arial"/>
                <a:cs typeface="Arial"/>
              </a:rPr>
              <a:t>network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12" name="object 112"/>
          <p:cNvGrpSpPr/>
          <p:nvPr/>
        </p:nvGrpSpPr>
        <p:grpSpPr>
          <a:xfrm>
            <a:off x="5525998" y="3052445"/>
            <a:ext cx="2898775" cy="2879725"/>
            <a:chOff x="5525998" y="3052445"/>
            <a:chExt cx="2898775" cy="2879725"/>
          </a:xfrm>
        </p:grpSpPr>
        <p:pic>
          <p:nvPicPr>
            <p:cNvPr id="113" name="object 11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216633" y="5013375"/>
              <a:ext cx="158750" cy="450710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8217001" y="5065204"/>
              <a:ext cx="87630" cy="1905"/>
            </a:xfrm>
            <a:custGeom>
              <a:avLst/>
              <a:gdLst/>
              <a:ahLst/>
              <a:cxnLst/>
              <a:rect l="l" t="t" r="r" b="b"/>
              <a:pathLst>
                <a:path w="87629" h="1904">
                  <a:moveTo>
                    <a:pt x="87122" y="0"/>
                  </a:moveTo>
                  <a:lnTo>
                    <a:pt x="0" y="0"/>
                  </a:lnTo>
                  <a:lnTo>
                    <a:pt x="0" y="1790"/>
                  </a:lnTo>
                  <a:lnTo>
                    <a:pt x="43560" y="1790"/>
                  </a:lnTo>
                  <a:lnTo>
                    <a:pt x="87122" y="1790"/>
                  </a:lnTo>
                  <a:lnTo>
                    <a:pt x="871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8217001" y="5065204"/>
              <a:ext cx="87630" cy="1905"/>
            </a:xfrm>
            <a:custGeom>
              <a:avLst/>
              <a:gdLst/>
              <a:ahLst/>
              <a:cxnLst/>
              <a:rect l="l" t="t" r="r" b="b"/>
              <a:pathLst>
                <a:path w="87629" h="1904">
                  <a:moveTo>
                    <a:pt x="43560" y="1790"/>
                  </a:moveTo>
                  <a:lnTo>
                    <a:pt x="0" y="1790"/>
                  </a:lnTo>
                  <a:lnTo>
                    <a:pt x="0" y="0"/>
                  </a:lnTo>
                  <a:lnTo>
                    <a:pt x="87122" y="0"/>
                  </a:lnTo>
                  <a:lnTo>
                    <a:pt x="87122" y="1790"/>
                  </a:lnTo>
                  <a:lnTo>
                    <a:pt x="43560" y="179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8218081" y="5132514"/>
              <a:ext cx="87630" cy="1905"/>
            </a:xfrm>
            <a:custGeom>
              <a:avLst/>
              <a:gdLst/>
              <a:ahLst/>
              <a:cxnLst/>
              <a:rect l="l" t="t" r="r" b="b"/>
              <a:pathLst>
                <a:path w="87629" h="1904">
                  <a:moveTo>
                    <a:pt x="87477" y="0"/>
                  </a:moveTo>
                  <a:lnTo>
                    <a:pt x="0" y="0"/>
                  </a:lnTo>
                  <a:lnTo>
                    <a:pt x="0" y="1447"/>
                  </a:lnTo>
                  <a:lnTo>
                    <a:pt x="43916" y="1447"/>
                  </a:lnTo>
                  <a:lnTo>
                    <a:pt x="87477" y="1447"/>
                  </a:lnTo>
                  <a:lnTo>
                    <a:pt x="874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8218081" y="5132514"/>
              <a:ext cx="87630" cy="1905"/>
            </a:xfrm>
            <a:custGeom>
              <a:avLst/>
              <a:gdLst/>
              <a:ahLst/>
              <a:cxnLst/>
              <a:rect l="l" t="t" r="r" b="b"/>
              <a:pathLst>
                <a:path w="87629" h="1904">
                  <a:moveTo>
                    <a:pt x="43916" y="1447"/>
                  </a:moveTo>
                  <a:lnTo>
                    <a:pt x="0" y="1447"/>
                  </a:lnTo>
                  <a:lnTo>
                    <a:pt x="0" y="0"/>
                  </a:lnTo>
                  <a:lnTo>
                    <a:pt x="87477" y="0"/>
                  </a:lnTo>
                  <a:lnTo>
                    <a:pt x="87477" y="1447"/>
                  </a:lnTo>
                  <a:lnTo>
                    <a:pt x="43916" y="1447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8218081" y="5199126"/>
              <a:ext cx="87630" cy="1905"/>
            </a:xfrm>
            <a:custGeom>
              <a:avLst/>
              <a:gdLst/>
              <a:ahLst/>
              <a:cxnLst/>
              <a:rect l="l" t="t" r="r" b="b"/>
              <a:pathLst>
                <a:path w="87629" h="1904">
                  <a:moveTo>
                    <a:pt x="87477" y="0"/>
                  </a:moveTo>
                  <a:lnTo>
                    <a:pt x="0" y="0"/>
                  </a:lnTo>
                  <a:lnTo>
                    <a:pt x="0" y="1435"/>
                  </a:lnTo>
                  <a:lnTo>
                    <a:pt x="43916" y="1435"/>
                  </a:lnTo>
                  <a:lnTo>
                    <a:pt x="87477" y="1435"/>
                  </a:lnTo>
                  <a:lnTo>
                    <a:pt x="874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8218081" y="5199126"/>
              <a:ext cx="87630" cy="1905"/>
            </a:xfrm>
            <a:custGeom>
              <a:avLst/>
              <a:gdLst/>
              <a:ahLst/>
              <a:cxnLst/>
              <a:rect l="l" t="t" r="r" b="b"/>
              <a:pathLst>
                <a:path w="87629" h="1904">
                  <a:moveTo>
                    <a:pt x="43916" y="1435"/>
                  </a:moveTo>
                  <a:lnTo>
                    <a:pt x="0" y="1435"/>
                  </a:lnTo>
                  <a:lnTo>
                    <a:pt x="0" y="0"/>
                  </a:lnTo>
                  <a:lnTo>
                    <a:pt x="87477" y="0"/>
                  </a:lnTo>
                  <a:lnTo>
                    <a:pt x="87477" y="1435"/>
                  </a:lnTo>
                  <a:lnTo>
                    <a:pt x="43916" y="1435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8220240" y="5258879"/>
              <a:ext cx="87630" cy="1905"/>
            </a:xfrm>
            <a:custGeom>
              <a:avLst/>
              <a:gdLst/>
              <a:ahLst/>
              <a:cxnLst/>
              <a:rect l="l" t="t" r="r" b="b"/>
              <a:pathLst>
                <a:path w="87629" h="1904">
                  <a:moveTo>
                    <a:pt x="87122" y="0"/>
                  </a:moveTo>
                  <a:lnTo>
                    <a:pt x="0" y="0"/>
                  </a:lnTo>
                  <a:lnTo>
                    <a:pt x="0" y="1803"/>
                  </a:lnTo>
                  <a:lnTo>
                    <a:pt x="43560" y="1803"/>
                  </a:lnTo>
                  <a:lnTo>
                    <a:pt x="87122" y="1803"/>
                  </a:lnTo>
                  <a:lnTo>
                    <a:pt x="871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8220240" y="5258879"/>
              <a:ext cx="87630" cy="1905"/>
            </a:xfrm>
            <a:custGeom>
              <a:avLst/>
              <a:gdLst/>
              <a:ahLst/>
              <a:cxnLst/>
              <a:rect l="l" t="t" r="r" b="b"/>
              <a:pathLst>
                <a:path w="87629" h="1904">
                  <a:moveTo>
                    <a:pt x="43560" y="1803"/>
                  </a:moveTo>
                  <a:lnTo>
                    <a:pt x="0" y="1803"/>
                  </a:lnTo>
                  <a:lnTo>
                    <a:pt x="0" y="0"/>
                  </a:lnTo>
                  <a:lnTo>
                    <a:pt x="87122" y="0"/>
                  </a:lnTo>
                  <a:lnTo>
                    <a:pt x="87122" y="1803"/>
                  </a:lnTo>
                  <a:lnTo>
                    <a:pt x="43560" y="1803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2" name="object 12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381517" y="5013375"/>
              <a:ext cx="11518" cy="450710"/>
            </a:xfrm>
            <a:prstGeom prst="rect">
              <a:avLst/>
            </a:prstGeom>
          </p:spPr>
        </p:pic>
        <p:sp>
          <p:nvSpPr>
            <p:cNvPr id="123" name="object 123"/>
            <p:cNvSpPr/>
            <p:nvPr/>
          </p:nvSpPr>
          <p:spPr>
            <a:xfrm>
              <a:off x="8381517" y="5013363"/>
              <a:ext cx="3810" cy="450850"/>
            </a:xfrm>
            <a:custGeom>
              <a:avLst/>
              <a:gdLst/>
              <a:ahLst/>
              <a:cxnLst/>
              <a:rect l="l" t="t" r="r" b="b"/>
              <a:pathLst>
                <a:path w="3809" h="450850">
                  <a:moveTo>
                    <a:pt x="1803" y="450723"/>
                  </a:moveTo>
                  <a:lnTo>
                    <a:pt x="0" y="450723"/>
                  </a:lnTo>
                  <a:lnTo>
                    <a:pt x="0" y="0"/>
                  </a:lnTo>
                  <a:lnTo>
                    <a:pt x="3238" y="0"/>
                  </a:lnTo>
                  <a:lnTo>
                    <a:pt x="3238" y="450723"/>
                  </a:lnTo>
                  <a:lnTo>
                    <a:pt x="1803" y="450723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205482" y="546408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8200796" y="5459412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4" h="17779">
                  <a:moveTo>
                    <a:pt x="9359" y="4673"/>
                  </a:moveTo>
                  <a:lnTo>
                    <a:pt x="7988" y="1371"/>
                  </a:lnTo>
                  <a:lnTo>
                    <a:pt x="4686" y="0"/>
                  </a:lnTo>
                  <a:lnTo>
                    <a:pt x="1371" y="1371"/>
                  </a:lnTo>
                  <a:lnTo>
                    <a:pt x="0" y="4673"/>
                  </a:lnTo>
                  <a:lnTo>
                    <a:pt x="1371" y="7988"/>
                  </a:lnTo>
                  <a:lnTo>
                    <a:pt x="4686" y="9359"/>
                  </a:lnTo>
                  <a:lnTo>
                    <a:pt x="7988" y="7988"/>
                  </a:lnTo>
                  <a:lnTo>
                    <a:pt x="9359" y="4673"/>
                  </a:lnTo>
                  <a:close/>
                </a:path>
                <a:path w="20954" h="17779">
                  <a:moveTo>
                    <a:pt x="20878" y="12585"/>
                  </a:moveTo>
                  <a:lnTo>
                    <a:pt x="19507" y="9283"/>
                  </a:lnTo>
                  <a:lnTo>
                    <a:pt x="16205" y="7912"/>
                  </a:lnTo>
                  <a:lnTo>
                    <a:pt x="12890" y="9283"/>
                  </a:lnTo>
                  <a:lnTo>
                    <a:pt x="11518" y="12585"/>
                  </a:lnTo>
                  <a:lnTo>
                    <a:pt x="12890" y="15900"/>
                  </a:lnTo>
                  <a:lnTo>
                    <a:pt x="16205" y="17272"/>
                  </a:lnTo>
                  <a:lnTo>
                    <a:pt x="19507" y="15900"/>
                  </a:lnTo>
                  <a:lnTo>
                    <a:pt x="20878" y="125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8232838" y="540504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8260918" y="540504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8287918" y="540504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8353082" y="5295595"/>
              <a:ext cx="5080" cy="144780"/>
            </a:xfrm>
            <a:custGeom>
              <a:avLst/>
              <a:gdLst/>
              <a:ahLst/>
              <a:cxnLst/>
              <a:rect l="l" t="t" r="r" b="b"/>
              <a:pathLst>
                <a:path w="5079" h="144779">
                  <a:moveTo>
                    <a:pt x="4673" y="0"/>
                  </a:moveTo>
                  <a:lnTo>
                    <a:pt x="0" y="0"/>
                  </a:lnTo>
                  <a:lnTo>
                    <a:pt x="0" y="144360"/>
                  </a:lnTo>
                  <a:lnTo>
                    <a:pt x="2514" y="144360"/>
                  </a:lnTo>
                  <a:lnTo>
                    <a:pt x="4673" y="144360"/>
                  </a:lnTo>
                  <a:lnTo>
                    <a:pt x="4673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8353082" y="5295595"/>
              <a:ext cx="5080" cy="144780"/>
            </a:xfrm>
            <a:custGeom>
              <a:avLst/>
              <a:gdLst/>
              <a:ahLst/>
              <a:cxnLst/>
              <a:rect l="l" t="t" r="r" b="b"/>
              <a:pathLst>
                <a:path w="5079" h="144779">
                  <a:moveTo>
                    <a:pt x="2514" y="144360"/>
                  </a:moveTo>
                  <a:lnTo>
                    <a:pt x="0" y="144360"/>
                  </a:lnTo>
                  <a:lnTo>
                    <a:pt x="0" y="0"/>
                  </a:lnTo>
                  <a:lnTo>
                    <a:pt x="4673" y="0"/>
                  </a:lnTo>
                  <a:lnTo>
                    <a:pt x="4673" y="144360"/>
                  </a:lnTo>
                  <a:lnTo>
                    <a:pt x="2514" y="14436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1" name="object 13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900555" y="5315051"/>
              <a:ext cx="158750" cy="450710"/>
            </a:xfrm>
            <a:prstGeom prst="rect">
              <a:avLst/>
            </a:prstGeom>
          </p:spPr>
        </p:pic>
        <p:sp>
          <p:nvSpPr>
            <p:cNvPr id="132" name="object 132"/>
            <p:cNvSpPr/>
            <p:nvPr/>
          </p:nvSpPr>
          <p:spPr>
            <a:xfrm>
              <a:off x="7900555" y="5366880"/>
              <a:ext cx="87630" cy="1905"/>
            </a:xfrm>
            <a:custGeom>
              <a:avLst/>
              <a:gdLst/>
              <a:ahLst/>
              <a:cxnLst/>
              <a:rect l="l" t="t" r="r" b="b"/>
              <a:pathLst>
                <a:path w="87629" h="1904">
                  <a:moveTo>
                    <a:pt x="87490" y="0"/>
                  </a:moveTo>
                  <a:lnTo>
                    <a:pt x="0" y="0"/>
                  </a:lnTo>
                  <a:lnTo>
                    <a:pt x="0" y="1803"/>
                  </a:lnTo>
                  <a:lnTo>
                    <a:pt x="43929" y="1803"/>
                  </a:lnTo>
                  <a:lnTo>
                    <a:pt x="87490" y="1803"/>
                  </a:lnTo>
                  <a:lnTo>
                    <a:pt x="874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7900555" y="5366880"/>
              <a:ext cx="87630" cy="1905"/>
            </a:xfrm>
            <a:custGeom>
              <a:avLst/>
              <a:gdLst/>
              <a:ahLst/>
              <a:cxnLst/>
              <a:rect l="l" t="t" r="r" b="b"/>
              <a:pathLst>
                <a:path w="87629" h="1904">
                  <a:moveTo>
                    <a:pt x="43929" y="1803"/>
                  </a:moveTo>
                  <a:lnTo>
                    <a:pt x="0" y="1803"/>
                  </a:lnTo>
                  <a:lnTo>
                    <a:pt x="0" y="0"/>
                  </a:lnTo>
                  <a:lnTo>
                    <a:pt x="87490" y="0"/>
                  </a:lnTo>
                  <a:lnTo>
                    <a:pt x="87490" y="1803"/>
                  </a:lnTo>
                  <a:lnTo>
                    <a:pt x="43929" y="1803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7902715" y="5433479"/>
              <a:ext cx="87630" cy="1905"/>
            </a:xfrm>
            <a:custGeom>
              <a:avLst/>
              <a:gdLst/>
              <a:ahLst/>
              <a:cxnLst/>
              <a:rect l="l" t="t" r="r" b="b"/>
              <a:pathLst>
                <a:path w="87629" h="1904">
                  <a:moveTo>
                    <a:pt x="87122" y="0"/>
                  </a:moveTo>
                  <a:lnTo>
                    <a:pt x="0" y="0"/>
                  </a:lnTo>
                  <a:lnTo>
                    <a:pt x="0" y="1803"/>
                  </a:lnTo>
                  <a:lnTo>
                    <a:pt x="43561" y="1803"/>
                  </a:lnTo>
                  <a:lnTo>
                    <a:pt x="87122" y="1803"/>
                  </a:lnTo>
                  <a:lnTo>
                    <a:pt x="871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7902714" y="5433479"/>
              <a:ext cx="87630" cy="1905"/>
            </a:xfrm>
            <a:custGeom>
              <a:avLst/>
              <a:gdLst/>
              <a:ahLst/>
              <a:cxnLst/>
              <a:rect l="l" t="t" r="r" b="b"/>
              <a:pathLst>
                <a:path w="87629" h="1904">
                  <a:moveTo>
                    <a:pt x="43561" y="1803"/>
                  </a:moveTo>
                  <a:lnTo>
                    <a:pt x="0" y="1803"/>
                  </a:lnTo>
                  <a:lnTo>
                    <a:pt x="0" y="0"/>
                  </a:lnTo>
                  <a:lnTo>
                    <a:pt x="87122" y="0"/>
                  </a:lnTo>
                  <a:lnTo>
                    <a:pt x="87122" y="1803"/>
                  </a:lnTo>
                  <a:lnTo>
                    <a:pt x="43561" y="1803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7902715" y="5500801"/>
              <a:ext cx="87630" cy="1905"/>
            </a:xfrm>
            <a:custGeom>
              <a:avLst/>
              <a:gdLst/>
              <a:ahLst/>
              <a:cxnLst/>
              <a:rect l="l" t="t" r="r" b="b"/>
              <a:pathLst>
                <a:path w="87629" h="1904">
                  <a:moveTo>
                    <a:pt x="87122" y="0"/>
                  </a:moveTo>
                  <a:lnTo>
                    <a:pt x="0" y="0"/>
                  </a:lnTo>
                  <a:lnTo>
                    <a:pt x="0" y="1435"/>
                  </a:lnTo>
                  <a:lnTo>
                    <a:pt x="43561" y="1435"/>
                  </a:lnTo>
                  <a:lnTo>
                    <a:pt x="87122" y="1435"/>
                  </a:lnTo>
                  <a:lnTo>
                    <a:pt x="871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7902714" y="5500801"/>
              <a:ext cx="87630" cy="1905"/>
            </a:xfrm>
            <a:custGeom>
              <a:avLst/>
              <a:gdLst/>
              <a:ahLst/>
              <a:cxnLst/>
              <a:rect l="l" t="t" r="r" b="b"/>
              <a:pathLst>
                <a:path w="87629" h="1904">
                  <a:moveTo>
                    <a:pt x="43561" y="1435"/>
                  </a:moveTo>
                  <a:lnTo>
                    <a:pt x="0" y="1435"/>
                  </a:lnTo>
                  <a:lnTo>
                    <a:pt x="0" y="0"/>
                  </a:lnTo>
                  <a:lnTo>
                    <a:pt x="87122" y="0"/>
                  </a:lnTo>
                  <a:lnTo>
                    <a:pt x="87122" y="1435"/>
                  </a:lnTo>
                  <a:lnTo>
                    <a:pt x="43561" y="1435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7903794" y="5560555"/>
              <a:ext cx="87630" cy="1905"/>
            </a:xfrm>
            <a:custGeom>
              <a:avLst/>
              <a:gdLst/>
              <a:ahLst/>
              <a:cxnLst/>
              <a:rect l="l" t="t" r="r" b="b"/>
              <a:pathLst>
                <a:path w="87629" h="1904">
                  <a:moveTo>
                    <a:pt x="87490" y="0"/>
                  </a:moveTo>
                  <a:lnTo>
                    <a:pt x="0" y="0"/>
                  </a:lnTo>
                  <a:lnTo>
                    <a:pt x="0" y="1803"/>
                  </a:lnTo>
                  <a:lnTo>
                    <a:pt x="43929" y="1803"/>
                  </a:lnTo>
                  <a:lnTo>
                    <a:pt x="87490" y="1803"/>
                  </a:lnTo>
                  <a:lnTo>
                    <a:pt x="874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7903794" y="5560555"/>
              <a:ext cx="87630" cy="1905"/>
            </a:xfrm>
            <a:custGeom>
              <a:avLst/>
              <a:gdLst/>
              <a:ahLst/>
              <a:cxnLst/>
              <a:rect l="l" t="t" r="r" b="b"/>
              <a:pathLst>
                <a:path w="87629" h="1904">
                  <a:moveTo>
                    <a:pt x="43929" y="1803"/>
                  </a:moveTo>
                  <a:lnTo>
                    <a:pt x="0" y="1803"/>
                  </a:lnTo>
                  <a:lnTo>
                    <a:pt x="0" y="0"/>
                  </a:lnTo>
                  <a:lnTo>
                    <a:pt x="87490" y="0"/>
                  </a:lnTo>
                  <a:lnTo>
                    <a:pt x="87490" y="1803"/>
                  </a:lnTo>
                  <a:lnTo>
                    <a:pt x="43929" y="1803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0" name="object 14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065795" y="5315051"/>
              <a:ext cx="12953" cy="450710"/>
            </a:xfrm>
            <a:prstGeom prst="rect">
              <a:avLst/>
            </a:prstGeom>
          </p:spPr>
        </p:pic>
        <p:sp>
          <p:nvSpPr>
            <p:cNvPr id="141" name="object 141"/>
            <p:cNvSpPr/>
            <p:nvPr/>
          </p:nvSpPr>
          <p:spPr>
            <a:xfrm>
              <a:off x="8065795" y="5315038"/>
              <a:ext cx="3810" cy="450850"/>
            </a:xfrm>
            <a:custGeom>
              <a:avLst/>
              <a:gdLst/>
              <a:ahLst/>
              <a:cxnLst/>
              <a:rect l="l" t="t" r="r" b="b"/>
              <a:pathLst>
                <a:path w="3809" h="450850">
                  <a:moveTo>
                    <a:pt x="1803" y="450722"/>
                  </a:moveTo>
                  <a:lnTo>
                    <a:pt x="0" y="450722"/>
                  </a:lnTo>
                  <a:lnTo>
                    <a:pt x="0" y="0"/>
                  </a:lnTo>
                  <a:lnTo>
                    <a:pt x="3238" y="0"/>
                  </a:lnTo>
                  <a:lnTo>
                    <a:pt x="3238" y="450722"/>
                  </a:lnTo>
                  <a:lnTo>
                    <a:pt x="1803" y="450722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7889405" y="576576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7884719" y="5761088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4" h="17779">
                  <a:moveTo>
                    <a:pt x="9359" y="4673"/>
                  </a:moveTo>
                  <a:lnTo>
                    <a:pt x="7988" y="1371"/>
                  </a:lnTo>
                  <a:lnTo>
                    <a:pt x="4686" y="0"/>
                  </a:lnTo>
                  <a:lnTo>
                    <a:pt x="1371" y="1371"/>
                  </a:lnTo>
                  <a:lnTo>
                    <a:pt x="0" y="4673"/>
                  </a:lnTo>
                  <a:lnTo>
                    <a:pt x="1371" y="7988"/>
                  </a:lnTo>
                  <a:lnTo>
                    <a:pt x="4686" y="9359"/>
                  </a:lnTo>
                  <a:lnTo>
                    <a:pt x="7988" y="7988"/>
                  </a:lnTo>
                  <a:lnTo>
                    <a:pt x="9359" y="4673"/>
                  </a:lnTo>
                  <a:close/>
                </a:path>
                <a:path w="20954" h="17779">
                  <a:moveTo>
                    <a:pt x="20878" y="12585"/>
                  </a:moveTo>
                  <a:lnTo>
                    <a:pt x="19507" y="9283"/>
                  </a:lnTo>
                  <a:lnTo>
                    <a:pt x="16205" y="7912"/>
                  </a:lnTo>
                  <a:lnTo>
                    <a:pt x="12890" y="9283"/>
                  </a:lnTo>
                  <a:lnTo>
                    <a:pt x="11518" y="12585"/>
                  </a:lnTo>
                  <a:lnTo>
                    <a:pt x="12890" y="15900"/>
                  </a:lnTo>
                  <a:lnTo>
                    <a:pt x="16205" y="17272"/>
                  </a:lnTo>
                  <a:lnTo>
                    <a:pt x="19507" y="15900"/>
                  </a:lnTo>
                  <a:lnTo>
                    <a:pt x="20878" y="125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7916405" y="570671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7945564" y="570671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7972564" y="570671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8037360" y="5597283"/>
              <a:ext cx="5080" cy="144780"/>
            </a:xfrm>
            <a:custGeom>
              <a:avLst/>
              <a:gdLst/>
              <a:ahLst/>
              <a:cxnLst/>
              <a:rect l="l" t="t" r="r" b="b"/>
              <a:pathLst>
                <a:path w="5079" h="144779">
                  <a:moveTo>
                    <a:pt x="5041" y="0"/>
                  </a:moveTo>
                  <a:lnTo>
                    <a:pt x="0" y="0"/>
                  </a:lnTo>
                  <a:lnTo>
                    <a:pt x="0" y="144360"/>
                  </a:lnTo>
                  <a:lnTo>
                    <a:pt x="2514" y="144360"/>
                  </a:lnTo>
                  <a:lnTo>
                    <a:pt x="5041" y="144360"/>
                  </a:lnTo>
                  <a:lnTo>
                    <a:pt x="504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8037360" y="5597283"/>
              <a:ext cx="5080" cy="144780"/>
            </a:xfrm>
            <a:custGeom>
              <a:avLst/>
              <a:gdLst/>
              <a:ahLst/>
              <a:cxnLst/>
              <a:rect l="l" t="t" r="r" b="b"/>
              <a:pathLst>
                <a:path w="5079" h="144779">
                  <a:moveTo>
                    <a:pt x="2514" y="144360"/>
                  </a:moveTo>
                  <a:lnTo>
                    <a:pt x="0" y="144360"/>
                  </a:lnTo>
                  <a:lnTo>
                    <a:pt x="0" y="0"/>
                  </a:lnTo>
                  <a:lnTo>
                    <a:pt x="5041" y="0"/>
                  </a:lnTo>
                  <a:lnTo>
                    <a:pt x="5041" y="144360"/>
                  </a:lnTo>
                  <a:lnTo>
                    <a:pt x="2514" y="14436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9" name="object 14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837476" y="5497195"/>
              <a:ext cx="463321" cy="234365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864477" y="5757125"/>
              <a:ext cx="386638" cy="174955"/>
            </a:xfrm>
            <a:prstGeom prst="rect">
              <a:avLst/>
            </a:prstGeom>
          </p:spPr>
        </p:pic>
        <p:sp>
          <p:nvSpPr>
            <p:cNvPr id="151" name="object 151"/>
            <p:cNvSpPr/>
            <p:nvPr/>
          </p:nvSpPr>
          <p:spPr>
            <a:xfrm>
              <a:off x="6988314" y="559944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6988314" y="559944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3" name="object 15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004164" y="5603760"/>
              <a:ext cx="274675" cy="195478"/>
            </a:xfrm>
            <a:prstGeom prst="rect">
              <a:avLst/>
            </a:prstGeom>
          </p:spPr>
        </p:pic>
        <p:sp>
          <p:nvSpPr>
            <p:cNvPr id="154" name="object 154"/>
            <p:cNvSpPr/>
            <p:nvPr/>
          </p:nvSpPr>
          <p:spPr>
            <a:xfrm>
              <a:off x="6986155" y="559259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7238517" y="562356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C4C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6981837" y="583848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6989762" y="585396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E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6987959" y="585900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7013524" y="586044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E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0" name="object 16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525998" y="3052445"/>
              <a:ext cx="433438" cy="236156"/>
            </a:xfrm>
            <a:prstGeom prst="rect">
              <a:avLst/>
            </a:prstGeom>
          </p:spPr>
        </p:pic>
        <p:pic>
          <p:nvPicPr>
            <p:cNvPr id="161" name="object 161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551919" y="3310204"/>
              <a:ext cx="360718" cy="176758"/>
            </a:xfrm>
            <a:prstGeom prst="rect">
              <a:avLst/>
            </a:prstGeom>
          </p:spPr>
        </p:pic>
        <p:sp>
          <p:nvSpPr>
            <p:cNvPr id="162" name="object 162"/>
            <p:cNvSpPr/>
            <p:nvPr/>
          </p:nvSpPr>
          <p:spPr>
            <a:xfrm>
              <a:off x="5667121" y="315468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5667121" y="315468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4" name="object 164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681522" y="3159010"/>
              <a:ext cx="257403" cy="195834"/>
            </a:xfrm>
            <a:prstGeom prst="rect">
              <a:avLst/>
            </a:prstGeom>
          </p:spPr>
        </p:pic>
        <p:sp>
          <p:nvSpPr>
            <p:cNvPr id="165" name="object 165"/>
            <p:cNvSpPr/>
            <p:nvPr/>
          </p:nvSpPr>
          <p:spPr>
            <a:xfrm>
              <a:off x="5665686" y="314820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5900763" y="317844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C4C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5660644" y="339552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5668556" y="341135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E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5667121" y="341604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5690882" y="341748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E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1" name="object 17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05436" y="3233521"/>
              <a:ext cx="406438" cy="365036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272363" y="5433479"/>
              <a:ext cx="461886" cy="234721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299718" y="5693765"/>
              <a:ext cx="386283" cy="174955"/>
            </a:xfrm>
            <a:prstGeom prst="rect">
              <a:avLst/>
            </a:prstGeom>
          </p:spPr>
        </p:pic>
        <p:sp>
          <p:nvSpPr>
            <p:cNvPr id="174" name="object 174"/>
            <p:cNvSpPr/>
            <p:nvPr/>
          </p:nvSpPr>
          <p:spPr>
            <a:xfrm>
              <a:off x="7423200" y="553535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7423200" y="553535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6" name="object 17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439037" y="5540400"/>
              <a:ext cx="274675" cy="197281"/>
            </a:xfrm>
            <a:prstGeom prst="rect">
              <a:avLst/>
            </a:prstGeom>
          </p:spPr>
        </p:pic>
        <p:sp>
          <p:nvSpPr>
            <p:cNvPr id="177" name="object 177"/>
            <p:cNvSpPr/>
            <p:nvPr/>
          </p:nvSpPr>
          <p:spPr>
            <a:xfrm>
              <a:off x="7421041" y="552888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7674114" y="555984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C4C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7415276" y="577476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7423200" y="578952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E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7423200" y="579527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7448397" y="579743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E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3" name="object 183"/>
          <p:cNvGrpSpPr/>
          <p:nvPr/>
        </p:nvGrpSpPr>
        <p:grpSpPr>
          <a:xfrm>
            <a:off x="5267159" y="2053805"/>
            <a:ext cx="524510" cy="421640"/>
            <a:chOff x="5267159" y="2053805"/>
            <a:chExt cx="524510" cy="421640"/>
          </a:xfrm>
        </p:grpSpPr>
        <p:pic>
          <p:nvPicPr>
            <p:cNvPr id="184" name="object 184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267159" y="2053805"/>
              <a:ext cx="524154" cy="230035"/>
            </a:xfrm>
            <a:prstGeom prst="rect">
              <a:avLst/>
            </a:prstGeom>
          </p:spPr>
        </p:pic>
        <p:pic>
          <p:nvPicPr>
            <p:cNvPr id="185" name="object 18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299201" y="2309406"/>
              <a:ext cx="433082" cy="165595"/>
            </a:xfrm>
            <a:prstGeom prst="rect">
              <a:avLst/>
            </a:prstGeom>
          </p:spPr>
        </p:pic>
        <p:sp>
          <p:nvSpPr>
            <p:cNvPr id="186" name="object 186"/>
            <p:cNvSpPr/>
            <p:nvPr/>
          </p:nvSpPr>
          <p:spPr>
            <a:xfrm>
              <a:off x="5436717" y="215496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5436717" y="215496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8" name="object 188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454726" y="2159279"/>
              <a:ext cx="311035" cy="189001"/>
            </a:xfrm>
            <a:prstGeom prst="rect">
              <a:avLst/>
            </a:prstGeom>
          </p:spPr>
        </p:pic>
        <p:sp>
          <p:nvSpPr>
            <p:cNvPr id="189" name="object 189"/>
            <p:cNvSpPr/>
            <p:nvPr/>
          </p:nvSpPr>
          <p:spPr>
            <a:xfrm>
              <a:off x="5435282" y="214848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5719318" y="217872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C4C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5429161" y="238536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5438876" y="240012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E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5436717" y="240587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5465876" y="240767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4E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5" name="object 19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200" spc="50" dirty="0">
                <a:solidFill>
                  <a:srgbClr val="8A8A8A"/>
                </a:solidFill>
                <a:latin typeface="Trebuchet MS"/>
                <a:cs typeface="Trebuchet MS"/>
              </a:rPr>
              <a:t>Introductio</a:t>
            </a:r>
            <a:r>
              <a:rPr sz="1800" spc="75" baseline="-6944" dirty="0">
                <a:solidFill>
                  <a:srgbClr val="8A8A8A"/>
                </a:solidFill>
                <a:latin typeface="Trebuchet MS"/>
                <a:cs typeface="Trebuchet MS"/>
              </a:rPr>
              <a:t>1-</a:t>
            </a:r>
            <a:fld id="{81D60167-4931-47E6-BA6A-407CBD079E47}" type="slidenum">
              <a:rPr sz="1800" spc="127" baseline="-6944" dirty="0">
                <a:solidFill>
                  <a:srgbClr val="8A8A8A"/>
                </a:solidFill>
                <a:latin typeface="Trebuchet MS"/>
                <a:cs typeface="Trebuchet MS"/>
              </a:rPr>
              <a:t>13</a:t>
            </a:fld>
            <a:endParaRPr sz="1800" baseline="-6944">
              <a:latin typeface="Trebuchet MS"/>
              <a:cs typeface="Trebuchet MS"/>
            </a:endParaRPr>
          </a:p>
          <a:p>
            <a:pPr marL="377190">
              <a:lnSpc>
                <a:spcPct val="100000"/>
              </a:lnSpc>
            </a:pPr>
            <a:r>
              <a:rPr sz="1200" spc="60" dirty="0">
                <a:solidFill>
                  <a:srgbClr val="8A8A8A"/>
                </a:solidFill>
                <a:latin typeface="Trebuchet MS"/>
                <a:cs typeface="Trebuchet MS"/>
              </a:rPr>
              <a:t>n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A</a:t>
            </a:r>
            <a:r>
              <a:rPr sz="3600" spc="-70" dirty="0"/>
              <a:t> </a:t>
            </a:r>
            <a:r>
              <a:rPr sz="3600" dirty="0"/>
              <a:t>closer</a:t>
            </a:r>
            <a:r>
              <a:rPr sz="3600" spc="-70" dirty="0"/>
              <a:t> </a:t>
            </a:r>
            <a:r>
              <a:rPr sz="3600" dirty="0"/>
              <a:t>look</a:t>
            </a:r>
            <a:r>
              <a:rPr sz="3600" spc="-65" dirty="0"/>
              <a:t> </a:t>
            </a:r>
            <a:r>
              <a:rPr sz="3600" dirty="0"/>
              <a:t>at</a:t>
            </a:r>
            <a:r>
              <a:rPr sz="3600" spc="-75" dirty="0"/>
              <a:t> </a:t>
            </a:r>
            <a:r>
              <a:rPr sz="3600" dirty="0"/>
              <a:t>network</a:t>
            </a:r>
            <a:r>
              <a:rPr sz="3600" spc="-65" dirty="0"/>
              <a:t> </a:t>
            </a:r>
            <a:r>
              <a:rPr sz="3600" spc="-10" dirty="0"/>
              <a:t>structure: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72719" y="1631785"/>
            <a:ext cx="3683000" cy="4439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2905" marR="674370" indent="-332740">
              <a:lnSpc>
                <a:spcPct val="100000"/>
              </a:lnSpc>
              <a:spcBef>
                <a:spcPts val="100"/>
              </a:spcBef>
            </a:pPr>
            <a:r>
              <a:rPr sz="3525" spc="1372" baseline="13002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525" spc="-225" baseline="13002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network</a:t>
            </a:r>
            <a:r>
              <a:rPr sz="2800" spc="-8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800" spc="-20" dirty="0">
                <a:solidFill>
                  <a:srgbClr val="FF0000"/>
                </a:solidFill>
                <a:latin typeface="Comic Sans MS"/>
                <a:cs typeface="Comic Sans MS"/>
              </a:rPr>
              <a:t>edge: </a:t>
            </a:r>
            <a:r>
              <a:rPr sz="2800" dirty="0">
                <a:latin typeface="Comic Sans MS"/>
                <a:cs typeface="Comic Sans MS"/>
              </a:rPr>
              <a:t>applications</a:t>
            </a:r>
            <a:r>
              <a:rPr sz="2800" spc="-155" dirty="0">
                <a:latin typeface="Comic Sans MS"/>
                <a:cs typeface="Comic Sans MS"/>
              </a:rPr>
              <a:t> </a:t>
            </a:r>
            <a:r>
              <a:rPr sz="2800" spc="-25" dirty="0">
                <a:latin typeface="Comic Sans MS"/>
                <a:cs typeface="Comic Sans MS"/>
              </a:rPr>
              <a:t>and </a:t>
            </a:r>
            <a:r>
              <a:rPr sz="2800" spc="-10" dirty="0">
                <a:latin typeface="Comic Sans MS"/>
                <a:cs typeface="Comic Sans MS"/>
              </a:rPr>
              <a:t>hosts</a:t>
            </a:r>
            <a:endParaRPr sz="2800">
              <a:latin typeface="Comic Sans MS"/>
              <a:cs typeface="Comic Sans MS"/>
            </a:endParaRPr>
          </a:p>
          <a:p>
            <a:pPr marL="50800">
              <a:lnSpc>
                <a:spcPct val="100000"/>
              </a:lnSpc>
              <a:spcBef>
                <a:spcPts val="700"/>
              </a:spcBef>
            </a:pPr>
            <a:r>
              <a:rPr sz="3525" spc="1372" baseline="13002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525" spc="-225" baseline="13002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network</a:t>
            </a:r>
            <a:r>
              <a:rPr sz="2800" spc="-8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800" spc="-20" dirty="0">
                <a:solidFill>
                  <a:srgbClr val="FF0000"/>
                </a:solidFill>
                <a:latin typeface="Comic Sans MS"/>
                <a:cs typeface="Comic Sans MS"/>
              </a:rPr>
              <a:t>core:</a:t>
            </a:r>
            <a:endParaRPr sz="2800">
              <a:latin typeface="Comic Sans MS"/>
              <a:cs typeface="Comic Sans MS"/>
            </a:endParaRPr>
          </a:p>
          <a:p>
            <a:pPr marL="508000">
              <a:lnSpc>
                <a:spcPct val="100000"/>
              </a:lnSpc>
              <a:spcBef>
                <a:spcPts val="600"/>
              </a:spcBef>
            </a:pPr>
            <a:r>
              <a:rPr sz="2700" spc="1005" baseline="16975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700" spc="7" baseline="169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routers</a:t>
            </a:r>
            <a:endParaRPr sz="2400">
              <a:latin typeface="Comic Sans MS"/>
              <a:cs typeface="Comic Sans MS"/>
            </a:endParaRPr>
          </a:p>
          <a:p>
            <a:pPr marL="783590" marR="1334770" indent="-276225">
              <a:lnSpc>
                <a:spcPct val="100000"/>
              </a:lnSpc>
              <a:spcBef>
                <a:spcPts val="600"/>
              </a:spcBef>
            </a:pPr>
            <a:r>
              <a:rPr sz="2700" spc="1005" baseline="16975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700" spc="-15" baseline="169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network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spc="-25" dirty="0">
                <a:latin typeface="Comic Sans MS"/>
                <a:cs typeface="Comic Sans MS"/>
              </a:rPr>
              <a:t>of </a:t>
            </a:r>
            <a:r>
              <a:rPr sz="2400" spc="-10" dirty="0">
                <a:latin typeface="Comic Sans MS"/>
                <a:cs typeface="Comic Sans MS"/>
              </a:rPr>
              <a:t>networks</a:t>
            </a:r>
            <a:endParaRPr sz="2400">
              <a:latin typeface="Comic Sans MS"/>
              <a:cs typeface="Comic Sans MS"/>
            </a:endParaRPr>
          </a:p>
          <a:p>
            <a:pPr marL="382905" marR="43180" indent="-332740">
              <a:lnSpc>
                <a:spcPct val="100000"/>
              </a:lnSpc>
              <a:spcBef>
                <a:spcPts val="690"/>
              </a:spcBef>
            </a:pPr>
            <a:r>
              <a:rPr sz="3525" spc="1372" baseline="13002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525" spc="-225" baseline="13002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access</a:t>
            </a:r>
            <a:r>
              <a:rPr sz="2800" spc="-5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omic Sans MS"/>
                <a:cs typeface="Comic Sans MS"/>
              </a:rPr>
              <a:t>networks,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physical</a:t>
            </a:r>
            <a:r>
              <a:rPr sz="2800" spc="-9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omic Sans MS"/>
                <a:cs typeface="Comic Sans MS"/>
              </a:rPr>
              <a:t>media: </a:t>
            </a:r>
            <a:r>
              <a:rPr sz="2800" dirty="0">
                <a:latin typeface="Comic Sans MS"/>
                <a:cs typeface="Comic Sans MS"/>
              </a:rPr>
              <a:t>communication</a:t>
            </a:r>
            <a:r>
              <a:rPr sz="2800" spc="-150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links</a:t>
            </a:r>
            <a:endParaRPr sz="2800">
              <a:latin typeface="Comic Sans MS"/>
              <a:cs typeface="Comic Sans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006886" y="2195283"/>
            <a:ext cx="3394710" cy="3378835"/>
            <a:chOff x="5006886" y="2195283"/>
            <a:chExt cx="3394710" cy="33788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45514" y="3846601"/>
              <a:ext cx="203047" cy="24119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90997" y="3678123"/>
              <a:ext cx="2240280" cy="189575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06886" y="2195283"/>
              <a:ext cx="3394253" cy="143855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57683" y="5128196"/>
              <a:ext cx="395630" cy="41363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848359" y="4201921"/>
              <a:ext cx="176530" cy="396240"/>
            </a:xfrm>
            <a:custGeom>
              <a:avLst/>
              <a:gdLst/>
              <a:ahLst/>
              <a:cxnLst/>
              <a:rect l="l" t="t" r="r" b="b"/>
              <a:pathLst>
                <a:path w="176529" h="396239">
                  <a:moveTo>
                    <a:pt x="176047" y="0"/>
                  </a:moveTo>
                  <a:lnTo>
                    <a:pt x="96126" y="0"/>
                  </a:lnTo>
                  <a:lnTo>
                    <a:pt x="96126" y="88912"/>
                  </a:lnTo>
                  <a:lnTo>
                    <a:pt x="0" y="88912"/>
                  </a:lnTo>
                  <a:lnTo>
                    <a:pt x="0" y="395643"/>
                  </a:lnTo>
                  <a:lnTo>
                    <a:pt x="56515" y="395643"/>
                  </a:lnTo>
                  <a:lnTo>
                    <a:pt x="113042" y="395643"/>
                  </a:lnTo>
                  <a:lnTo>
                    <a:pt x="113042" y="306362"/>
                  </a:lnTo>
                  <a:lnTo>
                    <a:pt x="136080" y="306362"/>
                  </a:lnTo>
                  <a:lnTo>
                    <a:pt x="176047" y="306362"/>
                  </a:lnTo>
                  <a:lnTo>
                    <a:pt x="176047" y="0"/>
                  </a:lnTo>
                  <a:close/>
                </a:path>
              </a:pathLst>
            </a:custGeom>
            <a:solidFill>
              <a:srgbClr val="33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848358" y="4290834"/>
              <a:ext cx="113664" cy="307340"/>
            </a:xfrm>
            <a:custGeom>
              <a:avLst/>
              <a:gdLst/>
              <a:ahLst/>
              <a:cxnLst/>
              <a:rect l="l" t="t" r="r" b="b"/>
              <a:pathLst>
                <a:path w="113665" h="307339">
                  <a:moveTo>
                    <a:pt x="56515" y="306730"/>
                  </a:moveTo>
                  <a:lnTo>
                    <a:pt x="0" y="306730"/>
                  </a:lnTo>
                  <a:lnTo>
                    <a:pt x="0" y="0"/>
                  </a:lnTo>
                  <a:lnTo>
                    <a:pt x="113042" y="0"/>
                  </a:lnTo>
                  <a:lnTo>
                    <a:pt x="113042" y="306730"/>
                  </a:lnTo>
                  <a:lnTo>
                    <a:pt x="56515" y="30673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846923" y="419868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33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842243" y="4194003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679"/>
                  </a:moveTo>
                  <a:lnTo>
                    <a:pt x="1370" y="1370"/>
                  </a:lnTo>
                  <a:lnTo>
                    <a:pt x="4679" y="0"/>
                  </a:lnTo>
                  <a:lnTo>
                    <a:pt x="7989" y="1370"/>
                  </a:lnTo>
                  <a:lnTo>
                    <a:pt x="9359" y="4679"/>
                  </a:lnTo>
                  <a:lnTo>
                    <a:pt x="7989" y="7989"/>
                  </a:lnTo>
                  <a:lnTo>
                    <a:pt x="4679" y="9359"/>
                  </a:lnTo>
                  <a:lnTo>
                    <a:pt x="1370" y="7989"/>
                  </a:lnTo>
                  <a:lnTo>
                    <a:pt x="0" y="4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045285" y="4205160"/>
              <a:ext cx="0" cy="300355"/>
            </a:xfrm>
            <a:custGeom>
              <a:avLst/>
              <a:gdLst/>
              <a:ahLst/>
              <a:cxnLst/>
              <a:rect l="l" t="t" r="r" b="b"/>
              <a:pathLst>
                <a:path h="300354">
                  <a:moveTo>
                    <a:pt x="0" y="0"/>
                  </a:moveTo>
                  <a:lnTo>
                    <a:pt x="0" y="30024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59160" y="4327556"/>
              <a:ext cx="188645" cy="27468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835036" y="4644719"/>
              <a:ext cx="178435" cy="395605"/>
            </a:xfrm>
            <a:custGeom>
              <a:avLst/>
              <a:gdLst/>
              <a:ahLst/>
              <a:cxnLst/>
              <a:rect l="l" t="t" r="r" b="b"/>
              <a:pathLst>
                <a:path w="178434" h="395604">
                  <a:moveTo>
                    <a:pt x="178206" y="0"/>
                  </a:moveTo>
                  <a:lnTo>
                    <a:pt x="98285" y="0"/>
                  </a:lnTo>
                  <a:lnTo>
                    <a:pt x="98285" y="90360"/>
                  </a:lnTo>
                  <a:lnTo>
                    <a:pt x="0" y="90360"/>
                  </a:lnTo>
                  <a:lnTo>
                    <a:pt x="0" y="395274"/>
                  </a:lnTo>
                  <a:lnTo>
                    <a:pt x="57607" y="395274"/>
                  </a:lnTo>
                  <a:lnTo>
                    <a:pt x="114846" y="395274"/>
                  </a:lnTo>
                  <a:lnTo>
                    <a:pt x="114846" y="304914"/>
                  </a:lnTo>
                  <a:lnTo>
                    <a:pt x="138239" y="304914"/>
                  </a:lnTo>
                  <a:lnTo>
                    <a:pt x="178206" y="304914"/>
                  </a:lnTo>
                  <a:lnTo>
                    <a:pt x="178206" y="0"/>
                  </a:lnTo>
                  <a:close/>
                </a:path>
              </a:pathLst>
            </a:custGeom>
            <a:solidFill>
              <a:srgbClr val="33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835036" y="4735080"/>
              <a:ext cx="114935" cy="305435"/>
            </a:xfrm>
            <a:custGeom>
              <a:avLst/>
              <a:gdLst/>
              <a:ahLst/>
              <a:cxnLst/>
              <a:rect l="l" t="t" r="r" b="b"/>
              <a:pathLst>
                <a:path w="114934" h="305435">
                  <a:moveTo>
                    <a:pt x="57607" y="304914"/>
                  </a:moveTo>
                  <a:lnTo>
                    <a:pt x="0" y="304914"/>
                  </a:lnTo>
                  <a:lnTo>
                    <a:pt x="0" y="0"/>
                  </a:lnTo>
                  <a:lnTo>
                    <a:pt x="114846" y="0"/>
                  </a:lnTo>
                  <a:lnTo>
                    <a:pt x="114846" y="304914"/>
                  </a:lnTo>
                  <a:lnTo>
                    <a:pt x="57607" y="304914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834325" y="464291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33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829645" y="4638236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679"/>
                  </a:moveTo>
                  <a:lnTo>
                    <a:pt x="1370" y="1370"/>
                  </a:lnTo>
                  <a:lnTo>
                    <a:pt x="4679" y="0"/>
                  </a:lnTo>
                  <a:lnTo>
                    <a:pt x="7989" y="1370"/>
                  </a:lnTo>
                  <a:lnTo>
                    <a:pt x="9359" y="4679"/>
                  </a:lnTo>
                  <a:lnTo>
                    <a:pt x="7989" y="7989"/>
                  </a:lnTo>
                  <a:lnTo>
                    <a:pt x="4679" y="9359"/>
                  </a:lnTo>
                  <a:lnTo>
                    <a:pt x="1370" y="7989"/>
                  </a:lnTo>
                  <a:lnTo>
                    <a:pt x="0" y="4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032674" y="4649762"/>
              <a:ext cx="0" cy="298450"/>
            </a:xfrm>
            <a:custGeom>
              <a:avLst/>
              <a:gdLst/>
              <a:ahLst/>
              <a:cxnLst/>
              <a:rect l="l" t="t" r="r" b="b"/>
              <a:pathLst>
                <a:path h="298450">
                  <a:moveTo>
                    <a:pt x="0" y="0"/>
                  </a:moveTo>
                  <a:lnTo>
                    <a:pt x="0" y="298437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46561" y="4772158"/>
              <a:ext cx="188277" cy="27288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43876" y="3706914"/>
              <a:ext cx="286385" cy="1181100"/>
            </a:xfrm>
            <a:custGeom>
              <a:avLst/>
              <a:gdLst/>
              <a:ahLst/>
              <a:cxnLst/>
              <a:rect l="l" t="t" r="r" b="b"/>
              <a:pathLst>
                <a:path w="286384" h="1181100">
                  <a:moveTo>
                    <a:pt x="122047" y="1180807"/>
                  </a:moveTo>
                  <a:lnTo>
                    <a:pt x="123837" y="550443"/>
                  </a:lnTo>
                </a:path>
                <a:path w="286384" h="1181100">
                  <a:moveTo>
                    <a:pt x="119164" y="1170000"/>
                  </a:moveTo>
                  <a:lnTo>
                    <a:pt x="222123" y="1171447"/>
                  </a:lnTo>
                </a:path>
                <a:path w="286384" h="1181100">
                  <a:moveTo>
                    <a:pt x="115925" y="693724"/>
                  </a:moveTo>
                  <a:lnTo>
                    <a:pt x="204838" y="695159"/>
                  </a:lnTo>
                </a:path>
                <a:path w="286384" h="1181100">
                  <a:moveTo>
                    <a:pt x="285838" y="0"/>
                  </a:moveTo>
                  <a:lnTo>
                    <a:pt x="0" y="360362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379995" y="415908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379995" y="4148277"/>
              <a:ext cx="489584" cy="71755"/>
            </a:xfrm>
            <a:custGeom>
              <a:avLst/>
              <a:gdLst/>
              <a:ahLst/>
              <a:cxnLst/>
              <a:rect l="l" t="t" r="r" b="b"/>
              <a:pathLst>
                <a:path w="489584" h="71754">
                  <a:moveTo>
                    <a:pt x="0" y="10807"/>
                  </a:moveTo>
                  <a:lnTo>
                    <a:pt x="0" y="10807"/>
                  </a:lnTo>
                  <a:lnTo>
                    <a:pt x="0" y="10807"/>
                  </a:lnTo>
                  <a:close/>
                </a:path>
                <a:path w="489584" h="71754">
                  <a:moveTo>
                    <a:pt x="0" y="0"/>
                  </a:moveTo>
                  <a:lnTo>
                    <a:pt x="0" y="71285"/>
                  </a:lnTo>
                </a:path>
                <a:path w="489584" h="71754">
                  <a:moveTo>
                    <a:pt x="489242" y="0"/>
                  </a:moveTo>
                  <a:lnTo>
                    <a:pt x="489242" y="71285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379995" y="4148277"/>
              <a:ext cx="473075" cy="69850"/>
            </a:xfrm>
            <a:custGeom>
              <a:avLst/>
              <a:gdLst/>
              <a:ahLst/>
              <a:cxnLst/>
              <a:rect l="l" t="t" r="r" b="b"/>
              <a:pathLst>
                <a:path w="473075" h="69850">
                  <a:moveTo>
                    <a:pt x="473049" y="0"/>
                  </a:moveTo>
                  <a:lnTo>
                    <a:pt x="0" y="0"/>
                  </a:lnTo>
                  <a:lnTo>
                    <a:pt x="0" y="69837"/>
                  </a:lnTo>
                  <a:lnTo>
                    <a:pt x="236524" y="69837"/>
                  </a:lnTo>
                  <a:lnTo>
                    <a:pt x="473049" y="69837"/>
                  </a:lnTo>
                  <a:lnTo>
                    <a:pt x="473049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377125" y="405395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81701" y="4072144"/>
              <a:ext cx="241740" cy="109440"/>
            </a:xfrm>
            <a:prstGeom prst="rect">
              <a:avLst/>
            </a:prstGeom>
          </p:spPr>
        </p:pic>
      </p:grp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120" dirty="0"/>
              <a:t> </a:t>
            </a:r>
            <a:r>
              <a:rPr dirty="0"/>
              <a:t>network</a:t>
            </a:r>
            <a:r>
              <a:rPr spc="-100" dirty="0"/>
              <a:t> </a:t>
            </a:r>
            <a:r>
              <a:rPr spc="-10" dirty="0"/>
              <a:t>edge: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6819" y="2678371"/>
            <a:ext cx="3820795" cy="164655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00"/>
              </a:spcBef>
            </a:pPr>
            <a:r>
              <a:rPr sz="3525" spc="1372" baseline="13002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525" spc="-240" baseline="13002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end</a:t>
            </a:r>
            <a:r>
              <a:rPr sz="2800" spc="-5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systems</a:t>
            </a:r>
            <a:r>
              <a:rPr sz="2800" spc="-6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omic Sans MS"/>
                <a:cs typeface="Comic Sans MS"/>
              </a:rPr>
              <a:t>(hosts):</a:t>
            </a:r>
            <a:endParaRPr sz="2800">
              <a:latin typeface="Comic Sans MS"/>
              <a:cs typeface="Comic Sans MS"/>
            </a:endParaRPr>
          </a:p>
          <a:p>
            <a:pPr marL="495300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02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run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application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programs</a:t>
            </a:r>
            <a:endParaRPr sz="2000">
              <a:latin typeface="Comic Sans MS"/>
              <a:cs typeface="Comic Sans MS"/>
            </a:endParaRPr>
          </a:p>
          <a:p>
            <a:pPr marL="495300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09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e.g.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Web,</a:t>
            </a:r>
            <a:r>
              <a:rPr sz="2000" spc="-20" dirty="0">
                <a:latin typeface="Comic Sans MS"/>
                <a:cs typeface="Comic Sans MS"/>
              </a:rPr>
              <a:t> email</a:t>
            </a:r>
            <a:endParaRPr sz="2000">
              <a:latin typeface="Comic Sans MS"/>
              <a:cs typeface="Comic Sans MS"/>
            </a:endParaRPr>
          </a:p>
          <a:p>
            <a:pPr marL="495300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25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at</a:t>
            </a:r>
            <a:r>
              <a:rPr sz="2000" spc="-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“edge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of</a:t>
            </a:r>
            <a:r>
              <a:rPr sz="2000" spc="-10" dirty="0">
                <a:latin typeface="Comic Sans MS"/>
                <a:cs typeface="Comic Sans MS"/>
              </a:rPr>
              <a:t> network”</a:t>
            </a:r>
            <a:endParaRPr sz="2000">
              <a:latin typeface="Comic Sans MS"/>
              <a:cs typeface="Comic Sans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397400" y="1869833"/>
            <a:ext cx="4069079" cy="3905885"/>
            <a:chOff x="4397400" y="1869833"/>
            <a:chExt cx="4069079" cy="39058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97400" y="1869833"/>
              <a:ext cx="4003739" cy="176400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45514" y="3846601"/>
              <a:ext cx="203047" cy="24119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90997" y="3678123"/>
              <a:ext cx="2240280" cy="189575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57683" y="5128196"/>
              <a:ext cx="395630" cy="41363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848359" y="4201921"/>
              <a:ext cx="176530" cy="396240"/>
            </a:xfrm>
            <a:custGeom>
              <a:avLst/>
              <a:gdLst/>
              <a:ahLst/>
              <a:cxnLst/>
              <a:rect l="l" t="t" r="r" b="b"/>
              <a:pathLst>
                <a:path w="176529" h="396239">
                  <a:moveTo>
                    <a:pt x="176047" y="0"/>
                  </a:moveTo>
                  <a:lnTo>
                    <a:pt x="96126" y="0"/>
                  </a:lnTo>
                  <a:lnTo>
                    <a:pt x="96126" y="88912"/>
                  </a:lnTo>
                  <a:lnTo>
                    <a:pt x="0" y="88912"/>
                  </a:lnTo>
                  <a:lnTo>
                    <a:pt x="0" y="395643"/>
                  </a:lnTo>
                  <a:lnTo>
                    <a:pt x="56515" y="395643"/>
                  </a:lnTo>
                  <a:lnTo>
                    <a:pt x="113042" y="395643"/>
                  </a:lnTo>
                  <a:lnTo>
                    <a:pt x="113042" y="306362"/>
                  </a:lnTo>
                  <a:lnTo>
                    <a:pt x="136080" y="306362"/>
                  </a:lnTo>
                  <a:lnTo>
                    <a:pt x="176047" y="306362"/>
                  </a:lnTo>
                  <a:lnTo>
                    <a:pt x="176047" y="0"/>
                  </a:lnTo>
                  <a:close/>
                </a:path>
              </a:pathLst>
            </a:custGeom>
            <a:solidFill>
              <a:srgbClr val="33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848358" y="4290834"/>
              <a:ext cx="113664" cy="307340"/>
            </a:xfrm>
            <a:custGeom>
              <a:avLst/>
              <a:gdLst/>
              <a:ahLst/>
              <a:cxnLst/>
              <a:rect l="l" t="t" r="r" b="b"/>
              <a:pathLst>
                <a:path w="113665" h="307339">
                  <a:moveTo>
                    <a:pt x="56515" y="306730"/>
                  </a:moveTo>
                  <a:lnTo>
                    <a:pt x="0" y="306730"/>
                  </a:lnTo>
                  <a:lnTo>
                    <a:pt x="0" y="0"/>
                  </a:lnTo>
                  <a:lnTo>
                    <a:pt x="113042" y="0"/>
                  </a:lnTo>
                  <a:lnTo>
                    <a:pt x="113042" y="306730"/>
                  </a:lnTo>
                  <a:lnTo>
                    <a:pt x="56515" y="30673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846923" y="419868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33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842243" y="4194003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679"/>
                  </a:moveTo>
                  <a:lnTo>
                    <a:pt x="1370" y="1370"/>
                  </a:lnTo>
                  <a:lnTo>
                    <a:pt x="4679" y="0"/>
                  </a:lnTo>
                  <a:lnTo>
                    <a:pt x="7989" y="1370"/>
                  </a:lnTo>
                  <a:lnTo>
                    <a:pt x="9359" y="4679"/>
                  </a:lnTo>
                  <a:lnTo>
                    <a:pt x="7989" y="7989"/>
                  </a:lnTo>
                  <a:lnTo>
                    <a:pt x="4679" y="9359"/>
                  </a:lnTo>
                  <a:lnTo>
                    <a:pt x="1370" y="7989"/>
                  </a:lnTo>
                  <a:lnTo>
                    <a:pt x="0" y="4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045284" y="4205160"/>
              <a:ext cx="0" cy="300355"/>
            </a:xfrm>
            <a:custGeom>
              <a:avLst/>
              <a:gdLst/>
              <a:ahLst/>
              <a:cxnLst/>
              <a:rect l="l" t="t" r="r" b="b"/>
              <a:pathLst>
                <a:path h="300354">
                  <a:moveTo>
                    <a:pt x="0" y="0"/>
                  </a:moveTo>
                  <a:lnTo>
                    <a:pt x="0" y="30024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59160" y="4327556"/>
              <a:ext cx="188645" cy="27468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808760" y="465264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922514" y="4754524"/>
              <a:ext cx="516890" cy="1016000"/>
            </a:xfrm>
            <a:custGeom>
              <a:avLst/>
              <a:gdLst/>
              <a:ahLst/>
              <a:cxnLst/>
              <a:rect l="l" t="t" r="r" b="b"/>
              <a:pathLst>
                <a:path w="516890" h="1016000">
                  <a:moveTo>
                    <a:pt x="516610" y="0"/>
                  </a:moveTo>
                  <a:lnTo>
                    <a:pt x="268211" y="0"/>
                  </a:lnTo>
                  <a:lnTo>
                    <a:pt x="268211" y="226796"/>
                  </a:lnTo>
                  <a:lnTo>
                    <a:pt x="0" y="226796"/>
                  </a:lnTo>
                  <a:lnTo>
                    <a:pt x="0" y="1015555"/>
                  </a:lnTo>
                  <a:lnTo>
                    <a:pt x="165608" y="1015555"/>
                  </a:lnTo>
                  <a:lnTo>
                    <a:pt x="330847" y="1015555"/>
                  </a:lnTo>
                  <a:lnTo>
                    <a:pt x="330847" y="789114"/>
                  </a:lnTo>
                  <a:lnTo>
                    <a:pt x="392404" y="789114"/>
                  </a:lnTo>
                  <a:lnTo>
                    <a:pt x="516610" y="789114"/>
                  </a:lnTo>
                  <a:lnTo>
                    <a:pt x="516610" y="0"/>
                  </a:lnTo>
                  <a:close/>
                </a:path>
              </a:pathLst>
            </a:custGeom>
            <a:solidFill>
              <a:srgbClr val="33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922514" y="4981320"/>
              <a:ext cx="331470" cy="789305"/>
            </a:xfrm>
            <a:custGeom>
              <a:avLst/>
              <a:gdLst/>
              <a:ahLst/>
              <a:cxnLst/>
              <a:rect l="l" t="t" r="r" b="b"/>
              <a:pathLst>
                <a:path w="331470" h="789304">
                  <a:moveTo>
                    <a:pt x="165607" y="788758"/>
                  </a:moveTo>
                  <a:lnTo>
                    <a:pt x="0" y="788758"/>
                  </a:lnTo>
                  <a:lnTo>
                    <a:pt x="0" y="0"/>
                  </a:lnTo>
                  <a:lnTo>
                    <a:pt x="330847" y="0"/>
                  </a:lnTo>
                  <a:lnTo>
                    <a:pt x="330847" y="788758"/>
                  </a:lnTo>
                  <a:lnTo>
                    <a:pt x="165607" y="788758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919999" y="474803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33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915319" y="4743354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679"/>
                  </a:moveTo>
                  <a:lnTo>
                    <a:pt x="1370" y="1370"/>
                  </a:lnTo>
                  <a:lnTo>
                    <a:pt x="4679" y="0"/>
                  </a:lnTo>
                  <a:lnTo>
                    <a:pt x="7989" y="1370"/>
                  </a:lnTo>
                  <a:lnTo>
                    <a:pt x="9359" y="4679"/>
                  </a:lnTo>
                  <a:lnTo>
                    <a:pt x="7989" y="7989"/>
                  </a:lnTo>
                  <a:lnTo>
                    <a:pt x="4679" y="9359"/>
                  </a:lnTo>
                  <a:lnTo>
                    <a:pt x="1370" y="7989"/>
                  </a:lnTo>
                  <a:lnTo>
                    <a:pt x="0" y="4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255165" y="4765675"/>
              <a:ext cx="206375" cy="1005205"/>
            </a:xfrm>
            <a:custGeom>
              <a:avLst/>
              <a:gdLst/>
              <a:ahLst/>
              <a:cxnLst/>
              <a:rect l="l" t="t" r="r" b="b"/>
              <a:pathLst>
                <a:path w="206375" h="1005204">
                  <a:moveTo>
                    <a:pt x="206273" y="0"/>
                  </a:moveTo>
                  <a:lnTo>
                    <a:pt x="206273" y="771486"/>
                  </a:lnTo>
                </a:path>
                <a:path w="206375" h="1005204">
                  <a:moveTo>
                    <a:pt x="204114" y="781202"/>
                  </a:moveTo>
                  <a:lnTo>
                    <a:pt x="0" y="100476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966798" y="5086438"/>
              <a:ext cx="219075" cy="450850"/>
            </a:xfrm>
            <a:custGeom>
              <a:avLst/>
              <a:gdLst/>
              <a:ahLst/>
              <a:cxnLst/>
              <a:rect l="l" t="t" r="r" b="b"/>
              <a:pathLst>
                <a:path w="219075" h="450850">
                  <a:moveTo>
                    <a:pt x="218516" y="0"/>
                  </a:moveTo>
                  <a:lnTo>
                    <a:pt x="0" y="0"/>
                  </a:lnTo>
                  <a:lnTo>
                    <a:pt x="0" y="450722"/>
                  </a:lnTo>
                  <a:lnTo>
                    <a:pt x="109435" y="450722"/>
                  </a:lnTo>
                  <a:lnTo>
                    <a:pt x="218516" y="450722"/>
                  </a:lnTo>
                  <a:lnTo>
                    <a:pt x="218516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966798" y="5086438"/>
              <a:ext cx="219075" cy="450850"/>
            </a:xfrm>
            <a:custGeom>
              <a:avLst/>
              <a:gdLst/>
              <a:ahLst/>
              <a:cxnLst/>
              <a:rect l="l" t="t" r="r" b="b"/>
              <a:pathLst>
                <a:path w="219075" h="450850">
                  <a:moveTo>
                    <a:pt x="109435" y="450722"/>
                  </a:moveTo>
                  <a:lnTo>
                    <a:pt x="0" y="450722"/>
                  </a:lnTo>
                  <a:lnTo>
                    <a:pt x="0" y="0"/>
                  </a:lnTo>
                  <a:lnTo>
                    <a:pt x="218516" y="0"/>
                  </a:lnTo>
                  <a:lnTo>
                    <a:pt x="218516" y="450722"/>
                  </a:lnTo>
                  <a:lnTo>
                    <a:pt x="109435" y="450722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000644" y="5224322"/>
              <a:ext cx="163195" cy="154305"/>
            </a:xfrm>
            <a:custGeom>
              <a:avLst/>
              <a:gdLst/>
              <a:ahLst/>
              <a:cxnLst/>
              <a:rect l="l" t="t" r="r" b="b"/>
              <a:pathLst>
                <a:path w="163195" h="154304">
                  <a:moveTo>
                    <a:pt x="162712" y="0"/>
                  </a:moveTo>
                  <a:lnTo>
                    <a:pt x="0" y="0"/>
                  </a:lnTo>
                  <a:lnTo>
                    <a:pt x="0" y="154076"/>
                  </a:lnTo>
                  <a:lnTo>
                    <a:pt x="81356" y="154076"/>
                  </a:lnTo>
                  <a:lnTo>
                    <a:pt x="162712" y="154076"/>
                  </a:lnTo>
                  <a:lnTo>
                    <a:pt x="1627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643876" y="3706914"/>
              <a:ext cx="286385" cy="1181100"/>
            </a:xfrm>
            <a:custGeom>
              <a:avLst/>
              <a:gdLst/>
              <a:ahLst/>
              <a:cxnLst/>
              <a:rect l="l" t="t" r="r" b="b"/>
              <a:pathLst>
                <a:path w="286384" h="1181100">
                  <a:moveTo>
                    <a:pt x="122047" y="1180807"/>
                  </a:moveTo>
                  <a:lnTo>
                    <a:pt x="123837" y="550443"/>
                  </a:lnTo>
                </a:path>
                <a:path w="286384" h="1181100">
                  <a:moveTo>
                    <a:pt x="119164" y="1170000"/>
                  </a:moveTo>
                  <a:lnTo>
                    <a:pt x="222123" y="1171447"/>
                  </a:lnTo>
                </a:path>
                <a:path w="286384" h="1181100">
                  <a:moveTo>
                    <a:pt x="115925" y="693724"/>
                  </a:moveTo>
                  <a:lnTo>
                    <a:pt x="204838" y="695159"/>
                  </a:lnTo>
                </a:path>
                <a:path w="286384" h="1181100">
                  <a:moveTo>
                    <a:pt x="285838" y="0"/>
                  </a:moveTo>
                  <a:lnTo>
                    <a:pt x="0" y="360362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379995" y="415908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379995" y="4148277"/>
              <a:ext cx="489584" cy="71755"/>
            </a:xfrm>
            <a:custGeom>
              <a:avLst/>
              <a:gdLst/>
              <a:ahLst/>
              <a:cxnLst/>
              <a:rect l="l" t="t" r="r" b="b"/>
              <a:pathLst>
                <a:path w="489584" h="71754">
                  <a:moveTo>
                    <a:pt x="0" y="10807"/>
                  </a:moveTo>
                  <a:lnTo>
                    <a:pt x="0" y="10807"/>
                  </a:lnTo>
                  <a:lnTo>
                    <a:pt x="0" y="10807"/>
                  </a:lnTo>
                  <a:close/>
                </a:path>
                <a:path w="489584" h="71754">
                  <a:moveTo>
                    <a:pt x="0" y="0"/>
                  </a:moveTo>
                  <a:lnTo>
                    <a:pt x="0" y="71285"/>
                  </a:lnTo>
                </a:path>
                <a:path w="489584" h="71754">
                  <a:moveTo>
                    <a:pt x="489242" y="0"/>
                  </a:moveTo>
                  <a:lnTo>
                    <a:pt x="489242" y="71285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379995" y="4148277"/>
              <a:ext cx="473075" cy="69850"/>
            </a:xfrm>
            <a:custGeom>
              <a:avLst/>
              <a:gdLst/>
              <a:ahLst/>
              <a:cxnLst/>
              <a:rect l="l" t="t" r="r" b="b"/>
              <a:pathLst>
                <a:path w="473075" h="69850">
                  <a:moveTo>
                    <a:pt x="473049" y="0"/>
                  </a:moveTo>
                  <a:lnTo>
                    <a:pt x="0" y="0"/>
                  </a:lnTo>
                  <a:lnTo>
                    <a:pt x="0" y="69837"/>
                  </a:lnTo>
                  <a:lnTo>
                    <a:pt x="236524" y="69837"/>
                  </a:lnTo>
                  <a:lnTo>
                    <a:pt x="473049" y="69837"/>
                  </a:lnTo>
                  <a:lnTo>
                    <a:pt x="473049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377125" y="405395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81701" y="4072145"/>
              <a:ext cx="241740" cy="109440"/>
            </a:xfrm>
            <a:prstGeom prst="rect">
              <a:avLst/>
            </a:prstGeom>
          </p:spPr>
        </p:pic>
      </p:grp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120" dirty="0"/>
              <a:t> </a:t>
            </a:r>
            <a:r>
              <a:rPr dirty="0"/>
              <a:t>network</a:t>
            </a:r>
            <a:r>
              <a:rPr spc="-100" dirty="0"/>
              <a:t> </a:t>
            </a:r>
            <a:r>
              <a:rPr spc="-10" dirty="0"/>
              <a:t>edge: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4119" y="2678371"/>
            <a:ext cx="4396105" cy="271081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800"/>
              </a:spcBef>
            </a:pPr>
            <a:r>
              <a:rPr sz="3525" spc="1372" baseline="13002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525" spc="-225" baseline="13002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client/server</a:t>
            </a:r>
            <a:r>
              <a:rPr sz="2800" spc="-16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omic Sans MS"/>
                <a:cs typeface="Comic Sans MS"/>
              </a:rPr>
              <a:t>model</a:t>
            </a:r>
            <a:endParaRPr sz="2800" dirty="0">
              <a:latin typeface="Comic Sans MS"/>
              <a:cs typeface="Comic Sans MS"/>
            </a:endParaRPr>
          </a:p>
          <a:p>
            <a:pPr marL="783590" marR="43180" indent="-276225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494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client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host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requests,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receives </a:t>
            </a:r>
            <a:r>
              <a:rPr sz="2000" dirty="0">
                <a:latin typeface="Comic Sans MS"/>
                <a:cs typeface="Comic Sans MS"/>
              </a:rPr>
              <a:t>service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from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always-</a:t>
            </a:r>
            <a:r>
              <a:rPr sz="2000" dirty="0">
                <a:latin typeface="Comic Sans MS"/>
                <a:cs typeface="Comic Sans MS"/>
              </a:rPr>
              <a:t>on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server</a:t>
            </a:r>
            <a:endParaRPr sz="2000" dirty="0">
              <a:latin typeface="Comic Sans MS"/>
              <a:cs typeface="Comic Sans MS"/>
            </a:endParaRPr>
          </a:p>
          <a:p>
            <a:pPr marL="783590" marR="558165" indent="-276225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09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e.g.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Web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browser/server; </a:t>
            </a:r>
            <a:r>
              <a:rPr sz="2000" dirty="0">
                <a:latin typeface="Comic Sans MS"/>
                <a:cs typeface="Comic Sans MS"/>
              </a:rPr>
              <a:t>email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client/server</a:t>
            </a:r>
            <a:endParaRPr sz="2000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2000" dirty="0">
              <a:latin typeface="Comic Sans MS"/>
              <a:cs typeface="Comic Sans MS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3075" spc="1147" baseline="1355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45" baseline="135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why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such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popular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model?</a:t>
            </a:r>
            <a:endParaRPr sz="2400" dirty="0">
              <a:latin typeface="Comic Sans MS"/>
              <a:cs typeface="Comic Sans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397400" y="1869833"/>
            <a:ext cx="4069079" cy="3905885"/>
            <a:chOff x="4397400" y="1869833"/>
            <a:chExt cx="4069079" cy="39058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97400" y="1869833"/>
              <a:ext cx="4003739" cy="176400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45514" y="3846601"/>
              <a:ext cx="203047" cy="24119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90997" y="3678123"/>
              <a:ext cx="2240280" cy="189575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57683" y="5128196"/>
              <a:ext cx="395630" cy="41363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848359" y="4201921"/>
              <a:ext cx="176530" cy="396240"/>
            </a:xfrm>
            <a:custGeom>
              <a:avLst/>
              <a:gdLst/>
              <a:ahLst/>
              <a:cxnLst/>
              <a:rect l="l" t="t" r="r" b="b"/>
              <a:pathLst>
                <a:path w="176529" h="396239">
                  <a:moveTo>
                    <a:pt x="176047" y="0"/>
                  </a:moveTo>
                  <a:lnTo>
                    <a:pt x="96126" y="0"/>
                  </a:lnTo>
                  <a:lnTo>
                    <a:pt x="96126" y="88912"/>
                  </a:lnTo>
                  <a:lnTo>
                    <a:pt x="0" y="88912"/>
                  </a:lnTo>
                  <a:lnTo>
                    <a:pt x="0" y="395643"/>
                  </a:lnTo>
                  <a:lnTo>
                    <a:pt x="56515" y="395643"/>
                  </a:lnTo>
                  <a:lnTo>
                    <a:pt x="113042" y="395643"/>
                  </a:lnTo>
                  <a:lnTo>
                    <a:pt x="113042" y="306362"/>
                  </a:lnTo>
                  <a:lnTo>
                    <a:pt x="136080" y="306362"/>
                  </a:lnTo>
                  <a:lnTo>
                    <a:pt x="176047" y="306362"/>
                  </a:lnTo>
                  <a:lnTo>
                    <a:pt x="176047" y="0"/>
                  </a:lnTo>
                  <a:close/>
                </a:path>
              </a:pathLst>
            </a:custGeom>
            <a:solidFill>
              <a:srgbClr val="33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848358" y="4290834"/>
              <a:ext cx="113664" cy="307340"/>
            </a:xfrm>
            <a:custGeom>
              <a:avLst/>
              <a:gdLst/>
              <a:ahLst/>
              <a:cxnLst/>
              <a:rect l="l" t="t" r="r" b="b"/>
              <a:pathLst>
                <a:path w="113665" h="307339">
                  <a:moveTo>
                    <a:pt x="56515" y="306730"/>
                  </a:moveTo>
                  <a:lnTo>
                    <a:pt x="0" y="306730"/>
                  </a:lnTo>
                  <a:lnTo>
                    <a:pt x="0" y="0"/>
                  </a:lnTo>
                  <a:lnTo>
                    <a:pt x="113042" y="0"/>
                  </a:lnTo>
                  <a:lnTo>
                    <a:pt x="113042" y="306730"/>
                  </a:lnTo>
                  <a:lnTo>
                    <a:pt x="56515" y="30673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846923" y="419868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33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842243" y="4194003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679"/>
                  </a:moveTo>
                  <a:lnTo>
                    <a:pt x="1370" y="1370"/>
                  </a:lnTo>
                  <a:lnTo>
                    <a:pt x="4679" y="0"/>
                  </a:lnTo>
                  <a:lnTo>
                    <a:pt x="7989" y="1370"/>
                  </a:lnTo>
                  <a:lnTo>
                    <a:pt x="9359" y="4679"/>
                  </a:lnTo>
                  <a:lnTo>
                    <a:pt x="7989" y="7989"/>
                  </a:lnTo>
                  <a:lnTo>
                    <a:pt x="4679" y="9359"/>
                  </a:lnTo>
                  <a:lnTo>
                    <a:pt x="1370" y="7989"/>
                  </a:lnTo>
                  <a:lnTo>
                    <a:pt x="0" y="4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045284" y="4205160"/>
              <a:ext cx="0" cy="300355"/>
            </a:xfrm>
            <a:custGeom>
              <a:avLst/>
              <a:gdLst/>
              <a:ahLst/>
              <a:cxnLst/>
              <a:rect l="l" t="t" r="r" b="b"/>
              <a:pathLst>
                <a:path h="300354">
                  <a:moveTo>
                    <a:pt x="0" y="0"/>
                  </a:moveTo>
                  <a:lnTo>
                    <a:pt x="0" y="30024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59160" y="4327556"/>
              <a:ext cx="188645" cy="27468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808760" y="465264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922514" y="4754524"/>
              <a:ext cx="516890" cy="1016000"/>
            </a:xfrm>
            <a:custGeom>
              <a:avLst/>
              <a:gdLst/>
              <a:ahLst/>
              <a:cxnLst/>
              <a:rect l="l" t="t" r="r" b="b"/>
              <a:pathLst>
                <a:path w="516890" h="1016000">
                  <a:moveTo>
                    <a:pt x="516610" y="0"/>
                  </a:moveTo>
                  <a:lnTo>
                    <a:pt x="268211" y="0"/>
                  </a:lnTo>
                  <a:lnTo>
                    <a:pt x="268211" y="226796"/>
                  </a:lnTo>
                  <a:lnTo>
                    <a:pt x="0" y="226796"/>
                  </a:lnTo>
                  <a:lnTo>
                    <a:pt x="0" y="1015555"/>
                  </a:lnTo>
                  <a:lnTo>
                    <a:pt x="165608" y="1015555"/>
                  </a:lnTo>
                  <a:lnTo>
                    <a:pt x="330847" y="1015555"/>
                  </a:lnTo>
                  <a:lnTo>
                    <a:pt x="330847" y="789114"/>
                  </a:lnTo>
                  <a:lnTo>
                    <a:pt x="392404" y="789114"/>
                  </a:lnTo>
                  <a:lnTo>
                    <a:pt x="516610" y="789114"/>
                  </a:lnTo>
                  <a:lnTo>
                    <a:pt x="516610" y="0"/>
                  </a:lnTo>
                  <a:close/>
                </a:path>
              </a:pathLst>
            </a:custGeom>
            <a:solidFill>
              <a:srgbClr val="33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922514" y="4981320"/>
              <a:ext cx="331470" cy="789305"/>
            </a:xfrm>
            <a:custGeom>
              <a:avLst/>
              <a:gdLst/>
              <a:ahLst/>
              <a:cxnLst/>
              <a:rect l="l" t="t" r="r" b="b"/>
              <a:pathLst>
                <a:path w="331470" h="789304">
                  <a:moveTo>
                    <a:pt x="165607" y="788758"/>
                  </a:moveTo>
                  <a:lnTo>
                    <a:pt x="0" y="788758"/>
                  </a:lnTo>
                  <a:lnTo>
                    <a:pt x="0" y="0"/>
                  </a:lnTo>
                  <a:lnTo>
                    <a:pt x="330847" y="0"/>
                  </a:lnTo>
                  <a:lnTo>
                    <a:pt x="330847" y="788758"/>
                  </a:lnTo>
                  <a:lnTo>
                    <a:pt x="165607" y="788758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919999" y="474803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33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915319" y="4743354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679"/>
                  </a:moveTo>
                  <a:lnTo>
                    <a:pt x="1370" y="1370"/>
                  </a:lnTo>
                  <a:lnTo>
                    <a:pt x="4679" y="0"/>
                  </a:lnTo>
                  <a:lnTo>
                    <a:pt x="7989" y="1370"/>
                  </a:lnTo>
                  <a:lnTo>
                    <a:pt x="9359" y="4679"/>
                  </a:lnTo>
                  <a:lnTo>
                    <a:pt x="7989" y="7989"/>
                  </a:lnTo>
                  <a:lnTo>
                    <a:pt x="4679" y="9359"/>
                  </a:lnTo>
                  <a:lnTo>
                    <a:pt x="1370" y="7989"/>
                  </a:lnTo>
                  <a:lnTo>
                    <a:pt x="0" y="4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255165" y="4765675"/>
              <a:ext cx="206375" cy="1005205"/>
            </a:xfrm>
            <a:custGeom>
              <a:avLst/>
              <a:gdLst/>
              <a:ahLst/>
              <a:cxnLst/>
              <a:rect l="l" t="t" r="r" b="b"/>
              <a:pathLst>
                <a:path w="206375" h="1005204">
                  <a:moveTo>
                    <a:pt x="206273" y="0"/>
                  </a:moveTo>
                  <a:lnTo>
                    <a:pt x="206273" y="771486"/>
                  </a:lnTo>
                </a:path>
                <a:path w="206375" h="1005204">
                  <a:moveTo>
                    <a:pt x="204114" y="781202"/>
                  </a:moveTo>
                  <a:lnTo>
                    <a:pt x="0" y="100476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966798" y="5086438"/>
              <a:ext cx="219075" cy="450850"/>
            </a:xfrm>
            <a:custGeom>
              <a:avLst/>
              <a:gdLst/>
              <a:ahLst/>
              <a:cxnLst/>
              <a:rect l="l" t="t" r="r" b="b"/>
              <a:pathLst>
                <a:path w="219075" h="450850">
                  <a:moveTo>
                    <a:pt x="218516" y="0"/>
                  </a:moveTo>
                  <a:lnTo>
                    <a:pt x="0" y="0"/>
                  </a:lnTo>
                  <a:lnTo>
                    <a:pt x="0" y="450722"/>
                  </a:lnTo>
                  <a:lnTo>
                    <a:pt x="109435" y="450722"/>
                  </a:lnTo>
                  <a:lnTo>
                    <a:pt x="218516" y="450722"/>
                  </a:lnTo>
                  <a:lnTo>
                    <a:pt x="218516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966798" y="5086438"/>
              <a:ext cx="219075" cy="450850"/>
            </a:xfrm>
            <a:custGeom>
              <a:avLst/>
              <a:gdLst/>
              <a:ahLst/>
              <a:cxnLst/>
              <a:rect l="l" t="t" r="r" b="b"/>
              <a:pathLst>
                <a:path w="219075" h="450850">
                  <a:moveTo>
                    <a:pt x="109435" y="450722"/>
                  </a:moveTo>
                  <a:lnTo>
                    <a:pt x="0" y="450722"/>
                  </a:lnTo>
                  <a:lnTo>
                    <a:pt x="0" y="0"/>
                  </a:lnTo>
                  <a:lnTo>
                    <a:pt x="218516" y="0"/>
                  </a:lnTo>
                  <a:lnTo>
                    <a:pt x="218516" y="450722"/>
                  </a:lnTo>
                  <a:lnTo>
                    <a:pt x="109435" y="450722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000644" y="5224322"/>
              <a:ext cx="163195" cy="154305"/>
            </a:xfrm>
            <a:custGeom>
              <a:avLst/>
              <a:gdLst/>
              <a:ahLst/>
              <a:cxnLst/>
              <a:rect l="l" t="t" r="r" b="b"/>
              <a:pathLst>
                <a:path w="163195" h="154304">
                  <a:moveTo>
                    <a:pt x="162712" y="0"/>
                  </a:moveTo>
                  <a:lnTo>
                    <a:pt x="0" y="0"/>
                  </a:lnTo>
                  <a:lnTo>
                    <a:pt x="0" y="154076"/>
                  </a:lnTo>
                  <a:lnTo>
                    <a:pt x="81356" y="154076"/>
                  </a:lnTo>
                  <a:lnTo>
                    <a:pt x="162712" y="154076"/>
                  </a:lnTo>
                  <a:lnTo>
                    <a:pt x="1627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643876" y="3706914"/>
              <a:ext cx="286385" cy="1181100"/>
            </a:xfrm>
            <a:custGeom>
              <a:avLst/>
              <a:gdLst/>
              <a:ahLst/>
              <a:cxnLst/>
              <a:rect l="l" t="t" r="r" b="b"/>
              <a:pathLst>
                <a:path w="286384" h="1181100">
                  <a:moveTo>
                    <a:pt x="122047" y="1180807"/>
                  </a:moveTo>
                  <a:lnTo>
                    <a:pt x="123837" y="550443"/>
                  </a:lnTo>
                </a:path>
                <a:path w="286384" h="1181100">
                  <a:moveTo>
                    <a:pt x="119164" y="1170000"/>
                  </a:moveTo>
                  <a:lnTo>
                    <a:pt x="222123" y="1171447"/>
                  </a:lnTo>
                </a:path>
                <a:path w="286384" h="1181100">
                  <a:moveTo>
                    <a:pt x="115925" y="693724"/>
                  </a:moveTo>
                  <a:lnTo>
                    <a:pt x="204838" y="695159"/>
                  </a:lnTo>
                </a:path>
                <a:path w="286384" h="1181100">
                  <a:moveTo>
                    <a:pt x="285838" y="0"/>
                  </a:moveTo>
                  <a:lnTo>
                    <a:pt x="0" y="360362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379995" y="415908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379995" y="4148277"/>
              <a:ext cx="489584" cy="71755"/>
            </a:xfrm>
            <a:custGeom>
              <a:avLst/>
              <a:gdLst/>
              <a:ahLst/>
              <a:cxnLst/>
              <a:rect l="l" t="t" r="r" b="b"/>
              <a:pathLst>
                <a:path w="489584" h="71754">
                  <a:moveTo>
                    <a:pt x="0" y="10807"/>
                  </a:moveTo>
                  <a:lnTo>
                    <a:pt x="0" y="10807"/>
                  </a:lnTo>
                  <a:lnTo>
                    <a:pt x="0" y="10807"/>
                  </a:lnTo>
                  <a:close/>
                </a:path>
                <a:path w="489584" h="71754">
                  <a:moveTo>
                    <a:pt x="0" y="0"/>
                  </a:moveTo>
                  <a:lnTo>
                    <a:pt x="0" y="71285"/>
                  </a:lnTo>
                </a:path>
                <a:path w="489584" h="71754">
                  <a:moveTo>
                    <a:pt x="489242" y="0"/>
                  </a:moveTo>
                  <a:lnTo>
                    <a:pt x="489242" y="71285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379995" y="4148277"/>
              <a:ext cx="473075" cy="69850"/>
            </a:xfrm>
            <a:custGeom>
              <a:avLst/>
              <a:gdLst/>
              <a:ahLst/>
              <a:cxnLst/>
              <a:rect l="l" t="t" r="r" b="b"/>
              <a:pathLst>
                <a:path w="473075" h="69850">
                  <a:moveTo>
                    <a:pt x="473049" y="0"/>
                  </a:moveTo>
                  <a:lnTo>
                    <a:pt x="0" y="0"/>
                  </a:lnTo>
                  <a:lnTo>
                    <a:pt x="0" y="69837"/>
                  </a:lnTo>
                  <a:lnTo>
                    <a:pt x="236524" y="69837"/>
                  </a:lnTo>
                  <a:lnTo>
                    <a:pt x="473049" y="69837"/>
                  </a:lnTo>
                  <a:lnTo>
                    <a:pt x="473049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377125" y="405395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81701" y="4072145"/>
              <a:ext cx="241740" cy="109440"/>
            </a:xfrm>
            <a:prstGeom prst="rect">
              <a:avLst/>
            </a:prstGeom>
          </p:spPr>
        </p:pic>
      </p:grp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120" dirty="0"/>
              <a:t> </a:t>
            </a:r>
            <a:r>
              <a:rPr dirty="0"/>
              <a:t>network</a:t>
            </a:r>
            <a:r>
              <a:rPr spc="-100" dirty="0"/>
              <a:t> </a:t>
            </a:r>
            <a:r>
              <a:rPr spc="-10" dirty="0"/>
              <a:t>edge: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6819" y="2767228"/>
            <a:ext cx="32359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525" spc="1372" baseline="13002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525" spc="-195" baseline="13002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FF0000"/>
                </a:solidFill>
                <a:latin typeface="Comic Sans MS"/>
                <a:cs typeface="Comic Sans MS"/>
              </a:rPr>
              <a:t>peer-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peer</a:t>
            </a:r>
            <a:r>
              <a:rPr sz="2800" spc="-2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omic Sans MS"/>
                <a:cs typeface="Comic Sans MS"/>
              </a:rPr>
              <a:t>model:</a:t>
            </a:r>
            <a:endParaRPr sz="2800" dirty="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9419" y="3264027"/>
            <a:ext cx="2070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509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91145" y="3257537"/>
            <a:ext cx="25673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mic Sans MS"/>
                <a:cs typeface="Comic Sans MS"/>
              </a:rPr>
              <a:t>minimal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(or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no)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use</a:t>
            </a:r>
            <a:r>
              <a:rPr sz="2000" spc="-25" dirty="0">
                <a:latin typeface="Comic Sans MS"/>
                <a:cs typeface="Comic Sans MS"/>
              </a:rPr>
              <a:t> of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1319" y="3498819"/>
            <a:ext cx="2745740" cy="113030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53340" algn="ctr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latin typeface="Comic Sans MS"/>
                <a:cs typeface="Comic Sans MS"/>
              </a:rPr>
              <a:t>dedicated</a:t>
            </a:r>
            <a:r>
              <a:rPr sz="2000" spc="-5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servers</a:t>
            </a:r>
            <a:endParaRPr sz="2000" dirty="0"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487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e.g.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Gnutella,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spc="-20" dirty="0">
                <a:latin typeface="Comic Sans MS"/>
                <a:cs typeface="Comic Sans MS"/>
              </a:rPr>
              <a:t>KaZaA</a:t>
            </a:r>
            <a:endParaRPr sz="2000" dirty="0">
              <a:latin typeface="Comic Sans MS"/>
              <a:cs typeface="Comic Sans MS"/>
            </a:endParaRPr>
          </a:p>
          <a:p>
            <a:pPr marL="50800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47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SETI@home?</a:t>
            </a:r>
            <a:endParaRPr sz="2000" dirty="0">
              <a:latin typeface="Comic Sans MS"/>
              <a:cs typeface="Comic Sans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397400" y="1869833"/>
            <a:ext cx="4069079" cy="3905885"/>
            <a:chOff x="4397400" y="1869833"/>
            <a:chExt cx="4069079" cy="390588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97400" y="1869833"/>
              <a:ext cx="4003739" cy="176400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45514" y="3846601"/>
              <a:ext cx="203047" cy="24119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90997" y="3678123"/>
              <a:ext cx="2240280" cy="189575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57683" y="5128196"/>
              <a:ext cx="395630" cy="41363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848359" y="4201921"/>
              <a:ext cx="176530" cy="396240"/>
            </a:xfrm>
            <a:custGeom>
              <a:avLst/>
              <a:gdLst/>
              <a:ahLst/>
              <a:cxnLst/>
              <a:rect l="l" t="t" r="r" b="b"/>
              <a:pathLst>
                <a:path w="176529" h="396239">
                  <a:moveTo>
                    <a:pt x="176047" y="0"/>
                  </a:moveTo>
                  <a:lnTo>
                    <a:pt x="96126" y="0"/>
                  </a:lnTo>
                  <a:lnTo>
                    <a:pt x="96126" y="88912"/>
                  </a:lnTo>
                  <a:lnTo>
                    <a:pt x="0" y="88912"/>
                  </a:lnTo>
                  <a:lnTo>
                    <a:pt x="0" y="395643"/>
                  </a:lnTo>
                  <a:lnTo>
                    <a:pt x="56515" y="395643"/>
                  </a:lnTo>
                  <a:lnTo>
                    <a:pt x="113042" y="395643"/>
                  </a:lnTo>
                  <a:lnTo>
                    <a:pt x="113042" y="306362"/>
                  </a:lnTo>
                  <a:lnTo>
                    <a:pt x="136080" y="306362"/>
                  </a:lnTo>
                  <a:lnTo>
                    <a:pt x="176047" y="306362"/>
                  </a:lnTo>
                  <a:lnTo>
                    <a:pt x="176047" y="0"/>
                  </a:lnTo>
                  <a:close/>
                </a:path>
              </a:pathLst>
            </a:custGeom>
            <a:solidFill>
              <a:srgbClr val="33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848358" y="4290834"/>
              <a:ext cx="113664" cy="307340"/>
            </a:xfrm>
            <a:custGeom>
              <a:avLst/>
              <a:gdLst/>
              <a:ahLst/>
              <a:cxnLst/>
              <a:rect l="l" t="t" r="r" b="b"/>
              <a:pathLst>
                <a:path w="113665" h="307339">
                  <a:moveTo>
                    <a:pt x="56515" y="306730"/>
                  </a:moveTo>
                  <a:lnTo>
                    <a:pt x="0" y="306730"/>
                  </a:lnTo>
                  <a:lnTo>
                    <a:pt x="0" y="0"/>
                  </a:lnTo>
                  <a:lnTo>
                    <a:pt x="113042" y="0"/>
                  </a:lnTo>
                  <a:lnTo>
                    <a:pt x="113042" y="306730"/>
                  </a:lnTo>
                  <a:lnTo>
                    <a:pt x="56515" y="30673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846923" y="419868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33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842243" y="4194003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679"/>
                  </a:moveTo>
                  <a:lnTo>
                    <a:pt x="1370" y="1370"/>
                  </a:lnTo>
                  <a:lnTo>
                    <a:pt x="4679" y="0"/>
                  </a:lnTo>
                  <a:lnTo>
                    <a:pt x="7989" y="1370"/>
                  </a:lnTo>
                  <a:lnTo>
                    <a:pt x="9359" y="4679"/>
                  </a:lnTo>
                  <a:lnTo>
                    <a:pt x="7989" y="7989"/>
                  </a:lnTo>
                  <a:lnTo>
                    <a:pt x="4679" y="9359"/>
                  </a:lnTo>
                  <a:lnTo>
                    <a:pt x="1370" y="7989"/>
                  </a:lnTo>
                  <a:lnTo>
                    <a:pt x="0" y="4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045284" y="4205160"/>
              <a:ext cx="0" cy="300355"/>
            </a:xfrm>
            <a:custGeom>
              <a:avLst/>
              <a:gdLst/>
              <a:ahLst/>
              <a:cxnLst/>
              <a:rect l="l" t="t" r="r" b="b"/>
              <a:pathLst>
                <a:path h="300354">
                  <a:moveTo>
                    <a:pt x="0" y="0"/>
                  </a:moveTo>
                  <a:lnTo>
                    <a:pt x="0" y="30024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59160" y="4327556"/>
              <a:ext cx="188645" cy="27468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808760" y="465264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922514" y="4754524"/>
              <a:ext cx="516890" cy="1016000"/>
            </a:xfrm>
            <a:custGeom>
              <a:avLst/>
              <a:gdLst/>
              <a:ahLst/>
              <a:cxnLst/>
              <a:rect l="l" t="t" r="r" b="b"/>
              <a:pathLst>
                <a:path w="516890" h="1016000">
                  <a:moveTo>
                    <a:pt x="516610" y="0"/>
                  </a:moveTo>
                  <a:lnTo>
                    <a:pt x="268211" y="0"/>
                  </a:lnTo>
                  <a:lnTo>
                    <a:pt x="268211" y="226796"/>
                  </a:lnTo>
                  <a:lnTo>
                    <a:pt x="0" y="226796"/>
                  </a:lnTo>
                  <a:lnTo>
                    <a:pt x="0" y="1015555"/>
                  </a:lnTo>
                  <a:lnTo>
                    <a:pt x="165608" y="1015555"/>
                  </a:lnTo>
                  <a:lnTo>
                    <a:pt x="330847" y="1015555"/>
                  </a:lnTo>
                  <a:lnTo>
                    <a:pt x="330847" y="789114"/>
                  </a:lnTo>
                  <a:lnTo>
                    <a:pt x="392404" y="789114"/>
                  </a:lnTo>
                  <a:lnTo>
                    <a:pt x="516610" y="789114"/>
                  </a:lnTo>
                  <a:lnTo>
                    <a:pt x="516610" y="0"/>
                  </a:lnTo>
                  <a:close/>
                </a:path>
              </a:pathLst>
            </a:custGeom>
            <a:solidFill>
              <a:srgbClr val="33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922514" y="4981320"/>
              <a:ext cx="331470" cy="789305"/>
            </a:xfrm>
            <a:custGeom>
              <a:avLst/>
              <a:gdLst/>
              <a:ahLst/>
              <a:cxnLst/>
              <a:rect l="l" t="t" r="r" b="b"/>
              <a:pathLst>
                <a:path w="331470" h="789304">
                  <a:moveTo>
                    <a:pt x="165607" y="788758"/>
                  </a:moveTo>
                  <a:lnTo>
                    <a:pt x="0" y="788758"/>
                  </a:lnTo>
                  <a:lnTo>
                    <a:pt x="0" y="0"/>
                  </a:lnTo>
                  <a:lnTo>
                    <a:pt x="330847" y="0"/>
                  </a:lnTo>
                  <a:lnTo>
                    <a:pt x="330847" y="788758"/>
                  </a:lnTo>
                  <a:lnTo>
                    <a:pt x="165607" y="788758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919999" y="474803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33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915319" y="4743354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679"/>
                  </a:moveTo>
                  <a:lnTo>
                    <a:pt x="1370" y="1370"/>
                  </a:lnTo>
                  <a:lnTo>
                    <a:pt x="4679" y="0"/>
                  </a:lnTo>
                  <a:lnTo>
                    <a:pt x="7989" y="1370"/>
                  </a:lnTo>
                  <a:lnTo>
                    <a:pt x="9359" y="4679"/>
                  </a:lnTo>
                  <a:lnTo>
                    <a:pt x="7989" y="7989"/>
                  </a:lnTo>
                  <a:lnTo>
                    <a:pt x="4679" y="9359"/>
                  </a:lnTo>
                  <a:lnTo>
                    <a:pt x="1370" y="7989"/>
                  </a:lnTo>
                  <a:lnTo>
                    <a:pt x="0" y="4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255165" y="4765675"/>
              <a:ext cx="206375" cy="1005205"/>
            </a:xfrm>
            <a:custGeom>
              <a:avLst/>
              <a:gdLst/>
              <a:ahLst/>
              <a:cxnLst/>
              <a:rect l="l" t="t" r="r" b="b"/>
              <a:pathLst>
                <a:path w="206375" h="1005204">
                  <a:moveTo>
                    <a:pt x="206273" y="0"/>
                  </a:moveTo>
                  <a:lnTo>
                    <a:pt x="206273" y="771486"/>
                  </a:lnTo>
                </a:path>
                <a:path w="206375" h="1005204">
                  <a:moveTo>
                    <a:pt x="204114" y="781202"/>
                  </a:moveTo>
                  <a:lnTo>
                    <a:pt x="0" y="100476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966798" y="5086438"/>
              <a:ext cx="219075" cy="450850"/>
            </a:xfrm>
            <a:custGeom>
              <a:avLst/>
              <a:gdLst/>
              <a:ahLst/>
              <a:cxnLst/>
              <a:rect l="l" t="t" r="r" b="b"/>
              <a:pathLst>
                <a:path w="219075" h="450850">
                  <a:moveTo>
                    <a:pt x="218516" y="0"/>
                  </a:moveTo>
                  <a:lnTo>
                    <a:pt x="0" y="0"/>
                  </a:lnTo>
                  <a:lnTo>
                    <a:pt x="0" y="450722"/>
                  </a:lnTo>
                  <a:lnTo>
                    <a:pt x="109435" y="450722"/>
                  </a:lnTo>
                  <a:lnTo>
                    <a:pt x="218516" y="450722"/>
                  </a:lnTo>
                  <a:lnTo>
                    <a:pt x="218516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966798" y="5086438"/>
              <a:ext cx="219075" cy="450850"/>
            </a:xfrm>
            <a:custGeom>
              <a:avLst/>
              <a:gdLst/>
              <a:ahLst/>
              <a:cxnLst/>
              <a:rect l="l" t="t" r="r" b="b"/>
              <a:pathLst>
                <a:path w="219075" h="450850">
                  <a:moveTo>
                    <a:pt x="109435" y="450722"/>
                  </a:moveTo>
                  <a:lnTo>
                    <a:pt x="0" y="450722"/>
                  </a:lnTo>
                  <a:lnTo>
                    <a:pt x="0" y="0"/>
                  </a:lnTo>
                  <a:lnTo>
                    <a:pt x="218516" y="0"/>
                  </a:lnTo>
                  <a:lnTo>
                    <a:pt x="218516" y="450722"/>
                  </a:lnTo>
                  <a:lnTo>
                    <a:pt x="109435" y="450722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000644" y="5224322"/>
              <a:ext cx="163195" cy="154305"/>
            </a:xfrm>
            <a:custGeom>
              <a:avLst/>
              <a:gdLst/>
              <a:ahLst/>
              <a:cxnLst/>
              <a:rect l="l" t="t" r="r" b="b"/>
              <a:pathLst>
                <a:path w="163195" h="154304">
                  <a:moveTo>
                    <a:pt x="162712" y="0"/>
                  </a:moveTo>
                  <a:lnTo>
                    <a:pt x="0" y="0"/>
                  </a:lnTo>
                  <a:lnTo>
                    <a:pt x="0" y="154076"/>
                  </a:lnTo>
                  <a:lnTo>
                    <a:pt x="81356" y="154076"/>
                  </a:lnTo>
                  <a:lnTo>
                    <a:pt x="162712" y="154076"/>
                  </a:lnTo>
                  <a:lnTo>
                    <a:pt x="1627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643876" y="3706914"/>
              <a:ext cx="286385" cy="1181100"/>
            </a:xfrm>
            <a:custGeom>
              <a:avLst/>
              <a:gdLst/>
              <a:ahLst/>
              <a:cxnLst/>
              <a:rect l="l" t="t" r="r" b="b"/>
              <a:pathLst>
                <a:path w="286384" h="1181100">
                  <a:moveTo>
                    <a:pt x="122047" y="1180807"/>
                  </a:moveTo>
                  <a:lnTo>
                    <a:pt x="123837" y="550443"/>
                  </a:lnTo>
                </a:path>
                <a:path w="286384" h="1181100">
                  <a:moveTo>
                    <a:pt x="119164" y="1170000"/>
                  </a:moveTo>
                  <a:lnTo>
                    <a:pt x="222123" y="1171447"/>
                  </a:lnTo>
                </a:path>
                <a:path w="286384" h="1181100">
                  <a:moveTo>
                    <a:pt x="115925" y="693724"/>
                  </a:moveTo>
                  <a:lnTo>
                    <a:pt x="204838" y="695159"/>
                  </a:lnTo>
                </a:path>
                <a:path w="286384" h="1181100">
                  <a:moveTo>
                    <a:pt x="285838" y="0"/>
                  </a:moveTo>
                  <a:lnTo>
                    <a:pt x="0" y="360362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379995" y="415908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379995" y="4148277"/>
              <a:ext cx="489584" cy="71755"/>
            </a:xfrm>
            <a:custGeom>
              <a:avLst/>
              <a:gdLst/>
              <a:ahLst/>
              <a:cxnLst/>
              <a:rect l="l" t="t" r="r" b="b"/>
              <a:pathLst>
                <a:path w="489584" h="71754">
                  <a:moveTo>
                    <a:pt x="0" y="10807"/>
                  </a:moveTo>
                  <a:lnTo>
                    <a:pt x="0" y="10807"/>
                  </a:lnTo>
                  <a:lnTo>
                    <a:pt x="0" y="10807"/>
                  </a:lnTo>
                  <a:close/>
                </a:path>
                <a:path w="489584" h="71754">
                  <a:moveTo>
                    <a:pt x="0" y="0"/>
                  </a:moveTo>
                  <a:lnTo>
                    <a:pt x="0" y="71285"/>
                  </a:lnTo>
                </a:path>
                <a:path w="489584" h="71754">
                  <a:moveTo>
                    <a:pt x="489242" y="0"/>
                  </a:moveTo>
                  <a:lnTo>
                    <a:pt x="489242" y="71285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379995" y="4148277"/>
              <a:ext cx="473075" cy="69850"/>
            </a:xfrm>
            <a:custGeom>
              <a:avLst/>
              <a:gdLst/>
              <a:ahLst/>
              <a:cxnLst/>
              <a:rect l="l" t="t" r="r" b="b"/>
              <a:pathLst>
                <a:path w="473075" h="69850">
                  <a:moveTo>
                    <a:pt x="473049" y="0"/>
                  </a:moveTo>
                  <a:lnTo>
                    <a:pt x="0" y="0"/>
                  </a:lnTo>
                  <a:lnTo>
                    <a:pt x="0" y="69837"/>
                  </a:lnTo>
                  <a:lnTo>
                    <a:pt x="236524" y="69837"/>
                  </a:lnTo>
                  <a:lnTo>
                    <a:pt x="473049" y="69837"/>
                  </a:lnTo>
                  <a:lnTo>
                    <a:pt x="473049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377125" y="405395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81701" y="4072145"/>
              <a:ext cx="241740" cy="109440"/>
            </a:xfrm>
            <a:prstGeom prst="rect">
              <a:avLst/>
            </a:prstGeom>
          </p:spPr>
        </p:pic>
      </p:grp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00"/>
              </a:spcBef>
            </a:pPr>
            <a:r>
              <a:rPr dirty="0"/>
              <a:t>What’s</a:t>
            </a:r>
            <a:r>
              <a:rPr spc="-110" dirty="0"/>
              <a:t> </a:t>
            </a:r>
            <a:r>
              <a:rPr dirty="0"/>
              <a:t>a</a:t>
            </a:r>
            <a:r>
              <a:rPr spc="-105" dirty="0"/>
              <a:t> </a:t>
            </a:r>
            <a:r>
              <a:rPr spc="-10" dirty="0"/>
              <a:t>protocol?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5419" y="1329865"/>
            <a:ext cx="3072130" cy="179070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690"/>
              </a:spcBef>
            </a:pP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human</a:t>
            </a:r>
            <a:r>
              <a:rPr sz="2400" u="sng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protocols:</a:t>
            </a:r>
            <a:endParaRPr sz="2400" dirty="0">
              <a:latin typeface="Comic Sans MS"/>
              <a:cs typeface="Comic Sans MS"/>
            </a:endParaRPr>
          </a:p>
          <a:p>
            <a:pPr marL="38100">
              <a:lnSpc>
                <a:spcPct val="100000"/>
              </a:lnSpc>
              <a:spcBef>
                <a:spcPts val="59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67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“what’s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time?”</a:t>
            </a:r>
            <a:endParaRPr sz="2400" dirty="0">
              <a:latin typeface="Comic Sans MS"/>
              <a:cs typeface="Comic Sans MS"/>
            </a:endParaRPr>
          </a:p>
          <a:p>
            <a:pPr marL="38100">
              <a:lnSpc>
                <a:spcPct val="100000"/>
              </a:lnSpc>
              <a:spcBef>
                <a:spcPts val="595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75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“I</a:t>
            </a:r>
            <a:r>
              <a:rPr sz="2400" spc="-1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have</a:t>
            </a:r>
            <a:r>
              <a:rPr sz="2400" spc="-1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question”</a:t>
            </a:r>
            <a:endParaRPr sz="2400" dirty="0">
              <a:latin typeface="Comic Sans MS"/>
              <a:cs typeface="Comic Sans MS"/>
            </a:endParaRPr>
          </a:p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97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introductions</a:t>
            </a:r>
            <a:endParaRPr sz="2400" dirty="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47946" y="1326995"/>
            <a:ext cx="3540760" cy="244919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700"/>
              </a:spcBef>
            </a:pP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network</a:t>
            </a:r>
            <a:r>
              <a:rPr sz="2400" u="sng" spc="-5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protocols:</a:t>
            </a:r>
            <a:endParaRPr sz="2400" dirty="0">
              <a:latin typeface="Comic Sans MS"/>
              <a:cs typeface="Comic Sans MS"/>
            </a:endParaRPr>
          </a:p>
          <a:p>
            <a:pPr marL="370205" marR="124460" indent="-332740">
              <a:lnSpc>
                <a:spcPct val="100000"/>
              </a:lnSpc>
              <a:spcBef>
                <a:spcPts val="6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52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machines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rather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spc="-20" dirty="0">
                <a:latin typeface="Comic Sans MS"/>
                <a:cs typeface="Comic Sans MS"/>
              </a:rPr>
              <a:t>than </a:t>
            </a:r>
            <a:r>
              <a:rPr sz="2400" spc="-10" dirty="0">
                <a:latin typeface="Comic Sans MS"/>
                <a:cs typeface="Comic Sans MS"/>
              </a:rPr>
              <a:t>humans</a:t>
            </a:r>
            <a:endParaRPr sz="2400" dirty="0">
              <a:latin typeface="Comic Sans MS"/>
              <a:cs typeface="Comic Sans MS"/>
            </a:endParaRPr>
          </a:p>
          <a:p>
            <a:pPr marL="370205" marR="30480" indent="-332740">
              <a:lnSpc>
                <a:spcPct val="100000"/>
              </a:lnSpc>
              <a:spcBef>
                <a:spcPts val="6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82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all</a:t>
            </a:r>
            <a:r>
              <a:rPr sz="2400" spc="-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communication </a:t>
            </a:r>
            <a:r>
              <a:rPr sz="2400" dirty="0">
                <a:latin typeface="Comic Sans MS"/>
                <a:cs typeface="Comic Sans MS"/>
              </a:rPr>
              <a:t>activity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in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Internet </a:t>
            </a:r>
            <a:r>
              <a:rPr sz="2400" dirty="0">
                <a:latin typeface="Comic Sans MS"/>
                <a:cs typeface="Comic Sans MS"/>
              </a:rPr>
              <a:t>governed</a:t>
            </a:r>
            <a:r>
              <a:rPr sz="2400" spc="-6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by</a:t>
            </a:r>
            <a:r>
              <a:rPr sz="2400" spc="-5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protocols</a:t>
            </a:r>
            <a:endParaRPr sz="2400" dirty="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57857" y="3985871"/>
            <a:ext cx="5603240" cy="150177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570230" marR="5080" indent="-558165">
              <a:lnSpc>
                <a:spcPts val="2880"/>
              </a:lnSpc>
              <a:spcBef>
                <a:spcPts val="280"/>
              </a:spcBef>
            </a:pPr>
            <a:r>
              <a:rPr sz="2450" i="1" spc="-20" dirty="0">
                <a:latin typeface="Comic Sans MS"/>
                <a:cs typeface="Comic Sans MS"/>
              </a:rPr>
              <a:t>protocols</a:t>
            </a:r>
            <a:r>
              <a:rPr sz="2450" i="1" spc="-135" dirty="0">
                <a:latin typeface="Comic Sans MS"/>
                <a:cs typeface="Comic Sans MS"/>
              </a:rPr>
              <a:t> </a:t>
            </a:r>
            <a:r>
              <a:rPr sz="2450" i="1" spc="-10" dirty="0">
                <a:latin typeface="Comic Sans MS"/>
                <a:cs typeface="Comic Sans MS"/>
              </a:rPr>
              <a:t>define</a:t>
            </a:r>
            <a:r>
              <a:rPr sz="2450" i="1" spc="-120" dirty="0">
                <a:latin typeface="Comic Sans MS"/>
                <a:cs typeface="Comic Sans MS"/>
              </a:rPr>
              <a:t> </a:t>
            </a:r>
            <a:r>
              <a:rPr sz="2450" i="1" spc="-20" dirty="0">
                <a:latin typeface="Comic Sans MS"/>
                <a:cs typeface="Comic Sans MS"/>
              </a:rPr>
              <a:t>format,</a:t>
            </a:r>
            <a:r>
              <a:rPr sz="2450" i="1" spc="-130" dirty="0">
                <a:latin typeface="Comic Sans MS"/>
                <a:cs typeface="Comic Sans MS"/>
              </a:rPr>
              <a:t> </a:t>
            </a:r>
            <a:r>
              <a:rPr sz="2450" i="1" dirty="0">
                <a:latin typeface="Comic Sans MS"/>
                <a:cs typeface="Comic Sans MS"/>
              </a:rPr>
              <a:t>order</a:t>
            </a:r>
            <a:r>
              <a:rPr sz="2450" i="1" spc="-125" dirty="0">
                <a:latin typeface="Comic Sans MS"/>
                <a:cs typeface="Comic Sans MS"/>
              </a:rPr>
              <a:t> </a:t>
            </a:r>
            <a:r>
              <a:rPr sz="2450" i="1" dirty="0">
                <a:latin typeface="Comic Sans MS"/>
                <a:cs typeface="Comic Sans MS"/>
              </a:rPr>
              <a:t>of</a:t>
            </a:r>
            <a:r>
              <a:rPr sz="2450" i="1" spc="-125" dirty="0">
                <a:latin typeface="Comic Sans MS"/>
                <a:cs typeface="Comic Sans MS"/>
              </a:rPr>
              <a:t> </a:t>
            </a:r>
            <a:r>
              <a:rPr sz="2450" i="1" spc="-20" dirty="0">
                <a:latin typeface="Comic Sans MS"/>
                <a:cs typeface="Comic Sans MS"/>
              </a:rPr>
              <a:t>msgs </a:t>
            </a:r>
            <a:r>
              <a:rPr sz="2450" i="1" dirty="0">
                <a:latin typeface="Comic Sans MS"/>
                <a:cs typeface="Comic Sans MS"/>
              </a:rPr>
              <a:t>sent</a:t>
            </a:r>
            <a:r>
              <a:rPr sz="2450" i="1" spc="-125" dirty="0">
                <a:latin typeface="Comic Sans MS"/>
                <a:cs typeface="Comic Sans MS"/>
              </a:rPr>
              <a:t> </a:t>
            </a:r>
            <a:r>
              <a:rPr sz="2450" i="1" dirty="0">
                <a:latin typeface="Comic Sans MS"/>
                <a:cs typeface="Comic Sans MS"/>
              </a:rPr>
              <a:t>and</a:t>
            </a:r>
            <a:r>
              <a:rPr sz="2450" i="1" spc="-130" dirty="0">
                <a:latin typeface="Comic Sans MS"/>
                <a:cs typeface="Comic Sans MS"/>
              </a:rPr>
              <a:t> </a:t>
            </a:r>
            <a:r>
              <a:rPr sz="2450" i="1" spc="-20" dirty="0">
                <a:latin typeface="Comic Sans MS"/>
                <a:cs typeface="Comic Sans MS"/>
              </a:rPr>
              <a:t>received</a:t>
            </a:r>
            <a:r>
              <a:rPr sz="2450" i="1" spc="-125" dirty="0">
                <a:latin typeface="Comic Sans MS"/>
                <a:cs typeface="Comic Sans MS"/>
              </a:rPr>
              <a:t> </a:t>
            </a:r>
            <a:r>
              <a:rPr sz="2450" i="1" spc="-10" dirty="0">
                <a:latin typeface="Comic Sans MS"/>
                <a:cs typeface="Comic Sans MS"/>
              </a:rPr>
              <a:t>among</a:t>
            </a:r>
            <a:r>
              <a:rPr sz="2450" i="1" spc="-130" dirty="0">
                <a:latin typeface="Comic Sans MS"/>
                <a:cs typeface="Comic Sans MS"/>
              </a:rPr>
              <a:t> </a:t>
            </a:r>
            <a:r>
              <a:rPr sz="2450" i="1" spc="-10" dirty="0">
                <a:latin typeface="Comic Sans MS"/>
                <a:cs typeface="Comic Sans MS"/>
              </a:rPr>
              <a:t>network entities,</a:t>
            </a:r>
            <a:r>
              <a:rPr sz="2450" i="1" spc="-140" dirty="0">
                <a:latin typeface="Comic Sans MS"/>
                <a:cs typeface="Comic Sans MS"/>
              </a:rPr>
              <a:t> </a:t>
            </a:r>
            <a:r>
              <a:rPr sz="2450" i="1" dirty="0">
                <a:latin typeface="Comic Sans MS"/>
                <a:cs typeface="Comic Sans MS"/>
              </a:rPr>
              <a:t>and</a:t>
            </a:r>
            <a:r>
              <a:rPr sz="2450" i="1" spc="-135" dirty="0">
                <a:latin typeface="Comic Sans MS"/>
                <a:cs typeface="Comic Sans MS"/>
              </a:rPr>
              <a:t> </a:t>
            </a:r>
            <a:r>
              <a:rPr sz="2450" i="1" spc="-20" dirty="0">
                <a:latin typeface="Comic Sans MS"/>
                <a:cs typeface="Comic Sans MS"/>
              </a:rPr>
              <a:t>actions</a:t>
            </a:r>
            <a:r>
              <a:rPr sz="2450" i="1" spc="-140" dirty="0">
                <a:latin typeface="Comic Sans MS"/>
                <a:cs typeface="Comic Sans MS"/>
              </a:rPr>
              <a:t> </a:t>
            </a:r>
            <a:r>
              <a:rPr sz="2450" i="1" dirty="0">
                <a:latin typeface="Comic Sans MS"/>
                <a:cs typeface="Comic Sans MS"/>
              </a:rPr>
              <a:t>taken</a:t>
            </a:r>
            <a:r>
              <a:rPr sz="2450" i="1" spc="-135" dirty="0">
                <a:latin typeface="Comic Sans MS"/>
                <a:cs typeface="Comic Sans MS"/>
              </a:rPr>
              <a:t> </a:t>
            </a:r>
            <a:r>
              <a:rPr sz="2450" i="1" dirty="0">
                <a:latin typeface="Comic Sans MS"/>
                <a:cs typeface="Comic Sans MS"/>
              </a:rPr>
              <a:t>on</a:t>
            </a:r>
            <a:r>
              <a:rPr sz="2450" i="1" spc="-130" dirty="0">
                <a:latin typeface="Comic Sans MS"/>
                <a:cs typeface="Comic Sans MS"/>
              </a:rPr>
              <a:t> </a:t>
            </a:r>
            <a:r>
              <a:rPr sz="2450" i="1" spc="-25" dirty="0">
                <a:latin typeface="Comic Sans MS"/>
                <a:cs typeface="Comic Sans MS"/>
              </a:rPr>
              <a:t>msg</a:t>
            </a:r>
            <a:endParaRPr sz="2450">
              <a:latin typeface="Comic Sans MS"/>
              <a:cs typeface="Comic Sans MS"/>
            </a:endParaRPr>
          </a:p>
          <a:p>
            <a:pPr marL="1433830">
              <a:lnSpc>
                <a:spcPts val="2795"/>
              </a:lnSpc>
            </a:pPr>
            <a:r>
              <a:rPr sz="2450" i="1" spc="-25" dirty="0">
                <a:latin typeface="Comic Sans MS"/>
                <a:cs typeface="Comic Sans MS"/>
              </a:rPr>
              <a:t>transmission,</a:t>
            </a:r>
            <a:r>
              <a:rPr sz="2450" i="1" spc="-100" dirty="0">
                <a:latin typeface="Comic Sans MS"/>
                <a:cs typeface="Comic Sans MS"/>
              </a:rPr>
              <a:t> </a:t>
            </a:r>
            <a:r>
              <a:rPr sz="2450" i="1" spc="-10" dirty="0">
                <a:latin typeface="Comic Sans MS"/>
                <a:cs typeface="Comic Sans MS"/>
              </a:rPr>
              <a:t>receipt</a:t>
            </a:r>
            <a:endParaRPr sz="2450">
              <a:latin typeface="Comic Sans MS"/>
              <a:cs typeface="Comic Sans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4886" y="3962514"/>
            <a:ext cx="6523355" cy="1473200"/>
          </a:xfrm>
          <a:custGeom>
            <a:avLst/>
            <a:gdLst/>
            <a:ahLst/>
            <a:cxnLst/>
            <a:rect l="l" t="t" r="r" b="b"/>
            <a:pathLst>
              <a:path w="6523355" h="1473200">
                <a:moveTo>
                  <a:pt x="3261588" y="1473123"/>
                </a:moveTo>
                <a:lnTo>
                  <a:pt x="0" y="1473123"/>
                </a:lnTo>
                <a:lnTo>
                  <a:pt x="0" y="0"/>
                </a:lnTo>
                <a:lnTo>
                  <a:pt x="6523189" y="0"/>
                </a:lnTo>
                <a:lnTo>
                  <a:pt x="6523189" y="1473123"/>
                </a:lnTo>
                <a:lnTo>
                  <a:pt x="3261588" y="1473123"/>
                </a:lnTo>
                <a:close/>
              </a:path>
            </a:pathLst>
          </a:custGeom>
          <a:ln w="19079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00"/>
              </a:spcBef>
            </a:pPr>
            <a:r>
              <a:rPr dirty="0"/>
              <a:t>What’s</a:t>
            </a:r>
            <a:r>
              <a:rPr spc="-110" dirty="0"/>
              <a:t> </a:t>
            </a:r>
            <a:r>
              <a:rPr dirty="0"/>
              <a:t>a</a:t>
            </a:r>
            <a:r>
              <a:rPr spc="-105" dirty="0"/>
              <a:t> </a:t>
            </a:r>
            <a:r>
              <a:rPr spc="-10" dirty="0"/>
              <a:t>protocol?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9823" y="1403184"/>
            <a:ext cx="72732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mic Sans MS"/>
                <a:cs typeface="Comic Sans MS"/>
              </a:rPr>
              <a:t>a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human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protocol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and</a:t>
            </a:r>
            <a:r>
              <a:rPr sz="2400" spc="-4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</a:t>
            </a:r>
            <a:r>
              <a:rPr sz="2400" spc="-4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computer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network</a:t>
            </a:r>
            <a:r>
              <a:rPr sz="2400" spc="-4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protocol: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2096" y="5977699"/>
            <a:ext cx="51415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Q:</a:t>
            </a:r>
            <a:r>
              <a:rPr sz="2400" u="none" spc="-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u="none" dirty="0">
                <a:latin typeface="Comic Sans MS"/>
                <a:cs typeface="Comic Sans MS"/>
              </a:rPr>
              <a:t>Why</a:t>
            </a:r>
            <a:r>
              <a:rPr sz="2400" u="none" spc="-35" dirty="0">
                <a:latin typeface="Comic Sans MS"/>
                <a:cs typeface="Comic Sans MS"/>
              </a:rPr>
              <a:t> </a:t>
            </a:r>
            <a:r>
              <a:rPr sz="2400" u="none" dirty="0">
                <a:latin typeface="Comic Sans MS"/>
                <a:cs typeface="Comic Sans MS"/>
              </a:rPr>
              <a:t>are</a:t>
            </a:r>
            <a:r>
              <a:rPr sz="2400" u="none" spc="-30" dirty="0">
                <a:latin typeface="Comic Sans MS"/>
                <a:cs typeface="Comic Sans MS"/>
              </a:rPr>
              <a:t> </a:t>
            </a:r>
            <a:r>
              <a:rPr sz="2400" u="none" dirty="0">
                <a:latin typeface="Comic Sans MS"/>
                <a:cs typeface="Comic Sans MS"/>
              </a:rPr>
              <a:t>protocols</a:t>
            </a:r>
            <a:r>
              <a:rPr sz="2400" u="none" spc="-30" dirty="0">
                <a:latin typeface="Comic Sans MS"/>
                <a:cs typeface="Comic Sans MS"/>
              </a:rPr>
              <a:t> </a:t>
            </a:r>
            <a:r>
              <a:rPr sz="2400" u="none" dirty="0">
                <a:latin typeface="Comic Sans MS"/>
                <a:cs typeface="Comic Sans MS"/>
              </a:rPr>
              <a:t>so</a:t>
            </a:r>
            <a:r>
              <a:rPr sz="2400" u="none" spc="-35" dirty="0">
                <a:latin typeface="Comic Sans MS"/>
                <a:cs typeface="Comic Sans MS"/>
              </a:rPr>
              <a:t> </a:t>
            </a:r>
            <a:r>
              <a:rPr sz="2400" u="none" spc="-10" dirty="0">
                <a:latin typeface="Comic Sans MS"/>
                <a:cs typeface="Comic Sans MS"/>
              </a:rPr>
              <a:t>important?</a:t>
            </a:r>
            <a:endParaRPr sz="2400" dirty="0">
              <a:latin typeface="Comic Sans MS"/>
              <a:cs typeface="Comic Sans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09561" y="2375992"/>
            <a:ext cx="2310130" cy="701040"/>
            <a:chOff x="709561" y="2375992"/>
            <a:chExt cx="2310130" cy="701040"/>
          </a:xfrm>
        </p:grpSpPr>
        <p:sp>
          <p:nvSpPr>
            <p:cNvPr id="6" name="object 6"/>
            <p:cNvSpPr/>
            <p:nvPr/>
          </p:nvSpPr>
          <p:spPr>
            <a:xfrm>
              <a:off x="1257477" y="2771635"/>
              <a:ext cx="1683385" cy="264795"/>
            </a:xfrm>
            <a:custGeom>
              <a:avLst/>
              <a:gdLst/>
              <a:ahLst/>
              <a:cxnLst/>
              <a:rect l="l" t="t" r="r" b="b"/>
              <a:pathLst>
                <a:path w="1683385" h="264794">
                  <a:moveTo>
                    <a:pt x="0" y="0"/>
                  </a:moveTo>
                  <a:lnTo>
                    <a:pt x="1683003" y="264248"/>
                  </a:lnTo>
                </a:path>
              </a:pathLst>
            </a:custGeom>
            <a:ln w="2843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28239" y="2992678"/>
              <a:ext cx="91440" cy="84455"/>
            </a:xfrm>
            <a:custGeom>
              <a:avLst/>
              <a:gdLst/>
              <a:ahLst/>
              <a:cxnLst/>
              <a:rect l="l" t="t" r="r" b="b"/>
              <a:pathLst>
                <a:path w="91439" h="84455">
                  <a:moveTo>
                    <a:pt x="13322" y="0"/>
                  </a:moveTo>
                  <a:lnTo>
                    <a:pt x="0" y="84239"/>
                  </a:lnTo>
                  <a:lnTo>
                    <a:pt x="91084" y="55435"/>
                  </a:lnTo>
                  <a:lnTo>
                    <a:pt x="1332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9561" y="2375992"/>
              <a:ext cx="561962" cy="693724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7169042" y="2912764"/>
            <a:ext cx="356235" cy="927735"/>
            <a:chOff x="7169042" y="2912764"/>
            <a:chExt cx="356235" cy="927735"/>
          </a:xfrm>
        </p:grpSpPr>
        <p:sp>
          <p:nvSpPr>
            <p:cNvPr id="10" name="object 10"/>
            <p:cNvSpPr/>
            <p:nvPr/>
          </p:nvSpPr>
          <p:spPr>
            <a:xfrm>
              <a:off x="7174801" y="2924276"/>
              <a:ext cx="321310" cy="911225"/>
            </a:xfrm>
            <a:custGeom>
              <a:avLst/>
              <a:gdLst/>
              <a:ahLst/>
              <a:cxnLst/>
              <a:rect l="l" t="t" r="r" b="b"/>
              <a:pathLst>
                <a:path w="321309" h="911225">
                  <a:moveTo>
                    <a:pt x="321119" y="0"/>
                  </a:moveTo>
                  <a:lnTo>
                    <a:pt x="170992" y="0"/>
                  </a:lnTo>
                  <a:lnTo>
                    <a:pt x="170992" y="202679"/>
                  </a:lnTo>
                  <a:lnTo>
                    <a:pt x="0" y="202679"/>
                  </a:lnTo>
                  <a:lnTo>
                    <a:pt x="0" y="910805"/>
                  </a:lnTo>
                  <a:lnTo>
                    <a:pt x="103682" y="910805"/>
                  </a:lnTo>
                  <a:lnTo>
                    <a:pt x="206997" y="910805"/>
                  </a:lnTo>
                  <a:lnTo>
                    <a:pt x="206997" y="706323"/>
                  </a:lnTo>
                  <a:lnTo>
                    <a:pt x="246240" y="706323"/>
                  </a:lnTo>
                  <a:lnTo>
                    <a:pt x="321119" y="706323"/>
                  </a:lnTo>
                  <a:lnTo>
                    <a:pt x="321119" y="0"/>
                  </a:lnTo>
                  <a:close/>
                </a:path>
              </a:pathLst>
            </a:custGeom>
            <a:solidFill>
              <a:srgbClr val="33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174801" y="3126955"/>
              <a:ext cx="207010" cy="708660"/>
            </a:xfrm>
            <a:custGeom>
              <a:avLst/>
              <a:gdLst/>
              <a:ahLst/>
              <a:cxnLst/>
              <a:rect l="l" t="t" r="r" b="b"/>
              <a:pathLst>
                <a:path w="207009" h="708660">
                  <a:moveTo>
                    <a:pt x="103682" y="708126"/>
                  </a:moveTo>
                  <a:lnTo>
                    <a:pt x="0" y="708126"/>
                  </a:lnTo>
                  <a:lnTo>
                    <a:pt x="0" y="0"/>
                  </a:lnTo>
                  <a:lnTo>
                    <a:pt x="206997" y="0"/>
                  </a:lnTo>
                  <a:lnTo>
                    <a:pt x="206997" y="708126"/>
                  </a:lnTo>
                  <a:lnTo>
                    <a:pt x="103682" y="708126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173722" y="291744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33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69042" y="2912764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679"/>
                  </a:moveTo>
                  <a:lnTo>
                    <a:pt x="1370" y="1370"/>
                  </a:lnTo>
                  <a:lnTo>
                    <a:pt x="4679" y="0"/>
                  </a:lnTo>
                  <a:lnTo>
                    <a:pt x="7989" y="1370"/>
                  </a:lnTo>
                  <a:lnTo>
                    <a:pt x="9359" y="4679"/>
                  </a:lnTo>
                  <a:lnTo>
                    <a:pt x="7989" y="7989"/>
                  </a:lnTo>
                  <a:lnTo>
                    <a:pt x="4679" y="9359"/>
                  </a:lnTo>
                  <a:lnTo>
                    <a:pt x="1370" y="7989"/>
                  </a:lnTo>
                  <a:lnTo>
                    <a:pt x="0" y="4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380363" y="2933636"/>
              <a:ext cx="139700" cy="902335"/>
            </a:xfrm>
            <a:custGeom>
              <a:avLst/>
              <a:gdLst/>
              <a:ahLst/>
              <a:cxnLst/>
              <a:rect l="l" t="t" r="r" b="b"/>
              <a:pathLst>
                <a:path w="139700" h="902335">
                  <a:moveTo>
                    <a:pt x="139674" y="0"/>
                  </a:moveTo>
                  <a:lnTo>
                    <a:pt x="139674" y="692289"/>
                  </a:lnTo>
                </a:path>
                <a:path w="139700" h="902335">
                  <a:moveTo>
                    <a:pt x="135712" y="701649"/>
                  </a:moveTo>
                  <a:lnTo>
                    <a:pt x="0" y="901801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203605" y="3220923"/>
              <a:ext cx="137795" cy="403225"/>
            </a:xfrm>
            <a:custGeom>
              <a:avLst/>
              <a:gdLst/>
              <a:ahLst/>
              <a:cxnLst/>
              <a:rect l="l" t="t" r="r" b="b"/>
              <a:pathLst>
                <a:path w="137795" h="403225">
                  <a:moveTo>
                    <a:pt x="137515" y="0"/>
                  </a:moveTo>
                  <a:lnTo>
                    <a:pt x="0" y="0"/>
                  </a:lnTo>
                  <a:lnTo>
                    <a:pt x="0" y="403199"/>
                  </a:lnTo>
                  <a:lnTo>
                    <a:pt x="68757" y="403199"/>
                  </a:lnTo>
                  <a:lnTo>
                    <a:pt x="137515" y="403199"/>
                  </a:lnTo>
                  <a:lnTo>
                    <a:pt x="137515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03605" y="3220923"/>
              <a:ext cx="137795" cy="403225"/>
            </a:xfrm>
            <a:custGeom>
              <a:avLst/>
              <a:gdLst/>
              <a:ahLst/>
              <a:cxnLst/>
              <a:rect l="l" t="t" r="r" b="b"/>
              <a:pathLst>
                <a:path w="137795" h="403225">
                  <a:moveTo>
                    <a:pt x="68757" y="403199"/>
                  </a:moveTo>
                  <a:lnTo>
                    <a:pt x="0" y="403199"/>
                  </a:lnTo>
                  <a:lnTo>
                    <a:pt x="0" y="0"/>
                  </a:lnTo>
                  <a:lnTo>
                    <a:pt x="137515" y="0"/>
                  </a:lnTo>
                  <a:lnTo>
                    <a:pt x="137515" y="403199"/>
                  </a:lnTo>
                  <a:lnTo>
                    <a:pt x="68757" y="403199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25919" y="3346195"/>
              <a:ext cx="100965" cy="135255"/>
            </a:xfrm>
            <a:custGeom>
              <a:avLst/>
              <a:gdLst/>
              <a:ahLst/>
              <a:cxnLst/>
              <a:rect l="l" t="t" r="r" b="b"/>
              <a:pathLst>
                <a:path w="100965" h="135254">
                  <a:moveTo>
                    <a:pt x="100799" y="0"/>
                  </a:moveTo>
                  <a:lnTo>
                    <a:pt x="0" y="0"/>
                  </a:lnTo>
                  <a:lnTo>
                    <a:pt x="0" y="135000"/>
                  </a:lnTo>
                  <a:lnTo>
                    <a:pt x="50406" y="135000"/>
                  </a:lnTo>
                  <a:lnTo>
                    <a:pt x="100799" y="135000"/>
                  </a:lnTo>
                  <a:lnTo>
                    <a:pt x="1007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3564" y="2636278"/>
            <a:ext cx="612355" cy="49571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29114" y="2771279"/>
            <a:ext cx="676084" cy="662056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919255" y="3329106"/>
            <a:ext cx="2176780" cy="896619"/>
            <a:chOff x="919255" y="3329106"/>
            <a:chExt cx="2176780" cy="896619"/>
          </a:xfrm>
        </p:grpSpPr>
        <p:sp>
          <p:nvSpPr>
            <p:cNvPr id="21" name="object 21"/>
            <p:cNvSpPr/>
            <p:nvPr/>
          </p:nvSpPr>
          <p:spPr>
            <a:xfrm>
              <a:off x="1050124" y="3343325"/>
              <a:ext cx="2007870" cy="367030"/>
            </a:xfrm>
            <a:custGeom>
              <a:avLst/>
              <a:gdLst/>
              <a:ahLst/>
              <a:cxnLst/>
              <a:rect l="l" t="t" r="r" b="b"/>
              <a:pathLst>
                <a:path w="2007870" h="367029">
                  <a:moveTo>
                    <a:pt x="0" y="366471"/>
                  </a:moveTo>
                  <a:lnTo>
                    <a:pt x="2007349" y="0"/>
                  </a:lnTo>
                </a:path>
              </a:pathLst>
            </a:custGeom>
            <a:ln w="2843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71638" y="3666959"/>
              <a:ext cx="91440" cy="84455"/>
            </a:xfrm>
            <a:custGeom>
              <a:avLst/>
              <a:gdLst/>
              <a:ahLst/>
              <a:cxnLst/>
              <a:rect l="l" t="t" r="r" b="b"/>
              <a:pathLst>
                <a:path w="91440" h="84454">
                  <a:moveTo>
                    <a:pt x="76326" y="0"/>
                  </a:moveTo>
                  <a:lnTo>
                    <a:pt x="0" y="57238"/>
                  </a:lnTo>
                  <a:lnTo>
                    <a:pt x="91439" y="83883"/>
                  </a:lnTo>
                  <a:lnTo>
                    <a:pt x="7632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33475" y="3762362"/>
              <a:ext cx="2084070" cy="422275"/>
            </a:xfrm>
            <a:custGeom>
              <a:avLst/>
              <a:gdLst/>
              <a:ahLst/>
              <a:cxnLst/>
              <a:rect l="l" t="t" r="r" b="b"/>
              <a:pathLst>
                <a:path w="2084070" h="422275">
                  <a:moveTo>
                    <a:pt x="0" y="0"/>
                  </a:moveTo>
                  <a:lnTo>
                    <a:pt x="2084044" y="422274"/>
                  </a:lnTo>
                </a:path>
              </a:pathLst>
            </a:custGeom>
            <a:ln w="2843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003473" y="4141800"/>
              <a:ext cx="92710" cy="83820"/>
            </a:xfrm>
            <a:custGeom>
              <a:avLst/>
              <a:gdLst/>
              <a:ahLst/>
              <a:cxnLst/>
              <a:rect l="l" t="t" r="r" b="b"/>
              <a:pathLst>
                <a:path w="92710" h="83820">
                  <a:moveTo>
                    <a:pt x="16929" y="0"/>
                  </a:moveTo>
                  <a:lnTo>
                    <a:pt x="0" y="83515"/>
                  </a:lnTo>
                  <a:lnTo>
                    <a:pt x="92163" y="58674"/>
                  </a:lnTo>
                  <a:lnTo>
                    <a:pt x="1692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318323" y="369360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1095476" y="4309736"/>
            <a:ext cx="1967230" cy="414655"/>
            <a:chOff x="1095476" y="4309736"/>
            <a:chExt cx="1967230" cy="414655"/>
          </a:xfrm>
        </p:grpSpPr>
        <p:sp>
          <p:nvSpPr>
            <p:cNvPr id="27" name="object 27"/>
            <p:cNvSpPr/>
            <p:nvPr/>
          </p:nvSpPr>
          <p:spPr>
            <a:xfrm>
              <a:off x="1173962" y="4323956"/>
              <a:ext cx="1874520" cy="338455"/>
            </a:xfrm>
            <a:custGeom>
              <a:avLst/>
              <a:gdLst/>
              <a:ahLst/>
              <a:cxnLst/>
              <a:rect l="l" t="t" r="r" b="b"/>
              <a:pathLst>
                <a:path w="1874520" h="338454">
                  <a:moveTo>
                    <a:pt x="0" y="338404"/>
                  </a:moveTo>
                  <a:lnTo>
                    <a:pt x="1874151" y="0"/>
                  </a:lnTo>
                </a:path>
              </a:pathLst>
            </a:custGeom>
            <a:ln w="2843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95476" y="4619155"/>
              <a:ext cx="91440" cy="84455"/>
            </a:xfrm>
            <a:custGeom>
              <a:avLst/>
              <a:gdLst/>
              <a:ahLst/>
              <a:cxnLst/>
              <a:rect l="l" t="t" r="r" b="b"/>
              <a:pathLst>
                <a:path w="91440" h="84454">
                  <a:moveTo>
                    <a:pt x="76327" y="0"/>
                  </a:moveTo>
                  <a:lnTo>
                    <a:pt x="0" y="57238"/>
                  </a:lnTo>
                  <a:lnTo>
                    <a:pt x="91440" y="84239"/>
                  </a:lnTo>
                  <a:lnTo>
                    <a:pt x="7632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523885" y="4438434"/>
              <a:ext cx="695960" cy="285750"/>
            </a:xfrm>
            <a:custGeom>
              <a:avLst/>
              <a:gdLst/>
              <a:ahLst/>
              <a:cxnLst/>
              <a:rect l="l" t="t" r="r" b="b"/>
              <a:pathLst>
                <a:path w="695960" h="285750">
                  <a:moveTo>
                    <a:pt x="695515" y="0"/>
                  </a:moveTo>
                  <a:lnTo>
                    <a:pt x="0" y="0"/>
                  </a:lnTo>
                  <a:lnTo>
                    <a:pt x="0" y="285483"/>
                  </a:lnTo>
                  <a:lnTo>
                    <a:pt x="347751" y="285483"/>
                  </a:lnTo>
                  <a:lnTo>
                    <a:pt x="695515" y="285483"/>
                  </a:lnTo>
                  <a:lnTo>
                    <a:pt x="6955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395615" y="2518460"/>
            <a:ext cx="935355" cy="2268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0000"/>
                </a:solidFill>
                <a:latin typeface="Comic Sans MS"/>
                <a:cs typeface="Comic Sans MS"/>
              </a:rPr>
              <a:t>Hi</a:t>
            </a:r>
            <a:endParaRPr sz="2400"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  <a:spcBef>
                <a:spcPts val="2285"/>
              </a:spcBef>
            </a:pPr>
            <a:r>
              <a:rPr sz="2400" spc="-25" dirty="0">
                <a:solidFill>
                  <a:srgbClr val="FF0000"/>
                </a:solidFill>
                <a:latin typeface="Comic Sans MS"/>
                <a:cs typeface="Comic Sans MS"/>
              </a:rPr>
              <a:t>Hi</a:t>
            </a:r>
            <a:endParaRPr sz="2400">
              <a:latin typeface="Comic Sans MS"/>
              <a:cs typeface="Comic Sans MS"/>
            </a:endParaRPr>
          </a:p>
          <a:p>
            <a:pPr marL="12700" marR="5080" algn="ctr">
              <a:lnSpc>
                <a:spcPct val="109600"/>
              </a:lnSpc>
              <a:spcBef>
                <a:spcPts val="1245"/>
              </a:spcBef>
            </a:pPr>
            <a:r>
              <a:rPr sz="2000" dirty="0">
                <a:solidFill>
                  <a:srgbClr val="FF0000"/>
                </a:solidFill>
                <a:latin typeface="Comic Sans MS"/>
                <a:cs typeface="Comic Sans MS"/>
              </a:rPr>
              <a:t>Got</a:t>
            </a:r>
            <a:r>
              <a:rPr sz="2000" spc="-1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Comic Sans MS"/>
                <a:cs typeface="Comic Sans MS"/>
              </a:rPr>
              <a:t>the </a:t>
            </a:r>
            <a:r>
              <a:rPr sz="2000" spc="-10" dirty="0">
                <a:solidFill>
                  <a:srgbClr val="FF0000"/>
                </a:solidFill>
                <a:latin typeface="Comic Sans MS"/>
                <a:cs typeface="Comic Sans MS"/>
              </a:rPr>
              <a:t>time? </a:t>
            </a:r>
            <a:r>
              <a:rPr sz="2400" spc="-20" dirty="0">
                <a:solidFill>
                  <a:srgbClr val="FF0000"/>
                </a:solidFill>
                <a:latin typeface="Comic Sans MS"/>
                <a:cs typeface="Comic Sans MS"/>
              </a:rPr>
              <a:t>2:00</a:t>
            </a:r>
            <a:endParaRPr sz="2400">
              <a:latin typeface="Comic Sans MS"/>
              <a:cs typeface="Comic Sans MS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943525" y="4624378"/>
            <a:ext cx="2357755" cy="488315"/>
            <a:chOff x="4943525" y="4624378"/>
            <a:chExt cx="2357755" cy="488315"/>
          </a:xfrm>
        </p:grpSpPr>
        <p:sp>
          <p:nvSpPr>
            <p:cNvPr id="32" name="object 32"/>
            <p:cNvSpPr/>
            <p:nvPr/>
          </p:nvSpPr>
          <p:spPr>
            <a:xfrm>
              <a:off x="5021643" y="4638598"/>
              <a:ext cx="2265680" cy="433070"/>
            </a:xfrm>
            <a:custGeom>
              <a:avLst/>
              <a:gdLst/>
              <a:ahLst/>
              <a:cxnLst/>
              <a:rect l="l" t="t" r="r" b="b"/>
              <a:pathLst>
                <a:path w="2265679" h="433070">
                  <a:moveTo>
                    <a:pt x="0" y="432727"/>
                  </a:moveTo>
                  <a:lnTo>
                    <a:pt x="2265121" y="0"/>
                  </a:lnTo>
                </a:path>
              </a:pathLst>
            </a:custGeom>
            <a:ln w="2843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943525" y="5028476"/>
              <a:ext cx="92075" cy="84455"/>
            </a:xfrm>
            <a:custGeom>
              <a:avLst/>
              <a:gdLst/>
              <a:ahLst/>
              <a:cxnLst/>
              <a:rect l="l" t="t" r="r" b="b"/>
              <a:pathLst>
                <a:path w="92075" h="84454">
                  <a:moveTo>
                    <a:pt x="75958" y="0"/>
                  </a:moveTo>
                  <a:lnTo>
                    <a:pt x="0" y="57962"/>
                  </a:lnTo>
                  <a:lnTo>
                    <a:pt x="91795" y="83883"/>
                  </a:lnTo>
                  <a:lnTo>
                    <a:pt x="7595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876645" y="4734001"/>
              <a:ext cx="695325" cy="286385"/>
            </a:xfrm>
            <a:custGeom>
              <a:avLst/>
              <a:gdLst/>
              <a:ahLst/>
              <a:cxnLst/>
              <a:rect l="l" t="t" r="r" b="b"/>
              <a:pathLst>
                <a:path w="695325" h="286385">
                  <a:moveTo>
                    <a:pt x="695159" y="0"/>
                  </a:moveTo>
                  <a:lnTo>
                    <a:pt x="0" y="0"/>
                  </a:lnTo>
                  <a:lnTo>
                    <a:pt x="0" y="285838"/>
                  </a:lnTo>
                  <a:lnTo>
                    <a:pt x="347751" y="285838"/>
                  </a:lnTo>
                  <a:lnTo>
                    <a:pt x="695159" y="285838"/>
                  </a:lnTo>
                  <a:lnTo>
                    <a:pt x="695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5205416" y="2966940"/>
            <a:ext cx="1776730" cy="320040"/>
            <a:chOff x="5205416" y="2966940"/>
            <a:chExt cx="1776730" cy="320040"/>
          </a:xfrm>
        </p:grpSpPr>
        <p:sp>
          <p:nvSpPr>
            <p:cNvPr id="36" name="object 36"/>
            <p:cNvSpPr/>
            <p:nvPr/>
          </p:nvSpPr>
          <p:spPr>
            <a:xfrm>
              <a:off x="5219636" y="2981159"/>
              <a:ext cx="1683385" cy="264795"/>
            </a:xfrm>
            <a:custGeom>
              <a:avLst/>
              <a:gdLst/>
              <a:ahLst/>
              <a:cxnLst/>
              <a:rect l="l" t="t" r="r" b="b"/>
              <a:pathLst>
                <a:path w="1683384" h="264794">
                  <a:moveTo>
                    <a:pt x="0" y="0"/>
                  </a:moveTo>
                  <a:lnTo>
                    <a:pt x="1683359" y="264236"/>
                  </a:lnTo>
                </a:path>
              </a:pathLst>
            </a:custGeom>
            <a:ln w="2843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890766" y="3202203"/>
              <a:ext cx="91440" cy="84455"/>
            </a:xfrm>
            <a:custGeom>
              <a:avLst/>
              <a:gdLst/>
              <a:ahLst/>
              <a:cxnLst/>
              <a:rect l="l" t="t" r="r" b="b"/>
              <a:pathLst>
                <a:path w="91440" h="84454">
                  <a:moveTo>
                    <a:pt x="13309" y="0"/>
                  </a:moveTo>
                  <a:lnTo>
                    <a:pt x="0" y="84239"/>
                  </a:lnTo>
                  <a:lnTo>
                    <a:pt x="91071" y="55435"/>
                  </a:lnTo>
                  <a:lnTo>
                    <a:pt x="1330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4896002" y="3452943"/>
            <a:ext cx="2100580" cy="422275"/>
            <a:chOff x="4896002" y="3452943"/>
            <a:chExt cx="2100580" cy="422275"/>
          </a:xfrm>
        </p:grpSpPr>
        <p:sp>
          <p:nvSpPr>
            <p:cNvPr id="39" name="object 39"/>
            <p:cNvSpPr/>
            <p:nvPr/>
          </p:nvSpPr>
          <p:spPr>
            <a:xfrm>
              <a:off x="4974475" y="3467163"/>
              <a:ext cx="2007870" cy="367030"/>
            </a:xfrm>
            <a:custGeom>
              <a:avLst/>
              <a:gdLst/>
              <a:ahLst/>
              <a:cxnLst/>
              <a:rect l="l" t="t" r="r" b="b"/>
              <a:pathLst>
                <a:path w="2007870" h="367029">
                  <a:moveTo>
                    <a:pt x="0" y="366471"/>
                  </a:moveTo>
                  <a:lnTo>
                    <a:pt x="2007362" y="0"/>
                  </a:lnTo>
                </a:path>
              </a:pathLst>
            </a:custGeom>
            <a:ln w="2843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896002" y="3790797"/>
              <a:ext cx="91440" cy="84455"/>
            </a:xfrm>
            <a:custGeom>
              <a:avLst/>
              <a:gdLst/>
              <a:ahLst/>
              <a:cxnLst/>
              <a:rect l="l" t="t" r="r" b="b"/>
              <a:pathLst>
                <a:path w="91439" h="84454">
                  <a:moveTo>
                    <a:pt x="76314" y="0"/>
                  </a:moveTo>
                  <a:lnTo>
                    <a:pt x="0" y="57238"/>
                  </a:lnTo>
                  <a:lnTo>
                    <a:pt x="91439" y="83883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248440" y="3476523"/>
              <a:ext cx="1427480" cy="276860"/>
            </a:xfrm>
            <a:custGeom>
              <a:avLst/>
              <a:gdLst/>
              <a:ahLst/>
              <a:cxnLst/>
              <a:rect l="l" t="t" r="r" b="b"/>
              <a:pathLst>
                <a:path w="1427479" h="276860">
                  <a:moveTo>
                    <a:pt x="1427035" y="0"/>
                  </a:moveTo>
                  <a:lnTo>
                    <a:pt x="0" y="0"/>
                  </a:lnTo>
                  <a:lnTo>
                    <a:pt x="0" y="276478"/>
                  </a:lnTo>
                  <a:lnTo>
                    <a:pt x="713524" y="276478"/>
                  </a:lnTo>
                  <a:lnTo>
                    <a:pt x="1427035" y="276478"/>
                  </a:lnTo>
                  <a:lnTo>
                    <a:pt x="14270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229974" y="2689809"/>
            <a:ext cx="1842770" cy="1388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125" marR="5080" indent="-7683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Comic Sans MS"/>
                <a:cs typeface="Comic Sans MS"/>
              </a:rPr>
              <a:t>TCP</a:t>
            </a:r>
            <a:r>
              <a:rPr sz="2000" spc="-1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omic Sans MS"/>
                <a:cs typeface="Comic Sans MS"/>
              </a:rPr>
              <a:t>connection </a:t>
            </a:r>
            <a:r>
              <a:rPr sz="2000" spc="-25" dirty="0">
                <a:solidFill>
                  <a:srgbClr val="FF0000"/>
                </a:solidFill>
                <a:latin typeface="Comic Sans MS"/>
                <a:cs typeface="Comic Sans MS"/>
              </a:rPr>
              <a:t>req</a:t>
            </a:r>
            <a:endParaRPr sz="2000">
              <a:latin typeface="Comic Sans MS"/>
              <a:cs typeface="Comic Sans MS"/>
            </a:endParaRPr>
          </a:p>
          <a:p>
            <a:pPr marL="12700" marR="27305">
              <a:lnSpc>
                <a:spcPct val="100000"/>
              </a:lnSpc>
              <a:spcBef>
                <a:spcPts val="1130"/>
              </a:spcBef>
            </a:pPr>
            <a:r>
              <a:rPr sz="2000" dirty="0">
                <a:solidFill>
                  <a:srgbClr val="FF0000"/>
                </a:solidFill>
                <a:latin typeface="Comic Sans MS"/>
                <a:cs typeface="Comic Sans MS"/>
              </a:rPr>
              <a:t>TCP</a:t>
            </a:r>
            <a:r>
              <a:rPr sz="2000" spc="-1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omic Sans MS"/>
                <a:cs typeface="Comic Sans MS"/>
              </a:rPr>
              <a:t>connection response</a:t>
            </a:r>
            <a:endParaRPr sz="2000">
              <a:latin typeface="Comic Sans MS"/>
              <a:cs typeface="Comic Sans MS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929306" y="4072144"/>
            <a:ext cx="3615054" cy="461009"/>
            <a:chOff x="4929306" y="4072144"/>
            <a:chExt cx="3615054" cy="461009"/>
          </a:xfrm>
        </p:grpSpPr>
        <p:sp>
          <p:nvSpPr>
            <p:cNvPr id="44" name="object 44"/>
            <p:cNvSpPr/>
            <p:nvPr/>
          </p:nvSpPr>
          <p:spPr>
            <a:xfrm>
              <a:off x="4943525" y="4086364"/>
              <a:ext cx="2322195" cy="405765"/>
            </a:xfrm>
            <a:custGeom>
              <a:avLst/>
              <a:gdLst/>
              <a:ahLst/>
              <a:cxnLst/>
              <a:rect l="l" t="t" r="r" b="b"/>
              <a:pathLst>
                <a:path w="2322195" h="405764">
                  <a:moveTo>
                    <a:pt x="0" y="0"/>
                  </a:moveTo>
                  <a:lnTo>
                    <a:pt x="2321636" y="405358"/>
                  </a:lnTo>
                </a:path>
              </a:pathLst>
            </a:custGeom>
            <a:ln w="2843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252195" y="4448886"/>
              <a:ext cx="91440" cy="84455"/>
            </a:xfrm>
            <a:custGeom>
              <a:avLst/>
              <a:gdLst/>
              <a:ahLst/>
              <a:cxnLst/>
              <a:rect l="l" t="t" r="r" b="b"/>
              <a:pathLst>
                <a:path w="91440" h="84454">
                  <a:moveTo>
                    <a:pt x="14770" y="0"/>
                  </a:moveTo>
                  <a:lnTo>
                    <a:pt x="0" y="83870"/>
                  </a:lnTo>
                  <a:lnTo>
                    <a:pt x="91440" y="56514"/>
                  </a:lnTo>
                  <a:lnTo>
                    <a:pt x="1477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219636" y="4200474"/>
              <a:ext cx="3324860" cy="171450"/>
            </a:xfrm>
            <a:custGeom>
              <a:avLst/>
              <a:gdLst/>
              <a:ahLst/>
              <a:cxnLst/>
              <a:rect l="l" t="t" r="r" b="b"/>
              <a:pathLst>
                <a:path w="3324859" h="171450">
                  <a:moveTo>
                    <a:pt x="3324237" y="0"/>
                  </a:moveTo>
                  <a:lnTo>
                    <a:pt x="0" y="0"/>
                  </a:lnTo>
                  <a:lnTo>
                    <a:pt x="0" y="171361"/>
                  </a:lnTo>
                  <a:lnTo>
                    <a:pt x="1662125" y="171361"/>
                  </a:lnTo>
                  <a:lnTo>
                    <a:pt x="3324237" y="171361"/>
                  </a:lnTo>
                  <a:lnTo>
                    <a:pt x="33242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5233580" y="4184535"/>
            <a:ext cx="30949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0000"/>
                </a:solidFill>
                <a:latin typeface="Comic Sans MS"/>
                <a:cs typeface="Comic Sans MS"/>
              </a:rPr>
              <a:t>Get</a:t>
            </a:r>
            <a:r>
              <a:rPr sz="1400" spc="114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Comic Sans MS"/>
                <a:cs typeface="Comic Sans MS"/>
                <a:hlinkClick r:id="rId5"/>
              </a:rPr>
              <a:t>http://www.awl.com/kurose-</a:t>
            </a:r>
            <a:r>
              <a:rPr sz="1400" spc="-20" dirty="0">
                <a:solidFill>
                  <a:srgbClr val="FF0000"/>
                </a:solidFill>
                <a:latin typeface="Comic Sans MS"/>
                <a:cs typeface="Comic Sans MS"/>
                <a:hlinkClick r:id="rId5"/>
              </a:rPr>
              <a:t>ross</a:t>
            </a:r>
            <a:endParaRPr sz="1400" dirty="0">
              <a:latin typeface="Comic Sans MS"/>
              <a:cs typeface="Comic Sans MS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3753002" y="1942918"/>
            <a:ext cx="636905" cy="3877310"/>
            <a:chOff x="3753002" y="1942918"/>
            <a:chExt cx="636905" cy="3877310"/>
          </a:xfrm>
        </p:grpSpPr>
        <p:sp>
          <p:nvSpPr>
            <p:cNvPr id="49" name="object 49"/>
            <p:cNvSpPr/>
            <p:nvPr/>
          </p:nvSpPr>
          <p:spPr>
            <a:xfrm>
              <a:off x="4057561" y="1961997"/>
              <a:ext cx="1905" cy="3750945"/>
            </a:xfrm>
            <a:custGeom>
              <a:avLst/>
              <a:gdLst/>
              <a:ahLst/>
              <a:cxnLst/>
              <a:rect l="l" t="t" r="r" b="b"/>
              <a:pathLst>
                <a:path w="1904" h="3750945">
                  <a:moveTo>
                    <a:pt x="0" y="0"/>
                  </a:moveTo>
                  <a:lnTo>
                    <a:pt x="1803" y="3750843"/>
                  </a:lnTo>
                </a:path>
              </a:pathLst>
            </a:custGeom>
            <a:ln w="3815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002125" y="5705284"/>
              <a:ext cx="114935" cy="114935"/>
            </a:xfrm>
            <a:custGeom>
              <a:avLst/>
              <a:gdLst/>
              <a:ahLst/>
              <a:cxnLst/>
              <a:rect l="l" t="t" r="r" b="b"/>
              <a:pathLst>
                <a:path w="114935" h="114935">
                  <a:moveTo>
                    <a:pt x="114477" y="0"/>
                  </a:moveTo>
                  <a:lnTo>
                    <a:pt x="0" y="0"/>
                  </a:lnTo>
                  <a:lnTo>
                    <a:pt x="57238" y="114477"/>
                  </a:lnTo>
                  <a:lnTo>
                    <a:pt x="114477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53002" y="5191201"/>
              <a:ext cx="636905" cy="248285"/>
            </a:xfrm>
            <a:custGeom>
              <a:avLst/>
              <a:gdLst/>
              <a:ahLst/>
              <a:cxnLst/>
              <a:rect l="l" t="t" r="r" b="b"/>
              <a:pathLst>
                <a:path w="636904" h="248285">
                  <a:moveTo>
                    <a:pt x="636473" y="0"/>
                  </a:moveTo>
                  <a:lnTo>
                    <a:pt x="0" y="0"/>
                  </a:lnTo>
                  <a:lnTo>
                    <a:pt x="0" y="247675"/>
                  </a:lnTo>
                  <a:lnTo>
                    <a:pt x="318236" y="247675"/>
                  </a:lnTo>
                  <a:lnTo>
                    <a:pt x="636473" y="247675"/>
                  </a:lnTo>
                  <a:lnTo>
                    <a:pt x="6364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751465" y="4617755"/>
            <a:ext cx="2860675" cy="90170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2123440">
              <a:lnSpc>
                <a:spcPct val="100000"/>
              </a:lnSpc>
              <a:spcBef>
                <a:spcPts val="670"/>
              </a:spcBef>
            </a:pPr>
            <a:r>
              <a:rPr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&lt;file&gt;</a:t>
            </a:r>
            <a:endParaRPr sz="24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400" spc="-20" dirty="0">
                <a:solidFill>
                  <a:srgbClr val="3333CC"/>
                </a:solidFill>
                <a:latin typeface="Comic Sans MS"/>
                <a:cs typeface="Comic Sans MS"/>
              </a:rPr>
              <a:t>time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00"/>
              </a:spcBef>
            </a:pPr>
            <a:r>
              <a:rPr dirty="0"/>
              <a:t>Internet</a:t>
            </a:r>
            <a:r>
              <a:rPr spc="-175" dirty="0"/>
              <a:t> </a:t>
            </a:r>
            <a:r>
              <a:rPr dirty="0"/>
              <a:t>Services</a:t>
            </a:r>
            <a:r>
              <a:rPr spc="-180" dirty="0"/>
              <a:t> </a:t>
            </a:r>
            <a:r>
              <a:rPr spc="-10"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0019" y="1631785"/>
            <a:ext cx="6908800" cy="3321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3525" spc="1372" baseline="13002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525" spc="-187" baseline="13002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Comic Sans MS"/>
                <a:cs typeface="Comic Sans MS"/>
              </a:rPr>
              <a:t>Connection-</a:t>
            </a:r>
            <a:r>
              <a:rPr sz="2800" dirty="0">
                <a:latin typeface="Comic Sans MS"/>
                <a:cs typeface="Comic Sans MS"/>
              </a:rPr>
              <a:t>oriented</a:t>
            </a:r>
            <a:r>
              <a:rPr sz="2800" spc="-20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service</a:t>
            </a:r>
            <a:endParaRPr sz="28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2800">
              <a:latin typeface="Comic Sans MS"/>
              <a:cs typeface="Comic Sans MS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</a:pPr>
            <a:r>
              <a:rPr sz="3525" spc="1372" baseline="13002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525" spc="-225" baseline="13002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Comic Sans MS"/>
                <a:cs typeface="Comic Sans MS"/>
              </a:rPr>
              <a:t>Connectionless</a:t>
            </a:r>
            <a:r>
              <a:rPr sz="2800" spc="-125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service</a:t>
            </a:r>
            <a:endParaRPr sz="28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2800">
              <a:latin typeface="Comic Sans MS"/>
              <a:cs typeface="Comic Sans MS"/>
            </a:endParaRPr>
          </a:p>
          <a:p>
            <a:pPr marL="63500">
              <a:lnSpc>
                <a:spcPct val="100000"/>
              </a:lnSpc>
            </a:pPr>
            <a:r>
              <a:rPr sz="3525" spc="1372" baseline="13002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525" spc="-172" baseline="13002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Applications</a:t>
            </a:r>
            <a:endParaRPr sz="2800">
              <a:latin typeface="Comic Sans MS"/>
              <a:cs typeface="Comic Sans MS"/>
            </a:endParaRPr>
          </a:p>
          <a:p>
            <a:pPr marL="796290" marR="43180" indent="-276225">
              <a:lnSpc>
                <a:spcPct val="100000"/>
              </a:lnSpc>
              <a:spcBef>
                <a:spcPts val="600"/>
              </a:spcBef>
            </a:pPr>
            <a:r>
              <a:rPr sz="2700" spc="1005" baseline="16975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700" spc="-44" baseline="169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FTP,</a:t>
            </a:r>
            <a:r>
              <a:rPr sz="2400" spc="-5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Internet</a:t>
            </a:r>
            <a:r>
              <a:rPr sz="2400" spc="-5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Phone,</a:t>
            </a:r>
            <a:r>
              <a:rPr sz="2400" spc="-5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Web,</a:t>
            </a:r>
            <a:r>
              <a:rPr sz="2400" spc="-5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Internet</a:t>
            </a:r>
            <a:r>
              <a:rPr sz="2400" spc="-5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radio, </a:t>
            </a:r>
            <a:r>
              <a:rPr sz="2400" spc="-20" dirty="0">
                <a:latin typeface="Comic Sans MS"/>
                <a:cs typeface="Comic Sans MS"/>
              </a:rPr>
              <a:t>email</a:t>
            </a:r>
            <a:endParaRPr sz="24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37260" y="6434899"/>
            <a:ext cx="10902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omic Sans MS"/>
                <a:cs typeface="Comic Sans MS"/>
              </a:rPr>
              <a:t>Introduction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98776" y="6434899"/>
            <a:ext cx="3530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1-</a:t>
            </a:r>
            <a:r>
              <a:rPr sz="1400" spc="-25" dirty="0">
                <a:latin typeface="Times New Roman"/>
                <a:cs typeface="Times New Roman"/>
              </a:rPr>
              <a:t>14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Connection-</a:t>
            </a:r>
            <a:r>
              <a:rPr dirty="0"/>
              <a:t>oriented</a:t>
            </a:r>
            <a:r>
              <a:rPr spc="-110" dirty="0"/>
              <a:t> </a:t>
            </a:r>
            <a:r>
              <a:rPr spc="-10" dirty="0"/>
              <a:t>service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98119" y="1542722"/>
            <a:ext cx="7211695" cy="487235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800"/>
              </a:spcBef>
            </a:pPr>
            <a:r>
              <a:rPr sz="3525" spc="1372" baseline="13002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525" spc="-225" baseline="13002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Goal:</a:t>
            </a:r>
            <a:r>
              <a:rPr sz="2800" u="none" spc="-7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800" u="none" dirty="0">
                <a:latin typeface="Comic Sans MS"/>
                <a:cs typeface="Comic Sans MS"/>
              </a:rPr>
              <a:t>data</a:t>
            </a:r>
            <a:r>
              <a:rPr sz="2800" u="none" spc="-80" dirty="0">
                <a:latin typeface="Comic Sans MS"/>
                <a:cs typeface="Comic Sans MS"/>
              </a:rPr>
              <a:t> </a:t>
            </a:r>
            <a:r>
              <a:rPr sz="2800" u="none" dirty="0">
                <a:latin typeface="Comic Sans MS"/>
                <a:cs typeface="Comic Sans MS"/>
              </a:rPr>
              <a:t>transfer</a:t>
            </a:r>
            <a:r>
              <a:rPr sz="2800" u="none" spc="-80" dirty="0">
                <a:latin typeface="Comic Sans MS"/>
                <a:cs typeface="Comic Sans MS"/>
              </a:rPr>
              <a:t> </a:t>
            </a:r>
            <a:r>
              <a:rPr sz="2800" u="none" dirty="0">
                <a:latin typeface="Comic Sans MS"/>
                <a:cs typeface="Comic Sans MS"/>
              </a:rPr>
              <a:t>between</a:t>
            </a:r>
            <a:r>
              <a:rPr sz="2800" u="none" spc="-70" dirty="0">
                <a:latin typeface="Comic Sans MS"/>
                <a:cs typeface="Comic Sans MS"/>
              </a:rPr>
              <a:t> </a:t>
            </a:r>
            <a:r>
              <a:rPr sz="2800" u="none" dirty="0">
                <a:latin typeface="Comic Sans MS"/>
                <a:cs typeface="Comic Sans MS"/>
              </a:rPr>
              <a:t>end</a:t>
            </a:r>
            <a:r>
              <a:rPr sz="2800" u="none" spc="-75" dirty="0">
                <a:latin typeface="Comic Sans MS"/>
                <a:cs typeface="Comic Sans MS"/>
              </a:rPr>
              <a:t> </a:t>
            </a:r>
            <a:r>
              <a:rPr sz="2800" u="none" spc="-10" dirty="0">
                <a:latin typeface="Comic Sans MS"/>
                <a:cs typeface="Comic Sans MS"/>
              </a:rPr>
              <a:t>systems</a:t>
            </a:r>
            <a:endParaRPr sz="2800" dirty="0">
              <a:latin typeface="Comic Sans MS"/>
              <a:cs typeface="Comic Sans MS"/>
            </a:endParaRPr>
          </a:p>
          <a:p>
            <a:pPr marL="357505" marR="568960" indent="-332740">
              <a:lnSpc>
                <a:spcPct val="100000"/>
              </a:lnSpc>
              <a:spcBef>
                <a:spcPts val="700"/>
              </a:spcBef>
            </a:pPr>
            <a:r>
              <a:rPr sz="3525" spc="1372" baseline="13002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525" spc="-225" baseline="13002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Comic Sans MS"/>
                <a:cs typeface="Comic Sans MS"/>
              </a:rPr>
              <a:t>handshaking:</a:t>
            </a:r>
            <a:r>
              <a:rPr sz="2800" spc="-9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setup</a:t>
            </a:r>
            <a:r>
              <a:rPr sz="2800" spc="-8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(prepare</a:t>
            </a:r>
            <a:r>
              <a:rPr sz="2800" spc="-8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for)</a:t>
            </a:r>
            <a:r>
              <a:rPr sz="2800" spc="-90" dirty="0">
                <a:latin typeface="Comic Sans MS"/>
                <a:cs typeface="Comic Sans MS"/>
              </a:rPr>
              <a:t> </a:t>
            </a:r>
            <a:r>
              <a:rPr sz="2800" spc="-20" dirty="0">
                <a:latin typeface="Comic Sans MS"/>
                <a:cs typeface="Comic Sans MS"/>
              </a:rPr>
              <a:t>data </a:t>
            </a:r>
            <a:r>
              <a:rPr sz="2800" dirty="0">
                <a:latin typeface="Comic Sans MS"/>
                <a:cs typeface="Comic Sans MS"/>
              </a:rPr>
              <a:t>transfer</a:t>
            </a:r>
            <a:r>
              <a:rPr sz="2800" spc="-9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ahead</a:t>
            </a:r>
            <a:r>
              <a:rPr sz="2800" spc="-8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of</a:t>
            </a:r>
            <a:r>
              <a:rPr sz="2800" spc="-85" dirty="0">
                <a:latin typeface="Comic Sans MS"/>
                <a:cs typeface="Comic Sans MS"/>
              </a:rPr>
              <a:t> </a:t>
            </a:r>
            <a:r>
              <a:rPr sz="2800" spc="-20" dirty="0">
                <a:latin typeface="Comic Sans MS"/>
                <a:cs typeface="Comic Sans MS"/>
              </a:rPr>
              <a:t>time</a:t>
            </a:r>
            <a:endParaRPr sz="2800" dirty="0">
              <a:latin typeface="Comic Sans MS"/>
              <a:cs typeface="Comic Sans MS"/>
            </a:endParaRPr>
          </a:p>
          <a:p>
            <a:pPr marL="25400">
              <a:lnSpc>
                <a:spcPct val="100000"/>
              </a:lnSpc>
              <a:spcBef>
                <a:spcPts val="700"/>
              </a:spcBef>
            </a:pPr>
            <a:r>
              <a:rPr sz="3525" spc="1372" baseline="13002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525" spc="-225" baseline="13002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TCP</a:t>
            </a:r>
            <a:r>
              <a:rPr sz="2800" spc="-6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-</a:t>
            </a:r>
            <a:r>
              <a:rPr sz="2800" spc="-5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Transmission</a:t>
            </a:r>
            <a:r>
              <a:rPr sz="2800" spc="-6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Control</a:t>
            </a:r>
            <a:r>
              <a:rPr sz="2800" spc="-55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Protocol</a:t>
            </a:r>
            <a:endParaRPr sz="2800" dirty="0">
              <a:latin typeface="Comic Sans MS"/>
              <a:cs typeface="Comic Sans MS"/>
            </a:endParaRPr>
          </a:p>
          <a:p>
            <a:pPr marL="482600">
              <a:lnSpc>
                <a:spcPct val="100000"/>
              </a:lnSpc>
              <a:spcBef>
                <a:spcPts val="590"/>
              </a:spcBef>
            </a:pPr>
            <a:r>
              <a:rPr sz="2700" spc="1005" baseline="16975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700" baseline="169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Internet’s</a:t>
            </a:r>
            <a:r>
              <a:rPr sz="2400" spc="-10" dirty="0">
                <a:latin typeface="Comic Sans MS"/>
                <a:cs typeface="Comic Sans MS"/>
              </a:rPr>
              <a:t> </a:t>
            </a:r>
            <a:r>
              <a:rPr sz="2400" spc="-20" dirty="0">
                <a:latin typeface="Comic Sans MS"/>
                <a:cs typeface="Comic Sans MS"/>
              </a:rPr>
              <a:t>connection-</a:t>
            </a:r>
            <a:r>
              <a:rPr sz="2400" dirty="0">
                <a:latin typeface="Comic Sans MS"/>
                <a:cs typeface="Comic Sans MS"/>
              </a:rPr>
              <a:t>oriented</a:t>
            </a:r>
            <a:r>
              <a:rPr sz="2400" spc="-1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service</a:t>
            </a:r>
            <a:endParaRPr sz="2400" dirty="0">
              <a:latin typeface="Comic Sans MS"/>
              <a:cs typeface="Comic Sans MS"/>
            </a:endParaRPr>
          </a:p>
          <a:p>
            <a:pPr marL="482600">
              <a:lnSpc>
                <a:spcPct val="100000"/>
              </a:lnSpc>
              <a:spcBef>
                <a:spcPts val="600"/>
              </a:spcBef>
            </a:pPr>
            <a:r>
              <a:rPr sz="2700" spc="1005" baseline="16975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700" spc="-15" baseline="169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reliable,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in-</a:t>
            </a:r>
            <a:r>
              <a:rPr sz="2400" dirty="0">
                <a:latin typeface="Comic Sans MS"/>
                <a:cs typeface="Comic Sans MS"/>
              </a:rPr>
              <a:t>order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byte-</a:t>
            </a:r>
            <a:r>
              <a:rPr sz="2400" dirty="0">
                <a:latin typeface="Comic Sans MS"/>
                <a:cs typeface="Comic Sans MS"/>
              </a:rPr>
              <a:t>stream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data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transfer</a:t>
            </a:r>
            <a:endParaRPr sz="2400" dirty="0">
              <a:latin typeface="Comic Sans MS"/>
              <a:cs typeface="Comic Sans MS"/>
            </a:endParaRPr>
          </a:p>
          <a:p>
            <a:pPr marL="1167765" indent="-226695">
              <a:lnSpc>
                <a:spcPct val="100000"/>
              </a:lnSpc>
              <a:spcBef>
                <a:spcPts val="509"/>
              </a:spcBef>
              <a:buChar char="•"/>
              <a:tabLst>
                <a:tab pos="1167765" algn="l"/>
              </a:tabLst>
            </a:pPr>
            <a:r>
              <a:rPr sz="2000" dirty="0">
                <a:latin typeface="Comic Sans MS"/>
                <a:cs typeface="Comic Sans MS"/>
              </a:rPr>
              <a:t>loss:</a:t>
            </a:r>
            <a:r>
              <a:rPr sz="2000" spc="-6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acknowledgements</a:t>
            </a:r>
            <a:r>
              <a:rPr sz="2000" spc="-6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and</a:t>
            </a:r>
            <a:r>
              <a:rPr sz="2000" spc="-6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retransmissions</a:t>
            </a:r>
            <a:endParaRPr sz="2000" dirty="0">
              <a:latin typeface="Comic Sans MS"/>
              <a:cs typeface="Comic Sans MS"/>
            </a:endParaRPr>
          </a:p>
          <a:p>
            <a:pPr marL="482600">
              <a:lnSpc>
                <a:spcPct val="100000"/>
              </a:lnSpc>
              <a:spcBef>
                <a:spcPts val="590"/>
              </a:spcBef>
            </a:pPr>
            <a:r>
              <a:rPr sz="2700" spc="1005" baseline="16975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700" spc="-7" baseline="169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flow</a:t>
            </a:r>
            <a:r>
              <a:rPr sz="2400" spc="-10" dirty="0">
                <a:latin typeface="Comic Sans MS"/>
                <a:cs typeface="Comic Sans MS"/>
              </a:rPr>
              <a:t> control:</a:t>
            </a:r>
            <a:endParaRPr sz="2400" dirty="0">
              <a:latin typeface="Comic Sans MS"/>
              <a:cs typeface="Comic Sans MS"/>
            </a:endParaRPr>
          </a:p>
          <a:p>
            <a:pPr marL="1167765" indent="-226695">
              <a:lnSpc>
                <a:spcPct val="100000"/>
              </a:lnSpc>
              <a:spcBef>
                <a:spcPts val="509"/>
              </a:spcBef>
              <a:buChar char="•"/>
              <a:tabLst>
                <a:tab pos="1167765" algn="l"/>
              </a:tabLst>
            </a:pPr>
            <a:r>
              <a:rPr sz="2000" dirty="0">
                <a:latin typeface="Comic Sans MS"/>
                <a:cs typeface="Comic Sans MS"/>
              </a:rPr>
              <a:t>sender</a:t>
            </a:r>
            <a:r>
              <a:rPr sz="2000" spc="-6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won’t</a:t>
            </a:r>
            <a:r>
              <a:rPr sz="2000" spc="-5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overwhelm</a:t>
            </a:r>
            <a:r>
              <a:rPr sz="2000" spc="-5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receiver</a:t>
            </a:r>
            <a:endParaRPr sz="2000" dirty="0">
              <a:latin typeface="Comic Sans MS"/>
              <a:cs typeface="Comic Sans MS"/>
            </a:endParaRPr>
          </a:p>
          <a:p>
            <a:pPr marL="482600">
              <a:lnSpc>
                <a:spcPct val="100000"/>
              </a:lnSpc>
              <a:spcBef>
                <a:spcPts val="590"/>
              </a:spcBef>
            </a:pPr>
            <a:r>
              <a:rPr sz="2700" spc="1005" baseline="16975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700" spc="-60" baseline="169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congestion</a:t>
            </a:r>
            <a:r>
              <a:rPr sz="2400" spc="-6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control:</a:t>
            </a:r>
            <a:endParaRPr sz="2400" dirty="0">
              <a:latin typeface="Comic Sans MS"/>
              <a:cs typeface="Comic Sans MS"/>
            </a:endParaRPr>
          </a:p>
          <a:p>
            <a:pPr marL="1167765" indent="-226695">
              <a:lnSpc>
                <a:spcPct val="100000"/>
              </a:lnSpc>
              <a:spcBef>
                <a:spcPts val="509"/>
              </a:spcBef>
              <a:buChar char="•"/>
              <a:tabLst>
                <a:tab pos="1167765" algn="l"/>
              </a:tabLst>
            </a:pPr>
            <a:r>
              <a:rPr sz="2000" dirty="0">
                <a:latin typeface="Comic Sans MS"/>
                <a:cs typeface="Comic Sans MS"/>
              </a:rPr>
              <a:t>senders</a:t>
            </a:r>
            <a:r>
              <a:rPr sz="2000" spc="-5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“slow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down</a:t>
            </a:r>
            <a:r>
              <a:rPr sz="2000" spc="-5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sending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rate”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when</a:t>
            </a:r>
            <a:r>
              <a:rPr sz="2000" spc="-5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network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53819" y="6388100"/>
            <a:ext cx="12287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omic Sans MS"/>
                <a:cs typeface="Comic Sans MS"/>
              </a:rPr>
              <a:t>congested</a:t>
            </a:r>
            <a:endParaRPr sz="2000" dirty="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98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Connectionless</a:t>
            </a:r>
            <a:r>
              <a:rPr sz="3200" spc="-229" dirty="0"/>
              <a:t> </a:t>
            </a:r>
            <a:r>
              <a:rPr sz="3200" spc="-10" dirty="0"/>
              <a:t>service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572719" y="1511280"/>
            <a:ext cx="7353300" cy="435800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520"/>
              </a:spcBef>
            </a:pPr>
            <a:r>
              <a:rPr sz="3300" i="1" u="sng" spc="-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Goal:</a:t>
            </a:r>
            <a:r>
              <a:rPr sz="3300" i="1" u="none" spc="-21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800" u="none" dirty="0">
                <a:latin typeface="Comic Sans MS"/>
                <a:cs typeface="Comic Sans MS"/>
              </a:rPr>
              <a:t>data</a:t>
            </a:r>
            <a:r>
              <a:rPr sz="2800" u="none" spc="-114" dirty="0">
                <a:latin typeface="Comic Sans MS"/>
                <a:cs typeface="Comic Sans MS"/>
              </a:rPr>
              <a:t> </a:t>
            </a:r>
            <a:r>
              <a:rPr sz="2800" u="none" dirty="0">
                <a:latin typeface="Comic Sans MS"/>
                <a:cs typeface="Comic Sans MS"/>
              </a:rPr>
              <a:t>transfer</a:t>
            </a:r>
            <a:r>
              <a:rPr sz="2800" u="none" spc="-100" dirty="0">
                <a:latin typeface="Comic Sans MS"/>
                <a:cs typeface="Comic Sans MS"/>
              </a:rPr>
              <a:t> </a:t>
            </a:r>
            <a:r>
              <a:rPr sz="2800" u="none" dirty="0">
                <a:latin typeface="Comic Sans MS"/>
                <a:cs typeface="Comic Sans MS"/>
              </a:rPr>
              <a:t>between</a:t>
            </a:r>
            <a:r>
              <a:rPr sz="2800" u="none" spc="-105" dirty="0">
                <a:latin typeface="Comic Sans MS"/>
                <a:cs typeface="Comic Sans MS"/>
              </a:rPr>
              <a:t> </a:t>
            </a:r>
            <a:r>
              <a:rPr sz="2800" u="none" dirty="0">
                <a:latin typeface="Comic Sans MS"/>
                <a:cs typeface="Comic Sans MS"/>
              </a:rPr>
              <a:t>end</a:t>
            </a:r>
            <a:r>
              <a:rPr sz="2800" u="none" spc="-100" dirty="0">
                <a:latin typeface="Comic Sans MS"/>
                <a:cs typeface="Comic Sans MS"/>
              </a:rPr>
              <a:t> </a:t>
            </a:r>
            <a:r>
              <a:rPr sz="2800" u="none" spc="-10" dirty="0">
                <a:latin typeface="Comic Sans MS"/>
                <a:cs typeface="Comic Sans MS"/>
              </a:rPr>
              <a:t>systems</a:t>
            </a:r>
            <a:endParaRPr sz="2800" dirty="0">
              <a:latin typeface="Comic Sans MS"/>
              <a:cs typeface="Comic Sans MS"/>
            </a:endParaRPr>
          </a:p>
          <a:p>
            <a:pPr marL="508000">
              <a:lnSpc>
                <a:spcPct val="100000"/>
              </a:lnSpc>
              <a:spcBef>
                <a:spcPts val="300"/>
              </a:spcBef>
            </a:pPr>
            <a:r>
              <a:rPr sz="2700" spc="1005" baseline="15432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700" baseline="15432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same</a:t>
            </a:r>
            <a:r>
              <a:rPr sz="2400" spc="-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as</a:t>
            </a:r>
            <a:r>
              <a:rPr sz="2400" spc="-1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before!</a:t>
            </a:r>
            <a:endParaRPr sz="2400" dirty="0">
              <a:latin typeface="Comic Sans MS"/>
              <a:cs typeface="Comic Sans MS"/>
            </a:endParaRPr>
          </a:p>
          <a:p>
            <a:pPr marL="50800">
              <a:lnSpc>
                <a:spcPct val="100000"/>
              </a:lnSpc>
              <a:spcBef>
                <a:spcPts val="350"/>
              </a:spcBef>
            </a:pPr>
            <a:r>
              <a:rPr sz="3525" spc="1372" baseline="1182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525" spc="-225" baseline="118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UDP</a:t>
            </a:r>
            <a:r>
              <a:rPr sz="2800" spc="-7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-</a:t>
            </a:r>
            <a:r>
              <a:rPr sz="2800" spc="-8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User</a:t>
            </a:r>
            <a:r>
              <a:rPr sz="2800" spc="-7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Datagram</a:t>
            </a:r>
            <a:r>
              <a:rPr sz="2800" spc="-7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Protocol</a:t>
            </a:r>
            <a:r>
              <a:rPr sz="2800" spc="-7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[RFC</a:t>
            </a:r>
            <a:r>
              <a:rPr sz="2800" spc="-80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768]:</a:t>
            </a:r>
            <a:endParaRPr sz="2800" dirty="0">
              <a:latin typeface="Comic Sans MS"/>
              <a:cs typeface="Comic Sans MS"/>
            </a:endParaRPr>
          </a:p>
          <a:p>
            <a:pPr marL="508000">
              <a:lnSpc>
                <a:spcPct val="100000"/>
              </a:lnSpc>
              <a:spcBef>
                <a:spcPts val="360"/>
              </a:spcBef>
            </a:pPr>
            <a:r>
              <a:rPr sz="3150" spc="60" baseline="15873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800" spc="40" dirty="0">
                <a:latin typeface="Comic Sans MS"/>
                <a:cs typeface="Comic Sans MS"/>
              </a:rPr>
              <a:t>connectionless</a:t>
            </a:r>
            <a:endParaRPr sz="2800" dirty="0">
              <a:latin typeface="Comic Sans MS"/>
              <a:cs typeface="Comic Sans MS"/>
            </a:endParaRPr>
          </a:p>
          <a:p>
            <a:pPr marL="508000">
              <a:lnSpc>
                <a:spcPct val="100000"/>
              </a:lnSpc>
              <a:spcBef>
                <a:spcPts val="359"/>
              </a:spcBef>
            </a:pPr>
            <a:r>
              <a:rPr sz="3150" spc="104" baseline="15873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800" spc="70" dirty="0">
                <a:latin typeface="Comic Sans MS"/>
                <a:cs typeface="Comic Sans MS"/>
              </a:rPr>
              <a:t>unreliable</a:t>
            </a:r>
            <a:r>
              <a:rPr sz="2800" spc="-1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data</a:t>
            </a:r>
            <a:r>
              <a:rPr sz="2800" spc="-25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transfer</a:t>
            </a:r>
            <a:endParaRPr sz="2800" dirty="0">
              <a:latin typeface="Comic Sans MS"/>
              <a:cs typeface="Comic Sans MS"/>
            </a:endParaRPr>
          </a:p>
          <a:p>
            <a:pPr marL="508000">
              <a:lnSpc>
                <a:spcPct val="100000"/>
              </a:lnSpc>
              <a:spcBef>
                <a:spcPts val="360"/>
              </a:spcBef>
            </a:pPr>
            <a:r>
              <a:rPr sz="3150" spc="465" baseline="15873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800" spc="310" dirty="0">
                <a:latin typeface="Comic Sans MS"/>
                <a:cs typeface="Comic Sans MS"/>
              </a:rPr>
              <a:t>no</a:t>
            </a:r>
            <a:r>
              <a:rPr sz="2800" spc="-1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flow</a:t>
            </a:r>
            <a:r>
              <a:rPr sz="2800" spc="-25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control</a:t>
            </a:r>
            <a:endParaRPr sz="2800" dirty="0">
              <a:latin typeface="Comic Sans MS"/>
              <a:cs typeface="Comic Sans MS"/>
            </a:endParaRPr>
          </a:p>
          <a:p>
            <a:pPr marL="508000">
              <a:lnSpc>
                <a:spcPct val="100000"/>
              </a:lnSpc>
              <a:spcBef>
                <a:spcPts val="350"/>
              </a:spcBef>
            </a:pPr>
            <a:r>
              <a:rPr sz="3150" spc="465" baseline="14550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800" spc="310" dirty="0">
                <a:latin typeface="Comic Sans MS"/>
                <a:cs typeface="Comic Sans MS"/>
              </a:rPr>
              <a:t>no</a:t>
            </a:r>
            <a:r>
              <a:rPr sz="2800" spc="-5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congestion</a:t>
            </a:r>
            <a:r>
              <a:rPr sz="2800" spc="-60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control</a:t>
            </a:r>
            <a:endParaRPr sz="2800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2800" dirty="0">
              <a:latin typeface="Comic Sans MS"/>
              <a:cs typeface="Comic Sans MS"/>
            </a:endParaRPr>
          </a:p>
          <a:p>
            <a:pPr marL="50800">
              <a:lnSpc>
                <a:spcPct val="100000"/>
              </a:lnSpc>
            </a:pPr>
            <a:r>
              <a:rPr sz="4050" spc="240" baseline="1234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200" spc="160" dirty="0">
                <a:latin typeface="Comic Sans MS"/>
                <a:cs typeface="Comic Sans MS"/>
              </a:rPr>
              <a:t>What’s</a:t>
            </a:r>
            <a:r>
              <a:rPr sz="3200" spc="-35" dirty="0">
                <a:latin typeface="Comic Sans MS"/>
                <a:cs typeface="Comic Sans MS"/>
              </a:rPr>
              <a:t> </a:t>
            </a:r>
            <a:r>
              <a:rPr sz="3200" dirty="0">
                <a:latin typeface="Comic Sans MS"/>
                <a:cs typeface="Comic Sans MS"/>
              </a:rPr>
              <a:t>it</a:t>
            </a:r>
            <a:r>
              <a:rPr sz="3200" spc="-35" dirty="0">
                <a:latin typeface="Comic Sans MS"/>
                <a:cs typeface="Comic Sans MS"/>
              </a:rPr>
              <a:t> </a:t>
            </a:r>
            <a:r>
              <a:rPr sz="3200" dirty="0">
                <a:latin typeface="Comic Sans MS"/>
                <a:cs typeface="Comic Sans MS"/>
              </a:rPr>
              <a:t>good</a:t>
            </a:r>
            <a:r>
              <a:rPr sz="3200" spc="-40" dirty="0">
                <a:latin typeface="Comic Sans MS"/>
                <a:cs typeface="Comic Sans MS"/>
              </a:rPr>
              <a:t> </a:t>
            </a:r>
            <a:r>
              <a:rPr sz="3200" spc="-20" dirty="0">
                <a:latin typeface="Comic Sans MS"/>
                <a:cs typeface="Comic Sans MS"/>
              </a:rPr>
              <a:t>for?</a:t>
            </a:r>
            <a:endParaRPr sz="3200" dirty="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98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A</a:t>
            </a:r>
            <a:r>
              <a:rPr sz="3200" spc="-5" dirty="0"/>
              <a:t> </a:t>
            </a:r>
            <a:r>
              <a:rPr sz="3200" spc="-10" dirty="0"/>
              <a:t>Comparison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572719" y="1530089"/>
            <a:ext cx="7224395" cy="360362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900"/>
              </a:spcBef>
            </a:pPr>
            <a:r>
              <a:rPr sz="32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App’s</a:t>
            </a:r>
            <a:r>
              <a:rPr sz="3200" u="sng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32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using</a:t>
            </a:r>
            <a:r>
              <a:rPr sz="3200" u="sng" spc="-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3200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TCP:</a:t>
            </a:r>
            <a:endParaRPr sz="3200" dirty="0">
              <a:latin typeface="Comic Sans MS"/>
              <a:cs typeface="Comic Sans MS"/>
            </a:endParaRPr>
          </a:p>
          <a:p>
            <a:pPr marL="382905" marR="156845" indent="-332740">
              <a:lnSpc>
                <a:spcPct val="100000"/>
              </a:lnSpc>
              <a:spcBef>
                <a:spcPts val="700"/>
              </a:spcBef>
            </a:pPr>
            <a:r>
              <a:rPr sz="3525" spc="1372" baseline="13002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525" spc="-225" baseline="13002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Comic Sans MS"/>
                <a:cs typeface="Comic Sans MS"/>
              </a:rPr>
              <a:t>HTTP</a:t>
            </a:r>
            <a:r>
              <a:rPr sz="2800" spc="-7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(Web),</a:t>
            </a:r>
            <a:r>
              <a:rPr sz="2800" spc="-6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FTP</a:t>
            </a:r>
            <a:r>
              <a:rPr sz="2800" spc="-7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(file</a:t>
            </a:r>
            <a:r>
              <a:rPr sz="2800" spc="-7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transfer),</a:t>
            </a:r>
            <a:r>
              <a:rPr sz="2800" spc="-60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Telnet </a:t>
            </a:r>
            <a:r>
              <a:rPr sz="2800" dirty="0">
                <a:latin typeface="Comic Sans MS"/>
                <a:cs typeface="Comic Sans MS"/>
              </a:rPr>
              <a:t>(remote</a:t>
            </a:r>
            <a:r>
              <a:rPr sz="2800" spc="-8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login),</a:t>
            </a:r>
            <a:r>
              <a:rPr sz="2800" spc="-8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SMTP</a:t>
            </a:r>
            <a:r>
              <a:rPr sz="2800" spc="-85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(email)</a:t>
            </a:r>
            <a:endParaRPr sz="2800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2800" dirty="0">
              <a:latin typeface="Comic Sans MS"/>
              <a:cs typeface="Comic Sans MS"/>
            </a:endParaRPr>
          </a:p>
          <a:p>
            <a:pPr marL="59690">
              <a:lnSpc>
                <a:spcPct val="100000"/>
              </a:lnSpc>
            </a:pPr>
            <a:r>
              <a:rPr sz="32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App’s</a:t>
            </a:r>
            <a:r>
              <a:rPr sz="3200" u="sng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32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using</a:t>
            </a:r>
            <a:r>
              <a:rPr sz="3200" u="sng" spc="-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3200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UDP:</a:t>
            </a:r>
            <a:endParaRPr sz="3200" dirty="0">
              <a:latin typeface="Comic Sans MS"/>
              <a:cs typeface="Comic Sans MS"/>
            </a:endParaRPr>
          </a:p>
          <a:p>
            <a:pPr marL="382905" marR="43180" indent="-332740">
              <a:lnSpc>
                <a:spcPct val="100000"/>
              </a:lnSpc>
              <a:spcBef>
                <a:spcPts val="700"/>
              </a:spcBef>
            </a:pPr>
            <a:r>
              <a:rPr sz="3525" spc="1372" baseline="13002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525" spc="-225" baseline="13002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Comic Sans MS"/>
                <a:cs typeface="Comic Sans MS"/>
              </a:rPr>
              <a:t>streaming</a:t>
            </a:r>
            <a:r>
              <a:rPr sz="2800" spc="-10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media,</a:t>
            </a:r>
            <a:r>
              <a:rPr sz="2800" spc="-85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teleconferencing,</a:t>
            </a:r>
            <a:r>
              <a:rPr sz="2800" spc="-85" dirty="0">
                <a:latin typeface="Comic Sans MS"/>
                <a:cs typeface="Comic Sans MS"/>
              </a:rPr>
              <a:t> </a:t>
            </a:r>
            <a:r>
              <a:rPr sz="2800" spc="-20" dirty="0">
                <a:latin typeface="Comic Sans MS"/>
                <a:cs typeface="Comic Sans MS"/>
              </a:rPr>
              <a:t>DNS, </a:t>
            </a:r>
            <a:r>
              <a:rPr sz="2800" dirty="0">
                <a:latin typeface="Comic Sans MS"/>
                <a:cs typeface="Comic Sans MS"/>
              </a:rPr>
              <a:t>Internet</a:t>
            </a:r>
            <a:r>
              <a:rPr sz="2800" spc="-110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telephony</a:t>
            </a:r>
            <a:endParaRPr sz="2800" dirty="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110" dirty="0"/>
              <a:t> </a:t>
            </a:r>
            <a:r>
              <a:rPr dirty="0"/>
              <a:t>Network</a:t>
            </a:r>
            <a:r>
              <a:rPr spc="-90" dirty="0"/>
              <a:t> </a:t>
            </a:r>
            <a:r>
              <a:rPr spc="-20" dirty="0"/>
              <a:t>Core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8119" y="1633220"/>
            <a:ext cx="4031615" cy="4276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7505" marR="287020" indent="-332740">
              <a:lnSpc>
                <a:spcPct val="100000"/>
              </a:lnSpc>
              <a:spcBef>
                <a:spcPts val="100"/>
              </a:spcBef>
            </a:pPr>
            <a:r>
              <a:rPr sz="3075" spc="1147" baseline="1355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59" baseline="135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mesh</a:t>
            </a:r>
            <a:r>
              <a:rPr sz="2400" spc="-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of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interconnected routers</a:t>
            </a:r>
            <a:endParaRPr sz="2400" dirty="0">
              <a:latin typeface="Comic Sans MS"/>
              <a:cs typeface="Comic Sans MS"/>
            </a:endParaRPr>
          </a:p>
          <a:p>
            <a:pPr marL="357505" marR="17780" indent="-332740">
              <a:lnSpc>
                <a:spcPct val="100000"/>
              </a:lnSpc>
              <a:spcBef>
                <a:spcPts val="54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30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50" i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the</a:t>
            </a:r>
            <a:r>
              <a:rPr sz="2450" i="1" u="none" spc="-5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u="none" spc="-10" dirty="0">
                <a:solidFill>
                  <a:srgbClr val="FF0000"/>
                </a:solidFill>
                <a:latin typeface="Comic Sans MS"/>
                <a:cs typeface="Comic Sans MS"/>
              </a:rPr>
              <a:t>fundamental </a:t>
            </a:r>
            <a:r>
              <a:rPr sz="2400" u="none" dirty="0">
                <a:solidFill>
                  <a:srgbClr val="FF0000"/>
                </a:solidFill>
                <a:latin typeface="Comic Sans MS"/>
                <a:cs typeface="Comic Sans MS"/>
              </a:rPr>
              <a:t>question:</a:t>
            </a:r>
            <a:r>
              <a:rPr sz="2400" u="none" spc="-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u="none" dirty="0">
                <a:latin typeface="Comic Sans MS"/>
                <a:cs typeface="Comic Sans MS"/>
              </a:rPr>
              <a:t>how</a:t>
            </a:r>
            <a:r>
              <a:rPr sz="2400" u="none" spc="-50" dirty="0">
                <a:latin typeface="Comic Sans MS"/>
                <a:cs typeface="Comic Sans MS"/>
              </a:rPr>
              <a:t> </a:t>
            </a:r>
            <a:r>
              <a:rPr sz="2400" u="none" dirty="0">
                <a:latin typeface="Comic Sans MS"/>
                <a:cs typeface="Comic Sans MS"/>
              </a:rPr>
              <a:t>is</a:t>
            </a:r>
            <a:r>
              <a:rPr sz="2400" u="none" spc="-55" dirty="0">
                <a:latin typeface="Comic Sans MS"/>
                <a:cs typeface="Comic Sans MS"/>
              </a:rPr>
              <a:t> </a:t>
            </a:r>
            <a:r>
              <a:rPr sz="2400" u="none" spc="-20" dirty="0">
                <a:latin typeface="Comic Sans MS"/>
                <a:cs typeface="Comic Sans MS"/>
              </a:rPr>
              <a:t>data </a:t>
            </a:r>
            <a:r>
              <a:rPr sz="2400" u="none" dirty="0">
                <a:latin typeface="Comic Sans MS"/>
                <a:cs typeface="Comic Sans MS"/>
              </a:rPr>
              <a:t>transferred</a:t>
            </a:r>
            <a:r>
              <a:rPr sz="2400" u="none" spc="-90" dirty="0">
                <a:latin typeface="Comic Sans MS"/>
                <a:cs typeface="Comic Sans MS"/>
              </a:rPr>
              <a:t> </a:t>
            </a:r>
            <a:r>
              <a:rPr sz="2400" u="none" dirty="0">
                <a:latin typeface="Comic Sans MS"/>
                <a:cs typeface="Comic Sans MS"/>
              </a:rPr>
              <a:t>through</a:t>
            </a:r>
            <a:r>
              <a:rPr sz="2400" u="none" spc="-80" dirty="0">
                <a:latin typeface="Comic Sans MS"/>
                <a:cs typeface="Comic Sans MS"/>
              </a:rPr>
              <a:t> </a:t>
            </a:r>
            <a:r>
              <a:rPr sz="2400" u="none" spc="-20" dirty="0">
                <a:latin typeface="Comic Sans MS"/>
                <a:cs typeface="Comic Sans MS"/>
              </a:rPr>
              <a:t>net?</a:t>
            </a:r>
            <a:endParaRPr sz="2400" dirty="0">
              <a:latin typeface="Comic Sans MS"/>
              <a:cs typeface="Comic Sans MS"/>
            </a:endParaRPr>
          </a:p>
          <a:p>
            <a:pPr marL="758190" marR="262890" indent="-276225">
              <a:lnSpc>
                <a:spcPct val="100000"/>
              </a:lnSpc>
              <a:spcBef>
                <a:spcPts val="585"/>
              </a:spcBef>
            </a:pPr>
            <a:r>
              <a:rPr sz="2700" spc="1005" baseline="16975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700" spc="-30" baseline="169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circuit</a:t>
            </a:r>
            <a:r>
              <a:rPr sz="2400" spc="-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switching: </a:t>
            </a:r>
            <a:r>
              <a:rPr sz="2400" dirty="0">
                <a:latin typeface="Comic Sans MS"/>
                <a:cs typeface="Comic Sans MS"/>
              </a:rPr>
              <a:t>dedicated</a:t>
            </a:r>
            <a:r>
              <a:rPr sz="2400" spc="-9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circuit</a:t>
            </a:r>
            <a:r>
              <a:rPr sz="2400" spc="-80" dirty="0">
                <a:latin typeface="Comic Sans MS"/>
                <a:cs typeface="Comic Sans MS"/>
              </a:rPr>
              <a:t> </a:t>
            </a:r>
            <a:r>
              <a:rPr sz="2400" spc="-25" dirty="0">
                <a:latin typeface="Comic Sans MS"/>
                <a:cs typeface="Comic Sans MS"/>
              </a:rPr>
              <a:t>per </a:t>
            </a:r>
            <a:r>
              <a:rPr sz="2400" dirty="0">
                <a:latin typeface="Comic Sans MS"/>
                <a:cs typeface="Comic Sans MS"/>
              </a:rPr>
              <a:t>call:</a:t>
            </a:r>
            <a:r>
              <a:rPr sz="2400" spc="-5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telephone</a:t>
            </a:r>
            <a:r>
              <a:rPr sz="2400" spc="-50" dirty="0">
                <a:latin typeface="Comic Sans MS"/>
                <a:cs typeface="Comic Sans MS"/>
              </a:rPr>
              <a:t> </a:t>
            </a:r>
            <a:r>
              <a:rPr sz="2400" spc="-25" dirty="0">
                <a:latin typeface="Comic Sans MS"/>
                <a:cs typeface="Comic Sans MS"/>
              </a:rPr>
              <a:t>net</a:t>
            </a:r>
            <a:endParaRPr sz="2400" dirty="0">
              <a:latin typeface="Comic Sans MS"/>
              <a:cs typeface="Comic Sans MS"/>
            </a:endParaRPr>
          </a:p>
          <a:p>
            <a:pPr marL="758190" marR="46355" indent="-276225">
              <a:lnSpc>
                <a:spcPct val="100000"/>
              </a:lnSpc>
              <a:spcBef>
                <a:spcPts val="605"/>
              </a:spcBef>
            </a:pPr>
            <a:r>
              <a:rPr sz="2700" spc="1005" baseline="16975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700" spc="-44" baseline="169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packet-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switching:</a:t>
            </a:r>
            <a:r>
              <a:rPr sz="2400" spc="-2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spc="-20" dirty="0">
                <a:latin typeface="Comic Sans MS"/>
                <a:cs typeface="Comic Sans MS"/>
              </a:rPr>
              <a:t>data </a:t>
            </a:r>
            <a:r>
              <a:rPr sz="2400" dirty="0">
                <a:latin typeface="Comic Sans MS"/>
                <a:cs typeface="Comic Sans MS"/>
              </a:rPr>
              <a:t>sent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thru</a:t>
            </a:r>
            <a:r>
              <a:rPr sz="2400" spc="-1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net</a:t>
            </a:r>
            <a:r>
              <a:rPr sz="2400" spc="-15" dirty="0">
                <a:latin typeface="Comic Sans MS"/>
                <a:cs typeface="Comic Sans MS"/>
              </a:rPr>
              <a:t> </a:t>
            </a:r>
            <a:r>
              <a:rPr sz="2400" spc="-25" dirty="0">
                <a:latin typeface="Comic Sans MS"/>
                <a:cs typeface="Comic Sans MS"/>
              </a:rPr>
              <a:t>in </a:t>
            </a:r>
            <a:r>
              <a:rPr sz="2400" dirty="0">
                <a:latin typeface="Comic Sans MS"/>
                <a:cs typeface="Comic Sans MS"/>
              </a:rPr>
              <a:t>discrete</a:t>
            </a:r>
            <a:r>
              <a:rPr sz="2400" spc="-6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“chunks”</a:t>
            </a:r>
            <a:endParaRPr sz="2400" dirty="0">
              <a:latin typeface="Comic Sans MS"/>
              <a:cs typeface="Comic Sans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006886" y="2188794"/>
            <a:ext cx="3376929" cy="3378835"/>
            <a:chOff x="5006886" y="2188794"/>
            <a:chExt cx="3376929" cy="33788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08839" y="3921125"/>
              <a:ext cx="203034" cy="2397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06886" y="2188794"/>
              <a:ext cx="3376438" cy="337860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57683" y="5121719"/>
              <a:ext cx="395630" cy="41399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221245" y="404315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0819" y="513257"/>
            <a:ext cx="69215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29175" algn="l"/>
              </a:tabLst>
            </a:pPr>
            <a:r>
              <a:rPr sz="3600" dirty="0"/>
              <a:t>Network</a:t>
            </a:r>
            <a:r>
              <a:rPr sz="3600" spc="-80" dirty="0"/>
              <a:t> </a:t>
            </a:r>
            <a:r>
              <a:rPr sz="3600" dirty="0"/>
              <a:t>Core:</a:t>
            </a:r>
            <a:r>
              <a:rPr sz="3600" spc="-70" dirty="0"/>
              <a:t> </a:t>
            </a:r>
            <a:r>
              <a:rPr sz="3600" spc="-10" dirty="0"/>
              <a:t>Circuit</a:t>
            </a:r>
            <a:r>
              <a:rPr sz="3600" dirty="0"/>
              <a:t>	</a:t>
            </a:r>
            <a:r>
              <a:rPr sz="3600" spc="-10" dirty="0"/>
              <a:t>Switching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72719" y="1583537"/>
            <a:ext cx="3656965" cy="491172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93700" marR="187325" indent="-334645">
              <a:lnSpc>
                <a:spcPts val="3020"/>
              </a:lnSpc>
              <a:spcBef>
                <a:spcPts val="484"/>
              </a:spcBef>
            </a:pPr>
            <a:r>
              <a:rPr sz="2800" spc="-10" dirty="0">
                <a:solidFill>
                  <a:srgbClr val="FF0000"/>
                </a:solidFill>
                <a:latin typeface="Comic Sans MS"/>
                <a:cs typeface="Comic Sans MS"/>
              </a:rPr>
              <a:t>End-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end</a:t>
            </a:r>
            <a:r>
              <a:rPr sz="2800" spc="-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omic Sans MS"/>
                <a:cs typeface="Comic Sans MS"/>
              </a:rPr>
              <a:t>resources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reserved</a:t>
            </a:r>
            <a:r>
              <a:rPr sz="2800" spc="-10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for</a:t>
            </a:r>
            <a:r>
              <a:rPr sz="2800" spc="-10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omic Sans MS"/>
                <a:cs typeface="Comic Sans MS"/>
              </a:rPr>
              <a:t>“call”</a:t>
            </a:r>
            <a:endParaRPr sz="2800">
              <a:latin typeface="Comic Sans MS"/>
              <a:cs typeface="Comic Sans MS"/>
            </a:endParaRPr>
          </a:p>
          <a:p>
            <a:pPr marL="382905" marR="30480" indent="-332740">
              <a:lnSpc>
                <a:spcPts val="2590"/>
              </a:lnSpc>
              <a:spcBef>
                <a:spcPts val="605"/>
              </a:spcBef>
              <a:tabLst>
                <a:tab pos="2700655" algn="l"/>
              </a:tabLst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59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link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bandwidth,</a:t>
            </a:r>
            <a:r>
              <a:rPr sz="2400" dirty="0">
                <a:latin typeface="Comic Sans MS"/>
                <a:cs typeface="Comic Sans MS"/>
              </a:rPr>
              <a:t>	</a:t>
            </a:r>
            <a:r>
              <a:rPr sz="2400" spc="-10" dirty="0">
                <a:latin typeface="Comic Sans MS"/>
                <a:cs typeface="Comic Sans MS"/>
              </a:rPr>
              <a:t>switch capacity</a:t>
            </a:r>
            <a:endParaRPr sz="2400">
              <a:latin typeface="Comic Sans MS"/>
              <a:cs typeface="Comic Sans MS"/>
            </a:endParaRPr>
          </a:p>
          <a:p>
            <a:pPr marL="382905" marR="274320" indent="-332740">
              <a:lnSpc>
                <a:spcPts val="2590"/>
              </a:lnSpc>
              <a:spcBef>
                <a:spcPts val="6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15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dedicated</a:t>
            </a:r>
            <a:r>
              <a:rPr sz="2400" spc="-5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resources: </a:t>
            </a:r>
            <a:r>
              <a:rPr sz="2400" dirty="0">
                <a:latin typeface="Comic Sans MS"/>
                <a:cs typeface="Comic Sans MS"/>
              </a:rPr>
              <a:t>no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sharing</a:t>
            </a:r>
            <a:endParaRPr sz="2400">
              <a:latin typeface="Comic Sans MS"/>
              <a:cs typeface="Comic Sans MS"/>
            </a:endParaRPr>
          </a:p>
          <a:p>
            <a:pPr marL="382905" marR="1449705" indent="-332740">
              <a:lnSpc>
                <a:spcPct val="90100"/>
              </a:lnSpc>
              <a:spcBef>
                <a:spcPts val="545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97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circuit-</a:t>
            </a:r>
            <a:r>
              <a:rPr sz="2400" spc="-20" dirty="0">
                <a:latin typeface="Comic Sans MS"/>
                <a:cs typeface="Comic Sans MS"/>
              </a:rPr>
              <a:t>like </a:t>
            </a:r>
            <a:r>
              <a:rPr sz="2400" spc="-10" dirty="0">
                <a:latin typeface="Comic Sans MS"/>
                <a:cs typeface="Comic Sans MS"/>
              </a:rPr>
              <a:t>(guaranteed) performance</a:t>
            </a:r>
            <a:endParaRPr sz="2400">
              <a:latin typeface="Comic Sans MS"/>
              <a:cs typeface="Comic Sans MS"/>
            </a:endParaRPr>
          </a:p>
          <a:p>
            <a:pPr marL="50800">
              <a:lnSpc>
                <a:spcPct val="100000"/>
              </a:lnSpc>
              <a:spcBef>
                <a:spcPts val="31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52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call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setup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required</a:t>
            </a:r>
            <a:endParaRPr sz="24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2400">
              <a:latin typeface="Comic Sans MS"/>
              <a:cs typeface="Comic Sans MS"/>
            </a:endParaRPr>
          </a:p>
          <a:p>
            <a:pPr marL="382905" marR="581660" indent="-332740">
              <a:lnSpc>
                <a:spcPts val="2590"/>
              </a:lnSpc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30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must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divide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link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spc="-25" dirty="0">
                <a:latin typeface="Comic Sans MS"/>
                <a:cs typeface="Comic Sans MS"/>
              </a:rPr>
              <a:t>bw </a:t>
            </a:r>
            <a:r>
              <a:rPr sz="2400" dirty="0">
                <a:latin typeface="Comic Sans MS"/>
                <a:cs typeface="Comic Sans MS"/>
              </a:rPr>
              <a:t>into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pieces...</a:t>
            </a:r>
            <a:endParaRPr sz="2400">
              <a:latin typeface="Comic Sans MS"/>
              <a:cs typeface="Comic Sans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8436" y="1711439"/>
            <a:ext cx="3860826" cy="176039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145125" y="3524758"/>
            <a:ext cx="3026410" cy="2322195"/>
            <a:chOff x="5145125" y="3524758"/>
            <a:chExt cx="3026410" cy="232219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81874" y="3732123"/>
              <a:ext cx="231851" cy="2937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45125" y="3524758"/>
              <a:ext cx="2549512" cy="232200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58318" y="5298478"/>
              <a:ext cx="452158" cy="50868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940154" y="4165206"/>
              <a:ext cx="203835" cy="485775"/>
            </a:xfrm>
            <a:custGeom>
              <a:avLst/>
              <a:gdLst/>
              <a:ahLst/>
              <a:cxnLst/>
              <a:rect l="l" t="t" r="r" b="b"/>
              <a:pathLst>
                <a:path w="203834" h="485775">
                  <a:moveTo>
                    <a:pt x="203403" y="0"/>
                  </a:moveTo>
                  <a:lnTo>
                    <a:pt x="112331" y="0"/>
                  </a:lnTo>
                  <a:lnTo>
                    <a:pt x="112331" y="109435"/>
                  </a:lnTo>
                  <a:lnTo>
                    <a:pt x="0" y="109435"/>
                  </a:lnTo>
                  <a:lnTo>
                    <a:pt x="0" y="485635"/>
                  </a:lnTo>
                  <a:lnTo>
                    <a:pt x="66243" y="485635"/>
                  </a:lnTo>
                  <a:lnTo>
                    <a:pt x="132486" y="485635"/>
                  </a:lnTo>
                  <a:lnTo>
                    <a:pt x="132486" y="376199"/>
                  </a:lnTo>
                  <a:lnTo>
                    <a:pt x="158051" y="376199"/>
                  </a:lnTo>
                  <a:lnTo>
                    <a:pt x="203403" y="376199"/>
                  </a:lnTo>
                  <a:lnTo>
                    <a:pt x="203403" y="0"/>
                  </a:lnTo>
                  <a:close/>
                </a:path>
              </a:pathLst>
            </a:custGeom>
            <a:solidFill>
              <a:srgbClr val="33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940154" y="4274642"/>
              <a:ext cx="132715" cy="376555"/>
            </a:xfrm>
            <a:custGeom>
              <a:avLst/>
              <a:gdLst/>
              <a:ahLst/>
              <a:cxnLst/>
              <a:rect l="l" t="t" r="r" b="b"/>
              <a:pathLst>
                <a:path w="132715" h="376554">
                  <a:moveTo>
                    <a:pt x="66243" y="376199"/>
                  </a:moveTo>
                  <a:lnTo>
                    <a:pt x="0" y="376199"/>
                  </a:lnTo>
                  <a:lnTo>
                    <a:pt x="0" y="0"/>
                  </a:lnTo>
                  <a:lnTo>
                    <a:pt x="132486" y="0"/>
                  </a:lnTo>
                  <a:lnTo>
                    <a:pt x="132486" y="376199"/>
                  </a:lnTo>
                  <a:lnTo>
                    <a:pt x="66243" y="376199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938719" y="416232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33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34039" y="4157643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679"/>
                  </a:moveTo>
                  <a:lnTo>
                    <a:pt x="1370" y="1370"/>
                  </a:lnTo>
                  <a:lnTo>
                    <a:pt x="4679" y="0"/>
                  </a:lnTo>
                  <a:lnTo>
                    <a:pt x="7989" y="1370"/>
                  </a:lnTo>
                  <a:lnTo>
                    <a:pt x="9359" y="4679"/>
                  </a:lnTo>
                  <a:lnTo>
                    <a:pt x="7989" y="7989"/>
                  </a:lnTo>
                  <a:lnTo>
                    <a:pt x="4679" y="9359"/>
                  </a:lnTo>
                  <a:lnTo>
                    <a:pt x="1370" y="7989"/>
                  </a:lnTo>
                  <a:lnTo>
                    <a:pt x="0" y="4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166239" y="4170235"/>
              <a:ext cx="0" cy="368300"/>
            </a:xfrm>
            <a:custGeom>
              <a:avLst/>
              <a:gdLst/>
              <a:ahLst/>
              <a:cxnLst/>
              <a:rect l="l" t="t" r="r" b="b"/>
              <a:pathLst>
                <a:path h="368300">
                  <a:moveTo>
                    <a:pt x="0" y="0"/>
                  </a:moveTo>
                  <a:lnTo>
                    <a:pt x="0" y="368287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54194" y="4320724"/>
              <a:ext cx="213131" cy="33515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925765" y="4710239"/>
              <a:ext cx="203835" cy="483870"/>
            </a:xfrm>
            <a:custGeom>
              <a:avLst/>
              <a:gdLst/>
              <a:ahLst/>
              <a:cxnLst/>
              <a:rect l="l" t="t" r="r" b="b"/>
              <a:pathLst>
                <a:path w="203834" h="483870">
                  <a:moveTo>
                    <a:pt x="203758" y="0"/>
                  </a:moveTo>
                  <a:lnTo>
                    <a:pt x="110515" y="0"/>
                  </a:lnTo>
                  <a:lnTo>
                    <a:pt x="110515" y="109080"/>
                  </a:lnTo>
                  <a:lnTo>
                    <a:pt x="0" y="109080"/>
                  </a:lnTo>
                  <a:lnTo>
                    <a:pt x="0" y="483844"/>
                  </a:lnTo>
                  <a:lnTo>
                    <a:pt x="65519" y="483844"/>
                  </a:lnTo>
                  <a:lnTo>
                    <a:pt x="130670" y="483844"/>
                  </a:lnTo>
                  <a:lnTo>
                    <a:pt x="130670" y="374396"/>
                  </a:lnTo>
                  <a:lnTo>
                    <a:pt x="157314" y="374396"/>
                  </a:lnTo>
                  <a:lnTo>
                    <a:pt x="203758" y="374396"/>
                  </a:lnTo>
                  <a:lnTo>
                    <a:pt x="203758" y="0"/>
                  </a:lnTo>
                  <a:close/>
                </a:path>
              </a:pathLst>
            </a:custGeom>
            <a:solidFill>
              <a:srgbClr val="33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925765" y="4819319"/>
              <a:ext cx="130810" cy="375285"/>
            </a:xfrm>
            <a:custGeom>
              <a:avLst/>
              <a:gdLst/>
              <a:ahLst/>
              <a:cxnLst/>
              <a:rect l="l" t="t" r="r" b="b"/>
              <a:pathLst>
                <a:path w="130809" h="375285">
                  <a:moveTo>
                    <a:pt x="65519" y="374764"/>
                  </a:moveTo>
                  <a:lnTo>
                    <a:pt x="0" y="374764"/>
                  </a:lnTo>
                  <a:lnTo>
                    <a:pt x="0" y="0"/>
                  </a:lnTo>
                  <a:lnTo>
                    <a:pt x="130670" y="0"/>
                  </a:lnTo>
                  <a:lnTo>
                    <a:pt x="130670" y="374764"/>
                  </a:lnTo>
                  <a:lnTo>
                    <a:pt x="65519" y="374764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924317" y="470664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33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919637" y="470196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679"/>
                  </a:moveTo>
                  <a:lnTo>
                    <a:pt x="1370" y="1370"/>
                  </a:lnTo>
                  <a:lnTo>
                    <a:pt x="4679" y="0"/>
                  </a:lnTo>
                  <a:lnTo>
                    <a:pt x="7989" y="1370"/>
                  </a:lnTo>
                  <a:lnTo>
                    <a:pt x="9359" y="4679"/>
                  </a:lnTo>
                  <a:lnTo>
                    <a:pt x="7989" y="7989"/>
                  </a:lnTo>
                  <a:lnTo>
                    <a:pt x="4679" y="9359"/>
                  </a:lnTo>
                  <a:lnTo>
                    <a:pt x="1370" y="7989"/>
                  </a:lnTo>
                  <a:lnTo>
                    <a:pt x="0" y="4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060042" y="4714925"/>
              <a:ext cx="92075" cy="480059"/>
            </a:xfrm>
            <a:custGeom>
              <a:avLst/>
              <a:gdLst/>
              <a:ahLst/>
              <a:cxnLst/>
              <a:rect l="l" t="t" r="r" b="b"/>
              <a:pathLst>
                <a:path w="92075" h="480060">
                  <a:moveTo>
                    <a:pt x="91795" y="0"/>
                  </a:moveTo>
                  <a:lnTo>
                    <a:pt x="91795" y="366839"/>
                  </a:lnTo>
                </a:path>
                <a:path w="92075" h="480060">
                  <a:moveTo>
                    <a:pt x="91071" y="376199"/>
                  </a:moveTo>
                  <a:lnTo>
                    <a:pt x="0" y="479513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40160" y="4865401"/>
              <a:ext cx="92519" cy="22067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708683" y="3560762"/>
              <a:ext cx="322580" cy="1442720"/>
            </a:xfrm>
            <a:custGeom>
              <a:avLst/>
              <a:gdLst/>
              <a:ahLst/>
              <a:cxnLst/>
              <a:rect l="l" t="t" r="r" b="b"/>
              <a:pathLst>
                <a:path w="322579" h="1442720">
                  <a:moveTo>
                    <a:pt x="138239" y="1442516"/>
                  </a:moveTo>
                  <a:lnTo>
                    <a:pt x="140030" y="676071"/>
                  </a:lnTo>
                </a:path>
                <a:path w="322579" h="1442720">
                  <a:moveTo>
                    <a:pt x="133553" y="1430274"/>
                  </a:moveTo>
                  <a:lnTo>
                    <a:pt x="250913" y="1432077"/>
                  </a:lnTo>
                </a:path>
                <a:path w="322579" h="1442720">
                  <a:moveTo>
                    <a:pt x="130314" y="847801"/>
                  </a:moveTo>
                  <a:lnTo>
                    <a:pt x="231838" y="849236"/>
                  </a:lnTo>
                </a:path>
                <a:path w="322579" h="1442720">
                  <a:moveTo>
                    <a:pt x="322199" y="0"/>
                  </a:moveTo>
                  <a:lnTo>
                    <a:pt x="0" y="441363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408443" y="411444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408443" y="4100398"/>
              <a:ext cx="556260" cy="89535"/>
            </a:xfrm>
            <a:custGeom>
              <a:avLst/>
              <a:gdLst/>
              <a:ahLst/>
              <a:cxnLst/>
              <a:rect l="l" t="t" r="r" b="b"/>
              <a:pathLst>
                <a:path w="556259" h="89535">
                  <a:moveTo>
                    <a:pt x="0" y="14046"/>
                  </a:moveTo>
                  <a:lnTo>
                    <a:pt x="0" y="14046"/>
                  </a:lnTo>
                  <a:lnTo>
                    <a:pt x="0" y="14046"/>
                  </a:lnTo>
                  <a:close/>
                </a:path>
                <a:path w="556259" h="89535">
                  <a:moveTo>
                    <a:pt x="0" y="0"/>
                  </a:moveTo>
                  <a:lnTo>
                    <a:pt x="0" y="88925"/>
                  </a:lnTo>
                </a:path>
                <a:path w="556259" h="89535">
                  <a:moveTo>
                    <a:pt x="556196" y="0"/>
                  </a:moveTo>
                  <a:lnTo>
                    <a:pt x="556196" y="88925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408443" y="4100042"/>
              <a:ext cx="541655" cy="87630"/>
            </a:xfrm>
            <a:custGeom>
              <a:avLst/>
              <a:gdLst/>
              <a:ahLst/>
              <a:cxnLst/>
              <a:rect l="l" t="t" r="r" b="b"/>
              <a:pathLst>
                <a:path w="541654" h="87629">
                  <a:moveTo>
                    <a:pt x="541439" y="0"/>
                  </a:moveTo>
                  <a:lnTo>
                    <a:pt x="0" y="0"/>
                  </a:lnTo>
                  <a:lnTo>
                    <a:pt x="0" y="87477"/>
                  </a:lnTo>
                  <a:lnTo>
                    <a:pt x="270713" y="87477"/>
                  </a:lnTo>
                  <a:lnTo>
                    <a:pt x="541439" y="87477"/>
                  </a:lnTo>
                  <a:lnTo>
                    <a:pt x="541439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403756" y="398592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25985" y="4011299"/>
              <a:ext cx="275217" cy="128883"/>
            </a:xfrm>
            <a:prstGeom prst="rect">
              <a:avLst/>
            </a:prstGeom>
          </p:spPr>
        </p:pic>
      </p:grp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Circuit</a:t>
            </a:r>
            <a:r>
              <a:rPr spc="-140" dirty="0"/>
              <a:t> </a:t>
            </a:r>
            <a:r>
              <a:rPr dirty="0"/>
              <a:t>Switching:</a:t>
            </a:r>
            <a:r>
              <a:rPr spc="-145" dirty="0"/>
              <a:t> </a:t>
            </a:r>
            <a:r>
              <a:rPr dirty="0"/>
              <a:t>FDM</a:t>
            </a:r>
            <a:r>
              <a:rPr spc="-140" dirty="0"/>
              <a:t> </a:t>
            </a:r>
            <a:r>
              <a:rPr dirty="0"/>
              <a:t>and</a:t>
            </a:r>
            <a:r>
              <a:rPr spc="-140" dirty="0"/>
              <a:t> </a:t>
            </a:r>
            <a:r>
              <a:rPr spc="-25" dirty="0"/>
              <a:t>TDM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0065" y="1619186"/>
            <a:ext cx="6864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FDM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22600" y="2197074"/>
            <a:ext cx="5000625" cy="1355090"/>
            <a:chOff x="2622600" y="2197074"/>
            <a:chExt cx="5000625" cy="1355090"/>
          </a:xfrm>
        </p:grpSpPr>
        <p:sp>
          <p:nvSpPr>
            <p:cNvPr id="5" name="object 5"/>
            <p:cNvSpPr/>
            <p:nvPr/>
          </p:nvSpPr>
          <p:spPr>
            <a:xfrm>
              <a:off x="2679839" y="2303995"/>
              <a:ext cx="0" cy="1190625"/>
            </a:xfrm>
            <a:custGeom>
              <a:avLst/>
              <a:gdLst/>
              <a:ahLst/>
              <a:cxnLst/>
              <a:rect l="l" t="t" r="r" b="b"/>
              <a:pathLst>
                <a:path h="1190625">
                  <a:moveTo>
                    <a:pt x="0" y="1190523"/>
                  </a:moveTo>
                  <a:lnTo>
                    <a:pt x="0" y="0"/>
                  </a:lnTo>
                </a:path>
              </a:pathLst>
            </a:custGeom>
            <a:ln w="381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22600" y="2197074"/>
              <a:ext cx="114935" cy="114935"/>
            </a:xfrm>
            <a:custGeom>
              <a:avLst/>
              <a:gdLst/>
              <a:ahLst/>
              <a:cxnLst/>
              <a:rect l="l" t="t" r="r" b="b"/>
              <a:pathLst>
                <a:path w="114935" h="114935">
                  <a:moveTo>
                    <a:pt x="57238" y="0"/>
                  </a:moveTo>
                  <a:lnTo>
                    <a:pt x="0" y="114490"/>
                  </a:lnTo>
                  <a:lnTo>
                    <a:pt x="114477" y="114490"/>
                  </a:lnTo>
                  <a:lnTo>
                    <a:pt x="572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79839" y="3494519"/>
              <a:ext cx="4836795" cy="0"/>
            </a:xfrm>
            <a:custGeom>
              <a:avLst/>
              <a:gdLst/>
              <a:ahLst/>
              <a:cxnLst/>
              <a:rect l="l" t="t" r="r" b="b"/>
              <a:pathLst>
                <a:path w="4836795">
                  <a:moveTo>
                    <a:pt x="0" y="0"/>
                  </a:moveTo>
                  <a:lnTo>
                    <a:pt x="4836236" y="0"/>
                  </a:lnTo>
                </a:path>
              </a:pathLst>
            </a:custGeom>
            <a:ln w="381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08519" y="3437280"/>
              <a:ext cx="114935" cy="114935"/>
            </a:xfrm>
            <a:custGeom>
              <a:avLst/>
              <a:gdLst/>
              <a:ahLst/>
              <a:cxnLst/>
              <a:rect l="l" t="t" r="r" b="b"/>
              <a:pathLst>
                <a:path w="114934" h="114935">
                  <a:moveTo>
                    <a:pt x="0" y="0"/>
                  </a:moveTo>
                  <a:lnTo>
                    <a:pt x="0" y="114477"/>
                  </a:lnTo>
                  <a:lnTo>
                    <a:pt x="114477" y="57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55798" y="2511005"/>
              <a:ext cx="4563110" cy="899794"/>
            </a:xfrm>
            <a:custGeom>
              <a:avLst/>
              <a:gdLst/>
              <a:ahLst/>
              <a:cxnLst/>
              <a:rect l="l" t="t" r="r" b="b"/>
              <a:pathLst>
                <a:path w="4563109" h="899795">
                  <a:moveTo>
                    <a:pt x="4562640" y="0"/>
                  </a:moveTo>
                  <a:lnTo>
                    <a:pt x="0" y="0"/>
                  </a:lnTo>
                  <a:lnTo>
                    <a:pt x="0" y="899274"/>
                  </a:lnTo>
                  <a:lnTo>
                    <a:pt x="2281326" y="899274"/>
                  </a:lnTo>
                  <a:lnTo>
                    <a:pt x="4562640" y="899274"/>
                  </a:lnTo>
                  <a:lnTo>
                    <a:pt x="456264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55798" y="2511005"/>
              <a:ext cx="4563110" cy="899794"/>
            </a:xfrm>
            <a:custGeom>
              <a:avLst/>
              <a:gdLst/>
              <a:ahLst/>
              <a:cxnLst/>
              <a:rect l="l" t="t" r="r" b="b"/>
              <a:pathLst>
                <a:path w="4563109" h="899795">
                  <a:moveTo>
                    <a:pt x="2281326" y="899274"/>
                  </a:moveTo>
                  <a:lnTo>
                    <a:pt x="0" y="899274"/>
                  </a:lnTo>
                  <a:lnTo>
                    <a:pt x="0" y="0"/>
                  </a:lnTo>
                  <a:lnTo>
                    <a:pt x="4562640" y="0"/>
                  </a:lnTo>
                  <a:lnTo>
                    <a:pt x="4562640" y="899274"/>
                  </a:lnTo>
                  <a:lnTo>
                    <a:pt x="2281326" y="899274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3199" y="2514244"/>
              <a:ext cx="4572000" cy="228600"/>
            </a:xfrm>
            <a:custGeom>
              <a:avLst/>
              <a:gdLst/>
              <a:ahLst/>
              <a:cxnLst/>
              <a:rect l="l" t="t" r="r" b="b"/>
              <a:pathLst>
                <a:path w="4572000" h="228600">
                  <a:moveTo>
                    <a:pt x="45720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0" y="228600"/>
                  </a:lnTo>
                  <a:lnTo>
                    <a:pt x="4572000" y="2286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3199" y="2514244"/>
              <a:ext cx="4572000" cy="228600"/>
            </a:xfrm>
            <a:custGeom>
              <a:avLst/>
              <a:gdLst/>
              <a:ahLst/>
              <a:cxnLst/>
              <a:rect l="l" t="t" r="r" b="b"/>
              <a:pathLst>
                <a:path w="4572000" h="228600">
                  <a:moveTo>
                    <a:pt x="2286000" y="228600"/>
                  </a:moveTo>
                  <a:lnTo>
                    <a:pt x="0" y="228600"/>
                  </a:lnTo>
                  <a:lnTo>
                    <a:pt x="0" y="0"/>
                  </a:lnTo>
                  <a:lnTo>
                    <a:pt x="4572000" y="0"/>
                  </a:lnTo>
                  <a:lnTo>
                    <a:pt x="4572000" y="228600"/>
                  </a:lnTo>
                  <a:lnTo>
                    <a:pt x="2286000" y="22860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43199" y="2742844"/>
              <a:ext cx="4572000" cy="228600"/>
            </a:xfrm>
            <a:custGeom>
              <a:avLst/>
              <a:gdLst/>
              <a:ahLst/>
              <a:cxnLst/>
              <a:rect l="l" t="t" r="r" b="b"/>
              <a:pathLst>
                <a:path w="4572000" h="228600">
                  <a:moveTo>
                    <a:pt x="45720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0" y="228600"/>
                  </a:lnTo>
                  <a:lnTo>
                    <a:pt x="4572000" y="2286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99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43199" y="2742844"/>
              <a:ext cx="4572000" cy="228600"/>
            </a:xfrm>
            <a:custGeom>
              <a:avLst/>
              <a:gdLst/>
              <a:ahLst/>
              <a:cxnLst/>
              <a:rect l="l" t="t" r="r" b="b"/>
              <a:pathLst>
                <a:path w="4572000" h="228600">
                  <a:moveTo>
                    <a:pt x="2286000" y="228600"/>
                  </a:moveTo>
                  <a:lnTo>
                    <a:pt x="0" y="228600"/>
                  </a:lnTo>
                  <a:lnTo>
                    <a:pt x="0" y="0"/>
                  </a:lnTo>
                  <a:lnTo>
                    <a:pt x="4572000" y="0"/>
                  </a:lnTo>
                  <a:lnTo>
                    <a:pt x="4572000" y="228600"/>
                  </a:lnTo>
                  <a:lnTo>
                    <a:pt x="2286000" y="22860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43199" y="2971444"/>
              <a:ext cx="4572000" cy="228600"/>
            </a:xfrm>
            <a:custGeom>
              <a:avLst/>
              <a:gdLst/>
              <a:ahLst/>
              <a:cxnLst/>
              <a:rect l="l" t="t" r="r" b="b"/>
              <a:pathLst>
                <a:path w="4572000" h="228600">
                  <a:moveTo>
                    <a:pt x="45720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0" y="228600"/>
                  </a:lnTo>
                  <a:lnTo>
                    <a:pt x="4572000" y="2286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43199" y="2971444"/>
              <a:ext cx="4572000" cy="228600"/>
            </a:xfrm>
            <a:custGeom>
              <a:avLst/>
              <a:gdLst/>
              <a:ahLst/>
              <a:cxnLst/>
              <a:rect l="l" t="t" r="r" b="b"/>
              <a:pathLst>
                <a:path w="4572000" h="228600">
                  <a:moveTo>
                    <a:pt x="2286000" y="228600"/>
                  </a:moveTo>
                  <a:lnTo>
                    <a:pt x="0" y="228600"/>
                  </a:lnTo>
                  <a:lnTo>
                    <a:pt x="0" y="0"/>
                  </a:lnTo>
                  <a:lnTo>
                    <a:pt x="4572000" y="0"/>
                  </a:lnTo>
                  <a:lnTo>
                    <a:pt x="4572000" y="228600"/>
                  </a:lnTo>
                  <a:lnTo>
                    <a:pt x="2286000" y="22860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43199" y="3200044"/>
              <a:ext cx="4572000" cy="228600"/>
            </a:xfrm>
            <a:custGeom>
              <a:avLst/>
              <a:gdLst/>
              <a:ahLst/>
              <a:cxnLst/>
              <a:rect l="l" t="t" r="r" b="b"/>
              <a:pathLst>
                <a:path w="4572000" h="228600">
                  <a:moveTo>
                    <a:pt x="45720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0" y="228600"/>
                  </a:lnTo>
                  <a:lnTo>
                    <a:pt x="4572000" y="2286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43199" y="2743200"/>
              <a:ext cx="4572000" cy="685800"/>
            </a:xfrm>
            <a:custGeom>
              <a:avLst/>
              <a:gdLst/>
              <a:ahLst/>
              <a:cxnLst/>
              <a:rect l="l" t="t" r="r" b="b"/>
              <a:pathLst>
                <a:path w="4572000" h="685800">
                  <a:moveTo>
                    <a:pt x="2286000" y="685444"/>
                  </a:moveTo>
                  <a:lnTo>
                    <a:pt x="0" y="685444"/>
                  </a:lnTo>
                  <a:lnTo>
                    <a:pt x="0" y="456844"/>
                  </a:lnTo>
                  <a:lnTo>
                    <a:pt x="4572000" y="456844"/>
                  </a:lnTo>
                  <a:lnTo>
                    <a:pt x="4572000" y="685444"/>
                  </a:lnTo>
                  <a:lnTo>
                    <a:pt x="2286000" y="685444"/>
                  </a:lnTo>
                  <a:close/>
                </a:path>
                <a:path w="4572000" h="685800">
                  <a:moveTo>
                    <a:pt x="0" y="0"/>
                  </a:moveTo>
                  <a:lnTo>
                    <a:pt x="4562640" y="0"/>
                  </a:lnTo>
                </a:path>
                <a:path w="4572000" h="685800">
                  <a:moveTo>
                    <a:pt x="0" y="224282"/>
                  </a:moveTo>
                  <a:lnTo>
                    <a:pt x="4562640" y="224282"/>
                  </a:lnTo>
                </a:path>
                <a:path w="4572000" h="685800">
                  <a:moveTo>
                    <a:pt x="0" y="447840"/>
                  </a:moveTo>
                  <a:lnTo>
                    <a:pt x="4562640" y="44784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743199" y="2629077"/>
              <a:ext cx="4558665" cy="676275"/>
            </a:xfrm>
            <a:custGeom>
              <a:avLst/>
              <a:gdLst/>
              <a:ahLst/>
              <a:cxnLst/>
              <a:rect l="l" t="t" r="r" b="b"/>
              <a:pathLst>
                <a:path w="4558665" h="676275">
                  <a:moveTo>
                    <a:pt x="0" y="0"/>
                  </a:moveTo>
                  <a:lnTo>
                    <a:pt x="4558322" y="0"/>
                  </a:lnTo>
                </a:path>
                <a:path w="4558665" h="676275">
                  <a:moveTo>
                    <a:pt x="0" y="227876"/>
                  </a:moveTo>
                  <a:lnTo>
                    <a:pt x="4558322" y="227876"/>
                  </a:lnTo>
                </a:path>
                <a:path w="4558665" h="676275">
                  <a:moveTo>
                    <a:pt x="0" y="447840"/>
                  </a:moveTo>
                  <a:lnTo>
                    <a:pt x="4558322" y="447840"/>
                  </a:lnTo>
                </a:path>
                <a:path w="4558665" h="676275">
                  <a:moveTo>
                    <a:pt x="0" y="676084"/>
                  </a:moveTo>
                  <a:lnTo>
                    <a:pt x="4558322" y="676084"/>
                  </a:lnTo>
                </a:path>
              </a:pathLst>
            </a:custGeom>
            <a:ln w="9359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159459" y="2689821"/>
            <a:ext cx="13627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"/>
                <a:cs typeface="Arial"/>
              </a:rPr>
              <a:t>frequency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51260" y="3602786"/>
            <a:ext cx="6026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Arial"/>
                <a:cs typeface="Arial"/>
              </a:rPr>
              <a:t>time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7098" y="4070070"/>
            <a:ext cx="2052320" cy="1534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TDM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2400">
              <a:latin typeface="Arial"/>
              <a:cs typeface="Arial"/>
            </a:endParaRPr>
          </a:p>
          <a:p>
            <a:pPr marL="70231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frequency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609634" y="4716360"/>
            <a:ext cx="5001260" cy="1359535"/>
            <a:chOff x="2609634" y="4716360"/>
            <a:chExt cx="5001260" cy="1359535"/>
          </a:xfrm>
        </p:grpSpPr>
        <p:sp>
          <p:nvSpPr>
            <p:cNvPr id="24" name="object 24"/>
            <p:cNvSpPr/>
            <p:nvPr/>
          </p:nvSpPr>
          <p:spPr>
            <a:xfrm>
              <a:off x="2666885" y="4823282"/>
              <a:ext cx="0" cy="1195070"/>
            </a:xfrm>
            <a:custGeom>
              <a:avLst/>
              <a:gdLst/>
              <a:ahLst/>
              <a:cxnLst/>
              <a:rect l="l" t="t" r="r" b="b"/>
              <a:pathLst>
                <a:path h="1195070">
                  <a:moveTo>
                    <a:pt x="0" y="1194841"/>
                  </a:moveTo>
                  <a:lnTo>
                    <a:pt x="0" y="0"/>
                  </a:lnTo>
                </a:path>
              </a:pathLst>
            </a:custGeom>
            <a:ln w="381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609634" y="4716360"/>
              <a:ext cx="114935" cy="114935"/>
            </a:xfrm>
            <a:custGeom>
              <a:avLst/>
              <a:gdLst/>
              <a:ahLst/>
              <a:cxnLst/>
              <a:rect l="l" t="t" r="r" b="b"/>
              <a:pathLst>
                <a:path w="114935" h="114935">
                  <a:moveTo>
                    <a:pt x="57251" y="0"/>
                  </a:moveTo>
                  <a:lnTo>
                    <a:pt x="0" y="114477"/>
                  </a:lnTo>
                  <a:lnTo>
                    <a:pt x="114490" y="114477"/>
                  </a:lnTo>
                  <a:lnTo>
                    <a:pt x="5725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666885" y="6018123"/>
              <a:ext cx="4836795" cy="0"/>
            </a:xfrm>
            <a:custGeom>
              <a:avLst/>
              <a:gdLst/>
              <a:ahLst/>
              <a:cxnLst/>
              <a:rect l="l" t="t" r="r" b="b"/>
              <a:pathLst>
                <a:path w="4836795">
                  <a:moveTo>
                    <a:pt x="0" y="0"/>
                  </a:moveTo>
                  <a:lnTo>
                    <a:pt x="4836591" y="0"/>
                  </a:lnTo>
                </a:path>
              </a:pathLst>
            </a:custGeom>
            <a:ln w="381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495921" y="5960884"/>
              <a:ext cx="114935" cy="114935"/>
            </a:xfrm>
            <a:custGeom>
              <a:avLst/>
              <a:gdLst/>
              <a:ahLst/>
              <a:cxnLst/>
              <a:rect l="l" t="t" r="r" b="b"/>
              <a:pathLst>
                <a:path w="114934" h="114935">
                  <a:moveTo>
                    <a:pt x="0" y="0"/>
                  </a:moveTo>
                  <a:lnTo>
                    <a:pt x="0" y="114477"/>
                  </a:lnTo>
                  <a:lnTo>
                    <a:pt x="114477" y="57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743200" y="5028844"/>
              <a:ext cx="4563110" cy="903605"/>
            </a:xfrm>
            <a:custGeom>
              <a:avLst/>
              <a:gdLst/>
              <a:ahLst/>
              <a:cxnLst/>
              <a:rect l="l" t="t" r="r" b="b"/>
              <a:pathLst>
                <a:path w="4563109" h="903604">
                  <a:moveTo>
                    <a:pt x="4562640" y="0"/>
                  </a:moveTo>
                  <a:lnTo>
                    <a:pt x="0" y="0"/>
                  </a:lnTo>
                  <a:lnTo>
                    <a:pt x="0" y="903236"/>
                  </a:lnTo>
                  <a:lnTo>
                    <a:pt x="2281313" y="903236"/>
                  </a:lnTo>
                  <a:lnTo>
                    <a:pt x="4562640" y="903236"/>
                  </a:lnTo>
                  <a:lnTo>
                    <a:pt x="456264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743200" y="5028844"/>
              <a:ext cx="4563110" cy="903605"/>
            </a:xfrm>
            <a:custGeom>
              <a:avLst/>
              <a:gdLst/>
              <a:ahLst/>
              <a:cxnLst/>
              <a:rect l="l" t="t" r="r" b="b"/>
              <a:pathLst>
                <a:path w="4563109" h="903604">
                  <a:moveTo>
                    <a:pt x="2281313" y="903236"/>
                  </a:moveTo>
                  <a:lnTo>
                    <a:pt x="0" y="903236"/>
                  </a:lnTo>
                  <a:lnTo>
                    <a:pt x="0" y="0"/>
                  </a:lnTo>
                  <a:lnTo>
                    <a:pt x="4562640" y="0"/>
                  </a:lnTo>
                  <a:lnTo>
                    <a:pt x="4562640" y="903236"/>
                  </a:lnTo>
                  <a:lnTo>
                    <a:pt x="2281313" y="903236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7428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10" h="905510">
                  <a:moveTo>
                    <a:pt x="219240" y="0"/>
                  </a:moveTo>
                  <a:lnTo>
                    <a:pt x="0" y="0"/>
                  </a:lnTo>
                  <a:lnTo>
                    <a:pt x="0" y="905040"/>
                  </a:lnTo>
                  <a:lnTo>
                    <a:pt x="109791" y="905040"/>
                  </a:lnTo>
                  <a:lnTo>
                    <a:pt x="219240" y="905040"/>
                  </a:lnTo>
                  <a:lnTo>
                    <a:pt x="219240" y="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7428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10" h="905510">
                  <a:moveTo>
                    <a:pt x="109791" y="905040"/>
                  </a:moveTo>
                  <a:lnTo>
                    <a:pt x="0" y="905040"/>
                  </a:lnTo>
                  <a:lnTo>
                    <a:pt x="0" y="0"/>
                  </a:lnTo>
                  <a:lnTo>
                    <a:pt x="219240" y="0"/>
                  </a:lnTo>
                  <a:lnTo>
                    <a:pt x="219240" y="905040"/>
                  </a:lnTo>
                  <a:lnTo>
                    <a:pt x="109791" y="90504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6572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10" h="905510">
                  <a:moveTo>
                    <a:pt x="219240" y="0"/>
                  </a:moveTo>
                  <a:lnTo>
                    <a:pt x="0" y="0"/>
                  </a:lnTo>
                  <a:lnTo>
                    <a:pt x="0" y="905040"/>
                  </a:lnTo>
                  <a:lnTo>
                    <a:pt x="109791" y="905040"/>
                  </a:lnTo>
                  <a:lnTo>
                    <a:pt x="219240" y="905040"/>
                  </a:lnTo>
                  <a:lnTo>
                    <a:pt x="219240" y="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6572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10" h="905510">
                  <a:moveTo>
                    <a:pt x="109791" y="905040"/>
                  </a:moveTo>
                  <a:lnTo>
                    <a:pt x="0" y="905040"/>
                  </a:lnTo>
                  <a:lnTo>
                    <a:pt x="0" y="0"/>
                  </a:lnTo>
                  <a:lnTo>
                    <a:pt x="219240" y="0"/>
                  </a:lnTo>
                  <a:lnTo>
                    <a:pt x="219240" y="905040"/>
                  </a:lnTo>
                  <a:lnTo>
                    <a:pt x="109791" y="90504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5716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10" h="905510">
                  <a:moveTo>
                    <a:pt x="219240" y="0"/>
                  </a:moveTo>
                  <a:lnTo>
                    <a:pt x="0" y="0"/>
                  </a:lnTo>
                  <a:lnTo>
                    <a:pt x="0" y="905040"/>
                  </a:lnTo>
                  <a:lnTo>
                    <a:pt x="109791" y="905040"/>
                  </a:lnTo>
                  <a:lnTo>
                    <a:pt x="219240" y="905040"/>
                  </a:lnTo>
                  <a:lnTo>
                    <a:pt x="219240" y="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716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10" h="905510">
                  <a:moveTo>
                    <a:pt x="109791" y="905040"/>
                  </a:moveTo>
                  <a:lnTo>
                    <a:pt x="0" y="905040"/>
                  </a:lnTo>
                  <a:lnTo>
                    <a:pt x="0" y="0"/>
                  </a:lnTo>
                  <a:lnTo>
                    <a:pt x="219240" y="0"/>
                  </a:lnTo>
                  <a:lnTo>
                    <a:pt x="219240" y="905040"/>
                  </a:lnTo>
                  <a:lnTo>
                    <a:pt x="109791" y="90504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4860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10" h="905510">
                  <a:moveTo>
                    <a:pt x="219240" y="0"/>
                  </a:moveTo>
                  <a:lnTo>
                    <a:pt x="0" y="0"/>
                  </a:lnTo>
                  <a:lnTo>
                    <a:pt x="0" y="905040"/>
                  </a:lnTo>
                  <a:lnTo>
                    <a:pt x="109791" y="905040"/>
                  </a:lnTo>
                  <a:lnTo>
                    <a:pt x="219240" y="905040"/>
                  </a:lnTo>
                  <a:lnTo>
                    <a:pt x="219240" y="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4860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10" h="905510">
                  <a:moveTo>
                    <a:pt x="109791" y="905040"/>
                  </a:moveTo>
                  <a:lnTo>
                    <a:pt x="0" y="905040"/>
                  </a:lnTo>
                  <a:lnTo>
                    <a:pt x="0" y="0"/>
                  </a:lnTo>
                  <a:lnTo>
                    <a:pt x="219240" y="0"/>
                  </a:lnTo>
                  <a:lnTo>
                    <a:pt x="219240" y="905040"/>
                  </a:lnTo>
                  <a:lnTo>
                    <a:pt x="109791" y="90504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4004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09" h="905510">
                  <a:moveTo>
                    <a:pt x="219240" y="0"/>
                  </a:moveTo>
                  <a:lnTo>
                    <a:pt x="0" y="0"/>
                  </a:lnTo>
                  <a:lnTo>
                    <a:pt x="0" y="905040"/>
                  </a:lnTo>
                  <a:lnTo>
                    <a:pt x="109791" y="905040"/>
                  </a:lnTo>
                  <a:lnTo>
                    <a:pt x="219240" y="905040"/>
                  </a:lnTo>
                  <a:lnTo>
                    <a:pt x="219240" y="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4004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09" h="905510">
                  <a:moveTo>
                    <a:pt x="109791" y="905040"/>
                  </a:moveTo>
                  <a:lnTo>
                    <a:pt x="0" y="905040"/>
                  </a:lnTo>
                  <a:lnTo>
                    <a:pt x="0" y="0"/>
                  </a:lnTo>
                  <a:lnTo>
                    <a:pt x="219240" y="0"/>
                  </a:lnTo>
                  <a:lnTo>
                    <a:pt x="219240" y="905040"/>
                  </a:lnTo>
                  <a:lnTo>
                    <a:pt x="109791" y="90504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9714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10" h="905510">
                  <a:moveTo>
                    <a:pt x="219240" y="0"/>
                  </a:moveTo>
                  <a:lnTo>
                    <a:pt x="0" y="0"/>
                  </a:lnTo>
                  <a:lnTo>
                    <a:pt x="0" y="905040"/>
                  </a:lnTo>
                  <a:lnTo>
                    <a:pt x="109791" y="905040"/>
                  </a:lnTo>
                  <a:lnTo>
                    <a:pt x="219240" y="905040"/>
                  </a:lnTo>
                  <a:lnTo>
                    <a:pt x="219240" y="0"/>
                  </a:lnTo>
                  <a:close/>
                </a:path>
              </a:pathLst>
            </a:custGeom>
            <a:solidFill>
              <a:srgbClr val="99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9714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10" h="905510">
                  <a:moveTo>
                    <a:pt x="109791" y="905040"/>
                  </a:moveTo>
                  <a:lnTo>
                    <a:pt x="0" y="905040"/>
                  </a:lnTo>
                  <a:lnTo>
                    <a:pt x="0" y="0"/>
                  </a:lnTo>
                  <a:lnTo>
                    <a:pt x="219240" y="0"/>
                  </a:lnTo>
                  <a:lnTo>
                    <a:pt x="219240" y="905040"/>
                  </a:lnTo>
                  <a:lnTo>
                    <a:pt x="109791" y="90504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8858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10" h="905510">
                  <a:moveTo>
                    <a:pt x="219240" y="0"/>
                  </a:moveTo>
                  <a:lnTo>
                    <a:pt x="0" y="0"/>
                  </a:lnTo>
                  <a:lnTo>
                    <a:pt x="0" y="905040"/>
                  </a:lnTo>
                  <a:lnTo>
                    <a:pt x="109791" y="905040"/>
                  </a:lnTo>
                  <a:lnTo>
                    <a:pt x="219240" y="905040"/>
                  </a:lnTo>
                  <a:lnTo>
                    <a:pt x="219240" y="0"/>
                  </a:lnTo>
                  <a:close/>
                </a:path>
              </a:pathLst>
            </a:custGeom>
            <a:solidFill>
              <a:srgbClr val="99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8858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10" h="905510">
                  <a:moveTo>
                    <a:pt x="109791" y="905040"/>
                  </a:moveTo>
                  <a:lnTo>
                    <a:pt x="0" y="905040"/>
                  </a:lnTo>
                  <a:lnTo>
                    <a:pt x="0" y="0"/>
                  </a:lnTo>
                  <a:lnTo>
                    <a:pt x="219240" y="0"/>
                  </a:lnTo>
                  <a:lnTo>
                    <a:pt x="219240" y="905040"/>
                  </a:lnTo>
                  <a:lnTo>
                    <a:pt x="109791" y="90504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8002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10" h="905510">
                  <a:moveTo>
                    <a:pt x="219240" y="0"/>
                  </a:moveTo>
                  <a:lnTo>
                    <a:pt x="0" y="0"/>
                  </a:lnTo>
                  <a:lnTo>
                    <a:pt x="0" y="905040"/>
                  </a:lnTo>
                  <a:lnTo>
                    <a:pt x="109791" y="905040"/>
                  </a:lnTo>
                  <a:lnTo>
                    <a:pt x="219240" y="905040"/>
                  </a:lnTo>
                  <a:lnTo>
                    <a:pt x="219240" y="0"/>
                  </a:lnTo>
                  <a:close/>
                </a:path>
              </a:pathLst>
            </a:custGeom>
            <a:solidFill>
              <a:srgbClr val="99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8002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10" h="905510">
                  <a:moveTo>
                    <a:pt x="109791" y="905040"/>
                  </a:moveTo>
                  <a:lnTo>
                    <a:pt x="0" y="905040"/>
                  </a:lnTo>
                  <a:lnTo>
                    <a:pt x="0" y="0"/>
                  </a:lnTo>
                  <a:lnTo>
                    <a:pt x="219240" y="0"/>
                  </a:lnTo>
                  <a:lnTo>
                    <a:pt x="219240" y="905040"/>
                  </a:lnTo>
                  <a:lnTo>
                    <a:pt x="109791" y="90504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7146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10" h="905510">
                  <a:moveTo>
                    <a:pt x="219240" y="0"/>
                  </a:moveTo>
                  <a:lnTo>
                    <a:pt x="0" y="0"/>
                  </a:lnTo>
                  <a:lnTo>
                    <a:pt x="0" y="905040"/>
                  </a:lnTo>
                  <a:lnTo>
                    <a:pt x="109791" y="905040"/>
                  </a:lnTo>
                  <a:lnTo>
                    <a:pt x="219240" y="905040"/>
                  </a:lnTo>
                  <a:lnTo>
                    <a:pt x="219240" y="0"/>
                  </a:lnTo>
                  <a:close/>
                </a:path>
              </a:pathLst>
            </a:custGeom>
            <a:solidFill>
              <a:srgbClr val="99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7146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10" h="905510">
                  <a:moveTo>
                    <a:pt x="109791" y="905040"/>
                  </a:moveTo>
                  <a:lnTo>
                    <a:pt x="0" y="905040"/>
                  </a:lnTo>
                  <a:lnTo>
                    <a:pt x="0" y="0"/>
                  </a:lnTo>
                  <a:lnTo>
                    <a:pt x="219240" y="0"/>
                  </a:lnTo>
                  <a:lnTo>
                    <a:pt x="219240" y="905040"/>
                  </a:lnTo>
                  <a:lnTo>
                    <a:pt x="109791" y="90504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6290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09" h="905510">
                  <a:moveTo>
                    <a:pt x="219240" y="0"/>
                  </a:moveTo>
                  <a:lnTo>
                    <a:pt x="0" y="0"/>
                  </a:lnTo>
                  <a:lnTo>
                    <a:pt x="0" y="905040"/>
                  </a:lnTo>
                  <a:lnTo>
                    <a:pt x="109791" y="905040"/>
                  </a:lnTo>
                  <a:lnTo>
                    <a:pt x="219240" y="905040"/>
                  </a:lnTo>
                  <a:lnTo>
                    <a:pt x="219240" y="0"/>
                  </a:lnTo>
                  <a:close/>
                </a:path>
              </a:pathLst>
            </a:custGeom>
            <a:solidFill>
              <a:srgbClr val="99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6290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09" h="905510">
                  <a:moveTo>
                    <a:pt x="109791" y="905040"/>
                  </a:moveTo>
                  <a:lnTo>
                    <a:pt x="0" y="905040"/>
                  </a:lnTo>
                  <a:lnTo>
                    <a:pt x="0" y="0"/>
                  </a:lnTo>
                  <a:lnTo>
                    <a:pt x="219240" y="0"/>
                  </a:lnTo>
                  <a:lnTo>
                    <a:pt x="219240" y="905040"/>
                  </a:lnTo>
                  <a:lnTo>
                    <a:pt x="109791" y="90504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2000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10" h="905510">
                  <a:moveTo>
                    <a:pt x="219240" y="0"/>
                  </a:moveTo>
                  <a:lnTo>
                    <a:pt x="0" y="0"/>
                  </a:lnTo>
                  <a:lnTo>
                    <a:pt x="0" y="905040"/>
                  </a:lnTo>
                  <a:lnTo>
                    <a:pt x="109791" y="905040"/>
                  </a:lnTo>
                  <a:lnTo>
                    <a:pt x="219240" y="905040"/>
                  </a:lnTo>
                  <a:lnTo>
                    <a:pt x="219240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2000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10" h="905510">
                  <a:moveTo>
                    <a:pt x="109791" y="905040"/>
                  </a:moveTo>
                  <a:lnTo>
                    <a:pt x="0" y="905040"/>
                  </a:lnTo>
                  <a:lnTo>
                    <a:pt x="0" y="0"/>
                  </a:lnTo>
                  <a:lnTo>
                    <a:pt x="219240" y="0"/>
                  </a:lnTo>
                  <a:lnTo>
                    <a:pt x="219240" y="905040"/>
                  </a:lnTo>
                  <a:lnTo>
                    <a:pt x="109791" y="90504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1144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10" h="905510">
                  <a:moveTo>
                    <a:pt x="219240" y="0"/>
                  </a:moveTo>
                  <a:lnTo>
                    <a:pt x="0" y="0"/>
                  </a:lnTo>
                  <a:lnTo>
                    <a:pt x="0" y="905040"/>
                  </a:lnTo>
                  <a:lnTo>
                    <a:pt x="109791" y="905040"/>
                  </a:lnTo>
                  <a:lnTo>
                    <a:pt x="219240" y="905040"/>
                  </a:lnTo>
                  <a:lnTo>
                    <a:pt x="219240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1144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10" h="905510">
                  <a:moveTo>
                    <a:pt x="109791" y="905040"/>
                  </a:moveTo>
                  <a:lnTo>
                    <a:pt x="0" y="905040"/>
                  </a:lnTo>
                  <a:lnTo>
                    <a:pt x="0" y="0"/>
                  </a:lnTo>
                  <a:lnTo>
                    <a:pt x="219240" y="0"/>
                  </a:lnTo>
                  <a:lnTo>
                    <a:pt x="219240" y="905040"/>
                  </a:lnTo>
                  <a:lnTo>
                    <a:pt x="109791" y="90504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0288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10" h="905510">
                  <a:moveTo>
                    <a:pt x="219240" y="0"/>
                  </a:moveTo>
                  <a:lnTo>
                    <a:pt x="0" y="0"/>
                  </a:lnTo>
                  <a:lnTo>
                    <a:pt x="0" y="905040"/>
                  </a:lnTo>
                  <a:lnTo>
                    <a:pt x="109791" y="905040"/>
                  </a:lnTo>
                  <a:lnTo>
                    <a:pt x="219240" y="905040"/>
                  </a:lnTo>
                  <a:lnTo>
                    <a:pt x="219240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0288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10" h="905510">
                  <a:moveTo>
                    <a:pt x="109791" y="905040"/>
                  </a:moveTo>
                  <a:lnTo>
                    <a:pt x="0" y="905040"/>
                  </a:lnTo>
                  <a:lnTo>
                    <a:pt x="0" y="0"/>
                  </a:lnTo>
                  <a:lnTo>
                    <a:pt x="219240" y="0"/>
                  </a:lnTo>
                  <a:lnTo>
                    <a:pt x="219240" y="905040"/>
                  </a:lnTo>
                  <a:lnTo>
                    <a:pt x="109791" y="90504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9432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10" h="905510">
                  <a:moveTo>
                    <a:pt x="219240" y="0"/>
                  </a:moveTo>
                  <a:lnTo>
                    <a:pt x="0" y="0"/>
                  </a:lnTo>
                  <a:lnTo>
                    <a:pt x="0" y="905040"/>
                  </a:lnTo>
                  <a:lnTo>
                    <a:pt x="109791" y="905040"/>
                  </a:lnTo>
                  <a:lnTo>
                    <a:pt x="219240" y="905040"/>
                  </a:lnTo>
                  <a:lnTo>
                    <a:pt x="219240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9432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10" h="905510">
                  <a:moveTo>
                    <a:pt x="109791" y="905040"/>
                  </a:moveTo>
                  <a:lnTo>
                    <a:pt x="0" y="905040"/>
                  </a:lnTo>
                  <a:lnTo>
                    <a:pt x="0" y="0"/>
                  </a:lnTo>
                  <a:lnTo>
                    <a:pt x="219240" y="0"/>
                  </a:lnTo>
                  <a:lnTo>
                    <a:pt x="219240" y="905040"/>
                  </a:lnTo>
                  <a:lnTo>
                    <a:pt x="109791" y="90504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8576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09" h="905510">
                  <a:moveTo>
                    <a:pt x="219240" y="0"/>
                  </a:moveTo>
                  <a:lnTo>
                    <a:pt x="0" y="0"/>
                  </a:lnTo>
                  <a:lnTo>
                    <a:pt x="0" y="905040"/>
                  </a:lnTo>
                  <a:lnTo>
                    <a:pt x="109791" y="905040"/>
                  </a:lnTo>
                  <a:lnTo>
                    <a:pt x="219240" y="905040"/>
                  </a:lnTo>
                  <a:lnTo>
                    <a:pt x="219240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8576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09" h="905510">
                  <a:moveTo>
                    <a:pt x="109791" y="905040"/>
                  </a:moveTo>
                  <a:lnTo>
                    <a:pt x="0" y="905040"/>
                  </a:lnTo>
                  <a:lnTo>
                    <a:pt x="0" y="0"/>
                  </a:lnTo>
                  <a:lnTo>
                    <a:pt x="219240" y="0"/>
                  </a:lnTo>
                  <a:lnTo>
                    <a:pt x="219240" y="905040"/>
                  </a:lnTo>
                  <a:lnTo>
                    <a:pt x="109791" y="90504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4286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10" h="905510">
                  <a:moveTo>
                    <a:pt x="219240" y="0"/>
                  </a:moveTo>
                  <a:lnTo>
                    <a:pt x="0" y="0"/>
                  </a:lnTo>
                  <a:lnTo>
                    <a:pt x="0" y="905040"/>
                  </a:lnTo>
                  <a:lnTo>
                    <a:pt x="109791" y="905040"/>
                  </a:lnTo>
                  <a:lnTo>
                    <a:pt x="219240" y="905040"/>
                  </a:lnTo>
                  <a:lnTo>
                    <a:pt x="21924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4286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10" h="905510">
                  <a:moveTo>
                    <a:pt x="109791" y="905040"/>
                  </a:moveTo>
                  <a:lnTo>
                    <a:pt x="0" y="905040"/>
                  </a:lnTo>
                  <a:lnTo>
                    <a:pt x="0" y="0"/>
                  </a:lnTo>
                  <a:lnTo>
                    <a:pt x="219240" y="0"/>
                  </a:lnTo>
                  <a:lnTo>
                    <a:pt x="219240" y="905040"/>
                  </a:lnTo>
                  <a:lnTo>
                    <a:pt x="109791" y="90504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3430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10" h="905510">
                  <a:moveTo>
                    <a:pt x="219240" y="0"/>
                  </a:moveTo>
                  <a:lnTo>
                    <a:pt x="0" y="0"/>
                  </a:lnTo>
                  <a:lnTo>
                    <a:pt x="0" y="905040"/>
                  </a:lnTo>
                  <a:lnTo>
                    <a:pt x="109791" y="905040"/>
                  </a:lnTo>
                  <a:lnTo>
                    <a:pt x="219240" y="905040"/>
                  </a:lnTo>
                  <a:lnTo>
                    <a:pt x="21924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3430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10" h="905510">
                  <a:moveTo>
                    <a:pt x="109791" y="905040"/>
                  </a:moveTo>
                  <a:lnTo>
                    <a:pt x="0" y="905040"/>
                  </a:lnTo>
                  <a:lnTo>
                    <a:pt x="0" y="0"/>
                  </a:lnTo>
                  <a:lnTo>
                    <a:pt x="219240" y="0"/>
                  </a:lnTo>
                  <a:lnTo>
                    <a:pt x="219240" y="905040"/>
                  </a:lnTo>
                  <a:lnTo>
                    <a:pt x="109791" y="90504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2574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10" h="905510">
                  <a:moveTo>
                    <a:pt x="219240" y="0"/>
                  </a:moveTo>
                  <a:lnTo>
                    <a:pt x="0" y="0"/>
                  </a:lnTo>
                  <a:lnTo>
                    <a:pt x="0" y="905040"/>
                  </a:lnTo>
                  <a:lnTo>
                    <a:pt x="109791" y="905040"/>
                  </a:lnTo>
                  <a:lnTo>
                    <a:pt x="219240" y="905040"/>
                  </a:lnTo>
                  <a:lnTo>
                    <a:pt x="21924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2574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10" h="905510">
                  <a:moveTo>
                    <a:pt x="109791" y="905040"/>
                  </a:moveTo>
                  <a:lnTo>
                    <a:pt x="0" y="905040"/>
                  </a:lnTo>
                  <a:lnTo>
                    <a:pt x="0" y="0"/>
                  </a:lnTo>
                  <a:lnTo>
                    <a:pt x="219240" y="0"/>
                  </a:lnTo>
                  <a:lnTo>
                    <a:pt x="219240" y="905040"/>
                  </a:lnTo>
                  <a:lnTo>
                    <a:pt x="109791" y="90504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1718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10" h="905510">
                  <a:moveTo>
                    <a:pt x="219240" y="0"/>
                  </a:moveTo>
                  <a:lnTo>
                    <a:pt x="0" y="0"/>
                  </a:lnTo>
                  <a:lnTo>
                    <a:pt x="0" y="905040"/>
                  </a:lnTo>
                  <a:lnTo>
                    <a:pt x="109791" y="905040"/>
                  </a:lnTo>
                  <a:lnTo>
                    <a:pt x="219240" y="905040"/>
                  </a:lnTo>
                  <a:lnTo>
                    <a:pt x="21924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1718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10" h="905510">
                  <a:moveTo>
                    <a:pt x="109791" y="905040"/>
                  </a:moveTo>
                  <a:lnTo>
                    <a:pt x="0" y="905040"/>
                  </a:lnTo>
                  <a:lnTo>
                    <a:pt x="0" y="0"/>
                  </a:lnTo>
                  <a:lnTo>
                    <a:pt x="219240" y="0"/>
                  </a:lnTo>
                  <a:lnTo>
                    <a:pt x="219240" y="905040"/>
                  </a:lnTo>
                  <a:lnTo>
                    <a:pt x="109791" y="90504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086244" y="5029200"/>
              <a:ext cx="219710" cy="905510"/>
            </a:xfrm>
            <a:custGeom>
              <a:avLst/>
              <a:gdLst/>
              <a:ahLst/>
              <a:cxnLst/>
              <a:rect l="l" t="t" r="r" b="b"/>
              <a:pathLst>
                <a:path w="219709" h="905510">
                  <a:moveTo>
                    <a:pt x="219240" y="0"/>
                  </a:moveTo>
                  <a:lnTo>
                    <a:pt x="0" y="0"/>
                  </a:lnTo>
                  <a:lnTo>
                    <a:pt x="0" y="905040"/>
                  </a:lnTo>
                  <a:lnTo>
                    <a:pt x="109791" y="905040"/>
                  </a:lnTo>
                  <a:lnTo>
                    <a:pt x="219240" y="905040"/>
                  </a:lnTo>
                  <a:lnTo>
                    <a:pt x="21924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971800" y="5029200"/>
              <a:ext cx="4333875" cy="905510"/>
            </a:xfrm>
            <a:custGeom>
              <a:avLst/>
              <a:gdLst/>
              <a:ahLst/>
              <a:cxnLst/>
              <a:rect l="l" t="t" r="r" b="b"/>
              <a:pathLst>
                <a:path w="4333875" h="905510">
                  <a:moveTo>
                    <a:pt x="4224235" y="905040"/>
                  </a:moveTo>
                  <a:lnTo>
                    <a:pt x="4114444" y="905040"/>
                  </a:lnTo>
                  <a:lnTo>
                    <a:pt x="4114444" y="0"/>
                  </a:lnTo>
                  <a:lnTo>
                    <a:pt x="4333684" y="0"/>
                  </a:lnTo>
                  <a:lnTo>
                    <a:pt x="4333684" y="905040"/>
                  </a:lnTo>
                  <a:lnTo>
                    <a:pt x="4224235" y="905040"/>
                  </a:lnTo>
                  <a:close/>
                </a:path>
                <a:path w="4333875" h="905510">
                  <a:moveTo>
                    <a:pt x="0" y="0"/>
                  </a:moveTo>
                  <a:lnTo>
                    <a:pt x="0" y="905040"/>
                  </a:lnTo>
                </a:path>
                <a:path w="4333875" h="905510">
                  <a:moveTo>
                    <a:pt x="228244" y="0"/>
                  </a:moveTo>
                  <a:lnTo>
                    <a:pt x="228244" y="905040"/>
                  </a:lnTo>
                </a:path>
                <a:path w="4333875" h="905510">
                  <a:moveTo>
                    <a:pt x="456844" y="0"/>
                  </a:moveTo>
                  <a:lnTo>
                    <a:pt x="456844" y="905040"/>
                  </a:lnTo>
                </a:path>
                <a:path w="4333875" h="905510">
                  <a:moveTo>
                    <a:pt x="685444" y="0"/>
                  </a:moveTo>
                  <a:lnTo>
                    <a:pt x="685444" y="905040"/>
                  </a:lnTo>
                </a:path>
                <a:path w="4333875" h="905510">
                  <a:moveTo>
                    <a:pt x="914044" y="0"/>
                  </a:moveTo>
                  <a:lnTo>
                    <a:pt x="914044" y="905040"/>
                  </a:lnTo>
                </a:path>
                <a:path w="4333875" h="905510">
                  <a:moveTo>
                    <a:pt x="1142276" y="0"/>
                  </a:moveTo>
                  <a:lnTo>
                    <a:pt x="1142276" y="905040"/>
                  </a:lnTo>
                </a:path>
                <a:path w="4333875" h="905510">
                  <a:moveTo>
                    <a:pt x="1370876" y="0"/>
                  </a:moveTo>
                  <a:lnTo>
                    <a:pt x="1370876" y="905040"/>
                  </a:lnTo>
                </a:path>
                <a:path w="4333875" h="905510">
                  <a:moveTo>
                    <a:pt x="1599476" y="0"/>
                  </a:moveTo>
                  <a:lnTo>
                    <a:pt x="1599476" y="905040"/>
                  </a:lnTo>
                </a:path>
                <a:path w="4333875" h="905510">
                  <a:moveTo>
                    <a:pt x="1824837" y="0"/>
                  </a:moveTo>
                  <a:lnTo>
                    <a:pt x="1824837" y="905040"/>
                  </a:lnTo>
                </a:path>
                <a:path w="4333875" h="905510">
                  <a:moveTo>
                    <a:pt x="2053082" y="0"/>
                  </a:moveTo>
                  <a:lnTo>
                    <a:pt x="2053082" y="905040"/>
                  </a:lnTo>
                </a:path>
                <a:path w="4333875" h="905510">
                  <a:moveTo>
                    <a:pt x="2276995" y="0"/>
                  </a:moveTo>
                  <a:lnTo>
                    <a:pt x="2276995" y="905040"/>
                  </a:lnTo>
                </a:path>
                <a:path w="4333875" h="905510">
                  <a:moveTo>
                    <a:pt x="2505595" y="0"/>
                  </a:moveTo>
                  <a:lnTo>
                    <a:pt x="2505595" y="905040"/>
                  </a:lnTo>
                </a:path>
                <a:path w="4333875" h="905510">
                  <a:moveTo>
                    <a:pt x="2734195" y="0"/>
                  </a:moveTo>
                  <a:lnTo>
                    <a:pt x="2734195" y="905040"/>
                  </a:lnTo>
                </a:path>
                <a:path w="4333875" h="905510">
                  <a:moveTo>
                    <a:pt x="2962795" y="0"/>
                  </a:moveTo>
                  <a:lnTo>
                    <a:pt x="2962795" y="905040"/>
                  </a:lnTo>
                </a:path>
                <a:path w="4333875" h="905510">
                  <a:moveTo>
                    <a:pt x="3191040" y="0"/>
                  </a:moveTo>
                  <a:lnTo>
                    <a:pt x="3191040" y="905040"/>
                  </a:lnTo>
                </a:path>
                <a:path w="4333875" h="905510">
                  <a:moveTo>
                    <a:pt x="3419640" y="0"/>
                  </a:moveTo>
                  <a:lnTo>
                    <a:pt x="3419640" y="905040"/>
                  </a:lnTo>
                </a:path>
                <a:path w="4333875" h="905510">
                  <a:moveTo>
                    <a:pt x="3648240" y="0"/>
                  </a:moveTo>
                  <a:lnTo>
                    <a:pt x="3648240" y="905040"/>
                  </a:lnTo>
                </a:path>
                <a:path w="4333875" h="905510">
                  <a:moveTo>
                    <a:pt x="3876840" y="0"/>
                  </a:moveTo>
                  <a:lnTo>
                    <a:pt x="3876840" y="905040"/>
                  </a:lnTo>
                </a:path>
                <a:path w="4333875" h="905510">
                  <a:moveTo>
                    <a:pt x="4105440" y="0"/>
                  </a:moveTo>
                  <a:lnTo>
                    <a:pt x="4105440" y="90504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857677" y="5029200"/>
              <a:ext cx="3419475" cy="889635"/>
            </a:xfrm>
            <a:custGeom>
              <a:avLst/>
              <a:gdLst/>
              <a:ahLst/>
              <a:cxnLst/>
              <a:rect l="l" t="t" r="r" b="b"/>
              <a:pathLst>
                <a:path w="3419475" h="889635">
                  <a:moveTo>
                    <a:pt x="0" y="0"/>
                  </a:moveTo>
                  <a:lnTo>
                    <a:pt x="0" y="889203"/>
                  </a:lnTo>
                </a:path>
                <a:path w="3419475" h="889635">
                  <a:moveTo>
                    <a:pt x="228244" y="0"/>
                  </a:moveTo>
                  <a:lnTo>
                    <a:pt x="228244" y="889203"/>
                  </a:lnTo>
                </a:path>
                <a:path w="3419475" h="889635">
                  <a:moveTo>
                    <a:pt x="456844" y="0"/>
                  </a:moveTo>
                  <a:lnTo>
                    <a:pt x="456844" y="889203"/>
                  </a:lnTo>
                </a:path>
                <a:path w="3419475" h="889635">
                  <a:moveTo>
                    <a:pt x="685444" y="0"/>
                  </a:moveTo>
                  <a:lnTo>
                    <a:pt x="685444" y="889203"/>
                  </a:lnTo>
                </a:path>
                <a:path w="3419475" h="889635">
                  <a:moveTo>
                    <a:pt x="914044" y="0"/>
                  </a:moveTo>
                  <a:lnTo>
                    <a:pt x="914044" y="889203"/>
                  </a:lnTo>
                </a:path>
                <a:path w="3419475" h="889635">
                  <a:moveTo>
                    <a:pt x="1142276" y="0"/>
                  </a:moveTo>
                  <a:lnTo>
                    <a:pt x="1142276" y="889203"/>
                  </a:lnTo>
                </a:path>
                <a:path w="3419475" h="889635">
                  <a:moveTo>
                    <a:pt x="1370876" y="0"/>
                  </a:moveTo>
                  <a:lnTo>
                    <a:pt x="1370876" y="889203"/>
                  </a:lnTo>
                </a:path>
                <a:path w="3419475" h="889635">
                  <a:moveTo>
                    <a:pt x="1599476" y="0"/>
                  </a:moveTo>
                  <a:lnTo>
                    <a:pt x="1599476" y="889203"/>
                  </a:lnTo>
                </a:path>
                <a:path w="3419475" h="889635">
                  <a:moveTo>
                    <a:pt x="1823046" y="0"/>
                  </a:moveTo>
                  <a:lnTo>
                    <a:pt x="1823046" y="889203"/>
                  </a:lnTo>
                </a:path>
                <a:path w="3419475" h="889635">
                  <a:moveTo>
                    <a:pt x="2051646" y="0"/>
                  </a:moveTo>
                  <a:lnTo>
                    <a:pt x="2051646" y="889203"/>
                  </a:lnTo>
                </a:path>
                <a:path w="3419475" h="889635">
                  <a:moveTo>
                    <a:pt x="2276640" y="0"/>
                  </a:moveTo>
                  <a:lnTo>
                    <a:pt x="2276640" y="889203"/>
                  </a:lnTo>
                </a:path>
                <a:path w="3419475" h="889635">
                  <a:moveTo>
                    <a:pt x="2505240" y="0"/>
                  </a:moveTo>
                  <a:lnTo>
                    <a:pt x="2505240" y="889203"/>
                  </a:lnTo>
                </a:path>
                <a:path w="3419475" h="889635">
                  <a:moveTo>
                    <a:pt x="2733840" y="0"/>
                  </a:moveTo>
                  <a:lnTo>
                    <a:pt x="2733840" y="889203"/>
                  </a:lnTo>
                </a:path>
                <a:path w="3419475" h="889635">
                  <a:moveTo>
                    <a:pt x="2962440" y="0"/>
                  </a:moveTo>
                  <a:lnTo>
                    <a:pt x="2962440" y="889203"/>
                  </a:lnTo>
                </a:path>
                <a:path w="3419475" h="889635">
                  <a:moveTo>
                    <a:pt x="3191040" y="0"/>
                  </a:moveTo>
                  <a:lnTo>
                    <a:pt x="3191040" y="889203"/>
                  </a:lnTo>
                </a:path>
                <a:path w="3419475" h="889635">
                  <a:moveTo>
                    <a:pt x="3419284" y="0"/>
                  </a:moveTo>
                  <a:lnTo>
                    <a:pt x="3419284" y="889203"/>
                  </a:lnTo>
                </a:path>
              </a:pathLst>
            </a:custGeom>
            <a:ln w="9359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505562" y="5029200"/>
              <a:ext cx="0" cy="889635"/>
            </a:xfrm>
            <a:custGeom>
              <a:avLst/>
              <a:gdLst/>
              <a:ahLst/>
              <a:cxnLst/>
              <a:rect l="l" t="t" r="r" b="b"/>
              <a:pathLst>
                <a:path h="889635">
                  <a:moveTo>
                    <a:pt x="0" y="0"/>
                  </a:moveTo>
                  <a:lnTo>
                    <a:pt x="0" y="889203"/>
                  </a:lnTo>
                </a:path>
              </a:pathLst>
            </a:custGeom>
            <a:ln w="9359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734162" y="5029200"/>
              <a:ext cx="457200" cy="889635"/>
            </a:xfrm>
            <a:custGeom>
              <a:avLst/>
              <a:gdLst/>
              <a:ahLst/>
              <a:cxnLst/>
              <a:rect l="l" t="t" r="r" b="b"/>
              <a:pathLst>
                <a:path w="457200" h="889635">
                  <a:moveTo>
                    <a:pt x="0" y="0"/>
                  </a:moveTo>
                  <a:lnTo>
                    <a:pt x="0" y="889203"/>
                  </a:lnTo>
                </a:path>
                <a:path w="457200" h="889635">
                  <a:moveTo>
                    <a:pt x="228600" y="0"/>
                  </a:moveTo>
                  <a:lnTo>
                    <a:pt x="228600" y="889203"/>
                  </a:lnTo>
                </a:path>
                <a:path w="457200" h="889635">
                  <a:moveTo>
                    <a:pt x="457200" y="0"/>
                  </a:moveTo>
                  <a:lnTo>
                    <a:pt x="457200" y="889203"/>
                  </a:lnTo>
                </a:path>
              </a:pathLst>
            </a:custGeom>
            <a:ln w="9359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4840096" y="6126391"/>
            <a:ext cx="6013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Arial"/>
                <a:cs typeface="Arial"/>
              </a:rPr>
              <a:t>time</a:t>
            </a:r>
            <a:endParaRPr sz="24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445620" y="1782991"/>
            <a:ext cx="10242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4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users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6930714" y="1846434"/>
            <a:ext cx="228600" cy="227329"/>
            <a:chOff x="6930714" y="1846434"/>
            <a:chExt cx="228600" cy="227329"/>
          </a:xfrm>
        </p:grpSpPr>
        <p:sp>
          <p:nvSpPr>
            <p:cNvPr id="76" name="object 76"/>
            <p:cNvSpPr/>
            <p:nvPr/>
          </p:nvSpPr>
          <p:spPr>
            <a:xfrm>
              <a:off x="6935394" y="1851113"/>
              <a:ext cx="219710" cy="217804"/>
            </a:xfrm>
            <a:custGeom>
              <a:avLst/>
              <a:gdLst/>
              <a:ahLst/>
              <a:cxnLst/>
              <a:rect l="l" t="t" r="r" b="b"/>
              <a:pathLst>
                <a:path w="219709" h="217805">
                  <a:moveTo>
                    <a:pt x="219240" y="0"/>
                  </a:moveTo>
                  <a:lnTo>
                    <a:pt x="0" y="0"/>
                  </a:lnTo>
                  <a:lnTo>
                    <a:pt x="0" y="217449"/>
                  </a:lnTo>
                  <a:lnTo>
                    <a:pt x="109804" y="217449"/>
                  </a:lnTo>
                  <a:lnTo>
                    <a:pt x="219240" y="217449"/>
                  </a:lnTo>
                  <a:lnTo>
                    <a:pt x="219240" y="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935394" y="1851113"/>
              <a:ext cx="219710" cy="217804"/>
            </a:xfrm>
            <a:custGeom>
              <a:avLst/>
              <a:gdLst/>
              <a:ahLst/>
              <a:cxnLst/>
              <a:rect l="l" t="t" r="r" b="b"/>
              <a:pathLst>
                <a:path w="219709" h="217805">
                  <a:moveTo>
                    <a:pt x="109804" y="217449"/>
                  </a:moveTo>
                  <a:lnTo>
                    <a:pt x="0" y="217449"/>
                  </a:lnTo>
                  <a:lnTo>
                    <a:pt x="0" y="0"/>
                  </a:lnTo>
                  <a:lnTo>
                    <a:pt x="219240" y="0"/>
                  </a:lnTo>
                  <a:lnTo>
                    <a:pt x="219240" y="217449"/>
                  </a:lnTo>
                  <a:lnTo>
                    <a:pt x="109804" y="217449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8" name="object 78"/>
          <p:cNvGrpSpPr/>
          <p:nvPr/>
        </p:nvGrpSpPr>
        <p:grpSpPr>
          <a:xfrm>
            <a:off x="7235996" y="1846434"/>
            <a:ext cx="228600" cy="227329"/>
            <a:chOff x="7235996" y="1846434"/>
            <a:chExt cx="228600" cy="227329"/>
          </a:xfrm>
        </p:grpSpPr>
        <p:sp>
          <p:nvSpPr>
            <p:cNvPr id="79" name="object 79"/>
            <p:cNvSpPr/>
            <p:nvPr/>
          </p:nvSpPr>
          <p:spPr>
            <a:xfrm>
              <a:off x="7240676" y="1851113"/>
              <a:ext cx="219075" cy="217804"/>
            </a:xfrm>
            <a:custGeom>
              <a:avLst/>
              <a:gdLst/>
              <a:ahLst/>
              <a:cxnLst/>
              <a:rect l="l" t="t" r="r" b="b"/>
              <a:pathLst>
                <a:path w="219075" h="217805">
                  <a:moveTo>
                    <a:pt x="218884" y="0"/>
                  </a:moveTo>
                  <a:lnTo>
                    <a:pt x="0" y="0"/>
                  </a:lnTo>
                  <a:lnTo>
                    <a:pt x="0" y="217449"/>
                  </a:lnTo>
                  <a:lnTo>
                    <a:pt x="109448" y="217449"/>
                  </a:lnTo>
                  <a:lnTo>
                    <a:pt x="218884" y="217449"/>
                  </a:lnTo>
                  <a:lnTo>
                    <a:pt x="218884" y="0"/>
                  </a:lnTo>
                  <a:close/>
                </a:path>
              </a:pathLst>
            </a:custGeom>
            <a:solidFill>
              <a:srgbClr val="99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7240676" y="1851113"/>
              <a:ext cx="219075" cy="217804"/>
            </a:xfrm>
            <a:custGeom>
              <a:avLst/>
              <a:gdLst/>
              <a:ahLst/>
              <a:cxnLst/>
              <a:rect l="l" t="t" r="r" b="b"/>
              <a:pathLst>
                <a:path w="219075" h="217805">
                  <a:moveTo>
                    <a:pt x="109448" y="217449"/>
                  </a:moveTo>
                  <a:lnTo>
                    <a:pt x="0" y="217449"/>
                  </a:lnTo>
                  <a:lnTo>
                    <a:pt x="0" y="0"/>
                  </a:lnTo>
                  <a:lnTo>
                    <a:pt x="218884" y="0"/>
                  </a:lnTo>
                  <a:lnTo>
                    <a:pt x="218884" y="217449"/>
                  </a:lnTo>
                  <a:lnTo>
                    <a:pt x="109448" y="217449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1" name="object 81"/>
          <p:cNvGrpSpPr/>
          <p:nvPr/>
        </p:nvGrpSpPr>
        <p:grpSpPr>
          <a:xfrm>
            <a:off x="7540199" y="1846434"/>
            <a:ext cx="228600" cy="227329"/>
            <a:chOff x="7540199" y="1846434"/>
            <a:chExt cx="228600" cy="227329"/>
          </a:xfrm>
        </p:grpSpPr>
        <p:sp>
          <p:nvSpPr>
            <p:cNvPr id="82" name="object 82"/>
            <p:cNvSpPr/>
            <p:nvPr/>
          </p:nvSpPr>
          <p:spPr>
            <a:xfrm>
              <a:off x="7544879" y="1851113"/>
              <a:ext cx="219710" cy="217804"/>
            </a:xfrm>
            <a:custGeom>
              <a:avLst/>
              <a:gdLst/>
              <a:ahLst/>
              <a:cxnLst/>
              <a:rect l="l" t="t" r="r" b="b"/>
              <a:pathLst>
                <a:path w="219709" h="217805">
                  <a:moveTo>
                    <a:pt x="219240" y="0"/>
                  </a:moveTo>
                  <a:lnTo>
                    <a:pt x="0" y="0"/>
                  </a:lnTo>
                  <a:lnTo>
                    <a:pt x="0" y="217449"/>
                  </a:lnTo>
                  <a:lnTo>
                    <a:pt x="109804" y="217449"/>
                  </a:lnTo>
                  <a:lnTo>
                    <a:pt x="219240" y="217449"/>
                  </a:lnTo>
                  <a:lnTo>
                    <a:pt x="219240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7544879" y="1851113"/>
              <a:ext cx="219710" cy="217804"/>
            </a:xfrm>
            <a:custGeom>
              <a:avLst/>
              <a:gdLst/>
              <a:ahLst/>
              <a:cxnLst/>
              <a:rect l="l" t="t" r="r" b="b"/>
              <a:pathLst>
                <a:path w="219709" h="217805">
                  <a:moveTo>
                    <a:pt x="109804" y="217449"/>
                  </a:moveTo>
                  <a:lnTo>
                    <a:pt x="0" y="217449"/>
                  </a:lnTo>
                  <a:lnTo>
                    <a:pt x="0" y="0"/>
                  </a:lnTo>
                  <a:lnTo>
                    <a:pt x="219240" y="0"/>
                  </a:lnTo>
                  <a:lnTo>
                    <a:pt x="219240" y="217449"/>
                  </a:lnTo>
                  <a:lnTo>
                    <a:pt x="109804" y="217449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4" name="object 84"/>
          <p:cNvGrpSpPr/>
          <p:nvPr/>
        </p:nvGrpSpPr>
        <p:grpSpPr>
          <a:xfrm>
            <a:off x="7845114" y="1846434"/>
            <a:ext cx="228600" cy="227329"/>
            <a:chOff x="7845114" y="1846434"/>
            <a:chExt cx="228600" cy="227329"/>
          </a:xfrm>
        </p:grpSpPr>
        <p:sp>
          <p:nvSpPr>
            <p:cNvPr id="85" name="object 85"/>
            <p:cNvSpPr/>
            <p:nvPr/>
          </p:nvSpPr>
          <p:spPr>
            <a:xfrm>
              <a:off x="7849794" y="1851113"/>
              <a:ext cx="219710" cy="217804"/>
            </a:xfrm>
            <a:custGeom>
              <a:avLst/>
              <a:gdLst/>
              <a:ahLst/>
              <a:cxnLst/>
              <a:rect l="l" t="t" r="r" b="b"/>
              <a:pathLst>
                <a:path w="219709" h="217805">
                  <a:moveTo>
                    <a:pt x="219240" y="0"/>
                  </a:moveTo>
                  <a:lnTo>
                    <a:pt x="0" y="0"/>
                  </a:lnTo>
                  <a:lnTo>
                    <a:pt x="0" y="217449"/>
                  </a:lnTo>
                  <a:lnTo>
                    <a:pt x="109804" y="217449"/>
                  </a:lnTo>
                  <a:lnTo>
                    <a:pt x="219240" y="217449"/>
                  </a:lnTo>
                  <a:lnTo>
                    <a:pt x="21924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849794" y="1851113"/>
              <a:ext cx="219710" cy="217804"/>
            </a:xfrm>
            <a:custGeom>
              <a:avLst/>
              <a:gdLst/>
              <a:ahLst/>
              <a:cxnLst/>
              <a:rect l="l" t="t" r="r" b="b"/>
              <a:pathLst>
                <a:path w="219709" h="217805">
                  <a:moveTo>
                    <a:pt x="109804" y="217449"/>
                  </a:moveTo>
                  <a:lnTo>
                    <a:pt x="0" y="217449"/>
                  </a:lnTo>
                  <a:lnTo>
                    <a:pt x="0" y="0"/>
                  </a:lnTo>
                  <a:lnTo>
                    <a:pt x="219240" y="0"/>
                  </a:lnTo>
                  <a:lnTo>
                    <a:pt x="219240" y="217449"/>
                  </a:lnTo>
                  <a:lnTo>
                    <a:pt x="109804" y="217449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5445620" y="1291590"/>
            <a:ext cx="12941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"/>
                <a:cs typeface="Arial"/>
              </a:rPr>
              <a:t>Example:</a:t>
            </a:r>
            <a:endParaRPr sz="2400">
              <a:latin typeface="Arial"/>
              <a:cs typeface="Arial"/>
            </a:endParaRPr>
          </a:p>
        </p:txBody>
      </p:sp>
      <p:sp>
        <p:nvSpPr>
          <p:cNvPr id="88" name="object 8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89" name="object 8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ED54B-5867-E967-CF61-A9CC9C61A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</a:t>
            </a:r>
            <a:r>
              <a:rPr lang="en-US" spc="-140" dirty="0"/>
              <a:t> </a:t>
            </a:r>
            <a:r>
              <a:rPr lang="en-US" dirty="0"/>
              <a:t>Switching:</a:t>
            </a:r>
            <a:r>
              <a:rPr lang="en-US" spc="-145" dirty="0"/>
              <a:t> </a:t>
            </a:r>
            <a:r>
              <a:rPr lang="en-US" dirty="0"/>
              <a:t>FDM</a:t>
            </a:r>
            <a:r>
              <a:rPr lang="en-US" spc="-140" dirty="0"/>
              <a:t> </a:t>
            </a:r>
            <a:r>
              <a:rPr lang="en-US" dirty="0"/>
              <a:t>and</a:t>
            </a:r>
            <a:r>
              <a:rPr lang="en-US" spc="-140" dirty="0"/>
              <a:t> </a:t>
            </a:r>
            <a:r>
              <a:rPr lang="en-US" spc="-25" dirty="0"/>
              <a:t>TDM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E3ED39-434F-2909-01E5-F26F415F2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0717" y="1730619"/>
            <a:ext cx="7771283" cy="276518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50" b="1" i="1" dirty="0"/>
              <a:t>TDM (Time Division Multiplexing) </a:t>
            </a:r>
            <a:r>
              <a:rPr lang="en-US" sz="2450" i="1" dirty="0"/>
              <a:t>and </a:t>
            </a:r>
            <a:r>
              <a:rPr lang="en-US" sz="2450" b="1" i="1" dirty="0"/>
              <a:t>FDM (Frequency Division Multiplexing)</a:t>
            </a:r>
            <a:r>
              <a:rPr lang="en-US" sz="2450" i="1" dirty="0"/>
              <a:t> both are multiplexing techniques where TDM is used in both </a:t>
            </a:r>
            <a:r>
              <a:rPr lang="en-US" sz="2450" i="1" dirty="0">
                <a:solidFill>
                  <a:srgbClr val="EE0000"/>
                </a:solidFill>
              </a:rPr>
              <a:t>analogue and digital signals</a:t>
            </a:r>
            <a:r>
              <a:rPr lang="en-US" sz="2450" i="1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450" i="1" dirty="0"/>
              <a:t>Where as FDM used only in </a:t>
            </a:r>
            <a:r>
              <a:rPr lang="en-US" sz="2450" i="1" dirty="0">
                <a:solidFill>
                  <a:srgbClr val="EE0000"/>
                </a:solidFill>
              </a:rPr>
              <a:t>analogue signals</a:t>
            </a:r>
            <a:r>
              <a:rPr lang="en-US" sz="2450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88984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Network</a:t>
            </a:r>
            <a:r>
              <a:rPr sz="3600" spc="-90" dirty="0"/>
              <a:t> </a:t>
            </a:r>
            <a:r>
              <a:rPr sz="3600" dirty="0"/>
              <a:t>Core:</a:t>
            </a:r>
            <a:r>
              <a:rPr sz="3600" spc="-85" dirty="0"/>
              <a:t> </a:t>
            </a:r>
            <a:r>
              <a:rPr sz="3600" dirty="0"/>
              <a:t>Packet</a:t>
            </a:r>
            <a:r>
              <a:rPr sz="3600" spc="-95" dirty="0"/>
              <a:t> </a:t>
            </a:r>
            <a:r>
              <a:rPr sz="3600" spc="-10" dirty="0"/>
              <a:t>Switching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598119" y="1573227"/>
            <a:ext cx="7586980" cy="425132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34290">
              <a:lnSpc>
                <a:spcPct val="100000"/>
              </a:lnSpc>
              <a:spcBef>
                <a:spcPts val="520"/>
              </a:spcBef>
            </a:pP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each</a:t>
            </a:r>
            <a:r>
              <a:rPr sz="2400" spc="-2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Comic Sans MS"/>
                <a:cs typeface="Comic Sans MS"/>
              </a:rPr>
              <a:t>end-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end</a:t>
            </a:r>
            <a:r>
              <a:rPr sz="2400" spc="-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data</a:t>
            </a:r>
            <a:r>
              <a:rPr sz="2400" spc="-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stream</a:t>
            </a:r>
            <a:r>
              <a:rPr sz="2400" spc="-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divided</a:t>
            </a:r>
            <a:r>
              <a:rPr sz="2400" spc="-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into</a:t>
            </a:r>
            <a:r>
              <a:rPr sz="2400" spc="-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50" i="1" spc="-10" dirty="0">
                <a:solidFill>
                  <a:srgbClr val="FF0000"/>
                </a:solidFill>
                <a:latin typeface="Comic Sans MS"/>
                <a:cs typeface="Comic Sans MS"/>
              </a:rPr>
              <a:t>packets</a:t>
            </a:r>
            <a:endParaRPr sz="2450" dirty="0">
              <a:latin typeface="Comic Sans MS"/>
              <a:cs typeface="Comic Sans MS"/>
            </a:endParaRPr>
          </a:p>
          <a:p>
            <a:pPr marL="25400">
              <a:lnSpc>
                <a:spcPct val="100000"/>
              </a:lnSpc>
              <a:spcBef>
                <a:spcPts val="43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37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user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A,</a:t>
            </a:r>
            <a:r>
              <a:rPr sz="2400" spc="-4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B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packets</a:t>
            </a:r>
            <a:r>
              <a:rPr sz="2400" spc="-15" dirty="0">
                <a:latin typeface="Comic Sans MS"/>
                <a:cs typeface="Comic Sans MS"/>
              </a:rPr>
              <a:t> </a:t>
            </a:r>
            <a:r>
              <a:rPr sz="2450" i="1" dirty="0">
                <a:latin typeface="Comic Sans MS"/>
                <a:cs typeface="Comic Sans MS"/>
              </a:rPr>
              <a:t>share</a:t>
            </a:r>
            <a:r>
              <a:rPr sz="2450" i="1" spc="-5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network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resources</a:t>
            </a:r>
            <a:endParaRPr sz="2400" dirty="0">
              <a:latin typeface="Comic Sans MS"/>
              <a:cs typeface="Comic Sans MS"/>
            </a:endParaRPr>
          </a:p>
          <a:p>
            <a:pPr marL="25400">
              <a:lnSpc>
                <a:spcPct val="100000"/>
              </a:lnSpc>
              <a:spcBef>
                <a:spcPts val="59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52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each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packet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uses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full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link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bandwidth</a:t>
            </a:r>
            <a:endParaRPr sz="2400" dirty="0">
              <a:latin typeface="Comic Sans MS"/>
              <a:cs typeface="Comic Sans MS"/>
            </a:endParaRPr>
          </a:p>
          <a:p>
            <a:pPr marL="25400">
              <a:lnSpc>
                <a:spcPct val="100000"/>
              </a:lnSpc>
              <a:spcBef>
                <a:spcPts val="55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45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resources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used</a:t>
            </a:r>
            <a:r>
              <a:rPr sz="2400" spc="-10" dirty="0">
                <a:latin typeface="Comic Sans MS"/>
                <a:cs typeface="Comic Sans MS"/>
              </a:rPr>
              <a:t> </a:t>
            </a:r>
            <a:r>
              <a:rPr sz="2450" i="1" dirty="0">
                <a:latin typeface="Comic Sans MS"/>
                <a:cs typeface="Comic Sans MS"/>
              </a:rPr>
              <a:t>as</a:t>
            </a:r>
            <a:r>
              <a:rPr sz="2450" i="1" spc="-55" dirty="0">
                <a:latin typeface="Comic Sans MS"/>
                <a:cs typeface="Comic Sans MS"/>
              </a:rPr>
              <a:t> </a:t>
            </a:r>
            <a:r>
              <a:rPr sz="2450" i="1" spc="-10" dirty="0">
                <a:latin typeface="Comic Sans MS"/>
                <a:cs typeface="Comic Sans MS"/>
              </a:rPr>
              <a:t>needed</a:t>
            </a:r>
            <a:endParaRPr sz="2450" dirty="0">
              <a:latin typeface="Comic Sans MS"/>
              <a:cs typeface="Comic Sans MS"/>
            </a:endParaRPr>
          </a:p>
          <a:p>
            <a:pPr marL="34290">
              <a:lnSpc>
                <a:spcPct val="100000"/>
              </a:lnSpc>
              <a:spcBef>
                <a:spcPts val="490"/>
              </a:spcBef>
            </a:pP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resource</a:t>
            </a:r>
            <a:r>
              <a:rPr sz="2400" spc="-3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contention:</a:t>
            </a:r>
            <a:endParaRPr sz="2400" dirty="0">
              <a:latin typeface="Comic Sans MS"/>
              <a:cs typeface="Comic Sans MS"/>
            </a:endParaRPr>
          </a:p>
          <a:p>
            <a:pPr marL="357505" marR="516890" indent="-332740">
              <a:lnSpc>
                <a:spcPct val="100000"/>
              </a:lnSpc>
              <a:spcBef>
                <a:spcPts val="600"/>
              </a:spcBef>
            </a:pPr>
            <a:r>
              <a:rPr sz="3075" spc="1147" baseline="1355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30" baseline="135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aggregate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resource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demand</a:t>
            </a:r>
            <a:r>
              <a:rPr sz="2400" spc="-5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can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exceed</a:t>
            </a:r>
            <a:r>
              <a:rPr sz="2400" spc="-5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amount available</a:t>
            </a:r>
            <a:endParaRPr sz="2400" dirty="0">
              <a:latin typeface="Comic Sans MS"/>
              <a:cs typeface="Comic Sans MS"/>
            </a:endParaRPr>
          </a:p>
          <a:p>
            <a:pPr marL="482600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487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what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happens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if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bandwidth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is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not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available?</a:t>
            </a:r>
            <a:endParaRPr sz="2000" dirty="0">
              <a:latin typeface="Comic Sans MS"/>
              <a:cs typeface="Comic Sans MS"/>
            </a:endParaRPr>
          </a:p>
          <a:p>
            <a:pPr marL="25400">
              <a:lnSpc>
                <a:spcPct val="100000"/>
              </a:lnSpc>
              <a:spcBef>
                <a:spcPts val="600"/>
              </a:spcBef>
            </a:pPr>
            <a:r>
              <a:rPr sz="3075" spc="1147" baseline="1355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22" baseline="135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congestion:</a:t>
            </a:r>
            <a:r>
              <a:rPr sz="2400" spc="-4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packets</a:t>
            </a:r>
            <a:r>
              <a:rPr sz="2400" spc="-5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queue,</a:t>
            </a:r>
            <a:r>
              <a:rPr sz="2400" spc="-5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wait</a:t>
            </a:r>
            <a:r>
              <a:rPr sz="2400" spc="-4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for</a:t>
            </a:r>
            <a:r>
              <a:rPr sz="2400" spc="-4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link</a:t>
            </a:r>
            <a:r>
              <a:rPr sz="2400" spc="-55" dirty="0">
                <a:latin typeface="Comic Sans MS"/>
                <a:cs typeface="Comic Sans MS"/>
              </a:rPr>
              <a:t> </a:t>
            </a:r>
            <a:r>
              <a:rPr sz="2400" spc="-25" dirty="0">
                <a:latin typeface="Comic Sans MS"/>
                <a:cs typeface="Comic Sans MS"/>
              </a:rPr>
              <a:t>use</a:t>
            </a:r>
            <a:endParaRPr sz="2400" dirty="0">
              <a:latin typeface="Comic Sans MS"/>
              <a:cs typeface="Comic Sans MS"/>
            </a:endParaRPr>
          </a:p>
          <a:p>
            <a:pPr marL="25400">
              <a:lnSpc>
                <a:spcPct val="100000"/>
              </a:lnSpc>
              <a:spcBef>
                <a:spcPts val="59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52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store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and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forward: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packets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move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one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hop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at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spc="-20" dirty="0">
                <a:latin typeface="Comic Sans MS"/>
                <a:cs typeface="Comic Sans MS"/>
              </a:rPr>
              <a:t>time</a:t>
            </a:r>
            <a:endParaRPr sz="2400" dirty="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8019" y="5862497"/>
            <a:ext cx="18859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450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endParaRPr sz="135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43774" y="5856020"/>
            <a:ext cx="5386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mic Sans MS"/>
                <a:cs typeface="Comic Sans MS"/>
              </a:rPr>
              <a:t>Node</a:t>
            </a:r>
            <a:r>
              <a:rPr sz="1800" spc="-7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receives</a:t>
            </a:r>
            <a:r>
              <a:rPr sz="1800" spc="-6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complete</a:t>
            </a:r>
            <a:r>
              <a:rPr sz="1800" spc="-7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packet</a:t>
            </a:r>
            <a:r>
              <a:rPr sz="1800" spc="-6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before</a:t>
            </a:r>
            <a:r>
              <a:rPr sz="1800" spc="-70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forwarding</a:t>
            </a:r>
            <a:endParaRPr sz="1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98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Packet</a:t>
            </a:r>
            <a:r>
              <a:rPr sz="3200" spc="-135" dirty="0"/>
              <a:t> </a:t>
            </a:r>
            <a:r>
              <a:rPr sz="3200" dirty="0"/>
              <a:t>Switching:</a:t>
            </a:r>
            <a:r>
              <a:rPr sz="3200" spc="-130" dirty="0"/>
              <a:t> </a:t>
            </a:r>
            <a:r>
              <a:rPr sz="3200" dirty="0"/>
              <a:t>Statistical</a:t>
            </a:r>
            <a:r>
              <a:rPr sz="3200" spc="-130" dirty="0"/>
              <a:t> </a:t>
            </a:r>
            <a:r>
              <a:rPr sz="3200" spc="-10" dirty="0"/>
              <a:t>Multiplexing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924737" y="4908512"/>
            <a:ext cx="6751320" cy="75946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46075" marR="5080" indent="-334010">
              <a:lnSpc>
                <a:spcPts val="2880"/>
              </a:lnSpc>
              <a:spcBef>
                <a:spcPts val="195"/>
              </a:spcBef>
            </a:pPr>
            <a:r>
              <a:rPr sz="2400" dirty="0">
                <a:latin typeface="Comic Sans MS"/>
                <a:cs typeface="Comic Sans MS"/>
              </a:rPr>
              <a:t>Sequence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of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&amp;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B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packets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does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not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have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fixed </a:t>
            </a:r>
            <a:r>
              <a:rPr sz="2400" dirty="0">
                <a:latin typeface="Comic Sans MS"/>
                <a:cs typeface="Comic Sans MS"/>
              </a:rPr>
              <a:t>pattern</a:t>
            </a:r>
            <a:r>
              <a:rPr sz="2400" spc="-90" dirty="0">
                <a:latin typeface="Comic Sans MS"/>
                <a:cs typeface="Comic Sans MS"/>
              </a:rPr>
              <a:t> </a:t>
            </a:r>
            <a:r>
              <a:rPr sz="2400" dirty="0">
                <a:latin typeface="Symbol"/>
                <a:cs typeface="Symbol"/>
              </a:rPr>
              <a:t>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50" b="1" i="1" spc="-10" dirty="0">
                <a:solidFill>
                  <a:srgbClr val="FF0000"/>
                </a:solidFill>
                <a:latin typeface="Comic Sans MS"/>
                <a:cs typeface="Comic Sans MS"/>
              </a:rPr>
              <a:t>statistical</a:t>
            </a:r>
            <a:r>
              <a:rPr sz="2450" b="1" i="1" spc="-15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50" b="1" i="1" spc="-10" dirty="0">
                <a:solidFill>
                  <a:srgbClr val="FF0000"/>
                </a:solidFill>
                <a:latin typeface="Comic Sans MS"/>
                <a:cs typeface="Comic Sans MS"/>
              </a:rPr>
              <a:t>multiplexing</a:t>
            </a:r>
            <a:r>
              <a:rPr sz="2400" spc="-10" dirty="0">
                <a:latin typeface="Comic Sans MS"/>
                <a:cs typeface="Comic Sans MS"/>
              </a:rPr>
              <a:t>.</a:t>
            </a:r>
            <a:endParaRPr sz="2400" dirty="0">
              <a:latin typeface="Comic Sans MS"/>
              <a:cs typeface="Comic Sans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65161" y="1550885"/>
            <a:ext cx="6675120" cy="1452880"/>
            <a:chOff x="965161" y="1550885"/>
            <a:chExt cx="6675120" cy="14528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3477" y="2475001"/>
              <a:ext cx="896939" cy="52847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320556" y="2265476"/>
              <a:ext cx="1198880" cy="263525"/>
            </a:xfrm>
            <a:custGeom>
              <a:avLst/>
              <a:gdLst/>
              <a:ahLst/>
              <a:cxnLst/>
              <a:rect l="l" t="t" r="r" b="b"/>
              <a:pathLst>
                <a:path w="1198879" h="263525">
                  <a:moveTo>
                    <a:pt x="1198448" y="0"/>
                  </a:moveTo>
                  <a:lnTo>
                    <a:pt x="0" y="0"/>
                  </a:lnTo>
                  <a:lnTo>
                    <a:pt x="0" y="263525"/>
                  </a:lnTo>
                  <a:lnTo>
                    <a:pt x="599401" y="263525"/>
                  </a:lnTo>
                  <a:lnTo>
                    <a:pt x="1198448" y="263525"/>
                  </a:lnTo>
                  <a:lnTo>
                    <a:pt x="1198448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25922" y="2332075"/>
              <a:ext cx="1905" cy="228600"/>
            </a:xfrm>
            <a:custGeom>
              <a:avLst/>
              <a:gdLst/>
              <a:ahLst/>
              <a:cxnLst/>
              <a:rect l="l" t="t" r="r" b="b"/>
              <a:pathLst>
                <a:path w="1904" h="228600">
                  <a:moveTo>
                    <a:pt x="0" y="0"/>
                  </a:moveTo>
                  <a:lnTo>
                    <a:pt x="1803" y="228600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25922" y="2293924"/>
              <a:ext cx="1198880" cy="263525"/>
            </a:xfrm>
            <a:custGeom>
              <a:avLst/>
              <a:gdLst/>
              <a:ahLst/>
              <a:cxnLst/>
              <a:rect l="l" t="t" r="r" b="b"/>
              <a:pathLst>
                <a:path w="1198879" h="263525">
                  <a:moveTo>
                    <a:pt x="1198791" y="0"/>
                  </a:moveTo>
                  <a:lnTo>
                    <a:pt x="0" y="0"/>
                  </a:lnTo>
                  <a:lnTo>
                    <a:pt x="0" y="263512"/>
                  </a:lnTo>
                  <a:lnTo>
                    <a:pt x="599401" y="263512"/>
                  </a:lnTo>
                  <a:lnTo>
                    <a:pt x="1198791" y="263512"/>
                  </a:lnTo>
                  <a:lnTo>
                    <a:pt x="1198791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04164" y="1550885"/>
              <a:ext cx="635761" cy="52882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5161" y="1569961"/>
              <a:ext cx="1139941" cy="52884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095563" y="1961997"/>
              <a:ext cx="3352800" cy="1000760"/>
            </a:xfrm>
            <a:custGeom>
              <a:avLst/>
              <a:gdLst/>
              <a:ahLst/>
              <a:cxnLst/>
              <a:rect l="l" t="t" r="r" b="b"/>
              <a:pathLst>
                <a:path w="3352800" h="1000760">
                  <a:moveTo>
                    <a:pt x="1419110" y="428764"/>
                  </a:moveTo>
                  <a:lnTo>
                    <a:pt x="3352673" y="438480"/>
                  </a:lnTo>
                </a:path>
                <a:path w="3352800" h="1000760">
                  <a:moveTo>
                    <a:pt x="0" y="0"/>
                  </a:moveTo>
                  <a:lnTo>
                    <a:pt x="1435" y="1000442"/>
                  </a:lnTo>
                </a:path>
                <a:path w="3352800" h="1000760">
                  <a:moveTo>
                    <a:pt x="9359" y="433438"/>
                  </a:moveTo>
                  <a:lnTo>
                    <a:pt x="209511" y="435241"/>
                  </a:lnTo>
                </a:path>
              </a:pathLst>
            </a:custGeom>
            <a:ln w="19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548164" y="2185923"/>
              <a:ext cx="147955" cy="200660"/>
            </a:xfrm>
            <a:custGeom>
              <a:avLst/>
              <a:gdLst/>
              <a:ahLst/>
              <a:cxnLst/>
              <a:rect l="l" t="t" r="r" b="b"/>
              <a:pathLst>
                <a:path w="147954" h="200660">
                  <a:moveTo>
                    <a:pt x="147599" y="0"/>
                  </a:moveTo>
                  <a:lnTo>
                    <a:pt x="0" y="0"/>
                  </a:lnTo>
                  <a:lnTo>
                    <a:pt x="0" y="200151"/>
                  </a:lnTo>
                  <a:lnTo>
                    <a:pt x="73799" y="200151"/>
                  </a:lnTo>
                  <a:lnTo>
                    <a:pt x="147599" y="200151"/>
                  </a:lnTo>
                  <a:lnTo>
                    <a:pt x="147599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48164" y="2185923"/>
              <a:ext cx="147955" cy="200660"/>
            </a:xfrm>
            <a:custGeom>
              <a:avLst/>
              <a:gdLst/>
              <a:ahLst/>
              <a:cxnLst/>
              <a:rect l="l" t="t" r="r" b="b"/>
              <a:pathLst>
                <a:path w="147954" h="200660">
                  <a:moveTo>
                    <a:pt x="73799" y="200151"/>
                  </a:moveTo>
                  <a:lnTo>
                    <a:pt x="0" y="200151"/>
                  </a:lnTo>
                  <a:lnTo>
                    <a:pt x="0" y="0"/>
                  </a:lnTo>
                  <a:lnTo>
                    <a:pt x="147599" y="0"/>
                  </a:lnTo>
                  <a:lnTo>
                    <a:pt x="147599" y="200151"/>
                  </a:lnTo>
                  <a:lnTo>
                    <a:pt x="73799" y="200151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10165" y="2185923"/>
              <a:ext cx="147955" cy="200660"/>
            </a:xfrm>
            <a:custGeom>
              <a:avLst/>
              <a:gdLst/>
              <a:ahLst/>
              <a:cxnLst/>
              <a:rect l="l" t="t" r="r" b="b"/>
              <a:pathLst>
                <a:path w="147954" h="200660">
                  <a:moveTo>
                    <a:pt x="147599" y="0"/>
                  </a:moveTo>
                  <a:lnTo>
                    <a:pt x="0" y="0"/>
                  </a:lnTo>
                  <a:lnTo>
                    <a:pt x="0" y="200151"/>
                  </a:lnTo>
                  <a:lnTo>
                    <a:pt x="73799" y="200151"/>
                  </a:lnTo>
                  <a:lnTo>
                    <a:pt x="147599" y="200151"/>
                  </a:lnTo>
                  <a:lnTo>
                    <a:pt x="147599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710165" y="2185923"/>
              <a:ext cx="147955" cy="200660"/>
            </a:xfrm>
            <a:custGeom>
              <a:avLst/>
              <a:gdLst/>
              <a:ahLst/>
              <a:cxnLst/>
              <a:rect l="l" t="t" r="r" b="b"/>
              <a:pathLst>
                <a:path w="147954" h="200660">
                  <a:moveTo>
                    <a:pt x="73799" y="200151"/>
                  </a:moveTo>
                  <a:lnTo>
                    <a:pt x="0" y="200151"/>
                  </a:lnTo>
                  <a:lnTo>
                    <a:pt x="0" y="0"/>
                  </a:lnTo>
                  <a:lnTo>
                    <a:pt x="147599" y="0"/>
                  </a:lnTo>
                  <a:lnTo>
                    <a:pt x="147599" y="200151"/>
                  </a:lnTo>
                  <a:lnTo>
                    <a:pt x="73799" y="200151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71798" y="2185923"/>
              <a:ext cx="147955" cy="200660"/>
            </a:xfrm>
            <a:custGeom>
              <a:avLst/>
              <a:gdLst/>
              <a:ahLst/>
              <a:cxnLst/>
              <a:rect l="l" t="t" r="r" b="b"/>
              <a:pathLst>
                <a:path w="147954" h="200660">
                  <a:moveTo>
                    <a:pt x="147599" y="0"/>
                  </a:moveTo>
                  <a:lnTo>
                    <a:pt x="0" y="0"/>
                  </a:lnTo>
                  <a:lnTo>
                    <a:pt x="0" y="200151"/>
                  </a:lnTo>
                  <a:lnTo>
                    <a:pt x="73799" y="200151"/>
                  </a:lnTo>
                  <a:lnTo>
                    <a:pt x="147599" y="200151"/>
                  </a:lnTo>
                  <a:lnTo>
                    <a:pt x="147599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71798" y="2185923"/>
              <a:ext cx="147955" cy="200660"/>
            </a:xfrm>
            <a:custGeom>
              <a:avLst/>
              <a:gdLst/>
              <a:ahLst/>
              <a:cxnLst/>
              <a:rect l="l" t="t" r="r" b="b"/>
              <a:pathLst>
                <a:path w="147954" h="200660">
                  <a:moveTo>
                    <a:pt x="73799" y="200151"/>
                  </a:moveTo>
                  <a:lnTo>
                    <a:pt x="0" y="200151"/>
                  </a:lnTo>
                  <a:lnTo>
                    <a:pt x="0" y="0"/>
                  </a:lnTo>
                  <a:lnTo>
                    <a:pt x="147599" y="0"/>
                  </a:lnTo>
                  <a:lnTo>
                    <a:pt x="147599" y="200151"/>
                  </a:lnTo>
                  <a:lnTo>
                    <a:pt x="73799" y="200151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033799" y="2185923"/>
              <a:ext cx="147955" cy="200660"/>
            </a:xfrm>
            <a:custGeom>
              <a:avLst/>
              <a:gdLst/>
              <a:ahLst/>
              <a:cxnLst/>
              <a:rect l="l" t="t" r="r" b="b"/>
              <a:pathLst>
                <a:path w="147954" h="200660">
                  <a:moveTo>
                    <a:pt x="147599" y="0"/>
                  </a:moveTo>
                  <a:lnTo>
                    <a:pt x="0" y="0"/>
                  </a:lnTo>
                  <a:lnTo>
                    <a:pt x="0" y="200151"/>
                  </a:lnTo>
                  <a:lnTo>
                    <a:pt x="73799" y="200151"/>
                  </a:lnTo>
                  <a:lnTo>
                    <a:pt x="147599" y="200151"/>
                  </a:lnTo>
                  <a:lnTo>
                    <a:pt x="147599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033799" y="2185923"/>
              <a:ext cx="147955" cy="200660"/>
            </a:xfrm>
            <a:custGeom>
              <a:avLst/>
              <a:gdLst/>
              <a:ahLst/>
              <a:cxnLst/>
              <a:rect l="l" t="t" r="r" b="b"/>
              <a:pathLst>
                <a:path w="147954" h="200660">
                  <a:moveTo>
                    <a:pt x="73799" y="200151"/>
                  </a:moveTo>
                  <a:lnTo>
                    <a:pt x="0" y="200151"/>
                  </a:lnTo>
                  <a:lnTo>
                    <a:pt x="0" y="0"/>
                  </a:lnTo>
                  <a:lnTo>
                    <a:pt x="147599" y="0"/>
                  </a:lnTo>
                  <a:lnTo>
                    <a:pt x="147599" y="200151"/>
                  </a:lnTo>
                  <a:lnTo>
                    <a:pt x="73799" y="200151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195800" y="2185923"/>
              <a:ext cx="147955" cy="200660"/>
            </a:xfrm>
            <a:custGeom>
              <a:avLst/>
              <a:gdLst/>
              <a:ahLst/>
              <a:cxnLst/>
              <a:rect l="l" t="t" r="r" b="b"/>
              <a:pathLst>
                <a:path w="147954" h="200660">
                  <a:moveTo>
                    <a:pt x="147599" y="0"/>
                  </a:moveTo>
                  <a:lnTo>
                    <a:pt x="0" y="0"/>
                  </a:lnTo>
                  <a:lnTo>
                    <a:pt x="0" y="200151"/>
                  </a:lnTo>
                  <a:lnTo>
                    <a:pt x="73799" y="200151"/>
                  </a:lnTo>
                  <a:lnTo>
                    <a:pt x="147599" y="200151"/>
                  </a:lnTo>
                  <a:lnTo>
                    <a:pt x="147599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195800" y="2185923"/>
              <a:ext cx="147955" cy="200660"/>
            </a:xfrm>
            <a:custGeom>
              <a:avLst/>
              <a:gdLst/>
              <a:ahLst/>
              <a:cxnLst/>
              <a:rect l="l" t="t" r="r" b="b"/>
              <a:pathLst>
                <a:path w="147954" h="200660">
                  <a:moveTo>
                    <a:pt x="73799" y="200151"/>
                  </a:moveTo>
                  <a:lnTo>
                    <a:pt x="0" y="200151"/>
                  </a:lnTo>
                  <a:lnTo>
                    <a:pt x="0" y="0"/>
                  </a:lnTo>
                  <a:lnTo>
                    <a:pt x="147599" y="0"/>
                  </a:lnTo>
                  <a:lnTo>
                    <a:pt x="147599" y="200151"/>
                  </a:lnTo>
                  <a:lnTo>
                    <a:pt x="73799" y="200151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67313" y="2185923"/>
              <a:ext cx="147955" cy="200660"/>
            </a:xfrm>
            <a:custGeom>
              <a:avLst/>
              <a:gdLst/>
              <a:ahLst/>
              <a:cxnLst/>
              <a:rect l="l" t="t" r="r" b="b"/>
              <a:pathLst>
                <a:path w="147954" h="200660">
                  <a:moveTo>
                    <a:pt x="147612" y="0"/>
                  </a:moveTo>
                  <a:lnTo>
                    <a:pt x="0" y="0"/>
                  </a:lnTo>
                  <a:lnTo>
                    <a:pt x="0" y="200151"/>
                  </a:lnTo>
                  <a:lnTo>
                    <a:pt x="73812" y="200151"/>
                  </a:lnTo>
                  <a:lnTo>
                    <a:pt x="147612" y="200151"/>
                  </a:lnTo>
                  <a:lnTo>
                    <a:pt x="147612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67313" y="2185923"/>
              <a:ext cx="147955" cy="200660"/>
            </a:xfrm>
            <a:custGeom>
              <a:avLst/>
              <a:gdLst/>
              <a:ahLst/>
              <a:cxnLst/>
              <a:rect l="l" t="t" r="r" b="b"/>
              <a:pathLst>
                <a:path w="147954" h="200660">
                  <a:moveTo>
                    <a:pt x="73812" y="200151"/>
                  </a:moveTo>
                  <a:lnTo>
                    <a:pt x="0" y="200151"/>
                  </a:lnTo>
                  <a:lnTo>
                    <a:pt x="0" y="0"/>
                  </a:lnTo>
                  <a:lnTo>
                    <a:pt x="147612" y="0"/>
                  </a:lnTo>
                  <a:lnTo>
                    <a:pt x="147612" y="200151"/>
                  </a:lnTo>
                  <a:lnTo>
                    <a:pt x="73812" y="200151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005438" y="2181237"/>
              <a:ext cx="147955" cy="200660"/>
            </a:xfrm>
            <a:custGeom>
              <a:avLst/>
              <a:gdLst/>
              <a:ahLst/>
              <a:cxnLst/>
              <a:rect l="l" t="t" r="r" b="b"/>
              <a:pathLst>
                <a:path w="147954" h="200660">
                  <a:moveTo>
                    <a:pt x="147599" y="0"/>
                  </a:moveTo>
                  <a:lnTo>
                    <a:pt x="0" y="0"/>
                  </a:lnTo>
                  <a:lnTo>
                    <a:pt x="0" y="200164"/>
                  </a:lnTo>
                  <a:lnTo>
                    <a:pt x="73799" y="200164"/>
                  </a:lnTo>
                  <a:lnTo>
                    <a:pt x="147599" y="200164"/>
                  </a:lnTo>
                  <a:lnTo>
                    <a:pt x="147599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005438" y="2181237"/>
              <a:ext cx="147955" cy="200660"/>
            </a:xfrm>
            <a:custGeom>
              <a:avLst/>
              <a:gdLst/>
              <a:ahLst/>
              <a:cxnLst/>
              <a:rect l="l" t="t" r="r" b="b"/>
              <a:pathLst>
                <a:path w="147954" h="200660">
                  <a:moveTo>
                    <a:pt x="73799" y="200164"/>
                  </a:moveTo>
                  <a:lnTo>
                    <a:pt x="0" y="200164"/>
                  </a:lnTo>
                  <a:lnTo>
                    <a:pt x="0" y="0"/>
                  </a:lnTo>
                  <a:lnTo>
                    <a:pt x="147599" y="0"/>
                  </a:lnTo>
                  <a:lnTo>
                    <a:pt x="147599" y="200164"/>
                  </a:lnTo>
                  <a:lnTo>
                    <a:pt x="73799" y="200164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857322" y="2261882"/>
              <a:ext cx="138430" cy="190500"/>
            </a:xfrm>
            <a:custGeom>
              <a:avLst/>
              <a:gdLst/>
              <a:ahLst/>
              <a:cxnLst/>
              <a:rect l="l" t="t" r="r" b="b"/>
              <a:pathLst>
                <a:path w="138430" h="190500">
                  <a:moveTo>
                    <a:pt x="137883" y="0"/>
                  </a:moveTo>
                  <a:lnTo>
                    <a:pt x="0" y="0"/>
                  </a:lnTo>
                  <a:lnTo>
                    <a:pt x="0" y="190436"/>
                  </a:lnTo>
                  <a:lnTo>
                    <a:pt x="69113" y="190436"/>
                  </a:lnTo>
                  <a:lnTo>
                    <a:pt x="137883" y="190436"/>
                  </a:lnTo>
                  <a:lnTo>
                    <a:pt x="137883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857322" y="2261882"/>
              <a:ext cx="138430" cy="190500"/>
            </a:xfrm>
            <a:custGeom>
              <a:avLst/>
              <a:gdLst/>
              <a:ahLst/>
              <a:cxnLst/>
              <a:rect l="l" t="t" r="r" b="b"/>
              <a:pathLst>
                <a:path w="138430" h="190500">
                  <a:moveTo>
                    <a:pt x="69113" y="190436"/>
                  </a:moveTo>
                  <a:lnTo>
                    <a:pt x="0" y="190436"/>
                  </a:lnTo>
                  <a:lnTo>
                    <a:pt x="0" y="0"/>
                  </a:lnTo>
                  <a:lnTo>
                    <a:pt x="137883" y="0"/>
                  </a:lnTo>
                  <a:lnTo>
                    <a:pt x="137883" y="190436"/>
                  </a:lnTo>
                  <a:lnTo>
                    <a:pt x="69113" y="190436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019323" y="2261882"/>
              <a:ext cx="138430" cy="190500"/>
            </a:xfrm>
            <a:custGeom>
              <a:avLst/>
              <a:gdLst/>
              <a:ahLst/>
              <a:cxnLst/>
              <a:rect l="l" t="t" r="r" b="b"/>
              <a:pathLst>
                <a:path w="138430" h="190500">
                  <a:moveTo>
                    <a:pt x="138239" y="0"/>
                  </a:moveTo>
                  <a:lnTo>
                    <a:pt x="0" y="0"/>
                  </a:lnTo>
                  <a:lnTo>
                    <a:pt x="0" y="190436"/>
                  </a:lnTo>
                  <a:lnTo>
                    <a:pt x="69113" y="190436"/>
                  </a:lnTo>
                  <a:lnTo>
                    <a:pt x="138239" y="190436"/>
                  </a:lnTo>
                  <a:lnTo>
                    <a:pt x="138239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019323" y="2261882"/>
              <a:ext cx="138430" cy="190500"/>
            </a:xfrm>
            <a:custGeom>
              <a:avLst/>
              <a:gdLst/>
              <a:ahLst/>
              <a:cxnLst/>
              <a:rect l="l" t="t" r="r" b="b"/>
              <a:pathLst>
                <a:path w="138430" h="190500">
                  <a:moveTo>
                    <a:pt x="69113" y="190436"/>
                  </a:moveTo>
                  <a:lnTo>
                    <a:pt x="0" y="190436"/>
                  </a:lnTo>
                  <a:lnTo>
                    <a:pt x="0" y="0"/>
                  </a:lnTo>
                  <a:lnTo>
                    <a:pt x="138239" y="0"/>
                  </a:lnTo>
                  <a:lnTo>
                    <a:pt x="138239" y="190436"/>
                  </a:lnTo>
                  <a:lnTo>
                    <a:pt x="69113" y="190436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181324" y="2261882"/>
              <a:ext cx="138430" cy="190500"/>
            </a:xfrm>
            <a:custGeom>
              <a:avLst/>
              <a:gdLst/>
              <a:ahLst/>
              <a:cxnLst/>
              <a:rect l="l" t="t" r="r" b="b"/>
              <a:pathLst>
                <a:path w="138429" h="190500">
                  <a:moveTo>
                    <a:pt x="138239" y="0"/>
                  </a:moveTo>
                  <a:lnTo>
                    <a:pt x="0" y="0"/>
                  </a:lnTo>
                  <a:lnTo>
                    <a:pt x="0" y="190436"/>
                  </a:lnTo>
                  <a:lnTo>
                    <a:pt x="69113" y="190436"/>
                  </a:lnTo>
                  <a:lnTo>
                    <a:pt x="138239" y="190436"/>
                  </a:lnTo>
                  <a:lnTo>
                    <a:pt x="138239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181324" y="2261882"/>
              <a:ext cx="138430" cy="190500"/>
            </a:xfrm>
            <a:custGeom>
              <a:avLst/>
              <a:gdLst/>
              <a:ahLst/>
              <a:cxnLst/>
              <a:rect l="l" t="t" r="r" b="b"/>
              <a:pathLst>
                <a:path w="138429" h="190500">
                  <a:moveTo>
                    <a:pt x="69113" y="190436"/>
                  </a:moveTo>
                  <a:lnTo>
                    <a:pt x="0" y="190436"/>
                  </a:lnTo>
                  <a:lnTo>
                    <a:pt x="0" y="0"/>
                  </a:lnTo>
                  <a:lnTo>
                    <a:pt x="138239" y="0"/>
                  </a:lnTo>
                  <a:lnTo>
                    <a:pt x="138239" y="190436"/>
                  </a:lnTo>
                  <a:lnTo>
                    <a:pt x="69113" y="190436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343325" y="2261882"/>
              <a:ext cx="138430" cy="190500"/>
            </a:xfrm>
            <a:custGeom>
              <a:avLst/>
              <a:gdLst/>
              <a:ahLst/>
              <a:cxnLst/>
              <a:rect l="l" t="t" r="r" b="b"/>
              <a:pathLst>
                <a:path w="138429" h="190500">
                  <a:moveTo>
                    <a:pt x="138239" y="0"/>
                  </a:moveTo>
                  <a:lnTo>
                    <a:pt x="0" y="0"/>
                  </a:lnTo>
                  <a:lnTo>
                    <a:pt x="0" y="190436"/>
                  </a:lnTo>
                  <a:lnTo>
                    <a:pt x="69113" y="190436"/>
                  </a:lnTo>
                  <a:lnTo>
                    <a:pt x="138239" y="190436"/>
                  </a:lnTo>
                  <a:lnTo>
                    <a:pt x="138239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343325" y="2261882"/>
              <a:ext cx="138430" cy="190500"/>
            </a:xfrm>
            <a:custGeom>
              <a:avLst/>
              <a:gdLst/>
              <a:ahLst/>
              <a:cxnLst/>
              <a:rect l="l" t="t" r="r" b="b"/>
              <a:pathLst>
                <a:path w="138429" h="190500">
                  <a:moveTo>
                    <a:pt x="69113" y="190436"/>
                  </a:moveTo>
                  <a:lnTo>
                    <a:pt x="0" y="190436"/>
                  </a:lnTo>
                  <a:lnTo>
                    <a:pt x="0" y="0"/>
                  </a:lnTo>
                  <a:lnTo>
                    <a:pt x="138239" y="0"/>
                  </a:lnTo>
                  <a:lnTo>
                    <a:pt x="138239" y="190436"/>
                  </a:lnTo>
                  <a:lnTo>
                    <a:pt x="69113" y="190436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28316" y="2162162"/>
              <a:ext cx="148590" cy="200660"/>
            </a:xfrm>
            <a:custGeom>
              <a:avLst/>
              <a:gdLst/>
              <a:ahLst/>
              <a:cxnLst/>
              <a:rect l="l" t="t" r="r" b="b"/>
              <a:pathLst>
                <a:path w="148589" h="200660">
                  <a:moveTo>
                    <a:pt x="147967" y="0"/>
                  </a:moveTo>
                  <a:lnTo>
                    <a:pt x="0" y="0"/>
                  </a:lnTo>
                  <a:lnTo>
                    <a:pt x="0" y="200151"/>
                  </a:lnTo>
                  <a:lnTo>
                    <a:pt x="74168" y="200151"/>
                  </a:lnTo>
                  <a:lnTo>
                    <a:pt x="147967" y="200151"/>
                  </a:lnTo>
                  <a:lnTo>
                    <a:pt x="147967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128316" y="2162162"/>
              <a:ext cx="148590" cy="200660"/>
            </a:xfrm>
            <a:custGeom>
              <a:avLst/>
              <a:gdLst/>
              <a:ahLst/>
              <a:cxnLst/>
              <a:rect l="l" t="t" r="r" b="b"/>
              <a:pathLst>
                <a:path w="148589" h="200660">
                  <a:moveTo>
                    <a:pt x="74168" y="200151"/>
                  </a:moveTo>
                  <a:lnTo>
                    <a:pt x="0" y="200151"/>
                  </a:lnTo>
                  <a:lnTo>
                    <a:pt x="0" y="0"/>
                  </a:lnTo>
                  <a:lnTo>
                    <a:pt x="147967" y="0"/>
                  </a:lnTo>
                  <a:lnTo>
                    <a:pt x="147967" y="200151"/>
                  </a:lnTo>
                  <a:lnTo>
                    <a:pt x="74168" y="200151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05075" y="2266924"/>
              <a:ext cx="172720" cy="3810"/>
            </a:xfrm>
            <a:custGeom>
              <a:avLst/>
              <a:gdLst/>
              <a:ahLst/>
              <a:cxnLst/>
              <a:rect l="l" t="t" r="r" b="b"/>
              <a:pathLst>
                <a:path w="172719" h="3810">
                  <a:moveTo>
                    <a:pt x="0" y="0"/>
                  </a:moveTo>
                  <a:lnTo>
                    <a:pt x="172440" y="3238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471762" y="2232355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5" h="76200">
                  <a:moveTo>
                    <a:pt x="1435" y="0"/>
                  </a:moveTo>
                  <a:lnTo>
                    <a:pt x="0" y="75603"/>
                  </a:lnTo>
                  <a:lnTo>
                    <a:pt x="76314" y="39242"/>
                  </a:lnTo>
                  <a:lnTo>
                    <a:pt x="14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971725" y="2604236"/>
              <a:ext cx="1270" cy="125095"/>
            </a:xfrm>
            <a:custGeom>
              <a:avLst/>
              <a:gdLst/>
              <a:ahLst/>
              <a:cxnLst/>
              <a:rect l="l" t="t" r="r" b="b"/>
              <a:pathLst>
                <a:path w="1269" h="125094">
                  <a:moveTo>
                    <a:pt x="0" y="124561"/>
                  </a:moveTo>
                  <a:lnTo>
                    <a:pt x="1079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934641" y="25336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519" y="0"/>
                  </a:moveTo>
                  <a:lnTo>
                    <a:pt x="0" y="75247"/>
                  </a:lnTo>
                  <a:lnTo>
                    <a:pt x="75603" y="75958"/>
                  </a:lnTo>
                  <a:lnTo>
                    <a:pt x="385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929037" y="2076475"/>
              <a:ext cx="991869" cy="1905"/>
            </a:xfrm>
            <a:custGeom>
              <a:avLst/>
              <a:gdLst/>
              <a:ahLst/>
              <a:cxnLst/>
              <a:rect l="l" t="t" r="r" b="b"/>
              <a:pathLst>
                <a:path w="991870" h="1905">
                  <a:moveTo>
                    <a:pt x="0" y="0"/>
                  </a:moveTo>
                  <a:lnTo>
                    <a:pt x="991438" y="1447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915445" y="204011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590" y="378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2" name="object 4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62381" y="2052540"/>
            <a:ext cx="501658" cy="138243"/>
          </a:xfrm>
          <a:prstGeom prst="rect">
            <a:avLst/>
          </a:prstGeom>
        </p:spPr>
      </p:pic>
      <p:grpSp>
        <p:nvGrpSpPr>
          <p:cNvPr id="43" name="object 43"/>
          <p:cNvGrpSpPr/>
          <p:nvPr/>
        </p:nvGrpSpPr>
        <p:grpSpPr>
          <a:xfrm>
            <a:off x="1905120" y="2728804"/>
            <a:ext cx="157480" cy="209550"/>
            <a:chOff x="1905120" y="2728804"/>
            <a:chExt cx="157480" cy="209550"/>
          </a:xfrm>
        </p:grpSpPr>
        <p:sp>
          <p:nvSpPr>
            <p:cNvPr id="44" name="object 44"/>
            <p:cNvSpPr/>
            <p:nvPr/>
          </p:nvSpPr>
          <p:spPr>
            <a:xfrm>
              <a:off x="1909800" y="2733484"/>
              <a:ext cx="147955" cy="200025"/>
            </a:xfrm>
            <a:custGeom>
              <a:avLst/>
              <a:gdLst/>
              <a:ahLst/>
              <a:cxnLst/>
              <a:rect l="l" t="t" r="r" b="b"/>
              <a:pathLst>
                <a:path w="147955" h="200025">
                  <a:moveTo>
                    <a:pt x="147599" y="0"/>
                  </a:moveTo>
                  <a:lnTo>
                    <a:pt x="0" y="0"/>
                  </a:lnTo>
                  <a:lnTo>
                    <a:pt x="0" y="199796"/>
                  </a:lnTo>
                  <a:lnTo>
                    <a:pt x="73799" y="199796"/>
                  </a:lnTo>
                  <a:lnTo>
                    <a:pt x="147599" y="199796"/>
                  </a:lnTo>
                  <a:lnTo>
                    <a:pt x="147599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909800" y="2733484"/>
              <a:ext cx="147955" cy="200025"/>
            </a:xfrm>
            <a:custGeom>
              <a:avLst/>
              <a:gdLst/>
              <a:ahLst/>
              <a:cxnLst/>
              <a:rect l="l" t="t" r="r" b="b"/>
              <a:pathLst>
                <a:path w="147955" h="200025">
                  <a:moveTo>
                    <a:pt x="73799" y="199796"/>
                  </a:moveTo>
                  <a:lnTo>
                    <a:pt x="0" y="199796"/>
                  </a:lnTo>
                  <a:lnTo>
                    <a:pt x="0" y="0"/>
                  </a:lnTo>
                  <a:lnTo>
                    <a:pt x="147599" y="0"/>
                  </a:lnTo>
                  <a:lnTo>
                    <a:pt x="147599" y="199796"/>
                  </a:lnTo>
                  <a:lnTo>
                    <a:pt x="73799" y="199796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93254" y="1622780"/>
            <a:ext cx="2489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00CC99"/>
                </a:solidFill>
                <a:latin typeface="Comic Sans MS"/>
                <a:cs typeface="Comic Sans MS"/>
              </a:rPr>
              <a:t>A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67574" y="2641587"/>
            <a:ext cx="21780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3333CC"/>
                </a:solidFill>
                <a:latin typeface="Comic Sans MS"/>
                <a:cs typeface="Comic Sans MS"/>
              </a:rPr>
              <a:t>B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682575" y="1498587"/>
            <a:ext cx="2095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omic Sans MS"/>
                <a:cs typeface="Comic Sans MS"/>
              </a:rPr>
              <a:t>C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692986" y="1345933"/>
            <a:ext cx="10001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mic Sans MS"/>
                <a:cs typeface="Comic Sans MS"/>
              </a:rPr>
              <a:t>10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spc="-20" dirty="0">
                <a:latin typeface="Comic Sans MS"/>
                <a:cs typeface="Comic Sans MS"/>
              </a:rPr>
              <a:t>Mb/s</a:t>
            </a:r>
            <a:endParaRPr sz="2000">
              <a:latin typeface="Comic Sans MS"/>
              <a:cs typeface="Comic Sans MS"/>
            </a:endParaRPr>
          </a:p>
        </p:txBody>
      </p:sp>
      <p:pic>
        <p:nvPicPr>
          <p:cNvPr id="50" name="object 5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41724" y="1933382"/>
            <a:ext cx="3063775" cy="2870456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1692986" y="1651939"/>
            <a:ext cx="11029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omic Sans MS"/>
                <a:cs typeface="Comic Sans MS"/>
              </a:rPr>
              <a:t>Ethernet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836784" y="2461209"/>
            <a:ext cx="10629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mic Sans MS"/>
                <a:cs typeface="Comic Sans MS"/>
              </a:rPr>
              <a:t>1.5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spc="-20" dirty="0">
                <a:latin typeface="Comic Sans MS"/>
                <a:cs typeface="Comic Sans MS"/>
              </a:rPr>
              <a:t>Mb/s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4927676" y="334115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3751465" y="4232783"/>
            <a:ext cx="2457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omic Sans MS"/>
                <a:cs typeface="Comic Sans MS"/>
              </a:rPr>
              <a:t>D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494665" y="4298670"/>
            <a:ext cx="2159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omic Sans MS"/>
                <a:cs typeface="Comic Sans MS"/>
              </a:rPr>
              <a:t>E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315855" y="1662049"/>
            <a:ext cx="279844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b="1" i="1" spc="-20" dirty="0">
                <a:solidFill>
                  <a:srgbClr val="FF0000"/>
                </a:solidFill>
                <a:latin typeface="Comic Sans MS"/>
                <a:cs typeface="Comic Sans MS"/>
              </a:rPr>
              <a:t>statistical</a:t>
            </a:r>
            <a:r>
              <a:rPr sz="2050" b="1" i="1" spc="-11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050" b="1" i="1" spc="-10" dirty="0">
                <a:solidFill>
                  <a:srgbClr val="FF0000"/>
                </a:solidFill>
                <a:latin typeface="Comic Sans MS"/>
                <a:cs typeface="Comic Sans MS"/>
              </a:rPr>
              <a:t>multiplexing</a:t>
            </a:r>
            <a:endParaRPr sz="2050">
              <a:latin typeface="Comic Sans MS"/>
              <a:cs typeface="Comic Sans MS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034616" y="3017418"/>
            <a:ext cx="195516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127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mic Sans MS"/>
                <a:cs typeface="Comic Sans MS"/>
              </a:rPr>
              <a:t>queue</a:t>
            </a:r>
            <a:r>
              <a:rPr sz="1800" spc="-5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of</a:t>
            </a:r>
            <a:r>
              <a:rPr sz="1800" spc="-50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packets </a:t>
            </a:r>
            <a:r>
              <a:rPr sz="1800" dirty="0">
                <a:latin typeface="Comic Sans MS"/>
                <a:cs typeface="Comic Sans MS"/>
              </a:rPr>
              <a:t>waiting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for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output </a:t>
            </a:r>
            <a:r>
              <a:rPr sz="1800" spc="-20" dirty="0">
                <a:latin typeface="Comic Sans MS"/>
                <a:cs typeface="Comic Sans MS"/>
              </a:rPr>
              <a:t>link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2886119" y="2505240"/>
            <a:ext cx="185420" cy="548005"/>
            <a:chOff x="2886119" y="2505240"/>
            <a:chExt cx="185420" cy="548005"/>
          </a:xfrm>
        </p:grpSpPr>
        <p:sp>
          <p:nvSpPr>
            <p:cNvPr id="59" name="object 59"/>
            <p:cNvSpPr/>
            <p:nvPr/>
          </p:nvSpPr>
          <p:spPr>
            <a:xfrm>
              <a:off x="2890799" y="2572562"/>
              <a:ext cx="146050" cy="475615"/>
            </a:xfrm>
            <a:custGeom>
              <a:avLst/>
              <a:gdLst/>
              <a:ahLst/>
              <a:cxnLst/>
              <a:rect l="l" t="t" r="r" b="b"/>
              <a:pathLst>
                <a:path w="146050" h="475614">
                  <a:moveTo>
                    <a:pt x="0" y="475551"/>
                  </a:moveTo>
                  <a:lnTo>
                    <a:pt x="145795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999155" y="2505240"/>
              <a:ext cx="72390" cy="83820"/>
            </a:xfrm>
            <a:custGeom>
              <a:avLst/>
              <a:gdLst/>
              <a:ahLst/>
              <a:cxnLst/>
              <a:rect l="l" t="t" r="r" b="b"/>
              <a:pathLst>
                <a:path w="72389" h="83819">
                  <a:moveTo>
                    <a:pt x="58318" y="0"/>
                  </a:moveTo>
                  <a:lnTo>
                    <a:pt x="0" y="61201"/>
                  </a:lnTo>
                  <a:lnTo>
                    <a:pt x="72364" y="83515"/>
                  </a:lnTo>
                  <a:lnTo>
                    <a:pt x="583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62" name="object 6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510A7-56BE-B122-5F12-09E37D627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64" y="481215"/>
            <a:ext cx="8627136" cy="492443"/>
          </a:xfrm>
        </p:spPr>
        <p:txBody>
          <a:bodyPr/>
          <a:lstStyle/>
          <a:p>
            <a:r>
              <a:rPr lang="en-US" sz="3200" dirty="0"/>
              <a:t>Packet</a:t>
            </a:r>
            <a:r>
              <a:rPr lang="en-US" sz="3200" spc="-135" dirty="0"/>
              <a:t> </a:t>
            </a:r>
            <a:r>
              <a:rPr lang="en-US" sz="3200" dirty="0"/>
              <a:t>Switching:</a:t>
            </a:r>
            <a:r>
              <a:rPr lang="en-US" sz="3200" spc="-130" dirty="0"/>
              <a:t> </a:t>
            </a:r>
            <a:r>
              <a:rPr lang="en-US" sz="3200" dirty="0"/>
              <a:t>Statistical</a:t>
            </a:r>
            <a:r>
              <a:rPr lang="en-US" sz="3200" spc="-130" dirty="0"/>
              <a:t> </a:t>
            </a:r>
            <a:r>
              <a:rPr lang="en-US" sz="3200" spc="-10" dirty="0"/>
              <a:t>Multiplexing</a:t>
            </a:r>
            <a:endParaRPr lang="en-US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F24AB-B889-036B-6D62-EAB86A5A0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0717" y="1981200"/>
            <a:ext cx="7542683" cy="3262753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In </a:t>
            </a:r>
            <a:r>
              <a:rPr lang="en-US" sz="2400" dirty="0">
                <a:solidFill>
                  <a:srgbClr val="EE0000"/>
                </a:solidFill>
              </a:rPr>
              <a:t>statistical multiplexing</a:t>
            </a:r>
            <a:r>
              <a:rPr lang="en-US" sz="2400" dirty="0"/>
              <a:t>, packets from sources A and B are sent based on demand.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The sequence of packets (A, B, A, A, B, etc.) does not follow a fixed pattern—this is what makes it </a:t>
            </a:r>
            <a:r>
              <a:rPr lang="en-US" sz="2400" i="1" dirty="0"/>
              <a:t>statistical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200743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98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Packet</a:t>
            </a:r>
            <a:r>
              <a:rPr sz="3200" spc="-95" dirty="0"/>
              <a:t> </a:t>
            </a:r>
            <a:r>
              <a:rPr sz="3200" dirty="0"/>
              <a:t>switching</a:t>
            </a:r>
            <a:r>
              <a:rPr sz="3200" spc="-95" dirty="0"/>
              <a:t> </a:t>
            </a:r>
            <a:r>
              <a:rPr sz="3200" dirty="0"/>
              <a:t>versus</a:t>
            </a:r>
            <a:r>
              <a:rPr sz="3200" spc="-95" dirty="0"/>
              <a:t> </a:t>
            </a:r>
            <a:r>
              <a:rPr sz="3200" dirty="0"/>
              <a:t>circuit</a:t>
            </a:r>
            <a:r>
              <a:rPr sz="3200" spc="-95" dirty="0"/>
              <a:t> </a:t>
            </a:r>
            <a:r>
              <a:rPr sz="3200" spc="-10" dirty="0"/>
              <a:t>switching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585419" y="3925836"/>
            <a:ext cx="3408045" cy="225552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97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circuit-switching:</a:t>
            </a:r>
            <a:endParaRPr sz="2400" dirty="0">
              <a:latin typeface="Comic Sans MS"/>
              <a:cs typeface="Comic Sans MS"/>
            </a:endParaRPr>
          </a:p>
          <a:p>
            <a:pPr marL="495300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25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10</a:t>
            </a:r>
            <a:r>
              <a:rPr sz="2000" spc="-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users</a:t>
            </a:r>
            <a:endParaRPr sz="2000" dirty="0">
              <a:latin typeface="Comic Sans MS"/>
              <a:cs typeface="Comic Sans MS"/>
            </a:endParaRPr>
          </a:p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sz="3075" spc="1147" baseline="1355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52" baseline="135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packet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switching:</a:t>
            </a:r>
            <a:endParaRPr sz="2400" dirty="0">
              <a:latin typeface="Comic Sans MS"/>
              <a:cs typeface="Comic Sans MS"/>
            </a:endParaRPr>
          </a:p>
          <a:p>
            <a:pPr marL="770890" marR="30480" indent="-276225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32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with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35</a:t>
            </a:r>
            <a:r>
              <a:rPr sz="2000" spc="-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users, </a:t>
            </a:r>
            <a:r>
              <a:rPr sz="2000" dirty="0">
                <a:latin typeface="Comic Sans MS"/>
                <a:cs typeface="Comic Sans MS"/>
              </a:rPr>
              <a:t>probability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&gt;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10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active </a:t>
            </a:r>
            <a:r>
              <a:rPr sz="2000" dirty="0">
                <a:latin typeface="Comic Sans MS"/>
                <a:cs typeface="Comic Sans MS"/>
              </a:rPr>
              <a:t>less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than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spc="-20" dirty="0">
                <a:latin typeface="Comic Sans MS"/>
                <a:cs typeface="Comic Sans MS"/>
              </a:rPr>
              <a:t>.0004</a:t>
            </a:r>
            <a:endParaRPr sz="2000" dirty="0">
              <a:latin typeface="Comic Sans MS"/>
              <a:cs typeface="Comic Sans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00885" y="2948044"/>
            <a:ext cx="314325" cy="314325"/>
            <a:chOff x="4700885" y="2948044"/>
            <a:chExt cx="314325" cy="314325"/>
          </a:xfrm>
        </p:grpSpPr>
        <p:sp>
          <p:nvSpPr>
            <p:cNvPr id="5" name="object 5"/>
            <p:cNvSpPr/>
            <p:nvPr/>
          </p:nvSpPr>
          <p:spPr>
            <a:xfrm>
              <a:off x="4705565" y="295272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558" y="0"/>
                  </a:moveTo>
                  <a:lnTo>
                    <a:pt x="0" y="0"/>
                  </a:lnTo>
                  <a:lnTo>
                    <a:pt x="0" y="304558"/>
                  </a:lnTo>
                  <a:lnTo>
                    <a:pt x="152273" y="304558"/>
                  </a:lnTo>
                  <a:lnTo>
                    <a:pt x="304558" y="304558"/>
                  </a:lnTo>
                  <a:lnTo>
                    <a:pt x="304558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05565" y="295272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273" y="304558"/>
                  </a:moveTo>
                  <a:lnTo>
                    <a:pt x="0" y="304558"/>
                  </a:lnTo>
                  <a:lnTo>
                    <a:pt x="0" y="0"/>
                  </a:lnTo>
                  <a:lnTo>
                    <a:pt x="304558" y="0"/>
                  </a:lnTo>
                  <a:lnTo>
                    <a:pt x="304558" y="304558"/>
                  </a:lnTo>
                  <a:lnTo>
                    <a:pt x="152273" y="304558"/>
                  </a:lnTo>
                  <a:close/>
                </a:path>
              </a:pathLst>
            </a:custGeom>
            <a:ln w="93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4624559" y="3024359"/>
            <a:ext cx="314325" cy="314325"/>
            <a:chOff x="4624559" y="3024359"/>
            <a:chExt cx="314325" cy="314325"/>
          </a:xfrm>
        </p:grpSpPr>
        <p:sp>
          <p:nvSpPr>
            <p:cNvPr id="8" name="object 8"/>
            <p:cNvSpPr/>
            <p:nvPr/>
          </p:nvSpPr>
          <p:spPr>
            <a:xfrm>
              <a:off x="4629239" y="302903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558" y="0"/>
                  </a:moveTo>
                  <a:lnTo>
                    <a:pt x="0" y="0"/>
                  </a:lnTo>
                  <a:lnTo>
                    <a:pt x="0" y="304558"/>
                  </a:lnTo>
                  <a:lnTo>
                    <a:pt x="152285" y="304558"/>
                  </a:lnTo>
                  <a:lnTo>
                    <a:pt x="304558" y="304558"/>
                  </a:lnTo>
                  <a:lnTo>
                    <a:pt x="304558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29239" y="302903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285" y="304558"/>
                  </a:moveTo>
                  <a:lnTo>
                    <a:pt x="0" y="304558"/>
                  </a:lnTo>
                  <a:lnTo>
                    <a:pt x="0" y="0"/>
                  </a:lnTo>
                  <a:lnTo>
                    <a:pt x="304558" y="0"/>
                  </a:lnTo>
                  <a:lnTo>
                    <a:pt x="304558" y="304558"/>
                  </a:lnTo>
                  <a:lnTo>
                    <a:pt x="152285" y="304558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624476" y="3319310"/>
            <a:ext cx="3186430" cy="1619250"/>
            <a:chOff x="4624476" y="3319310"/>
            <a:chExt cx="3186430" cy="1619250"/>
          </a:xfrm>
        </p:grpSpPr>
        <p:sp>
          <p:nvSpPr>
            <p:cNvPr id="11" name="object 11"/>
            <p:cNvSpPr/>
            <p:nvPr/>
          </p:nvSpPr>
          <p:spPr>
            <a:xfrm>
              <a:off x="4705565" y="455292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558" y="0"/>
                  </a:moveTo>
                  <a:lnTo>
                    <a:pt x="0" y="0"/>
                  </a:lnTo>
                  <a:lnTo>
                    <a:pt x="0" y="304558"/>
                  </a:lnTo>
                  <a:lnTo>
                    <a:pt x="152273" y="304558"/>
                  </a:lnTo>
                  <a:lnTo>
                    <a:pt x="304558" y="304558"/>
                  </a:lnTo>
                  <a:lnTo>
                    <a:pt x="304558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705565" y="455292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273" y="304558"/>
                  </a:moveTo>
                  <a:lnTo>
                    <a:pt x="0" y="304558"/>
                  </a:lnTo>
                  <a:lnTo>
                    <a:pt x="0" y="0"/>
                  </a:lnTo>
                  <a:lnTo>
                    <a:pt x="304558" y="0"/>
                  </a:lnTo>
                  <a:lnTo>
                    <a:pt x="304558" y="304558"/>
                  </a:lnTo>
                  <a:lnTo>
                    <a:pt x="152273" y="304558"/>
                  </a:lnTo>
                  <a:close/>
                </a:path>
              </a:pathLst>
            </a:custGeom>
            <a:ln w="935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29238" y="462923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558" y="0"/>
                  </a:moveTo>
                  <a:lnTo>
                    <a:pt x="0" y="0"/>
                  </a:lnTo>
                  <a:lnTo>
                    <a:pt x="0" y="304558"/>
                  </a:lnTo>
                  <a:lnTo>
                    <a:pt x="152285" y="304558"/>
                  </a:lnTo>
                  <a:lnTo>
                    <a:pt x="304558" y="304558"/>
                  </a:lnTo>
                  <a:lnTo>
                    <a:pt x="304558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629238" y="462923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285" y="304558"/>
                  </a:moveTo>
                  <a:lnTo>
                    <a:pt x="0" y="304558"/>
                  </a:lnTo>
                  <a:lnTo>
                    <a:pt x="0" y="0"/>
                  </a:lnTo>
                  <a:lnTo>
                    <a:pt x="304558" y="0"/>
                  </a:lnTo>
                  <a:lnTo>
                    <a:pt x="304558" y="304558"/>
                  </a:lnTo>
                  <a:lnTo>
                    <a:pt x="152285" y="304558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33797" y="3333597"/>
              <a:ext cx="838835" cy="457200"/>
            </a:xfrm>
            <a:custGeom>
              <a:avLst/>
              <a:gdLst/>
              <a:ahLst/>
              <a:cxnLst/>
              <a:rect l="l" t="t" r="r" b="b"/>
              <a:pathLst>
                <a:path w="838835" h="457200">
                  <a:moveTo>
                    <a:pt x="0" y="0"/>
                  </a:moveTo>
                  <a:lnTo>
                    <a:pt x="838441" y="457200"/>
                  </a:lnTo>
                </a:path>
              </a:pathLst>
            </a:custGeom>
            <a:ln w="2843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772238" y="3790797"/>
              <a:ext cx="1958975" cy="1905"/>
            </a:xfrm>
            <a:custGeom>
              <a:avLst/>
              <a:gdLst/>
              <a:ahLst/>
              <a:cxnLst/>
              <a:rect l="l" t="t" r="r" b="b"/>
              <a:pathLst>
                <a:path w="1958975" h="1904">
                  <a:moveTo>
                    <a:pt x="0" y="0"/>
                  </a:moveTo>
                  <a:lnTo>
                    <a:pt x="1958759" y="1803"/>
                  </a:lnTo>
                </a:path>
              </a:pathLst>
            </a:custGeom>
            <a:ln w="2843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725244" y="3749763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318"/>
                  </a:lnTo>
                  <a:lnTo>
                    <a:pt x="85318" y="428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772238" y="3943438"/>
              <a:ext cx="1958975" cy="1905"/>
            </a:xfrm>
            <a:custGeom>
              <a:avLst/>
              <a:gdLst/>
              <a:ahLst/>
              <a:cxnLst/>
              <a:rect l="l" t="t" r="r" b="b"/>
              <a:pathLst>
                <a:path w="1958975" h="1904">
                  <a:moveTo>
                    <a:pt x="0" y="0"/>
                  </a:moveTo>
                  <a:lnTo>
                    <a:pt x="1958759" y="1435"/>
                  </a:lnTo>
                </a:path>
              </a:pathLst>
            </a:custGeom>
            <a:ln w="2843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25244" y="3902036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318"/>
                  </a:lnTo>
                  <a:lnTo>
                    <a:pt x="85318" y="428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010124" y="3933355"/>
              <a:ext cx="762635" cy="629285"/>
            </a:xfrm>
            <a:custGeom>
              <a:avLst/>
              <a:gdLst/>
              <a:ahLst/>
              <a:cxnLst/>
              <a:rect l="l" t="t" r="r" b="b"/>
              <a:pathLst>
                <a:path w="762635" h="629285">
                  <a:moveTo>
                    <a:pt x="0" y="628929"/>
                  </a:moveTo>
                  <a:lnTo>
                    <a:pt x="762114" y="0"/>
                  </a:lnTo>
                </a:path>
              </a:pathLst>
            </a:custGeom>
            <a:ln w="2843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72719" y="1422260"/>
            <a:ext cx="7392670" cy="2630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mic Sans MS"/>
                <a:cs typeface="Comic Sans MS"/>
              </a:rPr>
              <a:t>Packet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switching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allows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more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users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to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use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network!</a:t>
            </a:r>
            <a:endParaRPr sz="2400" dirty="0">
              <a:latin typeface="Comic Sans MS"/>
              <a:cs typeface="Comic Sans MS"/>
            </a:endParaRPr>
          </a:p>
          <a:p>
            <a:pPr marL="50800">
              <a:lnSpc>
                <a:spcPct val="100000"/>
              </a:lnSpc>
              <a:spcBef>
                <a:spcPts val="177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75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1</a:t>
            </a:r>
            <a:r>
              <a:rPr sz="2400" spc="-1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Mb/s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spc="-20" dirty="0">
                <a:latin typeface="Comic Sans MS"/>
                <a:cs typeface="Comic Sans MS"/>
              </a:rPr>
              <a:t>link</a:t>
            </a:r>
            <a:endParaRPr sz="2400" dirty="0">
              <a:latin typeface="Comic Sans MS"/>
              <a:cs typeface="Comic Sans MS"/>
            </a:endParaRPr>
          </a:p>
          <a:p>
            <a:pPr marL="50800">
              <a:lnSpc>
                <a:spcPct val="100000"/>
              </a:lnSpc>
              <a:spcBef>
                <a:spcPts val="6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67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each</a:t>
            </a:r>
            <a:r>
              <a:rPr sz="2400" spc="-15" dirty="0">
                <a:latin typeface="Comic Sans MS"/>
                <a:cs typeface="Comic Sans MS"/>
              </a:rPr>
              <a:t> </a:t>
            </a:r>
            <a:r>
              <a:rPr sz="2400" spc="-20" dirty="0">
                <a:latin typeface="Comic Sans MS"/>
                <a:cs typeface="Comic Sans MS"/>
              </a:rPr>
              <a:t>user:</a:t>
            </a:r>
            <a:endParaRPr sz="2400" dirty="0">
              <a:latin typeface="Comic Sans MS"/>
              <a:cs typeface="Comic Sans MS"/>
            </a:endParaRPr>
          </a:p>
          <a:p>
            <a:pPr marL="508000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494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100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kb/s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when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“active”</a:t>
            </a:r>
            <a:endParaRPr sz="2000" dirty="0">
              <a:latin typeface="Comic Sans MS"/>
              <a:cs typeface="Comic Sans MS"/>
            </a:endParaRPr>
          </a:p>
          <a:p>
            <a:pPr marL="508000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25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active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10%</a:t>
            </a:r>
            <a:r>
              <a:rPr sz="2000" spc="-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of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spc="-20" dirty="0">
                <a:latin typeface="Comic Sans MS"/>
                <a:cs typeface="Comic Sans MS"/>
              </a:rPr>
              <a:t>time</a:t>
            </a:r>
            <a:endParaRPr sz="2000" dirty="0">
              <a:latin typeface="Comic Sans MS"/>
              <a:cs typeface="Comic Sans MS"/>
            </a:endParaRPr>
          </a:p>
          <a:p>
            <a:pPr marL="3413760">
              <a:lnSpc>
                <a:spcPct val="100000"/>
              </a:lnSpc>
              <a:spcBef>
                <a:spcPts val="819"/>
              </a:spcBef>
            </a:pP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N</a:t>
            </a:r>
            <a:r>
              <a:rPr sz="2400" spc="-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3333CC"/>
                </a:solidFill>
                <a:latin typeface="Comic Sans MS"/>
                <a:cs typeface="Comic Sans MS"/>
              </a:rPr>
              <a:t>users</a:t>
            </a:r>
            <a:endParaRPr sz="2400" dirty="0">
              <a:latin typeface="Comic Sans MS"/>
              <a:cs typeface="Comic Sans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174344" y="4108221"/>
            <a:ext cx="15995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mic Sans MS"/>
                <a:cs typeface="Comic Sans MS"/>
              </a:rPr>
              <a:t>1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Mbps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spc="-20" dirty="0">
                <a:latin typeface="Comic Sans MS"/>
                <a:cs typeface="Comic Sans MS"/>
              </a:rPr>
              <a:t>link</a:t>
            </a:r>
            <a:endParaRPr sz="2400">
              <a:latin typeface="Comic Sans MS"/>
              <a:cs typeface="Comic Sans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864402" y="3499915"/>
            <a:ext cx="2941955" cy="486409"/>
            <a:chOff x="5864402" y="3499915"/>
            <a:chExt cx="2941955" cy="486409"/>
          </a:xfrm>
        </p:grpSpPr>
        <p:sp>
          <p:nvSpPr>
            <p:cNvPr id="24" name="object 24"/>
            <p:cNvSpPr/>
            <p:nvPr/>
          </p:nvSpPr>
          <p:spPr>
            <a:xfrm>
              <a:off x="5864403" y="3732123"/>
              <a:ext cx="1188720" cy="254635"/>
            </a:xfrm>
            <a:custGeom>
              <a:avLst/>
              <a:gdLst/>
              <a:ahLst/>
              <a:cxnLst/>
              <a:rect l="l" t="t" r="r" b="b"/>
              <a:pathLst>
                <a:path w="1188720" h="254635">
                  <a:moveTo>
                    <a:pt x="1188720" y="0"/>
                  </a:moveTo>
                  <a:lnTo>
                    <a:pt x="0" y="0"/>
                  </a:lnTo>
                  <a:lnTo>
                    <a:pt x="0" y="254152"/>
                  </a:lnTo>
                  <a:lnTo>
                    <a:pt x="594360" y="254152"/>
                  </a:lnTo>
                  <a:lnTo>
                    <a:pt x="1188720" y="254152"/>
                  </a:lnTo>
                  <a:lnTo>
                    <a:pt x="1188720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73394" y="350315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647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15219" y="3614576"/>
              <a:ext cx="501658" cy="13824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077240" y="3857764"/>
              <a:ext cx="1714500" cy="1905"/>
            </a:xfrm>
            <a:custGeom>
              <a:avLst/>
              <a:gdLst/>
              <a:ahLst/>
              <a:cxnLst/>
              <a:rect l="l" t="t" r="r" b="b"/>
              <a:pathLst>
                <a:path w="1714500" h="1904">
                  <a:moveTo>
                    <a:pt x="0" y="0"/>
                  </a:moveTo>
                  <a:lnTo>
                    <a:pt x="1714322" y="1435"/>
                  </a:lnTo>
                </a:path>
              </a:pathLst>
            </a:custGeom>
            <a:ln w="284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98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Packet</a:t>
            </a:r>
            <a:r>
              <a:rPr sz="3200" spc="-95" dirty="0"/>
              <a:t> </a:t>
            </a:r>
            <a:r>
              <a:rPr sz="3200" dirty="0"/>
              <a:t>switching</a:t>
            </a:r>
            <a:r>
              <a:rPr sz="3200" spc="-95" dirty="0"/>
              <a:t> </a:t>
            </a:r>
            <a:r>
              <a:rPr sz="3200" dirty="0"/>
              <a:t>versus</a:t>
            </a:r>
            <a:r>
              <a:rPr sz="3200" spc="-95" dirty="0"/>
              <a:t> </a:t>
            </a:r>
            <a:r>
              <a:rPr sz="3200" dirty="0"/>
              <a:t>circuit</a:t>
            </a:r>
            <a:r>
              <a:rPr sz="3200" spc="-95" dirty="0"/>
              <a:t> </a:t>
            </a:r>
            <a:r>
              <a:rPr sz="3200" spc="-10" dirty="0"/>
              <a:t>switching</a:t>
            </a:r>
            <a:endParaRPr sz="320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6675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</a:rPr>
              <a:t>Is</a:t>
            </a:r>
            <a:r>
              <a:rPr sz="2400" spc="-40" dirty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</a:rPr>
              <a:t>packet</a:t>
            </a:r>
            <a:r>
              <a:rPr sz="2400" spc="-50" dirty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</a:rPr>
              <a:t>switching</a:t>
            </a:r>
            <a:r>
              <a:rPr sz="2400" spc="-40" dirty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</a:rPr>
              <a:t>a</a:t>
            </a:r>
            <a:r>
              <a:rPr sz="2400" spc="-40" dirty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</a:rPr>
              <a:t>“slam</a:t>
            </a:r>
            <a:r>
              <a:rPr sz="2400" spc="-45" dirty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</a:rPr>
              <a:t>dunk</a:t>
            </a:r>
            <a:r>
              <a:rPr sz="2400" spc="-35" dirty="0">
                <a:solidFill>
                  <a:srgbClr val="FF0000"/>
                </a:solidFill>
              </a:rPr>
              <a:t> </a:t>
            </a:r>
            <a:r>
              <a:rPr sz="2400" spc="-10" dirty="0">
                <a:solidFill>
                  <a:srgbClr val="FF0000"/>
                </a:solidFill>
              </a:rPr>
              <a:t>winner?”</a:t>
            </a:r>
            <a:endParaRPr sz="2400" dirty="0"/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45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/>
              <a:t>Great</a:t>
            </a:r>
            <a:r>
              <a:rPr sz="2400" spc="-35" dirty="0"/>
              <a:t> </a:t>
            </a:r>
            <a:r>
              <a:rPr sz="2400" dirty="0"/>
              <a:t>for</a:t>
            </a:r>
            <a:r>
              <a:rPr sz="2400" spc="-35" dirty="0"/>
              <a:t> </a:t>
            </a:r>
            <a:r>
              <a:rPr sz="2400" dirty="0"/>
              <a:t>bursty</a:t>
            </a:r>
            <a:r>
              <a:rPr sz="2400" spc="-35" dirty="0"/>
              <a:t> </a:t>
            </a:r>
            <a:r>
              <a:rPr sz="2400" spc="-20" dirty="0"/>
              <a:t>data</a:t>
            </a:r>
            <a:endParaRPr sz="24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2700" spc="1005" baseline="16975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700" spc="-30" baseline="169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/>
              <a:t>resource</a:t>
            </a:r>
            <a:r>
              <a:rPr sz="2400" spc="-30" dirty="0"/>
              <a:t> </a:t>
            </a:r>
            <a:r>
              <a:rPr sz="2400" spc="-10" dirty="0"/>
              <a:t>sharing</a:t>
            </a:r>
            <a:endParaRPr sz="24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2700" spc="1005" baseline="16975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700" spc="-22" baseline="169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/>
              <a:t>simpler,</a:t>
            </a:r>
            <a:r>
              <a:rPr sz="2400" spc="-30" dirty="0"/>
              <a:t> </a:t>
            </a:r>
            <a:r>
              <a:rPr sz="2400" dirty="0"/>
              <a:t>no</a:t>
            </a:r>
            <a:r>
              <a:rPr sz="2400" spc="-35" dirty="0"/>
              <a:t> </a:t>
            </a:r>
            <a:r>
              <a:rPr sz="2400" dirty="0"/>
              <a:t>call</a:t>
            </a:r>
            <a:r>
              <a:rPr sz="2400" spc="-25" dirty="0"/>
              <a:t> </a:t>
            </a:r>
            <a:r>
              <a:rPr sz="2400" spc="-20" dirty="0"/>
              <a:t>setup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15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</a:rPr>
              <a:t>Excessive</a:t>
            </a:r>
            <a:r>
              <a:rPr sz="2400" spc="-45" dirty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</a:rPr>
              <a:t>congestion:</a:t>
            </a:r>
            <a:r>
              <a:rPr sz="2400" spc="-30" dirty="0">
                <a:solidFill>
                  <a:srgbClr val="FF0000"/>
                </a:solidFill>
              </a:rPr>
              <a:t> </a:t>
            </a:r>
            <a:r>
              <a:rPr sz="2400" dirty="0"/>
              <a:t>packet</a:t>
            </a:r>
            <a:r>
              <a:rPr sz="2400" spc="-50" dirty="0"/>
              <a:t> </a:t>
            </a:r>
            <a:r>
              <a:rPr sz="2400" dirty="0"/>
              <a:t>delay</a:t>
            </a:r>
            <a:r>
              <a:rPr sz="2400" spc="-50" dirty="0"/>
              <a:t> </a:t>
            </a:r>
            <a:r>
              <a:rPr sz="2400" dirty="0"/>
              <a:t>and</a:t>
            </a:r>
            <a:r>
              <a:rPr sz="2400" spc="-55" dirty="0"/>
              <a:t> </a:t>
            </a:r>
            <a:r>
              <a:rPr sz="2400" spc="-20" dirty="0"/>
              <a:t>loss</a:t>
            </a:r>
            <a:endParaRPr sz="2400" dirty="0">
              <a:latin typeface="Times New Roman"/>
              <a:cs typeface="Times New Roman"/>
            </a:endParaRPr>
          </a:p>
          <a:p>
            <a:pPr marL="745490" marR="17780" indent="-276225">
              <a:lnSpc>
                <a:spcPct val="100000"/>
              </a:lnSpc>
              <a:spcBef>
                <a:spcPts val="600"/>
              </a:spcBef>
            </a:pPr>
            <a:r>
              <a:rPr sz="2700" spc="1005" baseline="16975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700" spc="-30" baseline="169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/>
              <a:t>protocols</a:t>
            </a:r>
            <a:r>
              <a:rPr sz="2400" spc="-45" dirty="0"/>
              <a:t> </a:t>
            </a:r>
            <a:r>
              <a:rPr sz="2400" dirty="0"/>
              <a:t>needed</a:t>
            </a:r>
            <a:r>
              <a:rPr sz="2400" spc="-50" dirty="0"/>
              <a:t> </a:t>
            </a:r>
            <a:r>
              <a:rPr sz="2400" dirty="0"/>
              <a:t>for</a:t>
            </a:r>
            <a:r>
              <a:rPr sz="2400" spc="-40" dirty="0"/>
              <a:t> </a:t>
            </a:r>
            <a:r>
              <a:rPr sz="2400" dirty="0"/>
              <a:t>reliable</a:t>
            </a:r>
            <a:r>
              <a:rPr sz="2400" spc="-35" dirty="0"/>
              <a:t> </a:t>
            </a:r>
            <a:r>
              <a:rPr sz="2400" dirty="0"/>
              <a:t>data</a:t>
            </a:r>
            <a:r>
              <a:rPr sz="2400" spc="-40" dirty="0"/>
              <a:t> </a:t>
            </a:r>
            <a:r>
              <a:rPr sz="2400" spc="-10" dirty="0"/>
              <a:t>transfer, </a:t>
            </a:r>
            <a:r>
              <a:rPr sz="2400" dirty="0"/>
              <a:t>congestion</a:t>
            </a:r>
            <a:r>
              <a:rPr sz="2400" spc="-110" dirty="0"/>
              <a:t> </a:t>
            </a:r>
            <a:r>
              <a:rPr sz="2400" spc="-10" dirty="0"/>
              <a:t>control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15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/>
              <a:t>Circuit</a:t>
            </a:r>
            <a:r>
              <a:rPr sz="2400" spc="-55" dirty="0"/>
              <a:t> </a:t>
            </a:r>
            <a:r>
              <a:rPr sz="2400" dirty="0"/>
              <a:t>Switching</a:t>
            </a:r>
            <a:r>
              <a:rPr sz="2400" spc="-50" dirty="0"/>
              <a:t> </a:t>
            </a:r>
            <a:r>
              <a:rPr sz="2400" dirty="0"/>
              <a:t>=</a:t>
            </a:r>
            <a:r>
              <a:rPr sz="2400" spc="-55" dirty="0"/>
              <a:t> </a:t>
            </a:r>
            <a:r>
              <a:rPr sz="2400" dirty="0"/>
              <a:t>Guaranteed</a:t>
            </a:r>
            <a:r>
              <a:rPr sz="2400" spc="-60" dirty="0"/>
              <a:t> </a:t>
            </a:r>
            <a:r>
              <a:rPr sz="2400" spc="-10" dirty="0"/>
              <a:t>behavior</a:t>
            </a:r>
            <a:endParaRPr sz="24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32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/>
              <a:t>good</a:t>
            </a:r>
            <a:r>
              <a:rPr sz="2000" spc="-5" dirty="0"/>
              <a:t> </a:t>
            </a:r>
            <a:r>
              <a:rPr sz="2000" dirty="0"/>
              <a:t>for</a:t>
            </a:r>
            <a:r>
              <a:rPr sz="2000" spc="-10" dirty="0"/>
              <a:t> </a:t>
            </a:r>
            <a:r>
              <a:rPr sz="2000" dirty="0"/>
              <a:t>which</a:t>
            </a:r>
            <a:r>
              <a:rPr sz="2000" spc="-15" dirty="0"/>
              <a:t> </a:t>
            </a:r>
            <a:r>
              <a:rPr sz="2000" spc="-10" dirty="0"/>
              <a:t>apps?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00"/>
              </a:spcBef>
            </a:pPr>
            <a:r>
              <a:rPr sz="3600" spc="-25" dirty="0"/>
              <a:t>Packet-</a:t>
            </a:r>
            <a:r>
              <a:rPr sz="3600" dirty="0"/>
              <a:t>switching:</a:t>
            </a:r>
            <a:r>
              <a:rPr sz="3600" spc="-75" dirty="0"/>
              <a:t> </a:t>
            </a:r>
            <a:r>
              <a:rPr sz="3600" spc="-20" dirty="0"/>
              <a:t>store-</a:t>
            </a:r>
            <a:r>
              <a:rPr sz="3600" spc="-10" dirty="0"/>
              <a:t>and-forward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492899" y="3888625"/>
            <a:ext cx="3729354" cy="229679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71475" marR="30480" indent="-334010">
              <a:lnSpc>
                <a:spcPts val="2880"/>
              </a:lnSpc>
              <a:spcBef>
                <a:spcPts val="195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59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Entire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packet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spc="-20" dirty="0">
                <a:latin typeface="Comic Sans MS"/>
                <a:cs typeface="Comic Sans MS"/>
              </a:rPr>
              <a:t>must </a:t>
            </a:r>
            <a:r>
              <a:rPr sz="2400" dirty="0">
                <a:latin typeface="Comic Sans MS"/>
                <a:cs typeface="Comic Sans MS"/>
              </a:rPr>
              <a:t>arrive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at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router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before </a:t>
            </a:r>
            <a:r>
              <a:rPr sz="2400" dirty="0">
                <a:latin typeface="Comic Sans MS"/>
                <a:cs typeface="Comic Sans MS"/>
              </a:rPr>
              <a:t>it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can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be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transmitted </a:t>
            </a:r>
            <a:r>
              <a:rPr sz="2400" dirty="0">
                <a:latin typeface="Comic Sans MS"/>
                <a:cs typeface="Comic Sans MS"/>
              </a:rPr>
              <a:t>on</a:t>
            </a:r>
            <a:r>
              <a:rPr sz="2400" spc="-6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next</a:t>
            </a:r>
            <a:r>
              <a:rPr sz="2400" spc="-6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link: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50" i="1" dirty="0">
                <a:solidFill>
                  <a:srgbClr val="FF0000"/>
                </a:solidFill>
                <a:latin typeface="Comic Sans MS"/>
                <a:cs typeface="Comic Sans MS"/>
              </a:rPr>
              <a:t>store</a:t>
            </a:r>
            <a:r>
              <a:rPr sz="2450" i="1" spc="-7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50" i="1" spc="-25" dirty="0">
                <a:solidFill>
                  <a:srgbClr val="FF0000"/>
                </a:solidFill>
                <a:latin typeface="Comic Sans MS"/>
                <a:cs typeface="Comic Sans MS"/>
              </a:rPr>
              <a:t>and </a:t>
            </a:r>
            <a:r>
              <a:rPr sz="2450" i="1" spc="-10" dirty="0">
                <a:solidFill>
                  <a:srgbClr val="FF0000"/>
                </a:solidFill>
                <a:latin typeface="Comic Sans MS"/>
                <a:cs typeface="Comic Sans MS"/>
              </a:rPr>
              <a:t>forward</a:t>
            </a:r>
            <a:endParaRPr sz="2450" dirty="0">
              <a:latin typeface="Comic Sans MS"/>
              <a:cs typeface="Comic Sans MS"/>
            </a:endParaRPr>
          </a:p>
          <a:p>
            <a:pPr marL="38100">
              <a:lnSpc>
                <a:spcPct val="100000"/>
              </a:lnSpc>
              <a:spcBef>
                <a:spcPts val="505"/>
              </a:spcBef>
            </a:pPr>
            <a:r>
              <a:rPr sz="3075" spc="1147" baseline="1355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75" baseline="135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delay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=</a:t>
            </a:r>
            <a:r>
              <a:rPr sz="2400" spc="-20" dirty="0">
                <a:latin typeface="Comic Sans MS"/>
                <a:cs typeface="Comic Sans MS"/>
              </a:rPr>
              <a:t> 3L/R</a:t>
            </a:r>
            <a:endParaRPr sz="2400" dirty="0">
              <a:latin typeface="Comic Sans MS"/>
              <a:cs typeface="Comic Sans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44801" y="1387436"/>
            <a:ext cx="4253865" cy="572135"/>
            <a:chOff x="2044801" y="1387436"/>
            <a:chExt cx="4253865" cy="572135"/>
          </a:xfrm>
        </p:grpSpPr>
        <p:sp>
          <p:nvSpPr>
            <p:cNvPr id="5" name="object 5"/>
            <p:cNvSpPr/>
            <p:nvPr/>
          </p:nvSpPr>
          <p:spPr>
            <a:xfrm>
              <a:off x="2643123" y="1744560"/>
              <a:ext cx="3096260" cy="8255"/>
            </a:xfrm>
            <a:custGeom>
              <a:avLst/>
              <a:gdLst/>
              <a:ahLst/>
              <a:cxnLst/>
              <a:rect l="l" t="t" r="r" b="b"/>
              <a:pathLst>
                <a:path w="3096260" h="8255">
                  <a:moveTo>
                    <a:pt x="0" y="0"/>
                  </a:moveTo>
                  <a:lnTo>
                    <a:pt x="3095637" y="7924"/>
                  </a:lnTo>
                </a:path>
              </a:pathLst>
            </a:custGeom>
            <a:ln w="19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44801" y="1387436"/>
              <a:ext cx="922318" cy="52884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62434" y="1430274"/>
              <a:ext cx="636130" cy="52884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411004" y="170351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411004" y="1690560"/>
              <a:ext cx="554990" cy="87630"/>
            </a:xfrm>
            <a:custGeom>
              <a:avLst/>
              <a:gdLst/>
              <a:ahLst/>
              <a:cxnLst/>
              <a:rect l="l" t="t" r="r" b="b"/>
              <a:pathLst>
                <a:path w="554989" h="87630">
                  <a:moveTo>
                    <a:pt x="0" y="12953"/>
                  </a:moveTo>
                  <a:lnTo>
                    <a:pt x="0" y="12953"/>
                  </a:lnTo>
                  <a:lnTo>
                    <a:pt x="0" y="12953"/>
                  </a:lnTo>
                  <a:close/>
                </a:path>
                <a:path w="554989" h="87630">
                  <a:moveTo>
                    <a:pt x="0" y="0"/>
                  </a:moveTo>
                  <a:lnTo>
                    <a:pt x="0" y="87477"/>
                  </a:lnTo>
                </a:path>
                <a:path w="554989" h="87630">
                  <a:moveTo>
                    <a:pt x="554393" y="0"/>
                  </a:moveTo>
                  <a:lnTo>
                    <a:pt x="554393" y="87477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410635" y="1690560"/>
              <a:ext cx="539750" cy="85725"/>
            </a:xfrm>
            <a:custGeom>
              <a:avLst/>
              <a:gdLst/>
              <a:ahLst/>
              <a:cxnLst/>
              <a:rect l="l" t="t" r="r" b="b"/>
              <a:pathLst>
                <a:path w="539750" h="85725">
                  <a:moveTo>
                    <a:pt x="539648" y="0"/>
                  </a:moveTo>
                  <a:lnTo>
                    <a:pt x="0" y="0"/>
                  </a:lnTo>
                  <a:lnTo>
                    <a:pt x="0" y="85674"/>
                  </a:lnTo>
                  <a:lnTo>
                    <a:pt x="270002" y="85674"/>
                  </a:lnTo>
                  <a:lnTo>
                    <a:pt x="539648" y="85674"/>
                  </a:lnTo>
                  <a:lnTo>
                    <a:pt x="53964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06686" y="157608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28534" y="1601817"/>
              <a:ext cx="274506" cy="12708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536363" y="170172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36363" y="1689125"/>
              <a:ext cx="554990" cy="87630"/>
            </a:xfrm>
            <a:custGeom>
              <a:avLst/>
              <a:gdLst/>
              <a:ahLst/>
              <a:cxnLst/>
              <a:rect l="l" t="t" r="r" b="b"/>
              <a:pathLst>
                <a:path w="554989" h="87630">
                  <a:moveTo>
                    <a:pt x="0" y="12598"/>
                  </a:moveTo>
                  <a:lnTo>
                    <a:pt x="0" y="12598"/>
                  </a:lnTo>
                  <a:lnTo>
                    <a:pt x="0" y="12598"/>
                  </a:lnTo>
                  <a:close/>
                </a:path>
                <a:path w="554989" h="87630">
                  <a:moveTo>
                    <a:pt x="355" y="0"/>
                  </a:moveTo>
                  <a:lnTo>
                    <a:pt x="355" y="87109"/>
                  </a:lnTo>
                </a:path>
                <a:path w="554989" h="87630">
                  <a:moveTo>
                    <a:pt x="554761" y="0"/>
                  </a:moveTo>
                  <a:lnTo>
                    <a:pt x="554761" y="87109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36719" y="1689125"/>
              <a:ext cx="540385" cy="85725"/>
            </a:xfrm>
            <a:custGeom>
              <a:avLst/>
              <a:gdLst/>
              <a:ahLst/>
              <a:cxnLst/>
              <a:rect l="l" t="t" r="r" b="b"/>
              <a:pathLst>
                <a:path w="540385" h="85725">
                  <a:moveTo>
                    <a:pt x="540004" y="0"/>
                  </a:moveTo>
                  <a:lnTo>
                    <a:pt x="0" y="0"/>
                  </a:lnTo>
                  <a:lnTo>
                    <a:pt x="0" y="85674"/>
                  </a:lnTo>
                  <a:lnTo>
                    <a:pt x="270002" y="85674"/>
                  </a:lnTo>
                  <a:lnTo>
                    <a:pt x="540004" y="85674"/>
                  </a:lnTo>
                  <a:lnTo>
                    <a:pt x="54000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32045" y="157463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54262" y="1600026"/>
              <a:ext cx="275217" cy="127067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492899" y="1753819"/>
            <a:ext cx="3480435" cy="2084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862330" algn="r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Comic Sans MS"/>
                <a:cs typeface="Comic Sans MS"/>
              </a:rPr>
              <a:t>R</a:t>
            </a:r>
            <a:endParaRPr sz="2000" dirty="0">
              <a:latin typeface="Comic Sans MS"/>
              <a:cs typeface="Comic Sans MS"/>
            </a:endParaRPr>
          </a:p>
          <a:p>
            <a:pPr marL="371475" marR="30480" indent="-334010">
              <a:lnSpc>
                <a:spcPct val="100000"/>
              </a:lnSpc>
              <a:spcBef>
                <a:spcPts val="229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45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Takes</a:t>
            </a:r>
            <a:r>
              <a:rPr sz="2400" spc="-4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L/R</a:t>
            </a:r>
            <a:r>
              <a:rPr sz="2400" spc="-4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seconds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spc="-25" dirty="0">
                <a:latin typeface="Comic Sans MS"/>
                <a:cs typeface="Comic Sans MS"/>
              </a:rPr>
              <a:t>to </a:t>
            </a:r>
            <a:r>
              <a:rPr sz="2400" dirty="0">
                <a:latin typeface="Comic Sans MS"/>
                <a:cs typeface="Comic Sans MS"/>
              </a:rPr>
              <a:t>transmit</a:t>
            </a:r>
            <a:r>
              <a:rPr sz="2400" spc="-6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(push</a:t>
            </a:r>
            <a:r>
              <a:rPr sz="2400" spc="-55" dirty="0">
                <a:latin typeface="Comic Sans MS"/>
                <a:cs typeface="Comic Sans MS"/>
              </a:rPr>
              <a:t> </a:t>
            </a:r>
            <a:r>
              <a:rPr sz="2400" spc="-20" dirty="0">
                <a:latin typeface="Comic Sans MS"/>
                <a:cs typeface="Comic Sans MS"/>
              </a:rPr>
              <a:t>out) </a:t>
            </a:r>
            <a:r>
              <a:rPr sz="2400" dirty="0">
                <a:latin typeface="Comic Sans MS"/>
                <a:cs typeface="Comic Sans MS"/>
              </a:rPr>
              <a:t>packet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of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L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bits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on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spc="-25" dirty="0">
                <a:latin typeface="Comic Sans MS"/>
                <a:cs typeface="Comic Sans MS"/>
              </a:rPr>
              <a:t>to </a:t>
            </a:r>
            <a:r>
              <a:rPr sz="2400" dirty="0">
                <a:latin typeface="Comic Sans MS"/>
                <a:cs typeface="Comic Sans MS"/>
              </a:rPr>
              <a:t>link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or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R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spc="-25" dirty="0">
                <a:latin typeface="Comic Sans MS"/>
                <a:cs typeface="Comic Sans MS"/>
              </a:rPr>
              <a:t>bps</a:t>
            </a:r>
            <a:endParaRPr sz="2400" dirty="0">
              <a:latin typeface="Comic Sans MS"/>
              <a:cs typeface="Comic Sans MS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19" name="object 19"/>
          <p:cNvSpPr txBox="1"/>
          <p:nvPr/>
        </p:nvSpPr>
        <p:spPr>
          <a:xfrm>
            <a:off x="4103535" y="1737258"/>
            <a:ext cx="1854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Comic Sans MS"/>
                <a:cs typeface="Comic Sans MS"/>
              </a:rPr>
              <a:t>R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47946" y="1743379"/>
            <a:ext cx="2376170" cy="2323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6125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Comic Sans MS"/>
                <a:cs typeface="Comic Sans MS"/>
              </a:rPr>
              <a:t>R</a:t>
            </a:r>
            <a:endParaRPr sz="2000" dirty="0">
              <a:latin typeface="Comic Sans MS"/>
              <a:cs typeface="Comic Sans MS"/>
            </a:endParaRPr>
          </a:p>
          <a:p>
            <a:pPr marL="46990">
              <a:lnSpc>
                <a:spcPct val="100000"/>
              </a:lnSpc>
              <a:spcBef>
                <a:spcPts val="2370"/>
              </a:spcBef>
            </a:pPr>
            <a:r>
              <a:rPr sz="24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Example:</a:t>
            </a:r>
            <a:endParaRPr sz="2400" dirty="0">
              <a:latin typeface="Comic Sans MS"/>
              <a:cs typeface="Comic Sans MS"/>
            </a:endParaRPr>
          </a:p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75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L</a:t>
            </a:r>
            <a:r>
              <a:rPr sz="2400" spc="-1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=</a:t>
            </a:r>
            <a:r>
              <a:rPr sz="2400" spc="-1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7.5</a:t>
            </a:r>
            <a:r>
              <a:rPr sz="2400" spc="-15" dirty="0">
                <a:latin typeface="Comic Sans MS"/>
                <a:cs typeface="Comic Sans MS"/>
              </a:rPr>
              <a:t> </a:t>
            </a:r>
            <a:r>
              <a:rPr sz="2400" spc="-20" dirty="0">
                <a:latin typeface="Comic Sans MS"/>
                <a:cs typeface="Comic Sans MS"/>
              </a:rPr>
              <a:t>Mbits</a:t>
            </a:r>
            <a:endParaRPr sz="2400" dirty="0">
              <a:latin typeface="Comic Sans MS"/>
              <a:cs typeface="Comic Sans MS"/>
            </a:endParaRPr>
          </a:p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sz="3075" spc="1147" baseline="1355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82" baseline="135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R</a:t>
            </a:r>
            <a:r>
              <a:rPr sz="2400" spc="-1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=</a:t>
            </a:r>
            <a:r>
              <a:rPr sz="2400" spc="-1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1.5</a:t>
            </a:r>
            <a:r>
              <a:rPr sz="2400" spc="-15" dirty="0">
                <a:latin typeface="Comic Sans MS"/>
                <a:cs typeface="Comic Sans MS"/>
              </a:rPr>
              <a:t> </a:t>
            </a:r>
            <a:r>
              <a:rPr sz="2400" spc="-20" dirty="0">
                <a:latin typeface="Comic Sans MS"/>
                <a:cs typeface="Comic Sans MS"/>
              </a:rPr>
              <a:t>Mbps</a:t>
            </a:r>
            <a:endParaRPr sz="2400" dirty="0">
              <a:latin typeface="Comic Sans MS"/>
              <a:cs typeface="Comic Sans MS"/>
            </a:endParaRPr>
          </a:p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sz="3075" spc="1147" baseline="1355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59" baseline="135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delay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=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15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spc="-25" dirty="0">
                <a:latin typeface="Comic Sans MS"/>
                <a:cs typeface="Comic Sans MS"/>
              </a:rPr>
              <a:t>sec</a:t>
            </a:r>
            <a:endParaRPr sz="2400" dirty="0">
              <a:latin typeface="Comic Sans MS"/>
              <a:cs typeface="Comic Sans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36545" y="1377619"/>
            <a:ext cx="1657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Comic Sans MS"/>
                <a:cs typeface="Comic Sans MS"/>
              </a:rPr>
              <a:t>L</a:t>
            </a:r>
            <a:endParaRPr sz="20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98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Packet-</a:t>
            </a:r>
            <a:r>
              <a:rPr sz="3200" dirty="0"/>
              <a:t>switched</a:t>
            </a:r>
            <a:r>
              <a:rPr sz="3200" spc="-120" dirty="0"/>
              <a:t> </a:t>
            </a:r>
            <a:r>
              <a:rPr sz="3200" dirty="0"/>
              <a:t>networks:</a:t>
            </a:r>
            <a:r>
              <a:rPr sz="3200" spc="-125" dirty="0"/>
              <a:t> </a:t>
            </a:r>
            <a:r>
              <a:rPr sz="3200" spc="-10" dirty="0"/>
              <a:t>forwarding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583006" y="1384872"/>
            <a:ext cx="7659370" cy="514667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359410" marR="17780" indent="-334645">
              <a:lnSpc>
                <a:spcPts val="2880"/>
              </a:lnSpc>
              <a:spcBef>
                <a:spcPts val="28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22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50" i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Goal:</a:t>
            </a:r>
            <a:r>
              <a:rPr sz="2450" i="1" u="none" spc="-6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u="none" dirty="0">
                <a:latin typeface="Comic Sans MS"/>
                <a:cs typeface="Comic Sans MS"/>
              </a:rPr>
              <a:t>move</a:t>
            </a:r>
            <a:r>
              <a:rPr sz="2400" u="none" spc="-55" dirty="0">
                <a:latin typeface="Comic Sans MS"/>
                <a:cs typeface="Comic Sans MS"/>
              </a:rPr>
              <a:t> </a:t>
            </a:r>
            <a:r>
              <a:rPr sz="2400" u="none" dirty="0">
                <a:latin typeface="Comic Sans MS"/>
                <a:cs typeface="Comic Sans MS"/>
              </a:rPr>
              <a:t>packets</a:t>
            </a:r>
            <a:r>
              <a:rPr sz="2400" u="none" spc="-60" dirty="0">
                <a:latin typeface="Comic Sans MS"/>
                <a:cs typeface="Comic Sans MS"/>
              </a:rPr>
              <a:t> </a:t>
            </a:r>
            <a:r>
              <a:rPr sz="2400" u="none" dirty="0">
                <a:latin typeface="Comic Sans MS"/>
                <a:cs typeface="Comic Sans MS"/>
              </a:rPr>
              <a:t>through</a:t>
            </a:r>
            <a:r>
              <a:rPr sz="2400" u="none" spc="-50" dirty="0">
                <a:latin typeface="Comic Sans MS"/>
                <a:cs typeface="Comic Sans MS"/>
              </a:rPr>
              <a:t> </a:t>
            </a:r>
            <a:r>
              <a:rPr sz="2400" u="none" dirty="0">
                <a:latin typeface="Comic Sans MS"/>
                <a:cs typeface="Comic Sans MS"/>
              </a:rPr>
              <a:t>routers</a:t>
            </a:r>
            <a:r>
              <a:rPr sz="2400" u="none" spc="-55" dirty="0">
                <a:latin typeface="Comic Sans MS"/>
                <a:cs typeface="Comic Sans MS"/>
              </a:rPr>
              <a:t> </a:t>
            </a:r>
            <a:r>
              <a:rPr sz="2400" u="none" dirty="0">
                <a:latin typeface="Comic Sans MS"/>
                <a:cs typeface="Comic Sans MS"/>
              </a:rPr>
              <a:t>from</a:t>
            </a:r>
            <a:r>
              <a:rPr sz="2400" u="none" spc="-55" dirty="0">
                <a:latin typeface="Comic Sans MS"/>
                <a:cs typeface="Comic Sans MS"/>
              </a:rPr>
              <a:t> </a:t>
            </a:r>
            <a:r>
              <a:rPr sz="2400" u="none" dirty="0">
                <a:latin typeface="Comic Sans MS"/>
                <a:cs typeface="Comic Sans MS"/>
              </a:rPr>
              <a:t>source</a:t>
            </a:r>
            <a:r>
              <a:rPr sz="2400" u="none" spc="-55" dirty="0">
                <a:latin typeface="Comic Sans MS"/>
                <a:cs typeface="Comic Sans MS"/>
              </a:rPr>
              <a:t> </a:t>
            </a:r>
            <a:r>
              <a:rPr sz="2400" u="none" spc="-25" dirty="0">
                <a:latin typeface="Comic Sans MS"/>
                <a:cs typeface="Comic Sans MS"/>
              </a:rPr>
              <a:t>to </a:t>
            </a:r>
            <a:r>
              <a:rPr sz="2400" u="none" spc="-10" dirty="0">
                <a:latin typeface="Comic Sans MS"/>
                <a:cs typeface="Comic Sans MS"/>
              </a:rPr>
              <a:t>destination</a:t>
            </a:r>
            <a:endParaRPr sz="2400" dirty="0">
              <a:latin typeface="Comic Sans MS"/>
              <a:cs typeface="Comic Sans MS"/>
            </a:endParaRPr>
          </a:p>
          <a:p>
            <a:pPr marL="758825" marR="142875" indent="-276860">
              <a:lnSpc>
                <a:spcPct val="100000"/>
              </a:lnSpc>
              <a:spcBef>
                <a:spcPts val="405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487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we’ll</a:t>
            </a:r>
            <a:r>
              <a:rPr sz="2000" spc="-4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study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several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path</a:t>
            </a:r>
            <a:r>
              <a:rPr sz="2000" spc="-4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selection</a:t>
            </a:r>
            <a:r>
              <a:rPr sz="2000" spc="-4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(i.e.</a:t>
            </a:r>
            <a:r>
              <a:rPr sz="2000" spc="-4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routing)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algorithms </a:t>
            </a:r>
            <a:r>
              <a:rPr sz="2000" dirty="0">
                <a:latin typeface="Comic Sans MS"/>
                <a:cs typeface="Comic Sans MS"/>
              </a:rPr>
              <a:t>(chapter</a:t>
            </a:r>
            <a:r>
              <a:rPr sz="2000" spc="-75" dirty="0">
                <a:latin typeface="Comic Sans MS"/>
                <a:cs typeface="Comic Sans MS"/>
              </a:rPr>
              <a:t> </a:t>
            </a:r>
            <a:r>
              <a:rPr sz="2000" spc="-35" dirty="0">
                <a:latin typeface="Comic Sans MS"/>
                <a:cs typeface="Comic Sans MS"/>
              </a:rPr>
              <a:t>4)</a:t>
            </a:r>
            <a:endParaRPr sz="2000" dirty="0">
              <a:latin typeface="Comic Sans MS"/>
              <a:cs typeface="Comic Sans MS"/>
            </a:endParaRPr>
          </a:p>
          <a:p>
            <a:pPr marL="25400">
              <a:lnSpc>
                <a:spcPct val="100000"/>
              </a:lnSpc>
              <a:spcBef>
                <a:spcPts val="6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52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datagram</a:t>
            </a:r>
            <a:r>
              <a:rPr sz="2400" spc="-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network:</a:t>
            </a:r>
            <a:endParaRPr sz="2400" dirty="0">
              <a:latin typeface="Comic Sans MS"/>
              <a:cs typeface="Comic Sans MS"/>
            </a:endParaRPr>
          </a:p>
          <a:p>
            <a:pPr marL="482600">
              <a:lnSpc>
                <a:spcPct val="100000"/>
              </a:lnSpc>
              <a:spcBef>
                <a:spcPts val="450"/>
              </a:spcBef>
              <a:tabLst>
                <a:tab pos="3246755" algn="l"/>
              </a:tabLst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40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50" i="1" spc="-30" dirty="0">
                <a:latin typeface="Comic Sans MS"/>
                <a:cs typeface="Comic Sans MS"/>
              </a:rPr>
              <a:t>destination </a:t>
            </a:r>
            <a:r>
              <a:rPr sz="2050" i="1" spc="-10" dirty="0">
                <a:latin typeface="Comic Sans MS"/>
                <a:cs typeface="Comic Sans MS"/>
              </a:rPr>
              <a:t>address</a:t>
            </a:r>
            <a:r>
              <a:rPr sz="2050" i="1" dirty="0">
                <a:latin typeface="Comic Sans MS"/>
                <a:cs typeface="Comic Sans MS"/>
              </a:rPr>
              <a:t>	</a:t>
            </a:r>
            <a:r>
              <a:rPr sz="2000" dirty="0">
                <a:latin typeface="Comic Sans MS"/>
                <a:cs typeface="Comic Sans MS"/>
              </a:rPr>
              <a:t>in</a:t>
            </a:r>
            <a:r>
              <a:rPr sz="2000" spc="-5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packet</a:t>
            </a:r>
            <a:r>
              <a:rPr sz="2000" spc="-4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determines</a:t>
            </a:r>
            <a:r>
              <a:rPr sz="2000" spc="-5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next</a:t>
            </a:r>
            <a:r>
              <a:rPr sz="2000" spc="-50" dirty="0">
                <a:latin typeface="Comic Sans MS"/>
                <a:cs typeface="Comic Sans MS"/>
              </a:rPr>
              <a:t> </a:t>
            </a:r>
            <a:r>
              <a:rPr sz="2000" spc="-25" dirty="0">
                <a:latin typeface="Comic Sans MS"/>
                <a:cs typeface="Comic Sans MS"/>
              </a:rPr>
              <a:t>hop</a:t>
            </a:r>
            <a:endParaRPr sz="2000" dirty="0">
              <a:latin typeface="Comic Sans MS"/>
              <a:cs typeface="Comic Sans MS"/>
            </a:endParaRPr>
          </a:p>
          <a:p>
            <a:pPr marL="482600">
              <a:lnSpc>
                <a:spcPct val="100000"/>
              </a:lnSpc>
              <a:spcBef>
                <a:spcPts val="49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17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routes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may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change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during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session</a:t>
            </a:r>
            <a:endParaRPr sz="2000" dirty="0">
              <a:latin typeface="Comic Sans MS"/>
              <a:cs typeface="Comic Sans MS"/>
            </a:endParaRPr>
          </a:p>
          <a:p>
            <a:pPr marL="482600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472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analogy: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driving,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asking</a:t>
            </a:r>
            <a:r>
              <a:rPr sz="2000" spc="-4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directions</a:t>
            </a:r>
            <a:endParaRPr sz="2000" dirty="0">
              <a:latin typeface="Comic Sans MS"/>
              <a:cs typeface="Comic Sans MS"/>
            </a:endParaRPr>
          </a:p>
          <a:p>
            <a:pPr marL="25400">
              <a:lnSpc>
                <a:spcPct val="100000"/>
              </a:lnSpc>
              <a:spcBef>
                <a:spcPts val="6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45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virtual</a:t>
            </a:r>
            <a:r>
              <a:rPr sz="2400" spc="-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circuit</a:t>
            </a:r>
            <a:r>
              <a:rPr sz="2400" spc="-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network:</a:t>
            </a:r>
            <a:endParaRPr sz="2400" dirty="0">
              <a:latin typeface="Comic Sans MS"/>
              <a:cs typeface="Comic Sans MS"/>
            </a:endParaRPr>
          </a:p>
          <a:p>
            <a:pPr marL="758825" marR="1210945" indent="-276860">
              <a:lnSpc>
                <a:spcPct val="100000"/>
              </a:lnSpc>
              <a:spcBef>
                <a:spcPts val="500"/>
              </a:spcBef>
              <a:tabLst>
                <a:tab pos="3699510" algn="l"/>
              </a:tabLst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487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each</a:t>
            </a:r>
            <a:r>
              <a:rPr sz="2000" spc="-4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packet</a:t>
            </a:r>
            <a:r>
              <a:rPr sz="2000" spc="-4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carries</a:t>
            </a:r>
            <a:r>
              <a:rPr sz="2000" spc="-40" dirty="0">
                <a:latin typeface="Comic Sans MS"/>
                <a:cs typeface="Comic Sans MS"/>
              </a:rPr>
              <a:t> </a:t>
            </a:r>
            <a:r>
              <a:rPr sz="2000" spc="-25" dirty="0">
                <a:latin typeface="Comic Sans MS"/>
                <a:cs typeface="Comic Sans MS"/>
              </a:rPr>
              <a:t>tag</a:t>
            </a:r>
            <a:r>
              <a:rPr sz="2000" dirty="0">
                <a:latin typeface="Comic Sans MS"/>
                <a:cs typeface="Comic Sans MS"/>
              </a:rPr>
              <a:t>	(virtual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circuit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ID),</a:t>
            </a:r>
            <a:r>
              <a:rPr sz="2000" spc="-25" dirty="0">
                <a:latin typeface="Comic Sans MS"/>
                <a:cs typeface="Comic Sans MS"/>
              </a:rPr>
              <a:t> tag </a:t>
            </a:r>
            <a:r>
              <a:rPr sz="2000" dirty="0">
                <a:latin typeface="Comic Sans MS"/>
                <a:cs typeface="Comic Sans MS"/>
              </a:rPr>
              <a:t>determines</a:t>
            </a:r>
            <a:r>
              <a:rPr sz="2000" spc="-7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next</a:t>
            </a:r>
            <a:r>
              <a:rPr sz="2000" spc="-65" dirty="0">
                <a:latin typeface="Comic Sans MS"/>
                <a:cs typeface="Comic Sans MS"/>
              </a:rPr>
              <a:t> </a:t>
            </a:r>
            <a:r>
              <a:rPr sz="2000" spc="-25" dirty="0">
                <a:latin typeface="Comic Sans MS"/>
                <a:cs typeface="Comic Sans MS"/>
              </a:rPr>
              <a:t>hop</a:t>
            </a:r>
            <a:endParaRPr sz="2000" dirty="0">
              <a:latin typeface="Comic Sans MS"/>
              <a:cs typeface="Comic Sans MS"/>
            </a:endParaRPr>
          </a:p>
          <a:p>
            <a:pPr marL="758825" marR="295910" indent="-276860">
              <a:lnSpc>
                <a:spcPct val="100000"/>
              </a:lnSpc>
              <a:spcBef>
                <a:spcPts val="45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442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fixed</a:t>
            </a:r>
            <a:r>
              <a:rPr sz="2000" spc="-6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path</a:t>
            </a:r>
            <a:r>
              <a:rPr sz="2000" spc="-6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determined</a:t>
            </a:r>
            <a:r>
              <a:rPr sz="2000" spc="-6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at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50" i="1" dirty="0">
                <a:latin typeface="Comic Sans MS"/>
                <a:cs typeface="Comic Sans MS"/>
              </a:rPr>
              <a:t>call</a:t>
            </a:r>
            <a:r>
              <a:rPr sz="2050" i="1" spc="-80" dirty="0">
                <a:latin typeface="Comic Sans MS"/>
                <a:cs typeface="Comic Sans MS"/>
              </a:rPr>
              <a:t> </a:t>
            </a:r>
            <a:r>
              <a:rPr sz="2050" i="1" spc="-10" dirty="0">
                <a:latin typeface="Comic Sans MS"/>
                <a:cs typeface="Comic Sans MS"/>
              </a:rPr>
              <a:t>setup</a:t>
            </a:r>
            <a:r>
              <a:rPr sz="2050" i="1" spc="-80" dirty="0">
                <a:latin typeface="Comic Sans MS"/>
                <a:cs typeface="Comic Sans MS"/>
              </a:rPr>
              <a:t> </a:t>
            </a:r>
            <a:r>
              <a:rPr sz="2050" i="1" dirty="0">
                <a:latin typeface="Comic Sans MS"/>
                <a:cs typeface="Comic Sans MS"/>
              </a:rPr>
              <a:t>time</a:t>
            </a:r>
            <a:r>
              <a:rPr sz="2000" dirty="0">
                <a:latin typeface="Comic Sans MS"/>
                <a:cs typeface="Comic Sans MS"/>
              </a:rPr>
              <a:t>,</a:t>
            </a:r>
            <a:r>
              <a:rPr sz="2000" spc="-7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remains</a:t>
            </a:r>
            <a:r>
              <a:rPr sz="2000" spc="-5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fixed </a:t>
            </a:r>
            <a:r>
              <a:rPr sz="2000" dirty="0">
                <a:latin typeface="Comic Sans MS"/>
                <a:cs typeface="Comic Sans MS"/>
              </a:rPr>
              <a:t>thru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spc="-20" dirty="0">
                <a:latin typeface="Comic Sans MS"/>
                <a:cs typeface="Comic Sans MS"/>
              </a:rPr>
              <a:t>call</a:t>
            </a:r>
            <a:endParaRPr sz="2000" dirty="0">
              <a:latin typeface="Comic Sans MS"/>
              <a:cs typeface="Comic Sans MS"/>
            </a:endParaRPr>
          </a:p>
          <a:p>
            <a:pPr marL="482600">
              <a:lnSpc>
                <a:spcPct val="100000"/>
              </a:lnSpc>
              <a:spcBef>
                <a:spcPts val="44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465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50" i="1" spc="-20" dirty="0">
                <a:solidFill>
                  <a:srgbClr val="FF0000"/>
                </a:solidFill>
                <a:latin typeface="Comic Sans MS"/>
                <a:cs typeface="Comic Sans MS"/>
              </a:rPr>
              <a:t>routers</a:t>
            </a:r>
            <a:r>
              <a:rPr sz="2050" i="1" spc="-6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050" i="1" spc="-25" dirty="0">
                <a:solidFill>
                  <a:srgbClr val="FF0000"/>
                </a:solidFill>
                <a:latin typeface="Comic Sans MS"/>
                <a:cs typeface="Comic Sans MS"/>
              </a:rPr>
              <a:t>maintain</a:t>
            </a:r>
            <a:r>
              <a:rPr sz="2050" i="1" spc="-7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050" i="1" spc="-40" dirty="0">
                <a:solidFill>
                  <a:srgbClr val="FF0000"/>
                </a:solidFill>
                <a:latin typeface="Comic Sans MS"/>
                <a:cs typeface="Comic Sans MS"/>
              </a:rPr>
              <a:t>per-</a:t>
            </a:r>
            <a:r>
              <a:rPr sz="2050" i="1" dirty="0">
                <a:solidFill>
                  <a:srgbClr val="FF0000"/>
                </a:solidFill>
                <a:latin typeface="Comic Sans MS"/>
                <a:cs typeface="Comic Sans MS"/>
              </a:rPr>
              <a:t>call</a:t>
            </a:r>
            <a:r>
              <a:rPr sz="2050" i="1" spc="-6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050" i="1" spc="-10" dirty="0">
                <a:solidFill>
                  <a:srgbClr val="FF0000"/>
                </a:solidFill>
                <a:latin typeface="Comic Sans MS"/>
                <a:cs typeface="Comic Sans MS"/>
              </a:rPr>
              <a:t>state</a:t>
            </a:r>
            <a:endParaRPr sz="2050" dirty="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6384" y="179184"/>
            <a:ext cx="459041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Network</a:t>
            </a:r>
            <a:r>
              <a:rPr spc="-114" dirty="0"/>
              <a:t> </a:t>
            </a:r>
            <a:r>
              <a:rPr spc="-10" dirty="0"/>
              <a:t>Taxonomy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230194" y="1185760"/>
            <a:ext cx="2370455" cy="768985"/>
            <a:chOff x="3230194" y="1185760"/>
            <a:chExt cx="2370455" cy="768985"/>
          </a:xfrm>
        </p:grpSpPr>
        <p:sp>
          <p:nvSpPr>
            <p:cNvPr id="4" name="object 4"/>
            <p:cNvSpPr/>
            <p:nvPr/>
          </p:nvSpPr>
          <p:spPr>
            <a:xfrm>
              <a:off x="3234956" y="1190523"/>
              <a:ext cx="2360930" cy="759460"/>
            </a:xfrm>
            <a:custGeom>
              <a:avLst/>
              <a:gdLst/>
              <a:ahLst/>
              <a:cxnLst/>
              <a:rect l="l" t="t" r="r" b="b"/>
              <a:pathLst>
                <a:path w="2360929" h="759460">
                  <a:moveTo>
                    <a:pt x="2360523" y="0"/>
                  </a:moveTo>
                  <a:lnTo>
                    <a:pt x="0" y="0"/>
                  </a:lnTo>
                  <a:lnTo>
                    <a:pt x="0" y="758875"/>
                  </a:lnTo>
                  <a:lnTo>
                    <a:pt x="1180439" y="758875"/>
                  </a:lnTo>
                  <a:lnTo>
                    <a:pt x="2360523" y="758875"/>
                  </a:lnTo>
                  <a:lnTo>
                    <a:pt x="2360523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34956" y="1190523"/>
              <a:ext cx="2360930" cy="759460"/>
            </a:xfrm>
            <a:custGeom>
              <a:avLst/>
              <a:gdLst/>
              <a:ahLst/>
              <a:cxnLst/>
              <a:rect l="l" t="t" r="r" b="b"/>
              <a:pathLst>
                <a:path w="2360929" h="759460">
                  <a:moveTo>
                    <a:pt x="1180439" y="758875"/>
                  </a:moveTo>
                  <a:lnTo>
                    <a:pt x="0" y="758875"/>
                  </a:lnTo>
                  <a:lnTo>
                    <a:pt x="0" y="0"/>
                  </a:lnTo>
                  <a:lnTo>
                    <a:pt x="2360523" y="0"/>
                  </a:lnTo>
                  <a:lnTo>
                    <a:pt x="2360523" y="758875"/>
                  </a:lnTo>
                  <a:lnTo>
                    <a:pt x="1180439" y="758875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283102" y="1251978"/>
            <a:ext cx="226314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1185" marR="5080" indent="-57912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omic Sans MS"/>
                <a:cs typeface="Comic Sans MS"/>
              </a:rPr>
              <a:t>Telecommunication networks</a:t>
            </a:r>
            <a:endParaRPr sz="2000">
              <a:latin typeface="Comic Sans MS"/>
              <a:cs typeface="Comic Sans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344155" y="2515958"/>
            <a:ext cx="2360930" cy="758825"/>
            <a:chOff x="1344155" y="2515958"/>
            <a:chExt cx="2360930" cy="758825"/>
          </a:xfrm>
        </p:grpSpPr>
        <p:sp>
          <p:nvSpPr>
            <p:cNvPr id="8" name="object 8"/>
            <p:cNvSpPr/>
            <p:nvPr/>
          </p:nvSpPr>
          <p:spPr>
            <a:xfrm>
              <a:off x="1348917" y="2520721"/>
              <a:ext cx="2351405" cy="749300"/>
            </a:xfrm>
            <a:custGeom>
              <a:avLst/>
              <a:gdLst/>
              <a:ahLst/>
              <a:cxnLst/>
              <a:rect l="l" t="t" r="r" b="b"/>
              <a:pathLst>
                <a:path w="2351404" h="749300">
                  <a:moveTo>
                    <a:pt x="2351163" y="0"/>
                  </a:moveTo>
                  <a:lnTo>
                    <a:pt x="0" y="0"/>
                  </a:lnTo>
                  <a:lnTo>
                    <a:pt x="0" y="749160"/>
                  </a:lnTo>
                  <a:lnTo>
                    <a:pt x="1175766" y="749160"/>
                  </a:lnTo>
                  <a:lnTo>
                    <a:pt x="2351163" y="749160"/>
                  </a:lnTo>
                  <a:lnTo>
                    <a:pt x="2351163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48917" y="2520721"/>
              <a:ext cx="2351405" cy="749300"/>
            </a:xfrm>
            <a:custGeom>
              <a:avLst/>
              <a:gdLst/>
              <a:ahLst/>
              <a:cxnLst/>
              <a:rect l="l" t="t" r="r" b="b"/>
              <a:pathLst>
                <a:path w="2351404" h="749300">
                  <a:moveTo>
                    <a:pt x="1175766" y="749160"/>
                  </a:moveTo>
                  <a:lnTo>
                    <a:pt x="0" y="749160"/>
                  </a:lnTo>
                  <a:lnTo>
                    <a:pt x="0" y="0"/>
                  </a:lnTo>
                  <a:lnTo>
                    <a:pt x="2351163" y="0"/>
                  </a:lnTo>
                  <a:lnTo>
                    <a:pt x="2351163" y="749160"/>
                  </a:lnTo>
                  <a:lnTo>
                    <a:pt x="1175766" y="74916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529181" y="2577858"/>
            <a:ext cx="1990089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4025" marR="5080" indent="-441959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mic Sans MS"/>
                <a:cs typeface="Comic Sans MS"/>
              </a:rPr>
              <a:t>Circuit-</a:t>
            </a:r>
            <a:r>
              <a:rPr sz="2000" spc="-10" dirty="0">
                <a:latin typeface="Comic Sans MS"/>
                <a:cs typeface="Comic Sans MS"/>
              </a:rPr>
              <a:t>switched networks</a:t>
            </a:r>
            <a:endParaRPr sz="2000">
              <a:latin typeface="Comic Sans MS"/>
              <a:cs typeface="Comic Sans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87514" y="3814483"/>
            <a:ext cx="1275080" cy="633730"/>
            <a:chOff x="687514" y="3814483"/>
            <a:chExt cx="1275080" cy="633730"/>
          </a:xfrm>
        </p:grpSpPr>
        <p:sp>
          <p:nvSpPr>
            <p:cNvPr id="12" name="object 12"/>
            <p:cNvSpPr/>
            <p:nvPr/>
          </p:nvSpPr>
          <p:spPr>
            <a:xfrm>
              <a:off x="692276" y="3819245"/>
              <a:ext cx="1265555" cy="624205"/>
            </a:xfrm>
            <a:custGeom>
              <a:avLst/>
              <a:gdLst/>
              <a:ahLst/>
              <a:cxnLst/>
              <a:rect l="l" t="t" r="r" b="b"/>
              <a:pathLst>
                <a:path w="1265555" h="624204">
                  <a:moveTo>
                    <a:pt x="1265047" y="0"/>
                  </a:moveTo>
                  <a:lnTo>
                    <a:pt x="0" y="0"/>
                  </a:lnTo>
                  <a:lnTo>
                    <a:pt x="0" y="623874"/>
                  </a:lnTo>
                  <a:lnTo>
                    <a:pt x="632523" y="623874"/>
                  </a:lnTo>
                  <a:lnTo>
                    <a:pt x="1265047" y="623874"/>
                  </a:lnTo>
                  <a:lnTo>
                    <a:pt x="1265047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2276" y="3819245"/>
              <a:ext cx="1265555" cy="624205"/>
            </a:xfrm>
            <a:custGeom>
              <a:avLst/>
              <a:gdLst/>
              <a:ahLst/>
              <a:cxnLst/>
              <a:rect l="l" t="t" r="r" b="b"/>
              <a:pathLst>
                <a:path w="1265555" h="624204">
                  <a:moveTo>
                    <a:pt x="632523" y="623874"/>
                  </a:moveTo>
                  <a:lnTo>
                    <a:pt x="0" y="623874"/>
                  </a:lnTo>
                  <a:lnTo>
                    <a:pt x="0" y="0"/>
                  </a:lnTo>
                  <a:lnTo>
                    <a:pt x="1265047" y="0"/>
                  </a:lnTo>
                  <a:lnTo>
                    <a:pt x="1265047" y="623874"/>
                  </a:lnTo>
                  <a:lnTo>
                    <a:pt x="632523" y="623874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031303" y="3966019"/>
            <a:ext cx="5880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Comic Sans MS"/>
                <a:cs typeface="Comic Sans MS"/>
              </a:rPr>
              <a:t>FDM</a:t>
            </a:r>
            <a:endParaRPr sz="2000">
              <a:latin typeface="Comic Sans MS"/>
              <a:cs typeface="Comic Sans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846438" y="3839679"/>
            <a:ext cx="1275080" cy="633730"/>
            <a:chOff x="2846438" y="3839679"/>
            <a:chExt cx="1275080" cy="633730"/>
          </a:xfrm>
        </p:grpSpPr>
        <p:sp>
          <p:nvSpPr>
            <p:cNvPr id="16" name="object 16"/>
            <p:cNvSpPr/>
            <p:nvPr/>
          </p:nvSpPr>
          <p:spPr>
            <a:xfrm>
              <a:off x="2851200" y="3844442"/>
              <a:ext cx="1265555" cy="624205"/>
            </a:xfrm>
            <a:custGeom>
              <a:avLst/>
              <a:gdLst/>
              <a:ahLst/>
              <a:cxnLst/>
              <a:rect l="l" t="t" r="r" b="b"/>
              <a:pathLst>
                <a:path w="1265554" h="624204">
                  <a:moveTo>
                    <a:pt x="1265034" y="0"/>
                  </a:moveTo>
                  <a:lnTo>
                    <a:pt x="0" y="0"/>
                  </a:lnTo>
                  <a:lnTo>
                    <a:pt x="0" y="623874"/>
                  </a:lnTo>
                  <a:lnTo>
                    <a:pt x="632523" y="623874"/>
                  </a:lnTo>
                  <a:lnTo>
                    <a:pt x="1265034" y="623874"/>
                  </a:lnTo>
                  <a:lnTo>
                    <a:pt x="1265034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851200" y="3844442"/>
              <a:ext cx="1265555" cy="624205"/>
            </a:xfrm>
            <a:custGeom>
              <a:avLst/>
              <a:gdLst/>
              <a:ahLst/>
              <a:cxnLst/>
              <a:rect l="l" t="t" r="r" b="b"/>
              <a:pathLst>
                <a:path w="1265554" h="624204">
                  <a:moveTo>
                    <a:pt x="632523" y="623874"/>
                  </a:moveTo>
                  <a:lnTo>
                    <a:pt x="0" y="623874"/>
                  </a:lnTo>
                  <a:lnTo>
                    <a:pt x="0" y="0"/>
                  </a:lnTo>
                  <a:lnTo>
                    <a:pt x="1265034" y="0"/>
                  </a:lnTo>
                  <a:lnTo>
                    <a:pt x="1265034" y="623874"/>
                  </a:lnTo>
                  <a:lnTo>
                    <a:pt x="632523" y="623874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180143" y="3991571"/>
            <a:ext cx="6076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Comic Sans MS"/>
                <a:cs typeface="Comic Sans MS"/>
              </a:rPr>
              <a:t>TDM</a:t>
            </a:r>
            <a:endParaRPr sz="2000">
              <a:latin typeface="Comic Sans MS"/>
              <a:cs typeface="Comic Sans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581035" y="2511272"/>
            <a:ext cx="6440805" cy="1343660"/>
            <a:chOff x="1581035" y="2511272"/>
            <a:chExt cx="6440805" cy="1343660"/>
          </a:xfrm>
        </p:grpSpPr>
        <p:sp>
          <p:nvSpPr>
            <p:cNvPr id="20" name="object 20"/>
            <p:cNvSpPr/>
            <p:nvPr/>
          </p:nvSpPr>
          <p:spPr>
            <a:xfrm>
              <a:off x="1585798" y="3286074"/>
              <a:ext cx="1870710" cy="563880"/>
            </a:xfrm>
            <a:custGeom>
              <a:avLst/>
              <a:gdLst/>
              <a:ahLst/>
              <a:cxnLst/>
              <a:rect l="l" t="t" r="r" b="b"/>
              <a:pathLst>
                <a:path w="1870710" h="563879">
                  <a:moveTo>
                    <a:pt x="0" y="260286"/>
                  </a:moveTo>
                  <a:lnTo>
                    <a:pt x="1852917" y="260286"/>
                  </a:lnTo>
                </a:path>
                <a:path w="1870710" h="563879">
                  <a:moveTo>
                    <a:pt x="1870202" y="277926"/>
                  </a:moveTo>
                  <a:lnTo>
                    <a:pt x="1870202" y="563765"/>
                  </a:lnTo>
                </a:path>
                <a:path w="1870710" h="563879">
                  <a:moveTo>
                    <a:pt x="1447" y="254165"/>
                  </a:moveTo>
                  <a:lnTo>
                    <a:pt x="1447" y="539648"/>
                  </a:lnTo>
                </a:path>
                <a:path w="1870710" h="563879">
                  <a:moveTo>
                    <a:pt x="919441" y="0"/>
                  </a:moveTo>
                  <a:lnTo>
                    <a:pt x="919441" y="250926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65317" y="2516035"/>
              <a:ext cx="2351405" cy="749935"/>
            </a:xfrm>
            <a:custGeom>
              <a:avLst/>
              <a:gdLst/>
              <a:ahLst/>
              <a:cxnLst/>
              <a:rect l="l" t="t" r="r" b="b"/>
              <a:pathLst>
                <a:path w="2351404" h="749935">
                  <a:moveTo>
                    <a:pt x="2351163" y="0"/>
                  </a:moveTo>
                  <a:lnTo>
                    <a:pt x="0" y="0"/>
                  </a:lnTo>
                  <a:lnTo>
                    <a:pt x="0" y="749528"/>
                  </a:lnTo>
                  <a:lnTo>
                    <a:pt x="1175765" y="749528"/>
                  </a:lnTo>
                  <a:lnTo>
                    <a:pt x="2351163" y="749528"/>
                  </a:lnTo>
                  <a:lnTo>
                    <a:pt x="2351163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665317" y="2516035"/>
              <a:ext cx="2351405" cy="749935"/>
            </a:xfrm>
            <a:custGeom>
              <a:avLst/>
              <a:gdLst/>
              <a:ahLst/>
              <a:cxnLst/>
              <a:rect l="l" t="t" r="r" b="b"/>
              <a:pathLst>
                <a:path w="2351404" h="749935">
                  <a:moveTo>
                    <a:pt x="1175765" y="749528"/>
                  </a:moveTo>
                  <a:lnTo>
                    <a:pt x="0" y="749528"/>
                  </a:lnTo>
                  <a:lnTo>
                    <a:pt x="0" y="0"/>
                  </a:lnTo>
                  <a:lnTo>
                    <a:pt x="2351163" y="0"/>
                  </a:lnTo>
                  <a:lnTo>
                    <a:pt x="2351163" y="749528"/>
                  </a:lnTo>
                  <a:lnTo>
                    <a:pt x="1175765" y="749528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852058" y="2572816"/>
            <a:ext cx="197612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7675" marR="5080" indent="-435609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omic Sans MS"/>
                <a:cs typeface="Comic Sans MS"/>
              </a:rPr>
              <a:t>Packet-switched networks</a:t>
            </a:r>
            <a:endParaRPr sz="2000">
              <a:latin typeface="Comic Sans MS"/>
              <a:cs typeface="Comic Sans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071960" y="3858755"/>
            <a:ext cx="1595755" cy="633730"/>
            <a:chOff x="5071960" y="3858755"/>
            <a:chExt cx="1595755" cy="633730"/>
          </a:xfrm>
        </p:grpSpPr>
        <p:sp>
          <p:nvSpPr>
            <p:cNvPr id="25" name="object 25"/>
            <p:cNvSpPr/>
            <p:nvPr/>
          </p:nvSpPr>
          <p:spPr>
            <a:xfrm>
              <a:off x="5076723" y="3863517"/>
              <a:ext cx="1586230" cy="624205"/>
            </a:xfrm>
            <a:custGeom>
              <a:avLst/>
              <a:gdLst/>
              <a:ahLst/>
              <a:cxnLst/>
              <a:rect l="l" t="t" r="r" b="b"/>
              <a:pathLst>
                <a:path w="1586229" h="624204">
                  <a:moveTo>
                    <a:pt x="1586153" y="0"/>
                  </a:moveTo>
                  <a:lnTo>
                    <a:pt x="0" y="0"/>
                  </a:lnTo>
                  <a:lnTo>
                    <a:pt x="0" y="623887"/>
                  </a:lnTo>
                  <a:lnTo>
                    <a:pt x="793076" y="623887"/>
                  </a:lnTo>
                  <a:lnTo>
                    <a:pt x="1586153" y="623887"/>
                  </a:lnTo>
                  <a:lnTo>
                    <a:pt x="1586153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076723" y="3863517"/>
              <a:ext cx="1586230" cy="624205"/>
            </a:xfrm>
            <a:custGeom>
              <a:avLst/>
              <a:gdLst/>
              <a:ahLst/>
              <a:cxnLst/>
              <a:rect l="l" t="t" r="r" b="b"/>
              <a:pathLst>
                <a:path w="1586229" h="624204">
                  <a:moveTo>
                    <a:pt x="793076" y="623887"/>
                  </a:moveTo>
                  <a:lnTo>
                    <a:pt x="0" y="623887"/>
                  </a:lnTo>
                  <a:lnTo>
                    <a:pt x="0" y="0"/>
                  </a:lnTo>
                  <a:lnTo>
                    <a:pt x="1586153" y="0"/>
                  </a:lnTo>
                  <a:lnTo>
                    <a:pt x="1586153" y="623887"/>
                  </a:lnTo>
                  <a:lnTo>
                    <a:pt x="793076" y="623887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280736" y="3858018"/>
            <a:ext cx="117729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025" marR="5080" indent="-6096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omic Sans MS"/>
                <a:cs typeface="Comic Sans MS"/>
              </a:rPr>
              <a:t>Networks </a:t>
            </a:r>
            <a:r>
              <a:rPr sz="2000" dirty="0">
                <a:latin typeface="Comic Sans MS"/>
                <a:cs typeface="Comic Sans MS"/>
              </a:rPr>
              <a:t>with</a:t>
            </a:r>
            <a:r>
              <a:rPr sz="2000" spc="-10" dirty="0">
                <a:latin typeface="Comic Sans MS"/>
                <a:cs typeface="Comic Sans MS"/>
              </a:rPr>
              <a:t> </a:t>
            </a:r>
            <a:r>
              <a:rPr sz="2000" spc="-25" dirty="0">
                <a:latin typeface="Comic Sans MS"/>
                <a:cs typeface="Comic Sans MS"/>
              </a:rPr>
              <a:t>VCs</a:t>
            </a:r>
            <a:endParaRPr sz="2000" dirty="0">
              <a:latin typeface="Comic Sans MS"/>
              <a:cs typeface="Comic Sans MS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156360" y="3850843"/>
            <a:ext cx="1595755" cy="633730"/>
            <a:chOff x="7156360" y="3850843"/>
            <a:chExt cx="1595755" cy="633730"/>
          </a:xfrm>
        </p:grpSpPr>
        <p:sp>
          <p:nvSpPr>
            <p:cNvPr id="29" name="object 29"/>
            <p:cNvSpPr/>
            <p:nvPr/>
          </p:nvSpPr>
          <p:spPr>
            <a:xfrm>
              <a:off x="7161123" y="3855605"/>
              <a:ext cx="1586230" cy="624205"/>
            </a:xfrm>
            <a:custGeom>
              <a:avLst/>
              <a:gdLst/>
              <a:ahLst/>
              <a:cxnLst/>
              <a:rect l="l" t="t" r="r" b="b"/>
              <a:pathLst>
                <a:path w="1586229" h="624204">
                  <a:moveTo>
                    <a:pt x="1586153" y="0"/>
                  </a:moveTo>
                  <a:lnTo>
                    <a:pt x="0" y="0"/>
                  </a:lnTo>
                  <a:lnTo>
                    <a:pt x="0" y="623874"/>
                  </a:lnTo>
                  <a:lnTo>
                    <a:pt x="793076" y="623874"/>
                  </a:lnTo>
                  <a:lnTo>
                    <a:pt x="1586153" y="623874"/>
                  </a:lnTo>
                  <a:lnTo>
                    <a:pt x="1586153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161123" y="3855605"/>
              <a:ext cx="1586230" cy="624205"/>
            </a:xfrm>
            <a:custGeom>
              <a:avLst/>
              <a:gdLst/>
              <a:ahLst/>
              <a:cxnLst/>
              <a:rect l="l" t="t" r="r" b="b"/>
              <a:pathLst>
                <a:path w="1586229" h="624204">
                  <a:moveTo>
                    <a:pt x="793076" y="623874"/>
                  </a:moveTo>
                  <a:lnTo>
                    <a:pt x="0" y="623874"/>
                  </a:lnTo>
                  <a:lnTo>
                    <a:pt x="0" y="0"/>
                  </a:lnTo>
                  <a:lnTo>
                    <a:pt x="1586153" y="0"/>
                  </a:lnTo>
                  <a:lnTo>
                    <a:pt x="1586153" y="623874"/>
                  </a:lnTo>
                  <a:lnTo>
                    <a:pt x="793076" y="623874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365860" y="3850449"/>
            <a:ext cx="117729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omic Sans MS"/>
                <a:cs typeface="Comic Sans MS"/>
              </a:rPr>
              <a:t>Datagram Networks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589123" y="1947964"/>
            <a:ext cx="5250180" cy="1905000"/>
          </a:xfrm>
          <a:custGeom>
            <a:avLst/>
            <a:gdLst/>
            <a:ahLst/>
            <a:cxnLst/>
            <a:rect l="l" t="t" r="r" b="b"/>
            <a:pathLst>
              <a:path w="5250180" h="1905000">
                <a:moveTo>
                  <a:pt x="3380041" y="1601635"/>
                </a:moveTo>
                <a:lnTo>
                  <a:pt x="5232234" y="1601635"/>
                </a:lnTo>
              </a:path>
              <a:path w="5250180" h="1905000">
                <a:moveTo>
                  <a:pt x="5249875" y="1619275"/>
                </a:moveTo>
                <a:lnTo>
                  <a:pt x="5249875" y="1904758"/>
                </a:lnTo>
              </a:path>
              <a:path w="5250180" h="1905000">
                <a:moveTo>
                  <a:pt x="3381121" y="1595513"/>
                </a:moveTo>
                <a:lnTo>
                  <a:pt x="3381121" y="1880997"/>
                </a:lnTo>
              </a:path>
              <a:path w="5250180" h="1905000">
                <a:moveTo>
                  <a:pt x="4299115" y="1341361"/>
                </a:moveTo>
                <a:lnTo>
                  <a:pt x="4299115" y="1592275"/>
                </a:lnTo>
              </a:path>
              <a:path w="5250180" h="1905000">
                <a:moveTo>
                  <a:pt x="0" y="260273"/>
                </a:moveTo>
                <a:lnTo>
                  <a:pt x="3779634" y="260273"/>
                </a:lnTo>
              </a:path>
              <a:path w="5250180" h="1905000">
                <a:moveTo>
                  <a:pt x="3805199" y="277558"/>
                </a:moveTo>
                <a:lnTo>
                  <a:pt x="3805199" y="563397"/>
                </a:lnTo>
              </a:path>
              <a:path w="5250180" h="1905000">
                <a:moveTo>
                  <a:pt x="2870" y="253796"/>
                </a:moveTo>
                <a:lnTo>
                  <a:pt x="2870" y="539635"/>
                </a:lnTo>
              </a:path>
              <a:path w="5250180" h="1905000">
                <a:moveTo>
                  <a:pt x="1866950" y="0"/>
                </a:moveTo>
                <a:lnTo>
                  <a:pt x="1866950" y="250558"/>
                </a:lnTo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957503" y="5023727"/>
            <a:ext cx="6715759" cy="1252855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227329" indent="287020">
              <a:lnSpc>
                <a:spcPts val="2390"/>
              </a:lnSpc>
              <a:spcBef>
                <a:spcPts val="259"/>
              </a:spcBef>
              <a:buChar char="•"/>
              <a:tabLst>
                <a:tab pos="299720" algn="l"/>
              </a:tabLst>
            </a:pPr>
            <a:r>
              <a:rPr sz="2000" dirty="0">
                <a:latin typeface="Comic Sans MS"/>
                <a:cs typeface="Comic Sans MS"/>
              </a:rPr>
              <a:t>Datagram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network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is</a:t>
            </a:r>
            <a:r>
              <a:rPr sz="2000" spc="-40" dirty="0">
                <a:latin typeface="Comic Sans MS"/>
                <a:cs typeface="Comic Sans MS"/>
              </a:rPr>
              <a:t> </a:t>
            </a:r>
            <a:r>
              <a:rPr sz="2050" i="1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not</a:t>
            </a:r>
            <a:r>
              <a:rPr sz="2050" i="1" u="none" spc="-55" dirty="0">
                <a:latin typeface="Comic Sans MS"/>
                <a:cs typeface="Comic Sans MS"/>
              </a:rPr>
              <a:t> </a:t>
            </a:r>
            <a:r>
              <a:rPr sz="2000" u="none" dirty="0">
                <a:latin typeface="Comic Sans MS"/>
                <a:cs typeface="Comic Sans MS"/>
              </a:rPr>
              <a:t>either</a:t>
            </a:r>
            <a:r>
              <a:rPr sz="2000" u="none" spc="-50" dirty="0">
                <a:latin typeface="Comic Sans MS"/>
                <a:cs typeface="Comic Sans MS"/>
              </a:rPr>
              <a:t> </a:t>
            </a:r>
            <a:r>
              <a:rPr sz="2000" u="none" spc="-10" dirty="0">
                <a:latin typeface="Comic Sans MS"/>
                <a:cs typeface="Comic Sans MS"/>
              </a:rPr>
              <a:t>connection-oriented </a:t>
            </a:r>
            <a:r>
              <a:rPr sz="2000" u="none" dirty="0">
                <a:latin typeface="Comic Sans MS"/>
                <a:cs typeface="Comic Sans MS"/>
              </a:rPr>
              <a:t>or</a:t>
            </a:r>
            <a:r>
              <a:rPr sz="2000" u="none" spc="-10" dirty="0">
                <a:latin typeface="Comic Sans MS"/>
                <a:cs typeface="Comic Sans MS"/>
              </a:rPr>
              <a:t> connectionless.</a:t>
            </a:r>
            <a:endParaRPr sz="2000" dirty="0">
              <a:latin typeface="Comic Sans MS"/>
              <a:cs typeface="Comic Sans MS"/>
            </a:endParaRPr>
          </a:p>
          <a:p>
            <a:pPr marL="12700" marR="5080" indent="287020">
              <a:lnSpc>
                <a:spcPts val="2390"/>
              </a:lnSpc>
              <a:spcBef>
                <a:spcPts val="20"/>
              </a:spcBef>
              <a:buChar char="•"/>
              <a:tabLst>
                <a:tab pos="299720" algn="l"/>
              </a:tabLst>
            </a:pPr>
            <a:r>
              <a:rPr sz="2000" dirty="0">
                <a:latin typeface="Comic Sans MS"/>
                <a:cs typeface="Comic Sans MS"/>
              </a:rPr>
              <a:t>Internet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provides</a:t>
            </a:r>
            <a:r>
              <a:rPr sz="2000" spc="-5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both</a:t>
            </a:r>
            <a:r>
              <a:rPr sz="2000" spc="-5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connection-</a:t>
            </a:r>
            <a:r>
              <a:rPr sz="2000" dirty="0">
                <a:latin typeface="Comic Sans MS"/>
                <a:cs typeface="Comic Sans MS"/>
              </a:rPr>
              <a:t>oriented</a:t>
            </a:r>
            <a:r>
              <a:rPr sz="2000" spc="-5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(TCP)</a:t>
            </a:r>
            <a:r>
              <a:rPr sz="2000" spc="-50" dirty="0">
                <a:latin typeface="Comic Sans MS"/>
                <a:cs typeface="Comic Sans MS"/>
              </a:rPr>
              <a:t> </a:t>
            </a:r>
            <a:r>
              <a:rPr sz="2000" spc="-25" dirty="0">
                <a:latin typeface="Comic Sans MS"/>
                <a:cs typeface="Comic Sans MS"/>
              </a:rPr>
              <a:t>and </a:t>
            </a:r>
            <a:r>
              <a:rPr sz="2000" dirty="0">
                <a:latin typeface="Comic Sans MS"/>
                <a:cs typeface="Comic Sans MS"/>
              </a:rPr>
              <a:t>connectionless</a:t>
            </a:r>
            <a:r>
              <a:rPr sz="2000" spc="-6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services</a:t>
            </a:r>
            <a:r>
              <a:rPr sz="2000" spc="-6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(UDP)</a:t>
            </a:r>
            <a:r>
              <a:rPr sz="2000" spc="-6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to</a:t>
            </a:r>
            <a:r>
              <a:rPr sz="2000" spc="-5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apps.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219" y="543496"/>
            <a:ext cx="68376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Access</a:t>
            </a:r>
            <a:r>
              <a:rPr sz="3200" spc="-60" dirty="0"/>
              <a:t> </a:t>
            </a:r>
            <a:r>
              <a:rPr sz="3200" dirty="0"/>
              <a:t>networks</a:t>
            </a:r>
            <a:r>
              <a:rPr sz="3200" spc="-60" dirty="0"/>
              <a:t> </a:t>
            </a:r>
            <a:r>
              <a:rPr sz="3200" dirty="0"/>
              <a:t>and</a:t>
            </a:r>
            <a:r>
              <a:rPr sz="3200" spc="-55" dirty="0"/>
              <a:t> </a:t>
            </a:r>
            <a:r>
              <a:rPr sz="3200" dirty="0"/>
              <a:t>physical</a:t>
            </a:r>
            <a:r>
              <a:rPr sz="3200" spc="-70" dirty="0"/>
              <a:t> </a:t>
            </a:r>
            <a:r>
              <a:rPr sz="3200" spc="-10" dirty="0"/>
              <a:t>media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598119" y="1392429"/>
            <a:ext cx="3873500" cy="499618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368300" marR="17780" indent="-334645">
              <a:lnSpc>
                <a:spcPts val="2880"/>
              </a:lnSpc>
              <a:spcBef>
                <a:spcPts val="280"/>
              </a:spcBef>
            </a:pPr>
            <a:r>
              <a:rPr sz="2450" i="1" dirty="0">
                <a:solidFill>
                  <a:srgbClr val="FF0000"/>
                </a:solidFill>
                <a:latin typeface="Comic Sans MS"/>
                <a:cs typeface="Comic Sans MS"/>
              </a:rPr>
              <a:t>Q:</a:t>
            </a:r>
            <a:r>
              <a:rPr sz="2450" i="1" spc="-12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50" i="1" dirty="0">
                <a:solidFill>
                  <a:srgbClr val="FF0000"/>
                </a:solidFill>
                <a:latin typeface="Comic Sans MS"/>
                <a:cs typeface="Comic Sans MS"/>
              </a:rPr>
              <a:t>How</a:t>
            </a:r>
            <a:r>
              <a:rPr sz="2450" i="1" spc="-114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50" i="1" dirty="0">
                <a:solidFill>
                  <a:srgbClr val="FF0000"/>
                </a:solidFill>
                <a:latin typeface="Comic Sans MS"/>
                <a:cs typeface="Comic Sans MS"/>
              </a:rPr>
              <a:t>to</a:t>
            </a:r>
            <a:r>
              <a:rPr sz="2450" i="1" spc="-11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50" i="1" spc="-20" dirty="0">
                <a:solidFill>
                  <a:srgbClr val="FF0000"/>
                </a:solidFill>
                <a:latin typeface="Comic Sans MS"/>
                <a:cs typeface="Comic Sans MS"/>
              </a:rPr>
              <a:t>connect</a:t>
            </a:r>
            <a:r>
              <a:rPr sz="2450" i="1" spc="-11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50" i="1" spc="-25" dirty="0">
                <a:solidFill>
                  <a:srgbClr val="FF0000"/>
                </a:solidFill>
                <a:latin typeface="Comic Sans MS"/>
                <a:cs typeface="Comic Sans MS"/>
              </a:rPr>
              <a:t>end </a:t>
            </a:r>
            <a:r>
              <a:rPr sz="2450" i="1" spc="-20" dirty="0">
                <a:solidFill>
                  <a:srgbClr val="FF0000"/>
                </a:solidFill>
                <a:latin typeface="Comic Sans MS"/>
                <a:cs typeface="Comic Sans MS"/>
              </a:rPr>
              <a:t>systems</a:t>
            </a:r>
            <a:r>
              <a:rPr sz="2450" i="1" spc="-12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50" i="1" dirty="0">
                <a:solidFill>
                  <a:srgbClr val="FF0000"/>
                </a:solidFill>
                <a:latin typeface="Comic Sans MS"/>
                <a:cs typeface="Comic Sans MS"/>
              </a:rPr>
              <a:t>to</a:t>
            </a:r>
            <a:r>
              <a:rPr sz="2450" i="1" spc="-10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50" i="1" dirty="0">
                <a:solidFill>
                  <a:srgbClr val="FF0000"/>
                </a:solidFill>
                <a:latin typeface="Comic Sans MS"/>
                <a:cs typeface="Comic Sans MS"/>
              </a:rPr>
              <a:t>edge</a:t>
            </a:r>
            <a:r>
              <a:rPr sz="2450" i="1" spc="-10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50" i="1" spc="-30" dirty="0">
                <a:solidFill>
                  <a:srgbClr val="FF0000"/>
                </a:solidFill>
                <a:latin typeface="Comic Sans MS"/>
                <a:cs typeface="Comic Sans MS"/>
              </a:rPr>
              <a:t>router?</a:t>
            </a:r>
            <a:endParaRPr sz="2450" dirty="0">
              <a:latin typeface="Comic Sans MS"/>
              <a:cs typeface="Comic Sans MS"/>
            </a:endParaRPr>
          </a:p>
          <a:p>
            <a:pPr marL="25400">
              <a:lnSpc>
                <a:spcPct val="100000"/>
              </a:lnSpc>
              <a:spcBef>
                <a:spcPts val="505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37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residential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access</a:t>
            </a:r>
            <a:r>
              <a:rPr sz="2400" spc="-45" dirty="0">
                <a:latin typeface="Comic Sans MS"/>
                <a:cs typeface="Comic Sans MS"/>
              </a:rPr>
              <a:t> </a:t>
            </a:r>
            <a:r>
              <a:rPr sz="2400" spc="-20" dirty="0">
                <a:latin typeface="Comic Sans MS"/>
                <a:cs typeface="Comic Sans MS"/>
              </a:rPr>
              <a:t>nets</a:t>
            </a:r>
            <a:endParaRPr sz="2400" dirty="0">
              <a:latin typeface="Comic Sans MS"/>
              <a:cs typeface="Comic Sans MS"/>
            </a:endParaRPr>
          </a:p>
          <a:p>
            <a:pPr marL="357505" marR="771525" indent="-332740">
              <a:lnSpc>
                <a:spcPct val="100000"/>
              </a:lnSpc>
              <a:spcBef>
                <a:spcPts val="6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22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institutional</a:t>
            </a:r>
            <a:r>
              <a:rPr sz="2400" spc="-4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access </a:t>
            </a:r>
            <a:r>
              <a:rPr sz="2400" dirty="0">
                <a:latin typeface="Comic Sans MS"/>
                <a:cs typeface="Comic Sans MS"/>
              </a:rPr>
              <a:t>networks</a:t>
            </a:r>
            <a:r>
              <a:rPr sz="2400" spc="-5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(school, company)</a:t>
            </a:r>
            <a:endParaRPr sz="2400" dirty="0">
              <a:latin typeface="Comic Sans MS"/>
              <a:cs typeface="Comic Sans MS"/>
            </a:endParaRPr>
          </a:p>
          <a:p>
            <a:pPr marL="25400">
              <a:lnSpc>
                <a:spcPct val="100000"/>
              </a:lnSpc>
              <a:spcBef>
                <a:spcPts val="600"/>
              </a:spcBef>
            </a:pPr>
            <a:r>
              <a:rPr sz="3075" spc="1147" baseline="1355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45" baseline="135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mobile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access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networks</a:t>
            </a:r>
            <a:endParaRPr sz="2400" dirty="0">
              <a:latin typeface="Comic Sans MS"/>
              <a:cs typeface="Comic Sans MS"/>
            </a:endParaRPr>
          </a:p>
          <a:p>
            <a:pPr marL="34290">
              <a:lnSpc>
                <a:spcPct val="100000"/>
              </a:lnSpc>
              <a:spcBef>
                <a:spcPts val="1440"/>
              </a:spcBef>
            </a:pPr>
            <a:r>
              <a:rPr sz="2450" i="1" dirty="0">
                <a:solidFill>
                  <a:srgbClr val="FF0000"/>
                </a:solidFill>
                <a:latin typeface="Comic Sans MS"/>
                <a:cs typeface="Comic Sans MS"/>
              </a:rPr>
              <a:t>Keep</a:t>
            </a:r>
            <a:r>
              <a:rPr sz="2450" i="1" spc="-12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50" i="1" dirty="0">
                <a:solidFill>
                  <a:srgbClr val="FF0000"/>
                </a:solidFill>
                <a:latin typeface="Comic Sans MS"/>
                <a:cs typeface="Comic Sans MS"/>
              </a:rPr>
              <a:t>in</a:t>
            </a:r>
            <a:r>
              <a:rPr sz="2450" i="1" spc="-114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50" i="1" spc="-20" dirty="0">
                <a:solidFill>
                  <a:srgbClr val="FF0000"/>
                </a:solidFill>
                <a:latin typeface="Comic Sans MS"/>
                <a:cs typeface="Comic Sans MS"/>
              </a:rPr>
              <a:t>mind:</a:t>
            </a:r>
            <a:endParaRPr sz="2450" dirty="0">
              <a:latin typeface="Comic Sans MS"/>
              <a:cs typeface="Comic Sans MS"/>
            </a:endParaRPr>
          </a:p>
          <a:p>
            <a:pPr marL="357505" marR="712470" indent="-332740">
              <a:lnSpc>
                <a:spcPct val="100000"/>
              </a:lnSpc>
              <a:spcBef>
                <a:spcPts val="59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30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bandwidth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(bits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spc="-25" dirty="0">
                <a:latin typeface="Comic Sans MS"/>
                <a:cs typeface="Comic Sans MS"/>
              </a:rPr>
              <a:t>per </a:t>
            </a:r>
            <a:r>
              <a:rPr sz="2400" dirty="0">
                <a:latin typeface="Comic Sans MS"/>
                <a:cs typeface="Comic Sans MS"/>
              </a:rPr>
              <a:t>second)</a:t>
            </a:r>
            <a:r>
              <a:rPr sz="2400" spc="-5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of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access network?</a:t>
            </a:r>
            <a:endParaRPr sz="2400" dirty="0">
              <a:latin typeface="Comic Sans MS"/>
              <a:cs typeface="Comic Sans MS"/>
            </a:endParaRPr>
          </a:p>
          <a:p>
            <a:pPr marL="25400">
              <a:lnSpc>
                <a:spcPct val="100000"/>
              </a:lnSpc>
              <a:spcBef>
                <a:spcPts val="6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67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shared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or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dedicated?</a:t>
            </a:r>
            <a:endParaRPr sz="2400" dirty="0">
              <a:latin typeface="Comic Sans MS"/>
              <a:cs typeface="Comic Sans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57838" y="1793875"/>
            <a:ext cx="3754260" cy="172872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283365" y="3573716"/>
            <a:ext cx="2941955" cy="2276475"/>
            <a:chOff x="5283365" y="3573716"/>
            <a:chExt cx="2941955" cy="227647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54963" y="3774960"/>
              <a:ext cx="225361" cy="2905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83365" y="3573716"/>
              <a:ext cx="2477871" cy="227628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000644" y="4201921"/>
              <a:ext cx="197485" cy="474980"/>
            </a:xfrm>
            <a:custGeom>
              <a:avLst/>
              <a:gdLst/>
              <a:ahLst/>
              <a:cxnLst/>
              <a:rect l="l" t="t" r="r" b="b"/>
              <a:pathLst>
                <a:path w="197484" h="474979">
                  <a:moveTo>
                    <a:pt x="196913" y="0"/>
                  </a:moveTo>
                  <a:lnTo>
                    <a:pt x="107276" y="0"/>
                  </a:lnTo>
                  <a:lnTo>
                    <a:pt x="107276" y="106197"/>
                  </a:lnTo>
                  <a:lnTo>
                    <a:pt x="0" y="106197"/>
                  </a:lnTo>
                  <a:lnTo>
                    <a:pt x="0" y="474472"/>
                  </a:lnTo>
                  <a:lnTo>
                    <a:pt x="63715" y="474472"/>
                  </a:lnTo>
                  <a:lnTo>
                    <a:pt x="127431" y="474472"/>
                  </a:lnTo>
                  <a:lnTo>
                    <a:pt x="127431" y="368274"/>
                  </a:lnTo>
                  <a:lnTo>
                    <a:pt x="152273" y="368274"/>
                  </a:lnTo>
                  <a:lnTo>
                    <a:pt x="196913" y="368274"/>
                  </a:lnTo>
                  <a:lnTo>
                    <a:pt x="196913" y="0"/>
                  </a:lnTo>
                  <a:close/>
                </a:path>
              </a:pathLst>
            </a:custGeom>
            <a:solidFill>
              <a:srgbClr val="33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000644" y="4308119"/>
              <a:ext cx="127635" cy="368300"/>
            </a:xfrm>
            <a:custGeom>
              <a:avLst/>
              <a:gdLst/>
              <a:ahLst/>
              <a:cxnLst/>
              <a:rect l="l" t="t" r="r" b="b"/>
              <a:pathLst>
                <a:path w="127634" h="368300">
                  <a:moveTo>
                    <a:pt x="63715" y="368274"/>
                  </a:moveTo>
                  <a:lnTo>
                    <a:pt x="0" y="368274"/>
                  </a:lnTo>
                  <a:lnTo>
                    <a:pt x="0" y="0"/>
                  </a:lnTo>
                  <a:lnTo>
                    <a:pt x="127431" y="0"/>
                  </a:lnTo>
                  <a:lnTo>
                    <a:pt x="127431" y="368274"/>
                  </a:lnTo>
                  <a:lnTo>
                    <a:pt x="63715" y="368274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999564" y="419903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33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994885" y="4194359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679"/>
                  </a:moveTo>
                  <a:lnTo>
                    <a:pt x="1370" y="1370"/>
                  </a:lnTo>
                  <a:lnTo>
                    <a:pt x="4679" y="0"/>
                  </a:lnTo>
                  <a:lnTo>
                    <a:pt x="7989" y="1370"/>
                  </a:lnTo>
                  <a:lnTo>
                    <a:pt x="9359" y="4679"/>
                  </a:lnTo>
                  <a:lnTo>
                    <a:pt x="7989" y="7989"/>
                  </a:lnTo>
                  <a:lnTo>
                    <a:pt x="4679" y="9359"/>
                  </a:lnTo>
                  <a:lnTo>
                    <a:pt x="1370" y="7989"/>
                  </a:lnTo>
                  <a:lnTo>
                    <a:pt x="0" y="4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220240" y="4206963"/>
              <a:ext cx="0" cy="360680"/>
            </a:xfrm>
            <a:custGeom>
              <a:avLst/>
              <a:gdLst/>
              <a:ahLst/>
              <a:cxnLst/>
              <a:rect l="l" t="t" r="r" b="b"/>
              <a:pathLst>
                <a:path h="360679">
                  <a:moveTo>
                    <a:pt x="0" y="0"/>
                  </a:moveTo>
                  <a:lnTo>
                    <a:pt x="0" y="360349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14684" y="4354556"/>
              <a:ext cx="208432" cy="32688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985874" y="4735080"/>
              <a:ext cx="199390" cy="474980"/>
            </a:xfrm>
            <a:custGeom>
              <a:avLst/>
              <a:gdLst/>
              <a:ahLst/>
              <a:cxnLst/>
              <a:rect l="l" t="t" r="r" b="b"/>
              <a:pathLst>
                <a:path w="199390" h="474979">
                  <a:moveTo>
                    <a:pt x="199085" y="0"/>
                  </a:moveTo>
                  <a:lnTo>
                    <a:pt x="109448" y="0"/>
                  </a:lnTo>
                  <a:lnTo>
                    <a:pt x="109448" y="106553"/>
                  </a:lnTo>
                  <a:lnTo>
                    <a:pt x="0" y="106553"/>
                  </a:lnTo>
                  <a:lnTo>
                    <a:pt x="0" y="474840"/>
                  </a:lnTo>
                  <a:lnTo>
                    <a:pt x="64084" y="474840"/>
                  </a:lnTo>
                  <a:lnTo>
                    <a:pt x="127800" y="474840"/>
                  </a:lnTo>
                  <a:lnTo>
                    <a:pt x="127800" y="368274"/>
                  </a:lnTo>
                  <a:lnTo>
                    <a:pt x="154444" y="368274"/>
                  </a:lnTo>
                  <a:lnTo>
                    <a:pt x="199085" y="368274"/>
                  </a:lnTo>
                  <a:lnTo>
                    <a:pt x="199085" y="0"/>
                  </a:lnTo>
                  <a:close/>
                </a:path>
              </a:pathLst>
            </a:custGeom>
            <a:solidFill>
              <a:srgbClr val="33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985874" y="4841633"/>
              <a:ext cx="128270" cy="368300"/>
            </a:xfrm>
            <a:custGeom>
              <a:avLst/>
              <a:gdLst/>
              <a:ahLst/>
              <a:cxnLst/>
              <a:rect l="l" t="t" r="r" b="b"/>
              <a:pathLst>
                <a:path w="128270" h="368300">
                  <a:moveTo>
                    <a:pt x="64084" y="368287"/>
                  </a:moveTo>
                  <a:lnTo>
                    <a:pt x="0" y="368287"/>
                  </a:lnTo>
                  <a:lnTo>
                    <a:pt x="0" y="0"/>
                  </a:lnTo>
                  <a:lnTo>
                    <a:pt x="127800" y="0"/>
                  </a:lnTo>
                  <a:lnTo>
                    <a:pt x="127800" y="368287"/>
                  </a:lnTo>
                  <a:lnTo>
                    <a:pt x="64084" y="368287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984794" y="473184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33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980114" y="4727162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679"/>
                  </a:moveTo>
                  <a:lnTo>
                    <a:pt x="1370" y="1370"/>
                  </a:lnTo>
                  <a:lnTo>
                    <a:pt x="4679" y="0"/>
                  </a:lnTo>
                  <a:lnTo>
                    <a:pt x="7989" y="1370"/>
                  </a:lnTo>
                  <a:lnTo>
                    <a:pt x="9359" y="4679"/>
                  </a:lnTo>
                  <a:lnTo>
                    <a:pt x="7989" y="7989"/>
                  </a:lnTo>
                  <a:lnTo>
                    <a:pt x="4679" y="9359"/>
                  </a:lnTo>
                  <a:lnTo>
                    <a:pt x="1370" y="7989"/>
                  </a:lnTo>
                  <a:lnTo>
                    <a:pt x="0" y="4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115477" y="4740122"/>
              <a:ext cx="90805" cy="470534"/>
            </a:xfrm>
            <a:custGeom>
              <a:avLst/>
              <a:gdLst/>
              <a:ahLst/>
              <a:cxnLst/>
              <a:rect l="l" t="t" r="r" b="b"/>
              <a:pathLst>
                <a:path w="90804" h="470535">
                  <a:moveTo>
                    <a:pt x="90360" y="0"/>
                  </a:moveTo>
                  <a:lnTo>
                    <a:pt x="90360" y="360362"/>
                  </a:lnTo>
                </a:path>
                <a:path w="90804" h="470535">
                  <a:moveTo>
                    <a:pt x="88201" y="370077"/>
                  </a:moveTo>
                  <a:lnTo>
                    <a:pt x="0" y="470154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98834" y="4886280"/>
              <a:ext cx="91084" cy="21888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902714" y="4270324"/>
              <a:ext cx="117475" cy="752475"/>
            </a:xfrm>
            <a:custGeom>
              <a:avLst/>
              <a:gdLst/>
              <a:ahLst/>
              <a:cxnLst/>
              <a:rect l="l" t="t" r="r" b="b"/>
              <a:pathLst>
                <a:path w="117475" h="752475">
                  <a:moveTo>
                    <a:pt x="6121" y="752398"/>
                  </a:moveTo>
                  <a:lnTo>
                    <a:pt x="7924" y="0"/>
                  </a:lnTo>
                </a:path>
                <a:path w="117475" h="752475">
                  <a:moveTo>
                    <a:pt x="2882" y="741235"/>
                  </a:moveTo>
                  <a:lnTo>
                    <a:pt x="117360" y="743038"/>
                  </a:lnTo>
                </a:path>
                <a:path w="117475" h="752475">
                  <a:moveTo>
                    <a:pt x="0" y="169913"/>
                  </a:moveTo>
                  <a:lnTo>
                    <a:pt x="98285" y="171361"/>
                  </a:lnTo>
                </a:path>
              </a:pathLst>
            </a:custGeom>
            <a:ln w="3815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775282" y="3608285"/>
              <a:ext cx="314325" cy="432434"/>
            </a:xfrm>
            <a:custGeom>
              <a:avLst/>
              <a:gdLst/>
              <a:ahLst/>
              <a:cxnLst/>
              <a:rect l="l" t="t" r="r" b="b"/>
              <a:pathLst>
                <a:path w="314325" h="432435">
                  <a:moveTo>
                    <a:pt x="314274" y="0"/>
                  </a:moveTo>
                  <a:lnTo>
                    <a:pt x="0" y="431990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482598" y="414972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482598" y="4137113"/>
              <a:ext cx="542290" cy="87630"/>
            </a:xfrm>
            <a:custGeom>
              <a:avLst/>
              <a:gdLst/>
              <a:ahLst/>
              <a:cxnLst/>
              <a:rect l="l" t="t" r="r" b="b"/>
              <a:pathLst>
                <a:path w="542290" h="87629">
                  <a:moveTo>
                    <a:pt x="0" y="12611"/>
                  </a:moveTo>
                  <a:lnTo>
                    <a:pt x="0" y="12611"/>
                  </a:lnTo>
                  <a:lnTo>
                    <a:pt x="0" y="12611"/>
                  </a:lnTo>
                  <a:close/>
                </a:path>
                <a:path w="542290" h="87629">
                  <a:moveTo>
                    <a:pt x="355" y="0"/>
                  </a:moveTo>
                  <a:lnTo>
                    <a:pt x="355" y="87121"/>
                  </a:lnTo>
                </a:path>
                <a:path w="542290" h="87629">
                  <a:moveTo>
                    <a:pt x="542162" y="0"/>
                  </a:moveTo>
                  <a:lnTo>
                    <a:pt x="542162" y="87121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482954" y="4137113"/>
              <a:ext cx="527050" cy="85725"/>
            </a:xfrm>
            <a:custGeom>
              <a:avLst/>
              <a:gdLst/>
              <a:ahLst/>
              <a:cxnLst/>
              <a:rect l="l" t="t" r="r" b="b"/>
              <a:pathLst>
                <a:path w="527050" h="85725">
                  <a:moveTo>
                    <a:pt x="527050" y="0"/>
                  </a:moveTo>
                  <a:lnTo>
                    <a:pt x="0" y="0"/>
                  </a:lnTo>
                  <a:lnTo>
                    <a:pt x="0" y="85686"/>
                  </a:lnTo>
                  <a:lnTo>
                    <a:pt x="263525" y="85686"/>
                  </a:lnTo>
                  <a:lnTo>
                    <a:pt x="527050" y="85686"/>
                  </a:lnTo>
                  <a:lnTo>
                    <a:pt x="527050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478280" y="402443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94019" y="4048014"/>
              <a:ext cx="268384" cy="128528"/>
            </a:xfrm>
            <a:prstGeom prst="rect">
              <a:avLst/>
            </a:prstGeom>
          </p:spPr>
        </p:pic>
      </p:grp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36</a:t>
            </a:fld>
            <a:endParaRPr spc="-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219" y="543496"/>
            <a:ext cx="76384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Residential</a:t>
            </a:r>
            <a:r>
              <a:rPr sz="3200" spc="-95" dirty="0"/>
              <a:t> </a:t>
            </a:r>
            <a:r>
              <a:rPr sz="3200" dirty="0"/>
              <a:t>access:</a:t>
            </a:r>
            <a:r>
              <a:rPr sz="3200" spc="-80" dirty="0"/>
              <a:t> </a:t>
            </a:r>
            <a:r>
              <a:rPr sz="3200" dirty="0"/>
              <a:t>point</a:t>
            </a:r>
            <a:r>
              <a:rPr sz="3200" spc="-80" dirty="0"/>
              <a:t> </a:t>
            </a:r>
            <a:r>
              <a:rPr sz="3200" dirty="0"/>
              <a:t>to</a:t>
            </a:r>
            <a:r>
              <a:rPr sz="3200" spc="-85" dirty="0"/>
              <a:t> </a:t>
            </a:r>
            <a:r>
              <a:rPr sz="3200" dirty="0"/>
              <a:t>point</a:t>
            </a:r>
            <a:r>
              <a:rPr sz="3200" spc="-80" dirty="0"/>
              <a:t> </a:t>
            </a:r>
            <a:r>
              <a:rPr sz="3200" spc="-10" dirty="0"/>
              <a:t>access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524" y="1705686"/>
            <a:ext cx="2551138" cy="18136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99580" y="1572168"/>
            <a:ext cx="8126730" cy="473265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1910">
              <a:lnSpc>
                <a:spcPct val="100000"/>
              </a:lnSpc>
              <a:spcBef>
                <a:spcPts val="7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52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Dialup</a:t>
            </a:r>
            <a:r>
              <a:rPr sz="2400" spc="-3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via</a:t>
            </a:r>
            <a:r>
              <a:rPr sz="2400" spc="-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Comic Sans MS"/>
                <a:cs typeface="Comic Sans MS"/>
              </a:rPr>
              <a:t>modem</a:t>
            </a:r>
            <a:endParaRPr sz="2400" dirty="0">
              <a:latin typeface="Comic Sans MS"/>
              <a:cs typeface="Comic Sans MS"/>
            </a:endParaRPr>
          </a:p>
          <a:p>
            <a:pPr marL="775970" marR="3100070" indent="-276860">
              <a:lnSpc>
                <a:spcPct val="100000"/>
              </a:lnSpc>
              <a:spcBef>
                <a:spcPts val="600"/>
              </a:spcBef>
            </a:pPr>
            <a:r>
              <a:rPr sz="2700" spc="1005" baseline="16975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700" spc="-7" baseline="169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up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to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56Kbps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direct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access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spc="-25" dirty="0">
                <a:latin typeface="Comic Sans MS"/>
                <a:cs typeface="Comic Sans MS"/>
              </a:rPr>
              <a:t>to </a:t>
            </a:r>
            <a:r>
              <a:rPr sz="2400" dirty="0">
                <a:latin typeface="Comic Sans MS"/>
                <a:cs typeface="Comic Sans MS"/>
              </a:rPr>
              <a:t>router</a:t>
            </a:r>
            <a:r>
              <a:rPr sz="2400" spc="-5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(often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spc="-20" dirty="0">
                <a:latin typeface="Comic Sans MS"/>
                <a:cs typeface="Comic Sans MS"/>
              </a:rPr>
              <a:t>less)</a:t>
            </a:r>
            <a:endParaRPr sz="2400" dirty="0">
              <a:latin typeface="Comic Sans MS"/>
              <a:cs typeface="Comic Sans MS"/>
            </a:endParaRPr>
          </a:p>
          <a:p>
            <a:pPr marL="775970" marR="3256279" indent="-276860">
              <a:lnSpc>
                <a:spcPct val="100000"/>
              </a:lnSpc>
              <a:spcBef>
                <a:spcPts val="600"/>
              </a:spcBef>
            </a:pPr>
            <a:r>
              <a:rPr sz="2700" spc="1005" baseline="16975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700" spc="-7" baseline="169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Can’t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surf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and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phone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at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spc="-20" dirty="0">
                <a:latin typeface="Comic Sans MS"/>
                <a:cs typeface="Comic Sans MS"/>
              </a:rPr>
              <a:t>same </a:t>
            </a:r>
            <a:r>
              <a:rPr sz="2400" dirty="0">
                <a:latin typeface="Comic Sans MS"/>
                <a:cs typeface="Comic Sans MS"/>
              </a:rPr>
              <a:t>time: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can’t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be</a:t>
            </a:r>
            <a:r>
              <a:rPr sz="2400" spc="-10" dirty="0"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“always</a:t>
            </a:r>
            <a:r>
              <a:rPr sz="2400" spc="-3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Comic Sans MS"/>
                <a:cs typeface="Comic Sans MS"/>
              </a:rPr>
              <a:t>on”</a:t>
            </a:r>
            <a:endParaRPr sz="2400" dirty="0">
              <a:latin typeface="Comic Sans MS"/>
              <a:cs typeface="Comic Sans MS"/>
            </a:endParaRPr>
          </a:p>
          <a:p>
            <a:pPr marL="38100">
              <a:lnSpc>
                <a:spcPct val="100000"/>
              </a:lnSpc>
              <a:spcBef>
                <a:spcPts val="1750"/>
              </a:spcBef>
            </a:pPr>
            <a:r>
              <a:rPr sz="3075" spc="1147" baseline="1355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07" baseline="135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ADSL:</a:t>
            </a:r>
            <a:r>
              <a:rPr sz="2400" u="none" spc="-5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u="none" dirty="0">
                <a:solidFill>
                  <a:srgbClr val="FF0000"/>
                </a:solidFill>
                <a:latin typeface="Comic Sans MS"/>
                <a:cs typeface="Comic Sans MS"/>
              </a:rPr>
              <a:t>asymmetric</a:t>
            </a:r>
            <a:r>
              <a:rPr sz="2400" u="none" spc="-5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u="none" dirty="0">
                <a:solidFill>
                  <a:srgbClr val="FF0000"/>
                </a:solidFill>
                <a:latin typeface="Comic Sans MS"/>
                <a:cs typeface="Comic Sans MS"/>
              </a:rPr>
              <a:t>digital</a:t>
            </a:r>
            <a:r>
              <a:rPr sz="2400" u="none" spc="-5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u="none" dirty="0">
                <a:solidFill>
                  <a:srgbClr val="FF0000"/>
                </a:solidFill>
                <a:latin typeface="Comic Sans MS"/>
                <a:cs typeface="Comic Sans MS"/>
              </a:rPr>
              <a:t>subscriber</a:t>
            </a:r>
            <a:r>
              <a:rPr sz="2400" u="none" spc="-5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u="none" spc="-20" dirty="0">
                <a:solidFill>
                  <a:srgbClr val="FF0000"/>
                </a:solidFill>
                <a:latin typeface="Comic Sans MS"/>
                <a:cs typeface="Comic Sans MS"/>
              </a:rPr>
              <a:t>line</a:t>
            </a:r>
            <a:endParaRPr sz="2400" dirty="0">
              <a:latin typeface="Comic Sans MS"/>
              <a:cs typeface="Comic Sans MS"/>
            </a:endParaRPr>
          </a:p>
          <a:p>
            <a:pPr marL="495300">
              <a:lnSpc>
                <a:spcPct val="100000"/>
              </a:lnSpc>
              <a:spcBef>
                <a:spcPts val="600"/>
              </a:spcBef>
            </a:pPr>
            <a:r>
              <a:rPr sz="2700" spc="1005" baseline="16975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700" spc="-22" baseline="169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up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to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1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Mbps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upstream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(today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typically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&lt;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256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kbps)</a:t>
            </a:r>
            <a:endParaRPr sz="2400" dirty="0">
              <a:latin typeface="Comic Sans MS"/>
              <a:cs typeface="Comic Sans MS"/>
            </a:endParaRPr>
          </a:p>
          <a:p>
            <a:pPr marL="495300">
              <a:lnSpc>
                <a:spcPct val="100000"/>
              </a:lnSpc>
              <a:spcBef>
                <a:spcPts val="590"/>
              </a:spcBef>
            </a:pPr>
            <a:r>
              <a:rPr sz="2700" spc="1005" baseline="16975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700" spc="-22" baseline="169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up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to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8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Mbps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downstream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(today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typically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&lt;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1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Mbps)</a:t>
            </a:r>
            <a:endParaRPr sz="2400" dirty="0">
              <a:latin typeface="Comic Sans MS"/>
              <a:cs typeface="Comic Sans MS"/>
            </a:endParaRPr>
          </a:p>
          <a:p>
            <a:pPr marL="495300">
              <a:lnSpc>
                <a:spcPct val="100000"/>
              </a:lnSpc>
              <a:spcBef>
                <a:spcPts val="600"/>
              </a:spcBef>
            </a:pPr>
            <a:r>
              <a:rPr sz="2700" spc="1005" baseline="16975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700" spc="-15" baseline="169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FDM:</a:t>
            </a:r>
            <a:r>
              <a:rPr sz="2400" spc="-1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50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kHz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-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1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MHz</a:t>
            </a:r>
            <a:r>
              <a:rPr sz="2400" spc="-1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for</a:t>
            </a:r>
            <a:r>
              <a:rPr sz="2400" spc="-1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downstream</a:t>
            </a:r>
            <a:endParaRPr sz="2400" dirty="0">
              <a:latin typeface="Comic Sans MS"/>
              <a:cs typeface="Comic Sans MS"/>
            </a:endParaRPr>
          </a:p>
          <a:p>
            <a:pPr marL="1647189">
              <a:lnSpc>
                <a:spcPct val="100000"/>
              </a:lnSpc>
              <a:spcBef>
                <a:spcPts val="500"/>
              </a:spcBef>
            </a:pPr>
            <a:r>
              <a:rPr sz="2000" dirty="0">
                <a:latin typeface="Comic Sans MS"/>
                <a:cs typeface="Comic Sans MS"/>
              </a:rPr>
              <a:t>4</a:t>
            </a:r>
            <a:r>
              <a:rPr sz="2000" spc="-1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kHz</a:t>
            </a:r>
            <a:r>
              <a:rPr sz="2000" spc="-1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-</a:t>
            </a:r>
            <a:r>
              <a:rPr sz="2000" spc="-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50</a:t>
            </a:r>
            <a:r>
              <a:rPr sz="2000" spc="-1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kHz</a:t>
            </a:r>
            <a:r>
              <a:rPr sz="2000" spc="-1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for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upstream</a:t>
            </a:r>
            <a:endParaRPr sz="2000" dirty="0">
              <a:latin typeface="Comic Sans MS"/>
              <a:cs typeface="Comic Sans MS"/>
            </a:endParaRPr>
          </a:p>
          <a:p>
            <a:pPr marL="1647189">
              <a:lnSpc>
                <a:spcPct val="100000"/>
              </a:lnSpc>
              <a:spcBef>
                <a:spcPts val="500"/>
              </a:spcBef>
            </a:pPr>
            <a:r>
              <a:rPr sz="2000" dirty="0">
                <a:latin typeface="Comic Sans MS"/>
                <a:cs typeface="Comic Sans MS"/>
              </a:rPr>
              <a:t>0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kHz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-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4</a:t>
            </a:r>
            <a:r>
              <a:rPr sz="2000" spc="-1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kHz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for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ordinary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telephone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37</a:t>
            </a:fld>
            <a:endParaRPr spc="-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219" y="543496"/>
            <a:ext cx="63398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Residential</a:t>
            </a:r>
            <a:r>
              <a:rPr sz="3200" spc="-90" dirty="0"/>
              <a:t> </a:t>
            </a:r>
            <a:r>
              <a:rPr sz="3200" dirty="0"/>
              <a:t>access:</a:t>
            </a:r>
            <a:r>
              <a:rPr sz="3200" spc="-75" dirty="0"/>
              <a:t> </a:t>
            </a:r>
            <a:r>
              <a:rPr sz="3200" dirty="0"/>
              <a:t>cable</a:t>
            </a:r>
            <a:r>
              <a:rPr sz="3200" spc="-80" dirty="0"/>
              <a:t> </a:t>
            </a:r>
            <a:r>
              <a:rPr sz="3200" spc="-10" dirty="0"/>
              <a:t>modems</a:t>
            </a:r>
            <a:endParaRPr sz="32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5293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3075" spc="1147" baseline="1355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30" baseline="135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</a:rPr>
              <a:t>HFC:</a:t>
            </a:r>
            <a:r>
              <a:rPr sz="2400" spc="-35" dirty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</a:rPr>
              <a:t>hybrid</a:t>
            </a:r>
            <a:r>
              <a:rPr sz="2400" spc="-50" dirty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</a:rPr>
              <a:t>fiber</a:t>
            </a:r>
            <a:r>
              <a:rPr sz="2400" spc="-35" dirty="0">
                <a:solidFill>
                  <a:srgbClr val="FF0000"/>
                </a:solidFill>
              </a:rPr>
              <a:t> </a:t>
            </a:r>
            <a:r>
              <a:rPr sz="2400" spc="-20" dirty="0">
                <a:solidFill>
                  <a:srgbClr val="FF0000"/>
                </a:solidFill>
              </a:rPr>
              <a:t>coax</a:t>
            </a:r>
            <a:endParaRPr sz="2400" dirty="0">
              <a:latin typeface="Times New Roman"/>
              <a:cs typeface="Times New Roman"/>
            </a:endParaRPr>
          </a:p>
          <a:p>
            <a:pPr marL="745490" marR="233679" indent="-276225">
              <a:lnSpc>
                <a:spcPct val="100000"/>
              </a:lnSpc>
              <a:spcBef>
                <a:spcPts val="600"/>
              </a:spcBef>
            </a:pPr>
            <a:r>
              <a:rPr sz="2700" spc="1005" baseline="16975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700" spc="-37" baseline="169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/>
              <a:t>asymmetric:</a:t>
            </a:r>
            <a:r>
              <a:rPr sz="2400" spc="-40" dirty="0"/>
              <a:t> </a:t>
            </a:r>
            <a:r>
              <a:rPr sz="2400" dirty="0"/>
              <a:t>up</a:t>
            </a:r>
            <a:r>
              <a:rPr sz="2400" spc="-35" dirty="0"/>
              <a:t> </a:t>
            </a:r>
            <a:r>
              <a:rPr sz="2400" dirty="0"/>
              <a:t>to</a:t>
            </a:r>
            <a:r>
              <a:rPr sz="2400" spc="-40" dirty="0"/>
              <a:t> </a:t>
            </a:r>
            <a:r>
              <a:rPr sz="2400" dirty="0"/>
              <a:t>30Mbps</a:t>
            </a:r>
            <a:r>
              <a:rPr sz="2400" spc="-50" dirty="0"/>
              <a:t> </a:t>
            </a:r>
            <a:r>
              <a:rPr sz="2400" dirty="0"/>
              <a:t>downstream,</a:t>
            </a:r>
            <a:r>
              <a:rPr sz="2400" spc="-45" dirty="0"/>
              <a:t> </a:t>
            </a:r>
            <a:r>
              <a:rPr sz="2400" spc="-50" dirty="0"/>
              <a:t>2 </a:t>
            </a:r>
            <a:r>
              <a:rPr sz="2400" dirty="0"/>
              <a:t>Mbps</a:t>
            </a:r>
            <a:r>
              <a:rPr sz="2400" spc="-60" dirty="0"/>
              <a:t> </a:t>
            </a:r>
            <a:r>
              <a:rPr sz="2400" spc="-10" dirty="0"/>
              <a:t>upstream</a:t>
            </a:r>
            <a:endParaRPr sz="2400" dirty="0">
              <a:latin typeface="Times New Roman"/>
              <a:cs typeface="Times New Roman"/>
            </a:endParaRPr>
          </a:p>
          <a:p>
            <a:pPr marL="344805" marR="30480" indent="-332740">
              <a:lnSpc>
                <a:spcPct val="100000"/>
              </a:lnSpc>
              <a:spcBef>
                <a:spcPts val="59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45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</a:rPr>
              <a:t>network</a:t>
            </a:r>
            <a:r>
              <a:rPr sz="2400" spc="-35" dirty="0">
                <a:solidFill>
                  <a:srgbClr val="FF0000"/>
                </a:solidFill>
              </a:rPr>
              <a:t> </a:t>
            </a:r>
            <a:r>
              <a:rPr sz="2400" dirty="0"/>
              <a:t>of</a:t>
            </a:r>
            <a:r>
              <a:rPr sz="2400" spc="-30" dirty="0"/>
              <a:t> </a:t>
            </a:r>
            <a:r>
              <a:rPr sz="2400" dirty="0"/>
              <a:t>cable</a:t>
            </a:r>
            <a:r>
              <a:rPr sz="2400" spc="-30" dirty="0"/>
              <a:t> </a:t>
            </a:r>
            <a:r>
              <a:rPr sz="2400" dirty="0"/>
              <a:t>and</a:t>
            </a:r>
            <a:r>
              <a:rPr sz="2400" spc="-40" dirty="0"/>
              <a:t> </a:t>
            </a:r>
            <a:r>
              <a:rPr sz="2400" dirty="0"/>
              <a:t>fiber</a:t>
            </a:r>
            <a:r>
              <a:rPr sz="2400" spc="-30" dirty="0"/>
              <a:t> </a:t>
            </a:r>
            <a:r>
              <a:rPr sz="2400" dirty="0"/>
              <a:t>attaches</a:t>
            </a:r>
            <a:r>
              <a:rPr sz="2400" spc="-45" dirty="0"/>
              <a:t> </a:t>
            </a:r>
            <a:r>
              <a:rPr sz="2400" dirty="0"/>
              <a:t>homes</a:t>
            </a:r>
            <a:r>
              <a:rPr sz="2400" spc="-40" dirty="0"/>
              <a:t> </a:t>
            </a:r>
            <a:r>
              <a:rPr sz="2400" spc="-25" dirty="0"/>
              <a:t>to </a:t>
            </a:r>
            <a:r>
              <a:rPr sz="2400" dirty="0"/>
              <a:t>ISP</a:t>
            </a:r>
            <a:r>
              <a:rPr sz="2400" spc="-25" dirty="0"/>
              <a:t> </a:t>
            </a:r>
            <a:r>
              <a:rPr sz="2400" spc="-10" dirty="0"/>
              <a:t>router</a:t>
            </a:r>
            <a:endParaRPr sz="24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2700" spc="1005" baseline="16975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700" spc="-15" baseline="169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/>
              <a:t>homes</a:t>
            </a:r>
            <a:r>
              <a:rPr sz="2400" spc="-20" dirty="0"/>
              <a:t> </a:t>
            </a:r>
            <a:r>
              <a:rPr sz="2400" dirty="0"/>
              <a:t>share</a:t>
            </a:r>
            <a:r>
              <a:rPr sz="2400" spc="-20" dirty="0"/>
              <a:t> </a:t>
            </a:r>
            <a:r>
              <a:rPr sz="2400" dirty="0"/>
              <a:t>access</a:t>
            </a:r>
            <a:r>
              <a:rPr sz="2400" spc="-25" dirty="0"/>
              <a:t> </a:t>
            </a:r>
            <a:r>
              <a:rPr sz="2400" dirty="0"/>
              <a:t>to</a:t>
            </a:r>
            <a:r>
              <a:rPr sz="2400" spc="-25" dirty="0"/>
              <a:t> </a:t>
            </a:r>
            <a:r>
              <a:rPr sz="2400" spc="-10" dirty="0"/>
              <a:t>router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30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/>
              <a:t>deployment:</a:t>
            </a:r>
            <a:r>
              <a:rPr sz="2400" spc="-40" dirty="0"/>
              <a:t> </a:t>
            </a:r>
            <a:r>
              <a:rPr sz="2400" dirty="0"/>
              <a:t>available</a:t>
            </a:r>
            <a:r>
              <a:rPr sz="2400" spc="-35" dirty="0"/>
              <a:t> </a:t>
            </a:r>
            <a:r>
              <a:rPr sz="2400" dirty="0"/>
              <a:t>via</a:t>
            </a:r>
            <a:r>
              <a:rPr sz="2400" spc="-50" dirty="0"/>
              <a:t> </a:t>
            </a:r>
            <a:r>
              <a:rPr sz="2400" dirty="0"/>
              <a:t>cable</a:t>
            </a:r>
            <a:r>
              <a:rPr sz="2400" spc="-35" dirty="0"/>
              <a:t> </a:t>
            </a:r>
            <a:r>
              <a:rPr sz="2400" dirty="0"/>
              <a:t>TV</a:t>
            </a:r>
            <a:r>
              <a:rPr sz="2400" spc="-45" dirty="0"/>
              <a:t> </a:t>
            </a:r>
            <a:r>
              <a:rPr sz="2400" spc="-10" dirty="0"/>
              <a:t>companies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591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Cable</a:t>
            </a:r>
            <a:r>
              <a:rPr sz="2800" spc="-130" dirty="0"/>
              <a:t> </a:t>
            </a:r>
            <a:r>
              <a:rPr sz="2800" dirty="0"/>
              <a:t>Network</a:t>
            </a:r>
            <a:r>
              <a:rPr sz="2800" spc="-140" dirty="0"/>
              <a:t> </a:t>
            </a:r>
            <a:r>
              <a:rPr sz="2800" dirty="0"/>
              <a:t>Architecture:</a:t>
            </a:r>
            <a:r>
              <a:rPr sz="2800" spc="-135" dirty="0"/>
              <a:t> </a:t>
            </a:r>
            <a:r>
              <a:rPr sz="2800" spc="-10" dirty="0"/>
              <a:t>Overview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1127163" y="3873233"/>
            <a:ext cx="7196455" cy="1925955"/>
            <a:chOff x="1127163" y="3873233"/>
            <a:chExt cx="7196455" cy="19259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6562" y="3873233"/>
              <a:ext cx="1019162" cy="27936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16599" y="4308119"/>
              <a:ext cx="1019162" cy="27936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97159" y="4063682"/>
              <a:ext cx="1000442" cy="2746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16438" y="4229290"/>
              <a:ext cx="33108" cy="62207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916438" y="4229277"/>
              <a:ext cx="33655" cy="622300"/>
            </a:xfrm>
            <a:custGeom>
              <a:avLst/>
              <a:gdLst/>
              <a:ahLst/>
              <a:cxnLst/>
              <a:rect l="l" t="t" r="r" b="b"/>
              <a:pathLst>
                <a:path w="33654" h="622300">
                  <a:moveTo>
                    <a:pt x="33121" y="311048"/>
                  </a:moveTo>
                  <a:lnTo>
                    <a:pt x="33121" y="622084"/>
                  </a:lnTo>
                  <a:lnTo>
                    <a:pt x="0" y="622084"/>
                  </a:lnTo>
                  <a:lnTo>
                    <a:pt x="0" y="0"/>
                  </a:lnTo>
                  <a:lnTo>
                    <a:pt x="33121" y="0"/>
                  </a:lnTo>
                  <a:lnTo>
                    <a:pt x="33121" y="311048"/>
                  </a:lnTo>
                  <a:close/>
                </a:path>
              </a:pathLst>
            </a:custGeom>
            <a:ln w="6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17518" y="4227131"/>
              <a:ext cx="244436" cy="3347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917518" y="4227118"/>
              <a:ext cx="244475" cy="33655"/>
            </a:xfrm>
            <a:custGeom>
              <a:avLst/>
              <a:gdLst/>
              <a:ahLst/>
              <a:cxnLst/>
              <a:rect l="l" t="t" r="r" b="b"/>
              <a:pathLst>
                <a:path w="244475" h="33654">
                  <a:moveTo>
                    <a:pt x="122402" y="33477"/>
                  </a:moveTo>
                  <a:lnTo>
                    <a:pt x="0" y="33477"/>
                  </a:lnTo>
                  <a:lnTo>
                    <a:pt x="0" y="0"/>
                  </a:lnTo>
                  <a:lnTo>
                    <a:pt x="244436" y="0"/>
                  </a:lnTo>
                  <a:lnTo>
                    <a:pt x="244436" y="33477"/>
                  </a:lnTo>
                  <a:lnTo>
                    <a:pt x="122402" y="33477"/>
                  </a:lnTo>
                  <a:close/>
                </a:path>
              </a:pathLst>
            </a:custGeom>
            <a:ln w="6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23124" y="4076280"/>
              <a:ext cx="1000074" cy="27467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2399" y="5333758"/>
              <a:ext cx="1000074" cy="27467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38761" y="5070233"/>
              <a:ext cx="1019162" cy="27936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54837" y="5524207"/>
              <a:ext cx="1000074" cy="27467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70153" y="4905375"/>
              <a:ext cx="33477" cy="80495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770153" y="4905362"/>
              <a:ext cx="33655" cy="805180"/>
            </a:xfrm>
            <a:custGeom>
              <a:avLst/>
              <a:gdLst/>
              <a:ahLst/>
              <a:cxnLst/>
              <a:rect l="l" t="t" r="r" b="b"/>
              <a:pathLst>
                <a:path w="33654" h="805179">
                  <a:moveTo>
                    <a:pt x="33489" y="402475"/>
                  </a:moveTo>
                  <a:lnTo>
                    <a:pt x="33489" y="804951"/>
                  </a:lnTo>
                  <a:lnTo>
                    <a:pt x="0" y="804951"/>
                  </a:lnTo>
                  <a:lnTo>
                    <a:pt x="0" y="0"/>
                  </a:lnTo>
                  <a:lnTo>
                    <a:pt x="33489" y="0"/>
                  </a:lnTo>
                  <a:lnTo>
                    <a:pt x="33489" y="402475"/>
                  </a:lnTo>
                  <a:close/>
                </a:path>
              </a:pathLst>
            </a:custGeom>
            <a:ln w="6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71957" y="5682970"/>
              <a:ext cx="244436" cy="3275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771957" y="5682957"/>
              <a:ext cx="244475" cy="33020"/>
            </a:xfrm>
            <a:custGeom>
              <a:avLst/>
              <a:gdLst/>
              <a:ahLst/>
              <a:cxnLst/>
              <a:rect l="l" t="t" r="r" b="b"/>
              <a:pathLst>
                <a:path w="244475" h="33020">
                  <a:moveTo>
                    <a:pt x="122402" y="0"/>
                  </a:moveTo>
                  <a:lnTo>
                    <a:pt x="244436" y="0"/>
                  </a:lnTo>
                  <a:lnTo>
                    <a:pt x="244436" y="32766"/>
                  </a:lnTo>
                  <a:lnTo>
                    <a:pt x="0" y="32766"/>
                  </a:lnTo>
                  <a:lnTo>
                    <a:pt x="0" y="0"/>
                  </a:lnTo>
                  <a:lnTo>
                    <a:pt x="122402" y="0"/>
                  </a:lnTo>
                  <a:close/>
                </a:path>
              </a:pathLst>
            </a:custGeom>
            <a:ln w="6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28868" y="4887010"/>
              <a:ext cx="33477" cy="36034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528881" y="4886998"/>
              <a:ext cx="33655" cy="360680"/>
            </a:xfrm>
            <a:custGeom>
              <a:avLst/>
              <a:gdLst/>
              <a:ahLst/>
              <a:cxnLst/>
              <a:rect l="l" t="t" r="r" b="b"/>
              <a:pathLst>
                <a:path w="33654" h="360679">
                  <a:moveTo>
                    <a:pt x="33477" y="180365"/>
                  </a:moveTo>
                  <a:lnTo>
                    <a:pt x="33477" y="360362"/>
                  </a:lnTo>
                  <a:lnTo>
                    <a:pt x="0" y="360362"/>
                  </a:lnTo>
                  <a:lnTo>
                    <a:pt x="0" y="0"/>
                  </a:lnTo>
                  <a:lnTo>
                    <a:pt x="33477" y="0"/>
                  </a:lnTo>
                  <a:lnTo>
                    <a:pt x="33477" y="180365"/>
                  </a:lnTo>
                  <a:close/>
                </a:path>
              </a:pathLst>
            </a:custGeom>
            <a:ln w="6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30672" y="5222532"/>
              <a:ext cx="244792" cy="3131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530684" y="5222519"/>
              <a:ext cx="245110" cy="31750"/>
            </a:xfrm>
            <a:custGeom>
              <a:avLst/>
              <a:gdLst/>
              <a:ahLst/>
              <a:cxnLst/>
              <a:rect l="l" t="t" r="r" b="b"/>
              <a:pathLst>
                <a:path w="245110" h="31750">
                  <a:moveTo>
                    <a:pt x="122389" y="0"/>
                  </a:moveTo>
                  <a:lnTo>
                    <a:pt x="244792" y="0"/>
                  </a:lnTo>
                  <a:lnTo>
                    <a:pt x="244792" y="31318"/>
                  </a:lnTo>
                  <a:lnTo>
                    <a:pt x="0" y="31318"/>
                  </a:lnTo>
                  <a:lnTo>
                    <a:pt x="0" y="0"/>
                  </a:lnTo>
                  <a:lnTo>
                    <a:pt x="122389" y="0"/>
                  </a:lnTo>
                  <a:close/>
                </a:path>
              </a:pathLst>
            </a:custGeom>
            <a:ln w="6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94276" y="4900688"/>
              <a:ext cx="33108" cy="62207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094276" y="4900676"/>
              <a:ext cx="33655" cy="622300"/>
            </a:xfrm>
            <a:custGeom>
              <a:avLst/>
              <a:gdLst/>
              <a:ahLst/>
              <a:cxnLst/>
              <a:rect l="l" t="t" r="r" b="b"/>
              <a:pathLst>
                <a:path w="33654" h="622300">
                  <a:moveTo>
                    <a:pt x="33121" y="311048"/>
                  </a:moveTo>
                  <a:lnTo>
                    <a:pt x="33121" y="622084"/>
                  </a:lnTo>
                  <a:lnTo>
                    <a:pt x="0" y="622084"/>
                  </a:lnTo>
                  <a:lnTo>
                    <a:pt x="0" y="0"/>
                  </a:lnTo>
                  <a:lnTo>
                    <a:pt x="33121" y="0"/>
                  </a:lnTo>
                  <a:lnTo>
                    <a:pt x="33121" y="311048"/>
                  </a:lnTo>
                  <a:close/>
                </a:path>
              </a:pathLst>
            </a:custGeom>
            <a:ln w="6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95356" y="5490730"/>
              <a:ext cx="244436" cy="3347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095356" y="5490718"/>
              <a:ext cx="244475" cy="33655"/>
            </a:xfrm>
            <a:custGeom>
              <a:avLst/>
              <a:gdLst/>
              <a:ahLst/>
              <a:cxnLst/>
              <a:rect l="l" t="t" r="r" b="b"/>
              <a:pathLst>
                <a:path w="244475" h="33654">
                  <a:moveTo>
                    <a:pt x="122402" y="0"/>
                  </a:moveTo>
                  <a:lnTo>
                    <a:pt x="244449" y="0"/>
                  </a:lnTo>
                  <a:lnTo>
                    <a:pt x="244449" y="33477"/>
                  </a:lnTo>
                  <a:lnTo>
                    <a:pt x="0" y="33477"/>
                  </a:lnTo>
                  <a:lnTo>
                    <a:pt x="0" y="0"/>
                  </a:lnTo>
                  <a:lnTo>
                    <a:pt x="122402" y="0"/>
                  </a:lnTo>
                  <a:close/>
                </a:path>
              </a:pathLst>
            </a:custGeom>
            <a:ln w="6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25829" y="4248023"/>
              <a:ext cx="33477" cy="61918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125843" y="4247997"/>
              <a:ext cx="33655" cy="619760"/>
            </a:xfrm>
            <a:custGeom>
              <a:avLst/>
              <a:gdLst/>
              <a:ahLst/>
              <a:cxnLst/>
              <a:rect l="l" t="t" r="r" b="b"/>
              <a:pathLst>
                <a:path w="33654" h="619760">
                  <a:moveTo>
                    <a:pt x="33477" y="309600"/>
                  </a:moveTo>
                  <a:lnTo>
                    <a:pt x="33477" y="619201"/>
                  </a:lnTo>
                  <a:lnTo>
                    <a:pt x="0" y="619201"/>
                  </a:lnTo>
                  <a:lnTo>
                    <a:pt x="0" y="0"/>
                  </a:lnTo>
                  <a:lnTo>
                    <a:pt x="33477" y="0"/>
                  </a:lnTo>
                  <a:lnTo>
                    <a:pt x="33477" y="309600"/>
                  </a:lnTo>
                  <a:close/>
                </a:path>
              </a:pathLst>
            </a:custGeom>
            <a:ln w="6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127633" y="4246206"/>
              <a:ext cx="244436" cy="3347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7127633" y="4246194"/>
              <a:ext cx="244475" cy="33655"/>
            </a:xfrm>
            <a:custGeom>
              <a:avLst/>
              <a:gdLst/>
              <a:ahLst/>
              <a:cxnLst/>
              <a:rect l="l" t="t" r="r" b="b"/>
              <a:pathLst>
                <a:path w="244475" h="33654">
                  <a:moveTo>
                    <a:pt x="122402" y="33489"/>
                  </a:moveTo>
                  <a:lnTo>
                    <a:pt x="0" y="33489"/>
                  </a:lnTo>
                  <a:lnTo>
                    <a:pt x="0" y="0"/>
                  </a:lnTo>
                  <a:lnTo>
                    <a:pt x="244449" y="0"/>
                  </a:lnTo>
                  <a:lnTo>
                    <a:pt x="244449" y="33489"/>
                  </a:lnTo>
                  <a:lnTo>
                    <a:pt x="122402" y="33489"/>
                  </a:lnTo>
                  <a:close/>
                </a:path>
              </a:pathLst>
            </a:custGeom>
            <a:ln w="6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57468" y="4470133"/>
              <a:ext cx="33477" cy="36827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757481" y="4470120"/>
              <a:ext cx="33655" cy="368300"/>
            </a:xfrm>
            <a:custGeom>
              <a:avLst/>
              <a:gdLst/>
              <a:ahLst/>
              <a:cxnLst/>
              <a:rect l="l" t="t" r="r" b="b"/>
              <a:pathLst>
                <a:path w="33654" h="368300">
                  <a:moveTo>
                    <a:pt x="33477" y="184315"/>
                  </a:moveTo>
                  <a:lnTo>
                    <a:pt x="33477" y="368274"/>
                  </a:lnTo>
                  <a:lnTo>
                    <a:pt x="0" y="368274"/>
                  </a:lnTo>
                  <a:lnTo>
                    <a:pt x="0" y="0"/>
                  </a:lnTo>
                  <a:lnTo>
                    <a:pt x="33477" y="0"/>
                  </a:lnTo>
                  <a:lnTo>
                    <a:pt x="33477" y="184315"/>
                  </a:lnTo>
                  <a:close/>
                </a:path>
              </a:pathLst>
            </a:custGeom>
            <a:ln w="6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59272" y="4468329"/>
              <a:ext cx="244792" cy="3347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759284" y="4468317"/>
              <a:ext cx="245110" cy="33655"/>
            </a:xfrm>
            <a:custGeom>
              <a:avLst/>
              <a:gdLst/>
              <a:ahLst/>
              <a:cxnLst/>
              <a:rect l="l" t="t" r="r" b="b"/>
              <a:pathLst>
                <a:path w="245110" h="33654">
                  <a:moveTo>
                    <a:pt x="122389" y="33477"/>
                  </a:moveTo>
                  <a:lnTo>
                    <a:pt x="0" y="33477"/>
                  </a:lnTo>
                  <a:lnTo>
                    <a:pt x="0" y="0"/>
                  </a:lnTo>
                  <a:lnTo>
                    <a:pt x="244792" y="0"/>
                  </a:lnTo>
                  <a:lnTo>
                    <a:pt x="244792" y="33477"/>
                  </a:lnTo>
                  <a:lnTo>
                    <a:pt x="122389" y="33477"/>
                  </a:lnTo>
                  <a:close/>
                </a:path>
              </a:pathLst>
            </a:custGeom>
            <a:ln w="6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21439" y="4032008"/>
              <a:ext cx="33108" cy="80963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221439" y="4031996"/>
              <a:ext cx="33655" cy="810260"/>
            </a:xfrm>
            <a:custGeom>
              <a:avLst/>
              <a:gdLst/>
              <a:ahLst/>
              <a:cxnLst/>
              <a:rect l="l" t="t" r="r" b="b"/>
              <a:pathLst>
                <a:path w="33654" h="810260">
                  <a:moveTo>
                    <a:pt x="33121" y="405002"/>
                  </a:moveTo>
                  <a:lnTo>
                    <a:pt x="33121" y="809637"/>
                  </a:lnTo>
                  <a:lnTo>
                    <a:pt x="0" y="809637"/>
                  </a:lnTo>
                  <a:lnTo>
                    <a:pt x="0" y="0"/>
                  </a:lnTo>
                  <a:lnTo>
                    <a:pt x="33121" y="0"/>
                  </a:lnTo>
                  <a:lnTo>
                    <a:pt x="33121" y="405002"/>
                  </a:lnTo>
                  <a:close/>
                </a:path>
              </a:pathLst>
            </a:custGeom>
            <a:ln w="6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222519" y="4030205"/>
              <a:ext cx="244436" cy="33477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5222519" y="4030205"/>
              <a:ext cx="244475" cy="33655"/>
            </a:xfrm>
            <a:custGeom>
              <a:avLst/>
              <a:gdLst/>
              <a:ahLst/>
              <a:cxnLst/>
              <a:rect l="l" t="t" r="r" b="b"/>
              <a:pathLst>
                <a:path w="244475" h="33654">
                  <a:moveTo>
                    <a:pt x="122402" y="33477"/>
                  </a:moveTo>
                  <a:lnTo>
                    <a:pt x="0" y="33477"/>
                  </a:lnTo>
                  <a:lnTo>
                    <a:pt x="0" y="0"/>
                  </a:lnTo>
                  <a:lnTo>
                    <a:pt x="244436" y="0"/>
                  </a:lnTo>
                  <a:lnTo>
                    <a:pt x="244436" y="33477"/>
                  </a:lnTo>
                  <a:lnTo>
                    <a:pt x="122402" y="33477"/>
                  </a:lnTo>
                  <a:close/>
                </a:path>
              </a:pathLst>
            </a:custGeom>
            <a:ln w="6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612516" y="4844897"/>
              <a:ext cx="5092915" cy="43192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612516" y="4844884"/>
              <a:ext cx="5093335" cy="43815"/>
            </a:xfrm>
            <a:custGeom>
              <a:avLst/>
              <a:gdLst/>
              <a:ahLst/>
              <a:cxnLst/>
              <a:rect l="l" t="t" r="r" b="b"/>
              <a:pathLst>
                <a:path w="5093334" h="43814">
                  <a:moveTo>
                    <a:pt x="2546642" y="0"/>
                  </a:moveTo>
                  <a:lnTo>
                    <a:pt x="5092928" y="0"/>
                  </a:lnTo>
                  <a:lnTo>
                    <a:pt x="5092928" y="43192"/>
                  </a:lnTo>
                  <a:lnTo>
                    <a:pt x="0" y="43192"/>
                  </a:lnTo>
                  <a:lnTo>
                    <a:pt x="0" y="0"/>
                  </a:lnTo>
                  <a:lnTo>
                    <a:pt x="2546642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27163" y="4355642"/>
              <a:ext cx="1504797" cy="782637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124085" y="4993195"/>
              <a:ext cx="374650" cy="718820"/>
            </a:xfrm>
            <a:custGeom>
              <a:avLst/>
              <a:gdLst/>
              <a:ahLst/>
              <a:cxnLst/>
              <a:rect l="l" t="t" r="r" b="b"/>
              <a:pathLst>
                <a:path w="374650" h="718820">
                  <a:moveTo>
                    <a:pt x="0" y="718210"/>
                  </a:moveTo>
                  <a:lnTo>
                    <a:pt x="374040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462121" y="4930559"/>
              <a:ext cx="68580" cy="85090"/>
            </a:xfrm>
            <a:custGeom>
              <a:avLst/>
              <a:gdLst/>
              <a:ahLst/>
              <a:cxnLst/>
              <a:rect l="l" t="t" r="r" b="b"/>
              <a:pathLst>
                <a:path w="68579" h="85089">
                  <a:moveTo>
                    <a:pt x="68402" y="0"/>
                  </a:moveTo>
                  <a:lnTo>
                    <a:pt x="0" y="49682"/>
                  </a:lnTo>
                  <a:lnTo>
                    <a:pt x="66954" y="84594"/>
                  </a:lnTo>
                  <a:lnTo>
                    <a:pt x="6840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4212615" y="3091230"/>
            <a:ext cx="42195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mic Sans MS"/>
                <a:cs typeface="Comic Sans MS"/>
              </a:rPr>
              <a:t>Typically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500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to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5,000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homes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204099" y="5193415"/>
            <a:ext cx="1355725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dirty="0">
                <a:latin typeface="Arial"/>
                <a:cs typeface="Arial"/>
              </a:rPr>
              <a:t>cable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headend</a:t>
            </a:r>
            <a:endParaRPr sz="16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495939" y="5638017"/>
            <a:ext cx="53340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spc="-20" dirty="0">
                <a:latin typeface="Arial"/>
                <a:cs typeface="Arial"/>
              </a:rPr>
              <a:t>home</a:t>
            </a:r>
            <a:endParaRPr sz="16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225065" y="5764738"/>
            <a:ext cx="1772920" cy="49657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5080" indent="111125">
              <a:lnSpc>
                <a:spcPts val="1920"/>
              </a:lnSpc>
              <a:spcBef>
                <a:spcPts val="10"/>
              </a:spcBef>
            </a:pPr>
            <a:r>
              <a:rPr sz="1600" dirty="0">
                <a:latin typeface="Arial"/>
                <a:cs typeface="Arial"/>
              </a:rPr>
              <a:t>cable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distribution </a:t>
            </a:r>
            <a:r>
              <a:rPr sz="1600" dirty="0">
                <a:latin typeface="Arial"/>
                <a:cs typeface="Arial"/>
              </a:rPr>
              <a:t>network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(simplified)</a:t>
            </a:r>
            <a:endParaRPr sz="1600">
              <a:latin typeface="Arial"/>
              <a:cs typeface="Arial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39</a:t>
            </a:fld>
            <a:endParaRPr spc="-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591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Cable</a:t>
            </a:r>
            <a:r>
              <a:rPr sz="2800" spc="-130" dirty="0"/>
              <a:t> </a:t>
            </a:r>
            <a:r>
              <a:rPr sz="2800" dirty="0"/>
              <a:t>Network</a:t>
            </a:r>
            <a:r>
              <a:rPr sz="2800" spc="-140" dirty="0"/>
              <a:t> </a:t>
            </a:r>
            <a:r>
              <a:rPr sz="2800" dirty="0"/>
              <a:t>Architecture:</a:t>
            </a:r>
            <a:r>
              <a:rPr sz="2800" spc="-135" dirty="0"/>
              <a:t> </a:t>
            </a:r>
            <a:r>
              <a:rPr sz="2800" spc="-10" dirty="0"/>
              <a:t>Overview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1127163" y="3873233"/>
            <a:ext cx="7196455" cy="1925955"/>
            <a:chOff x="1127163" y="3873233"/>
            <a:chExt cx="7196455" cy="19259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6562" y="3873233"/>
              <a:ext cx="1019162" cy="27936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16599" y="4308119"/>
              <a:ext cx="1019162" cy="27936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97159" y="4063682"/>
              <a:ext cx="1000442" cy="2746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16438" y="4229290"/>
              <a:ext cx="33108" cy="62207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916438" y="4229277"/>
              <a:ext cx="33655" cy="622300"/>
            </a:xfrm>
            <a:custGeom>
              <a:avLst/>
              <a:gdLst/>
              <a:ahLst/>
              <a:cxnLst/>
              <a:rect l="l" t="t" r="r" b="b"/>
              <a:pathLst>
                <a:path w="33654" h="622300">
                  <a:moveTo>
                    <a:pt x="33121" y="311048"/>
                  </a:moveTo>
                  <a:lnTo>
                    <a:pt x="33121" y="622084"/>
                  </a:lnTo>
                  <a:lnTo>
                    <a:pt x="0" y="622084"/>
                  </a:lnTo>
                  <a:lnTo>
                    <a:pt x="0" y="0"/>
                  </a:lnTo>
                  <a:lnTo>
                    <a:pt x="33121" y="0"/>
                  </a:lnTo>
                  <a:lnTo>
                    <a:pt x="33121" y="311048"/>
                  </a:lnTo>
                  <a:close/>
                </a:path>
              </a:pathLst>
            </a:custGeom>
            <a:ln w="6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17518" y="4227131"/>
              <a:ext cx="244436" cy="3347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917518" y="4227118"/>
              <a:ext cx="244475" cy="33655"/>
            </a:xfrm>
            <a:custGeom>
              <a:avLst/>
              <a:gdLst/>
              <a:ahLst/>
              <a:cxnLst/>
              <a:rect l="l" t="t" r="r" b="b"/>
              <a:pathLst>
                <a:path w="244475" h="33654">
                  <a:moveTo>
                    <a:pt x="122402" y="33477"/>
                  </a:moveTo>
                  <a:lnTo>
                    <a:pt x="0" y="33477"/>
                  </a:lnTo>
                  <a:lnTo>
                    <a:pt x="0" y="0"/>
                  </a:lnTo>
                  <a:lnTo>
                    <a:pt x="244436" y="0"/>
                  </a:lnTo>
                  <a:lnTo>
                    <a:pt x="244436" y="33477"/>
                  </a:lnTo>
                  <a:lnTo>
                    <a:pt x="122402" y="33477"/>
                  </a:lnTo>
                  <a:close/>
                </a:path>
              </a:pathLst>
            </a:custGeom>
            <a:ln w="6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23124" y="4076280"/>
              <a:ext cx="1000074" cy="27467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2399" y="5333758"/>
              <a:ext cx="1000074" cy="27467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38761" y="5070233"/>
              <a:ext cx="1019162" cy="27936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54837" y="5524207"/>
              <a:ext cx="1000074" cy="27467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70153" y="4905375"/>
              <a:ext cx="33477" cy="80495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770153" y="4905362"/>
              <a:ext cx="33655" cy="805180"/>
            </a:xfrm>
            <a:custGeom>
              <a:avLst/>
              <a:gdLst/>
              <a:ahLst/>
              <a:cxnLst/>
              <a:rect l="l" t="t" r="r" b="b"/>
              <a:pathLst>
                <a:path w="33654" h="805179">
                  <a:moveTo>
                    <a:pt x="33489" y="402475"/>
                  </a:moveTo>
                  <a:lnTo>
                    <a:pt x="33489" y="804951"/>
                  </a:lnTo>
                  <a:lnTo>
                    <a:pt x="0" y="804951"/>
                  </a:lnTo>
                  <a:lnTo>
                    <a:pt x="0" y="0"/>
                  </a:lnTo>
                  <a:lnTo>
                    <a:pt x="33489" y="0"/>
                  </a:lnTo>
                  <a:lnTo>
                    <a:pt x="33489" y="402475"/>
                  </a:lnTo>
                  <a:close/>
                </a:path>
              </a:pathLst>
            </a:custGeom>
            <a:ln w="6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71957" y="5682970"/>
              <a:ext cx="244436" cy="3275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771957" y="5682957"/>
              <a:ext cx="244475" cy="33020"/>
            </a:xfrm>
            <a:custGeom>
              <a:avLst/>
              <a:gdLst/>
              <a:ahLst/>
              <a:cxnLst/>
              <a:rect l="l" t="t" r="r" b="b"/>
              <a:pathLst>
                <a:path w="244475" h="33020">
                  <a:moveTo>
                    <a:pt x="122402" y="0"/>
                  </a:moveTo>
                  <a:lnTo>
                    <a:pt x="244436" y="0"/>
                  </a:lnTo>
                  <a:lnTo>
                    <a:pt x="244436" y="32766"/>
                  </a:lnTo>
                  <a:lnTo>
                    <a:pt x="0" y="32766"/>
                  </a:lnTo>
                  <a:lnTo>
                    <a:pt x="0" y="0"/>
                  </a:lnTo>
                  <a:lnTo>
                    <a:pt x="122402" y="0"/>
                  </a:lnTo>
                  <a:close/>
                </a:path>
              </a:pathLst>
            </a:custGeom>
            <a:ln w="6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28868" y="4887010"/>
              <a:ext cx="33477" cy="36034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528881" y="4886998"/>
              <a:ext cx="33655" cy="360680"/>
            </a:xfrm>
            <a:custGeom>
              <a:avLst/>
              <a:gdLst/>
              <a:ahLst/>
              <a:cxnLst/>
              <a:rect l="l" t="t" r="r" b="b"/>
              <a:pathLst>
                <a:path w="33654" h="360679">
                  <a:moveTo>
                    <a:pt x="33477" y="180365"/>
                  </a:moveTo>
                  <a:lnTo>
                    <a:pt x="33477" y="360362"/>
                  </a:lnTo>
                  <a:lnTo>
                    <a:pt x="0" y="360362"/>
                  </a:lnTo>
                  <a:lnTo>
                    <a:pt x="0" y="0"/>
                  </a:lnTo>
                  <a:lnTo>
                    <a:pt x="33477" y="0"/>
                  </a:lnTo>
                  <a:lnTo>
                    <a:pt x="33477" y="180365"/>
                  </a:lnTo>
                  <a:close/>
                </a:path>
              </a:pathLst>
            </a:custGeom>
            <a:ln w="6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30672" y="5222532"/>
              <a:ext cx="244792" cy="3131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530684" y="5222519"/>
              <a:ext cx="245110" cy="31750"/>
            </a:xfrm>
            <a:custGeom>
              <a:avLst/>
              <a:gdLst/>
              <a:ahLst/>
              <a:cxnLst/>
              <a:rect l="l" t="t" r="r" b="b"/>
              <a:pathLst>
                <a:path w="245110" h="31750">
                  <a:moveTo>
                    <a:pt x="122389" y="0"/>
                  </a:moveTo>
                  <a:lnTo>
                    <a:pt x="244792" y="0"/>
                  </a:lnTo>
                  <a:lnTo>
                    <a:pt x="244792" y="31318"/>
                  </a:lnTo>
                  <a:lnTo>
                    <a:pt x="0" y="31318"/>
                  </a:lnTo>
                  <a:lnTo>
                    <a:pt x="0" y="0"/>
                  </a:lnTo>
                  <a:lnTo>
                    <a:pt x="122389" y="0"/>
                  </a:lnTo>
                  <a:close/>
                </a:path>
              </a:pathLst>
            </a:custGeom>
            <a:ln w="6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94276" y="4900688"/>
              <a:ext cx="33108" cy="62207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094276" y="4900676"/>
              <a:ext cx="33655" cy="622300"/>
            </a:xfrm>
            <a:custGeom>
              <a:avLst/>
              <a:gdLst/>
              <a:ahLst/>
              <a:cxnLst/>
              <a:rect l="l" t="t" r="r" b="b"/>
              <a:pathLst>
                <a:path w="33654" h="622300">
                  <a:moveTo>
                    <a:pt x="33121" y="311048"/>
                  </a:moveTo>
                  <a:lnTo>
                    <a:pt x="33121" y="622084"/>
                  </a:lnTo>
                  <a:lnTo>
                    <a:pt x="0" y="622084"/>
                  </a:lnTo>
                  <a:lnTo>
                    <a:pt x="0" y="0"/>
                  </a:lnTo>
                  <a:lnTo>
                    <a:pt x="33121" y="0"/>
                  </a:lnTo>
                  <a:lnTo>
                    <a:pt x="33121" y="311048"/>
                  </a:lnTo>
                  <a:close/>
                </a:path>
              </a:pathLst>
            </a:custGeom>
            <a:ln w="6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95356" y="5490730"/>
              <a:ext cx="244436" cy="3347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095356" y="5490718"/>
              <a:ext cx="244475" cy="33655"/>
            </a:xfrm>
            <a:custGeom>
              <a:avLst/>
              <a:gdLst/>
              <a:ahLst/>
              <a:cxnLst/>
              <a:rect l="l" t="t" r="r" b="b"/>
              <a:pathLst>
                <a:path w="244475" h="33654">
                  <a:moveTo>
                    <a:pt x="122402" y="0"/>
                  </a:moveTo>
                  <a:lnTo>
                    <a:pt x="244449" y="0"/>
                  </a:lnTo>
                  <a:lnTo>
                    <a:pt x="244449" y="33477"/>
                  </a:lnTo>
                  <a:lnTo>
                    <a:pt x="0" y="33477"/>
                  </a:lnTo>
                  <a:lnTo>
                    <a:pt x="0" y="0"/>
                  </a:lnTo>
                  <a:lnTo>
                    <a:pt x="122402" y="0"/>
                  </a:lnTo>
                  <a:close/>
                </a:path>
              </a:pathLst>
            </a:custGeom>
            <a:ln w="6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25829" y="4248023"/>
              <a:ext cx="33477" cy="61918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125843" y="4247997"/>
              <a:ext cx="33655" cy="619760"/>
            </a:xfrm>
            <a:custGeom>
              <a:avLst/>
              <a:gdLst/>
              <a:ahLst/>
              <a:cxnLst/>
              <a:rect l="l" t="t" r="r" b="b"/>
              <a:pathLst>
                <a:path w="33654" h="619760">
                  <a:moveTo>
                    <a:pt x="33477" y="309600"/>
                  </a:moveTo>
                  <a:lnTo>
                    <a:pt x="33477" y="619201"/>
                  </a:lnTo>
                  <a:lnTo>
                    <a:pt x="0" y="619201"/>
                  </a:lnTo>
                  <a:lnTo>
                    <a:pt x="0" y="0"/>
                  </a:lnTo>
                  <a:lnTo>
                    <a:pt x="33477" y="0"/>
                  </a:lnTo>
                  <a:lnTo>
                    <a:pt x="33477" y="309600"/>
                  </a:lnTo>
                  <a:close/>
                </a:path>
              </a:pathLst>
            </a:custGeom>
            <a:ln w="6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127633" y="4246206"/>
              <a:ext cx="244436" cy="3347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7127633" y="4246194"/>
              <a:ext cx="244475" cy="33655"/>
            </a:xfrm>
            <a:custGeom>
              <a:avLst/>
              <a:gdLst/>
              <a:ahLst/>
              <a:cxnLst/>
              <a:rect l="l" t="t" r="r" b="b"/>
              <a:pathLst>
                <a:path w="244475" h="33654">
                  <a:moveTo>
                    <a:pt x="122402" y="33489"/>
                  </a:moveTo>
                  <a:lnTo>
                    <a:pt x="0" y="33489"/>
                  </a:lnTo>
                  <a:lnTo>
                    <a:pt x="0" y="0"/>
                  </a:lnTo>
                  <a:lnTo>
                    <a:pt x="244449" y="0"/>
                  </a:lnTo>
                  <a:lnTo>
                    <a:pt x="244449" y="33489"/>
                  </a:lnTo>
                  <a:lnTo>
                    <a:pt x="122402" y="33489"/>
                  </a:lnTo>
                  <a:close/>
                </a:path>
              </a:pathLst>
            </a:custGeom>
            <a:ln w="6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57468" y="4470133"/>
              <a:ext cx="33477" cy="36827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757481" y="4470120"/>
              <a:ext cx="33655" cy="368300"/>
            </a:xfrm>
            <a:custGeom>
              <a:avLst/>
              <a:gdLst/>
              <a:ahLst/>
              <a:cxnLst/>
              <a:rect l="l" t="t" r="r" b="b"/>
              <a:pathLst>
                <a:path w="33654" h="368300">
                  <a:moveTo>
                    <a:pt x="33477" y="184315"/>
                  </a:moveTo>
                  <a:lnTo>
                    <a:pt x="33477" y="368274"/>
                  </a:lnTo>
                  <a:lnTo>
                    <a:pt x="0" y="368274"/>
                  </a:lnTo>
                  <a:lnTo>
                    <a:pt x="0" y="0"/>
                  </a:lnTo>
                  <a:lnTo>
                    <a:pt x="33477" y="0"/>
                  </a:lnTo>
                  <a:lnTo>
                    <a:pt x="33477" y="184315"/>
                  </a:lnTo>
                  <a:close/>
                </a:path>
              </a:pathLst>
            </a:custGeom>
            <a:ln w="6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59272" y="4468329"/>
              <a:ext cx="244792" cy="3347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759284" y="4468317"/>
              <a:ext cx="245110" cy="33655"/>
            </a:xfrm>
            <a:custGeom>
              <a:avLst/>
              <a:gdLst/>
              <a:ahLst/>
              <a:cxnLst/>
              <a:rect l="l" t="t" r="r" b="b"/>
              <a:pathLst>
                <a:path w="245110" h="33654">
                  <a:moveTo>
                    <a:pt x="122389" y="33477"/>
                  </a:moveTo>
                  <a:lnTo>
                    <a:pt x="0" y="33477"/>
                  </a:lnTo>
                  <a:lnTo>
                    <a:pt x="0" y="0"/>
                  </a:lnTo>
                  <a:lnTo>
                    <a:pt x="244792" y="0"/>
                  </a:lnTo>
                  <a:lnTo>
                    <a:pt x="244792" y="33477"/>
                  </a:lnTo>
                  <a:lnTo>
                    <a:pt x="122389" y="33477"/>
                  </a:lnTo>
                  <a:close/>
                </a:path>
              </a:pathLst>
            </a:custGeom>
            <a:ln w="6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21439" y="4032008"/>
              <a:ext cx="33108" cy="80963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221439" y="4031996"/>
              <a:ext cx="33655" cy="810260"/>
            </a:xfrm>
            <a:custGeom>
              <a:avLst/>
              <a:gdLst/>
              <a:ahLst/>
              <a:cxnLst/>
              <a:rect l="l" t="t" r="r" b="b"/>
              <a:pathLst>
                <a:path w="33654" h="810260">
                  <a:moveTo>
                    <a:pt x="33121" y="405002"/>
                  </a:moveTo>
                  <a:lnTo>
                    <a:pt x="33121" y="809637"/>
                  </a:lnTo>
                  <a:lnTo>
                    <a:pt x="0" y="809637"/>
                  </a:lnTo>
                  <a:lnTo>
                    <a:pt x="0" y="0"/>
                  </a:lnTo>
                  <a:lnTo>
                    <a:pt x="33121" y="0"/>
                  </a:lnTo>
                  <a:lnTo>
                    <a:pt x="33121" y="405002"/>
                  </a:lnTo>
                  <a:close/>
                </a:path>
              </a:pathLst>
            </a:custGeom>
            <a:ln w="6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222519" y="4030205"/>
              <a:ext cx="244436" cy="33477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5222519" y="4030205"/>
              <a:ext cx="244475" cy="33655"/>
            </a:xfrm>
            <a:custGeom>
              <a:avLst/>
              <a:gdLst/>
              <a:ahLst/>
              <a:cxnLst/>
              <a:rect l="l" t="t" r="r" b="b"/>
              <a:pathLst>
                <a:path w="244475" h="33654">
                  <a:moveTo>
                    <a:pt x="122402" y="33477"/>
                  </a:moveTo>
                  <a:lnTo>
                    <a:pt x="0" y="33477"/>
                  </a:lnTo>
                  <a:lnTo>
                    <a:pt x="0" y="0"/>
                  </a:lnTo>
                  <a:lnTo>
                    <a:pt x="244436" y="0"/>
                  </a:lnTo>
                  <a:lnTo>
                    <a:pt x="244436" y="33477"/>
                  </a:lnTo>
                  <a:lnTo>
                    <a:pt x="122402" y="33477"/>
                  </a:lnTo>
                  <a:close/>
                </a:path>
              </a:pathLst>
            </a:custGeom>
            <a:ln w="64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612516" y="4844897"/>
              <a:ext cx="5092915" cy="43192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612516" y="4844884"/>
              <a:ext cx="5093335" cy="43815"/>
            </a:xfrm>
            <a:custGeom>
              <a:avLst/>
              <a:gdLst/>
              <a:ahLst/>
              <a:cxnLst/>
              <a:rect l="l" t="t" r="r" b="b"/>
              <a:pathLst>
                <a:path w="5093334" h="43814">
                  <a:moveTo>
                    <a:pt x="2546642" y="0"/>
                  </a:moveTo>
                  <a:lnTo>
                    <a:pt x="5092928" y="0"/>
                  </a:lnTo>
                  <a:lnTo>
                    <a:pt x="5092928" y="43192"/>
                  </a:lnTo>
                  <a:lnTo>
                    <a:pt x="0" y="43192"/>
                  </a:lnTo>
                  <a:lnTo>
                    <a:pt x="0" y="0"/>
                  </a:lnTo>
                  <a:lnTo>
                    <a:pt x="2546642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27163" y="4355642"/>
              <a:ext cx="1504797" cy="782637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124085" y="4993195"/>
              <a:ext cx="374650" cy="718820"/>
            </a:xfrm>
            <a:custGeom>
              <a:avLst/>
              <a:gdLst/>
              <a:ahLst/>
              <a:cxnLst/>
              <a:rect l="l" t="t" r="r" b="b"/>
              <a:pathLst>
                <a:path w="374650" h="718820">
                  <a:moveTo>
                    <a:pt x="0" y="718210"/>
                  </a:moveTo>
                  <a:lnTo>
                    <a:pt x="374040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462121" y="4930559"/>
              <a:ext cx="68580" cy="85090"/>
            </a:xfrm>
            <a:custGeom>
              <a:avLst/>
              <a:gdLst/>
              <a:ahLst/>
              <a:cxnLst/>
              <a:rect l="l" t="t" r="r" b="b"/>
              <a:pathLst>
                <a:path w="68579" h="85089">
                  <a:moveTo>
                    <a:pt x="68402" y="0"/>
                  </a:moveTo>
                  <a:lnTo>
                    <a:pt x="0" y="49682"/>
                  </a:lnTo>
                  <a:lnTo>
                    <a:pt x="66954" y="84594"/>
                  </a:lnTo>
                  <a:lnTo>
                    <a:pt x="6840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3686035" y="1657070"/>
            <a:ext cx="4681855" cy="1621155"/>
            <a:chOff x="3686035" y="1657070"/>
            <a:chExt cx="4681855" cy="1621155"/>
          </a:xfrm>
        </p:grpSpPr>
        <p:sp>
          <p:nvSpPr>
            <p:cNvPr id="45" name="object 45"/>
            <p:cNvSpPr/>
            <p:nvPr/>
          </p:nvSpPr>
          <p:spPr>
            <a:xfrm>
              <a:off x="4033805" y="3246481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679"/>
                  </a:moveTo>
                  <a:lnTo>
                    <a:pt x="1370" y="1370"/>
                  </a:lnTo>
                  <a:lnTo>
                    <a:pt x="4679" y="0"/>
                  </a:lnTo>
                  <a:lnTo>
                    <a:pt x="7989" y="1370"/>
                  </a:lnTo>
                  <a:lnTo>
                    <a:pt x="9359" y="4679"/>
                  </a:lnTo>
                  <a:lnTo>
                    <a:pt x="7989" y="7989"/>
                  </a:lnTo>
                  <a:lnTo>
                    <a:pt x="4679" y="9359"/>
                  </a:lnTo>
                  <a:lnTo>
                    <a:pt x="1370" y="7989"/>
                  </a:lnTo>
                  <a:lnTo>
                    <a:pt x="0" y="4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686035" y="1657070"/>
              <a:ext cx="4681804" cy="1620723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1204099" y="5193415"/>
            <a:ext cx="1355725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dirty="0">
                <a:latin typeface="Arial"/>
                <a:cs typeface="Arial"/>
              </a:rPr>
              <a:t>cable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headend</a:t>
            </a:r>
            <a:endParaRPr sz="16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95939" y="5638017"/>
            <a:ext cx="53340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spc="-20" dirty="0">
                <a:latin typeface="Arial"/>
                <a:cs typeface="Arial"/>
              </a:rPr>
              <a:t>home</a:t>
            </a:r>
            <a:endParaRPr sz="16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225065" y="5764738"/>
            <a:ext cx="1772920" cy="49657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5080" indent="111125">
              <a:lnSpc>
                <a:spcPts val="1920"/>
              </a:lnSpc>
              <a:spcBef>
                <a:spcPts val="10"/>
              </a:spcBef>
            </a:pPr>
            <a:r>
              <a:rPr sz="1600" dirty="0">
                <a:latin typeface="Arial"/>
                <a:cs typeface="Arial"/>
              </a:rPr>
              <a:t>cable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distribution </a:t>
            </a:r>
            <a:r>
              <a:rPr sz="1600" dirty="0">
                <a:latin typeface="Arial"/>
                <a:cs typeface="Arial"/>
              </a:rPr>
              <a:t>network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(simplified)</a:t>
            </a:r>
            <a:endParaRPr sz="1600">
              <a:latin typeface="Arial"/>
              <a:cs typeface="Arial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40</a:t>
            </a:fld>
            <a:endParaRPr spc="-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219" y="543496"/>
            <a:ext cx="692023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Company</a:t>
            </a:r>
            <a:r>
              <a:rPr sz="3200" spc="-60" dirty="0"/>
              <a:t> </a:t>
            </a:r>
            <a:r>
              <a:rPr sz="3200" dirty="0"/>
              <a:t>access:</a:t>
            </a:r>
            <a:r>
              <a:rPr sz="3200" spc="-50" dirty="0"/>
              <a:t> </a:t>
            </a:r>
            <a:r>
              <a:rPr sz="3200" dirty="0"/>
              <a:t>local</a:t>
            </a:r>
            <a:r>
              <a:rPr sz="3200" spc="-70" dirty="0"/>
              <a:t> </a:t>
            </a:r>
            <a:r>
              <a:rPr sz="3200" dirty="0"/>
              <a:t>area</a:t>
            </a:r>
            <a:r>
              <a:rPr sz="3200" spc="-60" dirty="0"/>
              <a:t> </a:t>
            </a:r>
            <a:r>
              <a:rPr sz="3200" spc="-10" dirty="0"/>
              <a:t>networks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72719" y="1404620"/>
            <a:ext cx="4277995" cy="43832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2905" marR="115570" indent="-332740">
              <a:lnSpc>
                <a:spcPct val="100000"/>
              </a:lnSpc>
              <a:spcBef>
                <a:spcPts val="100"/>
              </a:spcBef>
            </a:pPr>
            <a:r>
              <a:rPr sz="3075" spc="1147" baseline="1355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15" baseline="135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company/univ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local</a:t>
            </a:r>
            <a:r>
              <a:rPr sz="2400" spc="-5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Comic Sans MS"/>
                <a:cs typeface="Comic Sans MS"/>
              </a:rPr>
              <a:t>area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network</a:t>
            </a:r>
            <a:r>
              <a:rPr sz="2400" spc="-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(LAN)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connects </a:t>
            </a:r>
            <a:r>
              <a:rPr sz="2400" dirty="0">
                <a:latin typeface="Comic Sans MS"/>
                <a:cs typeface="Comic Sans MS"/>
              </a:rPr>
              <a:t>end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system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to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edge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router</a:t>
            </a:r>
            <a:endParaRPr sz="2400" dirty="0">
              <a:latin typeface="Comic Sans MS"/>
              <a:cs typeface="Comic Sans MS"/>
            </a:endParaRPr>
          </a:p>
          <a:p>
            <a:pPr marL="50800">
              <a:lnSpc>
                <a:spcPct val="100000"/>
              </a:lnSpc>
              <a:spcBef>
                <a:spcPts val="59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82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Ethernet:</a:t>
            </a:r>
            <a:endParaRPr sz="2400" dirty="0">
              <a:latin typeface="Comic Sans MS"/>
              <a:cs typeface="Comic Sans MS"/>
            </a:endParaRPr>
          </a:p>
          <a:p>
            <a:pPr marL="783590" marR="30480" indent="-276225">
              <a:lnSpc>
                <a:spcPct val="100000"/>
              </a:lnSpc>
              <a:spcBef>
                <a:spcPts val="595"/>
              </a:spcBef>
            </a:pPr>
            <a:r>
              <a:rPr sz="2700" spc="1005" baseline="16975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700" spc="-37" baseline="169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shared</a:t>
            </a:r>
            <a:r>
              <a:rPr sz="2400" spc="-4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or</a:t>
            </a:r>
            <a:r>
              <a:rPr sz="2400" spc="-4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dedicated</a:t>
            </a:r>
            <a:r>
              <a:rPr sz="2400" spc="-50" dirty="0">
                <a:latin typeface="Comic Sans MS"/>
                <a:cs typeface="Comic Sans MS"/>
              </a:rPr>
              <a:t> </a:t>
            </a:r>
            <a:r>
              <a:rPr sz="2400" spc="-20" dirty="0">
                <a:latin typeface="Comic Sans MS"/>
                <a:cs typeface="Comic Sans MS"/>
              </a:rPr>
              <a:t>link </a:t>
            </a:r>
            <a:r>
              <a:rPr sz="2400" dirty="0">
                <a:latin typeface="Comic Sans MS"/>
                <a:cs typeface="Comic Sans MS"/>
              </a:rPr>
              <a:t>connects</a:t>
            </a:r>
            <a:r>
              <a:rPr sz="2400" spc="-5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end</a:t>
            </a:r>
            <a:r>
              <a:rPr sz="2400" spc="-6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system </a:t>
            </a:r>
            <a:r>
              <a:rPr sz="2400" dirty="0">
                <a:latin typeface="Comic Sans MS"/>
                <a:cs typeface="Comic Sans MS"/>
              </a:rPr>
              <a:t>and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router</a:t>
            </a:r>
            <a:endParaRPr sz="2400" dirty="0">
              <a:latin typeface="Comic Sans MS"/>
              <a:cs typeface="Comic Sans MS"/>
            </a:endParaRPr>
          </a:p>
          <a:p>
            <a:pPr marL="783590" marR="942340" indent="-276225">
              <a:lnSpc>
                <a:spcPct val="100000"/>
              </a:lnSpc>
              <a:spcBef>
                <a:spcPts val="605"/>
              </a:spcBef>
            </a:pPr>
            <a:r>
              <a:rPr sz="2700" spc="1005" baseline="16975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700" spc="-15" baseline="169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10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Mb</a:t>
            </a:r>
            <a:r>
              <a:rPr lang="en-US" sz="2400" dirty="0">
                <a:latin typeface="Comic Sans MS"/>
                <a:cs typeface="Comic Sans MS"/>
              </a:rPr>
              <a:t>p</a:t>
            </a:r>
            <a:r>
              <a:rPr sz="2400" dirty="0">
                <a:latin typeface="Comic Sans MS"/>
                <a:cs typeface="Comic Sans MS"/>
              </a:rPr>
              <a:t>s,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100Mbps, </a:t>
            </a:r>
            <a:r>
              <a:rPr sz="2400" dirty="0">
                <a:latin typeface="Comic Sans MS"/>
                <a:cs typeface="Comic Sans MS"/>
              </a:rPr>
              <a:t>Gigabit</a:t>
            </a:r>
            <a:r>
              <a:rPr sz="2400" spc="-8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Ethernet</a:t>
            </a:r>
            <a:endParaRPr sz="2400" dirty="0">
              <a:latin typeface="Comic Sans MS"/>
              <a:cs typeface="Comic Sans MS"/>
            </a:endParaRPr>
          </a:p>
          <a:p>
            <a:pPr marL="50800">
              <a:lnSpc>
                <a:spcPct val="100000"/>
              </a:lnSpc>
              <a:spcBef>
                <a:spcPts val="600"/>
              </a:spcBef>
              <a:tabLst>
                <a:tab pos="1437640" algn="l"/>
              </a:tabLst>
            </a:pPr>
            <a:r>
              <a:rPr sz="3075" spc="1147" baseline="1355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97" baseline="135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LANs:</a:t>
            </a:r>
            <a:r>
              <a:rPr sz="2400" dirty="0">
                <a:latin typeface="Comic Sans MS"/>
                <a:cs typeface="Comic Sans MS"/>
              </a:rPr>
              <a:t>	chapter</a:t>
            </a:r>
            <a:r>
              <a:rPr sz="2400" spc="-60" dirty="0">
                <a:latin typeface="Comic Sans MS"/>
                <a:cs typeface="Comic Sans MS"/>
              </a:rPr>
              <a:t> </a:t>
            </a:r>
            <a:r>
              <a:rPr sz="2400" spc="-50" dirty="0">
                <a:latin typeface="Comic Sans MS"/>
                <a:cs typeface="Comic Sans MS"/>
              </a:rPr>
              <a:t>5</a:t>
            </a:r>
            <a:endParaRPr sz="2400" dirty="0">
              <a:latin typeface="Comic Sans MS"/>
              <a:cs typeface="Comic Sans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16562" y="2432164"/>
            <a:ext cx="2792730" cy="2336800"/>
            <a:chOff x="5416562" y="2432164"/>
            <a:chExt cx="2792730" cy="23368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6562" y="2432164"/>
              <a:ext cx="1832038" cy="233676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513206" y="3754437"/>
              <a:ext cx="265430" cy="698500"/>
            </a:xfrm>
            <a:custGeom>
              <a:avLst/>
              <a:gdLst/>
              <a:ahLst/>
              <a:cxnLst/>
              <a:rect l="l" t="t" r="r" b="b"/>
              <a:pathLst>
                <a:path w="265429" h="698500">
                  <a:moveTo>
                    <a:pt x="264960" y="0"/>
                  </a:moveTo>
                  <a:lnTo>
                    <a:pt x="143992" y="0"/>
                  </a:lnTo>
                  <a:lnTo>
                    <a:pt x="143992" y="155524"/>
                  </a:lnTo>
                  <a:lnTo>
                    <a:pt x="0" y="155524"/>
                  </a:lnTo>
                  <a:lnTo>
                    <a:pt x="0" y="698398"/>
                  </a:lnTo>
                  <a:lnTo>
                    <a:pt x="86029" y="698398"/>
                  </a:lnTo>
                  <a:lnTo>
                    <a:pt x="172072" y="698398"/>
                  </a:lnTo>
                  <a:lnTo>
                    <a:pt x="172072" y="542886"/>
                  </a:lnTo>
                  <a:lnTo>
                    <a:pt x="204470" y="542886"/>
                  </a:lnTo>
                  <a:lnTo>
                    <a:pt x="264960" y="542886"/>
                  </a:lnTo>
                  <a:lnTo>
                    <a:pt x="264960" y="0"/>
                  </a:lnTo>
                  <a:close/>
                </a:path>
              </a:pathLst>
            </a:custGeom>
            <a:solidFill>
              <a:srgbClr val="33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13205" y="3909961"/>
              <a:ext cx="172085" cy="542925"/>
            </a:xfrm>
            <a:custGeom>
              <a:avLst/>
              <a:gdLst/>
              <a:ahLst/>
              <a:cxnLst/>
              <a:rect l="l" t="t" r="r" b="b"/>
              <a:pathLst>
                <a:path w="172084" h="542925">
                  <a:moveTo>
                    <a:pt x="86029" y="542874"/>
                  </a:moveTo>
                  <a:lnTo>
                    <a:pt x="0" y="542874"/>
                  </a:lnTo>
                  <a:lnTo>
                    <a:pt x="0" y="0"/>
                  </a:lnTo>
                  <a:lnTo>
                    <a:pt x="172072" y="0"/>
                  </a:lnTo>
                  <a:lnTo>
                    <a:pt x="172072" y="542874"/>
                  </a:lnTo>
                  <a:lnTo>
                    <a:pt x="86029" y="542874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11757" y="374976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33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507078" y="3745084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679"/>
                  </a:moveTo>
                  <a:lnTo>
                    <a:pt x="1370" y="1370"/>
                  </a:lnTo>
                  <a:lnTo>
                    <a:pt x="4679" y="0"/>
                  </a:lnTo>
                  <a:lnTo>
                    <a:pt x="7989" y="1370"/>
                  </a:lnTo>
                  <a:lnTo>
                    <a:pt x="9359" y="4679"/>
                  </a:lnTo>
                  <a:lnTo>
                    <a:pt x="7989" y="7989"/>
                  </a:lnTo>
                  <a:lnTo>
                    <a:pt x="4679" y="9359"/>
                  </a:lnTo>
                  <a:lnTo>
                    <a:pt x="1370" y="7989"/>
                  </a:lnTo>
                  <a:lnTo>
                    <a:pt x="0" y="4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86357" y="3760914"/>
              <a:ext cx="114935" cy="692150"/>
            </a:xfrm>
            <a:custGeom>
              <a:avLst/>
              <a:gdLst/>
              <a:ahLst/>
              <a:cxnLst/>
              <a:rect l="l" t="t" r="r" b="b"/>
              <a:pathLst>
                <a:path w="114934" h="692150">
                  <a:moveTo>
                    <a:pt x="114477" y="0"/>
                  </a:moveTo>
                  <a:lnTo>
                    <a:pt x="114477" y="531723"/>
                  </a:lnTo>
                </a:path>
                <a:path w="114934" h="692150">
                  <a:moveTo>
                    <a:pt x="111963" y="541083"/>
                  </a:moveTo>
                  <a:lnTo>
                    <a:pt x="0" y="691921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536599" y="3983037"/>
              <a:ext cx="112395" cy="309880"/>
            </a:xfrm>
            <a:custGeom>
              <a:avLst/>
              <a:gdLst/>
              <a:ahLst/>
              <a:cxnLst/>
              <a:rect l="l" t="t" r="r" b="b"/>
              <a:pathLst>
                <a:path w="112395" h="309879">
                  <a:moveTo>
                    <a:pt x="111963" y="0"/>
                  </a:moveTo>
                  <a:lnTo>
                    <a:pt x="0" y="0"/>
                  </a:lnTo>
                  <a:lnTo>
                    <a:pt x="0" y="309600"/>
                  </a:lnTo>
                  <a:lnTo>
                    <a:pt x="56159" y="309600"/>
                  </a:lnTo>
                  <a:lnTo>
                    <a:pt x="111963" y="309600"/>
                  </a:lnTo>
                  <a:lnTo>
                    <a:pt x="111963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536599" y="3983037"/>
              <a:ext cx="112395" cy="309880"/>
            </a:xfrm>
            <a:custGeom>
              <a:avLst/>
              <a:gdLst/>
              <a:ahLst/>
              <a:cxnLst/>
              <a:rect l="l" t="t" r="r" b="b"/>
              <a:pathLst>
                <a:path w="112395" h="309879">
                  <a:moveTo>
                    <a:pt x="56159" y="309600"/>
                  </a:moveTo>
                  <a:lnTo>
                    <a:pt x="0" y="309600"/>
                  </a:lnTo>
                  <a:lnTo>
                    <a:pt x="0" y="0"/>
                  </a:lnTo>
                  <a:lnTo>
                    <a:pt x="111963" y="0"/>
                  </a:lnTo>
                  <a:lnTo>
                    <a:pt x="111963" y="309600"/>
                  </a:lnTo>
                  <a:lnTo>
                    <a:pt x="56159" y="30960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54595" y="4079875"/>
              <a:ext cx="78740" cy="101600"/>
            </a:xfrm>
            <a:custGeom>
              <a:avLst/>
              <a:gdLst/>
              <a:ahLst/>
              <a:cxnLst/>
              <a:rect l="l" t="t" r="r" b="b"/>
              <a:pathLst>
                <a:path w="78740" h="101600">
                  <a:moveTo>
                    <a:pt x="78485" y="0"/>
                  </a:moveTo>
                  <a:lnTo>
                    <a:pt x="0" y="0"/>
                  </a:lnTo>
                  <a:lnTo>
                    <a:pt x="0" y="101523"/>
                  </a:lnTo>
                  <a:lnTo>
                    <a:pt x="39243" y="101523"/>
                  </a:lnTo>
                  <a:lnTo>
                    <a:pt x="78485" y="101523"/>
                  </a:lnTo>
                  <a:lnTo>
                    <a:pt x="784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916405" y="3754437"/>
              <a:ext cx="265430" cy="698500"/>
            </a:xfrm>
            <a:custGeom>
              <a:avLst/>
              <a:gdLst/>
              <a:ahLst/>
              <a:cxnLst/>
              <a:rect l="l" t="t" r="r" b="b"/>
              <a:pathLst>
                <a:path w="265429" h="698500">
                  <a:moveTo>
                    <a:pt x="264960" y="0"/>
                  </a:moveTo>
                  <a:lnTo>
                    <a:pt x="143992" y="0"/>
                  </a:lnTo>
                  <a:lnTo>
                    <a:pt x="143992" y="155524"/>
                  </a:lnTo>
                  <a:lnTo>
                    <a:pt x="0" y="155524"/>
                  </a:lnTo>
                  <a:lnTo>
                    <a:pt x="0" y="698398"/>
                  </a:lnTo>
                  <a:lnTo>
                    <a:pt x="86029" y="698398"/>
                  </a:lnTo>
                  <a:lnTo>
                    <a:pt x="172072" y="698398"/>
                  </a:lnTo>
                  <a:lnTo>
                    <a:pt x="172072" y="542886"/>
                  </a:lnTo>
                  <a:lnTo>
                    <a:pt x="204470" y="542886"/>
                  </a:lnTo>
                  <a:lnTo>
                    <a:pt x="264960" y="542886"/>
                  </a:lnTo>
                  <a:lnTo>
                    <a:pt x="264960" y="0"/>
                  </a:lnTo>
                  <a:close/>
                </a:path>
              </a:pathLst>
            </a:custGeom>
            <a:solidFill>
              <a:srgbClr val="33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916405" y="3909961"/>
              <a:ext cx="172085" cy="542925"/>
            </a:xfrm>
            <a:custGeom>
              <a:avLst/>
              <a:gdLst/>
              <a:ahLst/>
              <a:cxnLst/>
              <a:rect l="l" t="t" r="r" b="b"/>
              <a:pathLst>
                <a:path w="172084" h="542925">
                  <a:moveTo>
                    <a:pt x="86029" y="542874"/>
                  </a:moveTo>
                  <a:lnTo>
                    <a:pt x="0" y="542874"/>
                  </a:lnTo>
                  <a:lnTo>
                    <a:pt x="0" y="0"/>
                  </a:lnTo>
                  <a:lnTo>
                    <a:pt x="172072" y="0"/>
                  </a:lnTo>
                  <a:lnTo>
                    <a:pt x="172072" y="542874"/>
                  </a:lnTo>
                  <a:lnTo>
                    <a:pt x="86029" y="542874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914957" y="374976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33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910277" y="3745084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679"/>
                  </a:moveTo>
                  <a:lnTo>
                    <a:pt x="1370" y="1370"/>
                  </a:lnTo>
                  <a:lnTo>
                    <a:pt x="4679" y="0"/>
                  </a:lnTo>
                  <a:lnTo>
                    <a:pt x="7989" y="1370"/>
                  </a:lnTo>
                  <a:lnTo>
                    <a:pt x="9359" y="4679"/>
                  </a:lnTo>
                  <a:lnTo>
                    <a:pt x="7989" y="7989"/>
                  </a:lnTo>
                  <a:lnTo>
                    <a:pt x="4679" y="9359"/>
                  </a:lnTo>
                  <a:lnTo>
                    <a:pt x="1370" y="7989"/>
                  </a:lnTo>
                  <a:lnTo>
                    <a:pt x="0" y="4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089557" y="3760914"/>
              <a:ext cx="114935" cy="692150"/>
            </a:xfrm>
            <a:custGeom>
              <a:avLst/>
              <a:gdLst/>
              <a:ahLst/>
              <a:cxnLst/>
              <a:rect l="l" t="t" r="r" b="b"/>
              <a:pathLst>
                <a:path w="114934" h="692150">
                  <a:moveTo>
                    <a:pt x="114477" y="0"/>
                  </a:moveTo>
                  <a:lnTo>
                    <a:pt x="114477" y="531723"/>
                  </a:lnTo>
                </a:path>
                <a:path w="114934" h="692150">
                  <a:moveTo>
                    <a:pt x="111963" y="541083"/>
                  </a:moveTo>
                  <a:lnTo>
                    <a:pt x="0" y="691921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940154" y="3983037"/>
              <a:ext cx="112395" cy="309880"/>
            </a:xfrm>
            <a:custGeom>
              <a:avLst/>
              <a:gdLst/>
              <a:ahLst/>
              <a:cxnLst/>
              <a:rect l="l" t="t" r="r" b="b"/>
              <a:pathLst>
                <a:path w="112395" h="309879">
                  <a:moveTo>
                    <a:pt x="112331" y="0"/>
                  </a:moveTo>
                  <a:lnTo>
                    <a:pt x="0" y="0"/>
                  </a:lnTo>
                  <a:lnTo>
                    <a:pt x="0" y="309600"/>
                  </a:lnTo>
                  <a:lnTo>
                    <a:pt x="56159" y="309600"/>
                  </a:lnTo>
                  <a:lnTo>
                    <a:pt x="112331" y="309600"/>
                  </a:lnTo>
                  <a:lnTo>
                    <a:pt x="112331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940154" y="3983037"/>
              <a:ext cx="112395" cy="309880"/>
            </a:xfrm>
            <a:custGeom>
              <a:avLst/>
              <a:gdLst/>
              <a:ahLst/>
              <a:cxnLst/>
              <a:rect l="l" t="t" r="r" b="b"/>
              <a:pathLst>
                <a:path w="112395" h="309879">
                  <a:moveTo>
                    <a:pt x="56159" y="309600"/>
                  </a:moveTo>
                  <a:lnTo>
                    <a:pt x="0" y="309600"/>
                  </a:lnTo>
                  <a:lnTo>
                    <a:pt x="0" y="0"/>
                  </a:lnTo>
                  <a:lnTo>
                    <a:pt x="112331" y="0"/>
                  </a:lnTo>
                  <a:lnTo>
                    <a:pt x="112331" y="309600"/>
                  </a:lnTo>
                  <a:lnTo>
                    <a:pt x="56159" y="30960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959242" y="4079875"/>
              <a:ext cx="83820" cy="101600"/>
            </a:xfrm>
            <a:custGeom>
              <a:avLst/>
              <a:gdLst/>
              <a:ahLst/>
              <a:cxnLst/>
              <a:rect l="l" t="t" r="r" b="b"/>
              <a:pathLst>
                <a:path w="83820" h="101600">
                  <a:moveTo>
                    <a:pt x="83515" y="0"/>
                  </a:moveTo>
                  <a:lnTo>
                    <a:pt x="0" y="0"/>
                  </a:lnTo>
                  <a:lnTo>
                    <a:pt x="0" y="101523"/>
                  </a:lnTo>
                  <a:lnTo>
                    <a:pt x="41757" y="101523"/>
                  </a:lnTo>
                  <a:lnTo>
                    <a:pt x="83515" y="101523"/>
                  </a:lnTo>
                  <a:lnTo>
                    <a:pt x="835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961314" y="3481197"/>
              <a:ext cx="1123950" cy="292100"/>
            </a:xfrm>
            <a:custGeom>
              <a:avLst/>
              <a:gdLst/>
              <a:ahLst/>
              <a:cxnLst/>
              <a:rect l="l" t="t" r="r" b="b"/>
              <a:pathLst>
                <a:path w="1123950" h="292100">
                  <a:moveTo>
                    <a:pt x="0" y="25565"/>
                  </a:moveTo>
                  <a:lnTo>
                    <a:pt x="1117447" y="25565"/>
                  </a:lnTo>
                </a:path>
                <a:path w="1123950" h="292100">
                  <a:moveTo>
                    <a:pt x="765009" y="291960"/>
                  </a:moveTo>
                  <a:lnTo>
                    <a:pt x="765009" y="0"/>
                  </a:lnTo>
                </a:path>
                <a:path w="1123950" h="292100">
                  <a:moveTo>
                    <a:pt x="1123924" y="291960"/>
                  </a:moveTo>
                  <a:lnTo>
                    <a:pt x="1123924" y="0"/>
                  </a:lnTo>
                </a:path>
              </a:pathLst>
            </a:custGeom>
            <a:ln w="3815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41</a:t>
            </a:fld>
            <a:endParaRPr spc="-2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219" y="543496"/>
            <a:ext cx="49256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Wireless</a:t>
            </a:r>
            <a:r>
              <a:rPr sz="3200" spc="-85" dirty="0"/>
              <a:t> </a:t>
            </a:r>
            <a:r>
              <a:rPr sz="3200" dirty="0"/>
              <a:t>access</a:t>
            </a:r>
            <a:r>
              <a:rPr sz="3200" spc="-85" dirty="0"/>
              <a:t> </a:t>
            </a:r>
            <a:r>
              <a:rPr sz="3200" spc="-10" dirty="0"/>
              <a:t>networks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9038" y="1343115"/>
            <a:ext cx="4566285" cy="453199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357505" marR="17780" indent="-332740">
              <a:lnSpc>
                <a:spcPts val="2880"/>
              </a:lnSpc>
              <a:spcBef>
                <a:spcPts val="28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00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shared</a:t>
            </a:r>
            <a:r>
              <a:rPr sz="2400" spc="-50" dirty="0">
                <a:latin typeface="Comic Sans MS"/>
                <a:cs typeface="Comic Sans MS"/>
              </a:rPr>
              <a:t> </a:t>
            </a:r>
            <a:r>
              <a:rPr sz="2450" i="1" spc="-10" dirty="0">
                <a:latin typeface="Comic Sans MS"/>
                <a:cs typeface="Comic Sans MS"/>
              </a:rPr>
              <a:t>wireless</a:t>
            </a:r>
            <a:r>
              <a:rPr sz="2450" i="1" spc="-8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access </a:t>
            </a:r>
            <a:r>
              <a:rPr sz="2400" dirty="0">
                <a:latin typeface="Comic Sans MS"/>
                <a:cs typeface="Comic Sans MS"/>
              </a:rPr>
              <a:t>network</a:t>
            </a:r>
            <a:r>
              <a:rPr sz="2400" spc="-6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connects</a:t>
            </a:r>
            <a:r>
              <a:rPr sz="2400" spc="-5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end</a:t>
            </a:r>
            <a:r>
              <a:rPr sz="2400" spc="-5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system </a:t>
            </a:r>
            <a:r>
              <a:rPr sz="2400" dirty="0">
                <a:latin typeface="Comic Sans MS"/>
                <a:cs typeface="Comic Sans MS"/>
              </a:rPr>
              <a:t>to</a:t>
            </a:r>
            <a:r>
              <a:rPr sz="2400" spc="-10" dirty="0">
                <a:latin typeface="Comic Sans MS"/>
                <a:cs typeface="Comic Sans MS"/>
              </a:rPr>
              <a:t> router</a:t>
            </a:r>
            <a:endParaRPr sz="2400" dirty="0">
              <a:latin typeface="Comic Sans MS"/>
              <a:cs typeface="Comic Sans MS"/>
            </a:endParaRPr>
          </a:p>
          <a:p>
            <a:pPr marL="757555" marR="522605" indent="-275590">
              <a:lnSpc>
                <a:spcPct val="100000"/>
              </a:lnSpc>
              <a:spcBef>
                <a:spcPts val="405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487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via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base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station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aka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“access point”</a:t>
            </a:r>
            <a:endParaRPr sz="2000" dirty="0">
              <a:latin typeface="Comic Sans MS"/>
              <a:cs typeface="Comic Sans MS"/>
            </a:endParaRPr>
          </a:p>
          <a:p>
            <a:pPr marL="25400">
              <a:lnSpc>
                <a:spcPct val="100000"/>
              </a:lnSpc>
              <a:spcBef>
                <a:spcPts val="6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67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wireless</a:t>
            </a:r>
            <a:r>
              <a:rPr sz="2400" spc="-1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Comic Sans MS"/>
                <a:cs typeface="Comic Sans MS"/>
              </a:rPr>
              <a:t>LANs:</a:t>
            </a:r>
            <a:endParaRPr sz="2400" dirty="0">
              <a:latin typeface="Comic Sans MS"/>
              <a:cs typeface="Comic Sans MS"/>
            </a:endParaRPr>
          </a:p>
          <a:p>
            <a:pPr marL="482600">
              <a:lnSpc>
                <a:spcPct val="100000"/>
              </a:lnSpc>
              <a:spcBef>
                <a:spcPts val="495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487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802.11b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(WiFi):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11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spc="-20" dirty="0">
                <a:latin typeface="Comic Sans MS"/>
                <a:cs typeface="Comic Sans MS"/>
              </a:rPr>
              <a:t>Mbps</a:t>
            </a:r>
            <a:endParaRPr sz="2000" dirty="0">
              <a:latin typeface="Comic Sans MS"/>
              <a:cs typeface="Comic Sans MS"/>
            </a:endParaRPr>
          </a:p>
          <a:p>
            <a:pPr marL="25400">
              <a:lnSpc>
                <a:spcPct val="100000"/>
              </a:lnSpc>
              <a:spcBef>
                <a:spcPts val="605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75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wider-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area</a:t>
            </a:r>
            <a:r>
              <a:rPr sz="2400" spc="-1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wireless</a:t>
            </a:r>
            <a:r>
              <a:rPr sz="2400" spc="-2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access</a:t>
            </a:r>
            <a:endParaRPr sz="2400" dirty="0">
              <a:latin typeface="Comic Sans MS"/>
              <a:cs typeface="Comic Sans MS"/>
            </a:endParaRPr>
          </a:p>
          <a:p>
            <a:pPr marL="482600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487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provided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by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telco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operator</a:t>
            </a:r>
            <a:endParaRPr sz="2000" dirty="0">
              <a:latin typeface="Comic Sans MS"/>
              <a:cs typeface="Comic Sans MS"/>
            </a:endParaRPr>
          </a:p>
          <a:p>
            <a:pPr marL="482600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09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3G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~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384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spc="-20" dirty="0">
                <a:latin typeface="Comic Sans MS"/>
                <a:cs typeface="Comic Sans MS"/>
              </a:rPr>
              <a:t>kbps</a:t>
            </a:r>
            <a:endParaRPr sz="2000" dirty="0">
              <a:latin typeface="Comic Sans MS"/>
              <a:cs typeface="Comic Sans MS"/>
            </a:endParaRPr>
          </a:p>
          <a:p>
            <a:pPr marL="1167765" indent="-227329">
              <a:lnSpc>
                <a:spcPct val="100000"/>
              </a:lnSpc>
              <a:spcBef>
                <a:spcPts val="509"/>
              </a:spcBef>
              <a:buChar char="•"/>
              <a:tabLst>
                <a:tab pos="1167765" algn="l"/>
              </a:tabLst>
            </a:pPr>
            <a:r>
              <a:rPr sz="2000" dirty="0">
                <a:latin typeface="Comic Sans MS"/>
                <a:cs typeface="Comic Sans MS"/>
              </a:rPr>
              <a:t>Will</a:t>
            </a:r>
            <a:r>
              <a:rPr sz="2000" spc="-1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it</a:t>
            </a:r>
            <a:r>
              <a:rPr sz="2000" spc="-10" dirty="0">
                <a:latin typeface="Comic Sans MS"/>
                <a:cs typeface="Comic Sans MS"/>
              </a:rPr>
              <a:t> happen??</a:t>
            </a:r>
            <a:endParaRPr sz="2000" dirty="0">
              <a:latin typeface="Comic Sans MS"/>
              <a:cs typeface="Comic Sans MS"/>
            </a:endParaRPr>
          </a:p>
          <a:p>
            <a:pPr marL="482600">
              <a:lnSpc>
                <a:spcPct val="100000"/>
              </a:lnSpc>
              <a:spcBef>
                <a:spcPts val="484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17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WAP/GPRS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in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Europe</a:t>
            </a:r>
            <a:endParaRPr sz="2000" dirty="0">
              <a:latin typeface="Comic Sans MS"/>
              <a:cs typeface="Comic Sans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23685" y="4056837"/>
            <a:ext cx="607314" cy="7740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76045" y="3971163"/>
            <a:ext cx="606958" cy="7707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57315" y="2612517"/>
            <a:ext cx="568807" cy="89028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6484504" y="2244424"/>
            <a:ext cx="768985" cy="269240"/>
            <a:chOff x="6484504" y="2244424"/>
            <a:chExt cx="768985" cy="269240"/>
          </a:xfrm>
        </p:grpSpPr>
        <p:sp>
          <p:nvSpPr>
            <p:cNvPr id="8" name="object 8"/>
            <p:cNvSpPr/>
            <p:nvPr/>
          </p:nvSpPr>
          <p:spPr>
            <a:xfrm>
              <a:off x="6490804" y="239364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90804" y="2373477"/>
              <a:ext cx="756285" cy="140335"/>
            </a:xfrm>
            <a:custGeom>
              <a:avLst/>
              <a:gdLst/>
              <a:ahLst/>
              <a:cxnLst/>
              <a:rect l="l" t="t" r="r" b="b"/>
              <a:pathLst>
                <a:path w="756284" h="140335">
                  <a:moveTo>
                    <a:pt x="0" y="20167"/>
                  </a:moveTo>
                  <a:lnTo>
                    <a:pt x="0" y="20167"/>
                  </a:lnTo>
                  <a:lnTo>
                    <a:pt x="0" y="20167"/>
                  </a:lnTo>
                  <a:close/>
                </a:path>
                <a:path w="756284" h="140335">
                  <a:moveTo>
                    <a:pt x="0" y="0"/>
                  </a:moveTo>
                  <a:lnTo>
                    <a:pt x="0" y="140042"/>
                  </a:lnTo>
                </a:path>
                <a:path w="756284" h="140335">
                  <a:moveTo>
                    <a:pt x="755992" y="0"/>
                  </a:moveTo>
                  <a:lnTo>
                    <a:pt x="755992" y="140042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490436" y="2374925"/>
              <a:ext cx="740410" cy="135255"/>
            </a:xfrm>
            <a:custGeom>
              <a:avLst/>
              <a:gdLst/>
              <a:ahLst/>
              <a:cxnLst/>
              <a:rect l="l" t="t" r="r" b="b"/>
              <a:pathLst>
                <a:path w="740409" h="135255">
                  <a:moveTo>
                    <a:pt x="739800" y="0"/>
                  </a:moveTo>
                  <a:lnTo>
                    <a:pt x="0" y="0"/>
                  </a:lnTo>
                  <a:lnTo>
                    <a:pt x="0" y="134988"/>
                  </a:lnTo>
                  <a:lnTo>
                    <a:pt x="370077" y="134988"/>
                  </a:lnTo>
                  <a:lnTo>
                    <a:pt x="739800" y="134988"/>
                  </a:lnTo>
                  <a:lnTo>
                    <a:pt x="739800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52619" y="2244424"/>
              <a:ext cx="376385" cy="182871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20482" y="2374925"/>
            <a:ext cx="607313" cy="77075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71561" y="3428276"/>
            <a:ext cx="606958" cy="770763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485219" y="2205990"/>
            <a:ext cx="1038860" cy="1441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95885" algn="r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mic Sans MS"/>
                <a:cs typeface="Comic Sans MS"/>
              </a:rPr>
              <a:t>router</a:t>
            </a:r>
            <a:endParaRPr sz="2400">
              <a:latin typeface="Comic Sans MS"/>
              <a:cs typeface="Comic Sans MS"/>
            </a:endParaRPr>
          </a:p>
          <a:p>
            <a:pPr marL="31750" marR="5080" indent="342265" algn="r">
              <a:lnSpc>
                <a:spcPct val="100000"/>
              </a:lnSpc>
              <a:spcBef>
                <a:spcPts val="2510"/>
              </a:spcBef>
            </a:pPr>
            <a:r>
              <a:rPr sz="2400" spc="-20" dirty="0">
                <a:latin typeface="Comic Sans MS"/>
                <a:cs typeface="Comic Sans MS"/>
              </a:rPr>
              <a:t>base </a:t>
            </a:r>
            <a:r>
              <a:rPr sz="2400" spc="-10" dirty="0">
                <a:latin typeface="Comic Sans MS"/>
                <a:cs typeface="Comic Sans MS"/>
              </a:rPr>
              <a:t>station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10945" y="4900942"/>
            <a:ext cx="9398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0495" marR="5080" indent="-13843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mic Sans MS"/>
                <a:cs typeface="Comic Sans MS"/>
              </a:rPr>
              <a:t>mobile hosts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831000" y="1742757"/>
            <a:ext cx="0" cy="438150"/>
          </a:xfrm>
          <a:custGeom>
            <a:avLst/>
            <a:gdLst/>
            <a:ahLst/>
            <a:cxnLst/>
            <a:rect l="l" t="t" r="r" b="b"/>
            <a:pathLst>
              <a:path h="438150">
                <a:moveTo>
                  <a:pt x="0" y="438124"/>
                </a:moveTo>
                <a:lnTo>
                  <a:pt x="0" y="0"/>
                </a:lnTo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42</a:t>
            </a:fld>
            <a:endParaRPr spc="-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059" y="501739"/>
            <a:ext cx="294195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Home</a:t>
            </a:r>
            <a:r>
              <a:rPr sz="3200" spc="-85" dirty="0"/>
              <a:t> </a:t>
            </a:r>
            <a:r>
              <a:rPr sz="3200" spc="-10" dirty="0"/>
              <a:t>networks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03085" y="1222968"/>
            <a:ext cx="4979035" cy="267652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700"/>
              </a:spcBef>
            </a:pP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Typical</a:t>
            </a:r>
            <a:r>
              <a:rPr sz="2400" spc="-5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home</a:t>
            </a:r>
            <a:r>
              <a:rPr sz="2400" spc="-5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network</a:t>
            </a:r>
            <a:r>
              <a:rPr sz="2400" spc="-5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components:</a:t>
            </a:r>
            <a:endParaRPr sz="2400" dirty="0">
              <a:latin typeface="Comic Sans MS"/>
              <a:cs typeface="Comic Sans MS"/>
            </a:endParaRPr>
          </a:p>
          <a:p>
            <a:pPr marL="25400">
              <a:lnSpc>
                <a:spcPct val="100000"/>
              </a:lnSpc>
              <a:spcBef>
                <a:spcPts val="600"/>
              </a:spcBef>
            </a:pPr>
            <a:r>
              <a:rPr sz="3075" spc="1147" baseline="1355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59" baseline="135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ADSL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or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cable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modem</a:t>
            </a:r>
            <a:endParaRPr sz="2400" dirty="0">
              <a:latin typeface="Comic Sans MS"/>
              <a:cs typeface="Comic Sans MS"/>
            </a:endParaRPr>
          </a:p>
          <a:p>
            <a:pPr marL="25400">
              <a:lnSpc>
                <a:spcPct val="100000"/>
              </a:lnSpc>
              <a:spcBef>
                <a:spcPts val="59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97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router/firewall/</a:t>
            </a:r>
            <a:r>
              <a:rPr sz="2400" spc="-10" dirty="0">
                <a:highlight>
                  <a:srgbClr val="FFFF00"/>
                </a:highlight>
                <a:latin typeface="Comic Sans MS"/>
                <a:cs typeface="Comic Sans MS"/>
              </a:rPr>
              <a:t>NAT</a:t>
            </a:r>
            <a:endParaRPr sz="2400" dirty="0">
              <a:highlight>
                <a:srgbClr val="FFFF00"/>
              </a:highlight>
              <a:latin typeface="Comic Sans MS"/>
              <a:cs typeface="Comic Sans MS"/>
            </a:endParaRPr>
          </a:p>
          <a:p>
            <a:pPr marL="25400">
              <a:lnSpc>
                <a:spcPct val="100000"/>
              </a:lnSpc>
              <a:spcBef>
                <a:spcPts val="6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97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Ethernet</a:t>
            </a:r>
            <a:endParaRPr sz="2400" dirty="0">
              <a:latin typeface="Comic Sans MS"/>
              <a:cs typeface="Comic Sans MS"/>
            </a:endParaRPr>
          </a:p>
          <a:p>
            <a:pPr marL="399415" marR="2433955" indent="-374650">
              <a:lnSpc>
                <a:spcPts val="3479"/>
              </a:lnSpc>
              <a:spcBef>
                <a:spcPts val="1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75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wireless</a:t>
            </a:r>
            <a:r>
              <a:rPr sz="2400" spc="-1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access point</a:t>
            </a:r>
            <a:endParaRPr sz="2400" dirty="0">
              <a:latin typeface="Comic Sans MS"/>
              <a:cs typeface="Comic Sans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5765" y="3378593"/>
            <a:ext cx="610196" cy="77760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02920" y="4337634"/>
            <a:ext cx="610565" cy="77724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10998" y="3943083"/>
            <a:ext cx="538562" cy="12664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559460" y="5167338"/>
            <a:ext cx="986790" cy="941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200"/>
              </a:lnSpc>
              <a:spcBef>
                <a:spcPts val="95"/>
              </a:spcBef>
            </a:pPr>
            <a:r>
              <a:rPr sz="2000" spc="-10" dirty="0">
                <a:solidFill>
                  <a:srgbClr val="FF0000"/>
                </a:solidFill>
                <a:latin typeface="Comic Sans MS"/>
                <a:cs typeface="Comic Sans MS"/>
              </a:rPr>
              <a:t>wireless access point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51698" y="4015689"/>
            <a:ext cx="9874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945" marR="5080" indent="-5588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FF0000"/>
                </a:solidFill>
                <a:latin typeface="Comic Sans MS"/>
                <a:cs typeface="Comic Sans MS"/>
              </a:rPr>
              <a:t>wireless laptops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93134" y="4532299"/>
            <a:ext cx="93218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FF0000"/>
                </a:solidFill>
                <a:latin typeface="Comic Sans MS"/>
                <a:cs typeface="Comic Sans MS"/>
              </a:rPr>
              <a:t>router/ firewall</a:t>
            </a:r>
            <a:endParaRPr sz="2000">
              <a:latin typeface="Comic Sans MS"/>
              <a:cs typeface="Comic Sans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46333" y="4192744"/>
            <a:ext cx="779780" cy="273050"/>
            <a:chOff x="4246333" y="4192744"/>
            <a:chExt cx="779780" cy="273050"/>
          </a:xfrm>
        </p:grpSpPr>
        <p:sp>
          <p:nvSpPr>
            <p:cNvPr id="11" name="object 11"/>
            <p:cNvSpPr/>
            <p:nvPr/>
          </p:nvSpPr>
          <p:spPr>
            <a:xfrm>
              <a:off x="4760988" y="4265282"/>
              <a:ext cx="264795" cy="187325"/>
            </a:xfrm>
            <a:custGeom>
              <a:avLst/>
              <a:gdLst/>
              <a:ahLst/>
              <a:cxnLst/>
              <a:rect l="l" t="t" r="r" b="b"/>
              <a:pathLst>
                <a:path w="264795" h="187325">
                  <a:moveTo>
                    <a:pt x="9359" y="4673"/>
                  </a:moveTo>
                  <a:lnTo>
                    <a:pt x="7988" y="1371"/>
                  </a:lnTo>
                  <a:lnTo>
                    <a:pt x="4686" y="0"/>
                  </a:lnTo>
                  <a:lnTo>
                    <a:pt x="1371" y="1371"/>
                  </a:lnTo>
                  <a:lnTo>
                    <a:pt x="0" y="4673"/>
                  </a:lnTo>
                  <a:lnTo>
                    <a:pt x="1371" y="7988"/>
                  </a:lnTo>
                  <a:lnTo>
                    <a:pt x="4686" y="9359"/>
                  </a:lnTo>
                  <a:lnTo>
                    <a:pt x="7988" y="7988"/>
                  </a:lnTo>
                  <a:lnTo>
                    <a:pt x="9359" y="4673"/>
                  </a:lnTo>
                  <a:close/>
                </a:path>
                <a:path w="264795" h="187325">
                  <a:moveTo>
                    <a:pt x="64439" y="182511"/>
                  </a:moveTo>
                  <a:lnTo>
                    <a:pt x="63068" y="179209"/>
                  </a:lnTo>
                  <a:lnTo>
                    <a:pt x="59766" y="177838"/>
                  </a:lnTo>
                  <a:lnTo>
                    <a:pt x="56451" y="179209"/>
                  </a:lnTo>
                  <a:lnTo>
                    <a:pt x="55079" y="182511"/>
                  </a:lnTo>
                  <a:lnTo>
                    <a:pt x="56451" y="185826"/>
                  </a:lnTo>
                  <a:lnTo>
                    <a:pt x="59766" y="187198"/>
                  </a:lnTo>
                  <a:lnTo>
                    <a:pt x="63068" y="185826"/>
                  </a:lnTo>
                  <a:lnTo>
                    <a:pt x="64439" y="182511"/>
                  </a:lnTo>
                  <a:close/>
                </a:path>
                <a:path w="264795" h="187325">
                  <a:moveTo>
                    <a:pt x="264604" y="69837"/>
                  </a:moveTo>
                  <a:lnTo>
                    <a:pt x="263232" y="66535"/>
                  </a:lnTo>
                  <a:lnTo>
                    <a:pt x="259930" y="65163"/>
                  </a:lnTo>
                  <a:lnTo>
                    <a:pt x="256616" y="66535"/>
                  </a:lnTo>
                  <a:lnTo>
                    <a:pt x="255244" y="69837"/>
                  </a:lnTo>
                  <a:lnTo>
                    <a:pt x="256616" y="73152"/>
                  </a:lnTo>
                  <a:lnTo>
                    <a:pt x="259930" y="74523"/>
                  </a:lnTo>
                  <a:lnTo>
                    <a:pt x="263232" y="73152"/>
                  </a:lnTo>
                  <a:lnTo>
                    <a:pt x="264604" y="698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52683" y="434016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52683" y="4319638"/>
              <a:ext cx="751205" cy="139700"/>
            </a:xfrm>
            <a:custGeom>
              <a:avLst/>
              <a:gdLst/>
              <a:ahLst/>
              <a:cxnLst/>
              <a:rect l="l" t="t" r="r" b="b"/>
              <a:pathLst>
                <a:path w="751204" h="139700">
                  <a:moveTo>
                    <a:pt x="0" y="20523"/>
                  </a:moveTo>
                  <a:lnTo>
                    <a:pt x="0" y="20523"/>
                  </a:lnTo>
                  <a:lnTo>
                    <a:pt x="0" y="20523"/>
                  </a:lnTo>
                  <a:close/>
                </a:path>
                <a:path w="751204" h="139700">
                  <a:moveTo>
                    <a:pt x="0" y="0"/>
                  </a:moveTo>
                  <a:lnTo>
                    <a:pt x="0" y="139687"/>
                  </a:lnTo>
                </a:path>
                <a:path w="751204" h="139700">
                  <a:moveTo>
                    <a:pt x="750951" y="0"/>
                  </a:moveTo>
                  <a:lnTo>
                    <a:pt x="750951" y="139687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52315" y="4319282"/>
              <a:ext cx="735330" cy="136525"/>
            </a:xfrm>
            <a:custGeom>
              <a:avLst/>
              <a:gdLst/>
              <a:ahLst/>
              <a:cxnLst/>
              <a:rect l="l" t="t" r="r" b="b"/>
              <a:pathLst>
                <a:path w="735329" h="136525">
                  <a:moveTo>
                    <a:pt x="734758" y="0"/>
                  </a:moveTo>
                  <a:lnTo>
                    <a:pt x="0" y="0"/>
                  </a:lnTo>
                  <a:lnTo>
                    <a:pt x="0" y="136436"/>
                  </a:lnTo>
                  <a:lnTo>
                    <a:pt x="367563" y="136436"/>
                  </a:lnTo>
                  <a:lnTo>
                    <a:pt x="734758" y="136436"/>
                  </a:lnTo>
                  <a:lnTo>
                    <a:pt x="734758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14143" y="4192744"/>
              <a:ext cx="371699" cy="18395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2508376" y="4518609"/>
            <a:ext cx="84264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7155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FF0000"/>
                </a:solidFill>
                <a:latin typeface="Comic Sans MS"/>
                <a:cs typeface="Comic Sans MS"/>
              </a:rPr>
              <a:t>cable modem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70201" y="4351324"/>
            <a:ext cx="567055" cy="1905"/>
          </a:xfrm>
          <a:custGeom>
            <a:avLst/>
            <a:gdLst/>
            <a:ahLst/>
            <a:cxnLst/>
            <a:rect l="l" t="t" r="r" b="b"/>
            <a:pathLst>
              <a:path w="567055" h="1904">
                <a:moveTo>
                  <a:pt x="0" y="0"/>
                </a:moveTo>
                <a:lnTo>
                  <a:pt x="566635" y="1435"/>
                </a:lnTo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88618" y="4382528"/>
            <a:ext cx="1010919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635" algn="ctr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omic Sans MS"/>
                <a:cs typeface="Comic Sans MS"/>
              </a:rPr>
              <a:t>to/from cable headend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86415" y="5666651"/>
            <a:ext cx="11029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FF0000"/>
                </a:solidFill>
                <a:latin typeface="Comic Sans MS"/>
                <a:cs typeface="Comic Sans MS"/>
              </a:rPr>
              <a:t>Ethernet</a:t>
            </a:r>
            <a:endParaRPr sz="2000">
              <a:latin typeface="Comic Sans MS"/>
              <a:cs typeface="Comic Sans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856397" y="3576243"/>
            <a:ext cx="485140" cy="2132330"/>
            <a:chOff x="4856397" y="3576243"/>
            <a:chExt cx="485140" cy="2132330"/>
          </a:xfrm>
        </p:grpSpPr>
        <p:sp>
          <p:nvSpPr>
            <p:cNvPr id="21" name="object 21"/>
            <p:cNvSpPr/>
            <p:nvPr/>
          </p:nvSpPr>
          <p:spPr>
            <a:xfrm>
              <a:off x="4862525" y="4935956"/>
              <a:ext cx="64135" cy="768350"/>
            </a:xfrm>
            <a:custGeom>
              <a:avLst/>
              <a:gdLst/>
              <a:ahLst/>
              <a:cxnLst/>
              <a:rect l="l" t="t" r="r" b="b"/>
              <a:pathLst>
                <a:path w="64135" h="768350">
                  <a:moveTo>
                    <a:pt x="0" y="767880"/>
                  </a:moveTo>
                  <a:lnTo>
                    <a:pt x="64071" y="0"/>
                  </a:lnTo>
                </a:path>
              </a:pathLst>
            </a:custGeom>
            <a:ln w="935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888445" y="4865763"/>
              <a:ext cx="75565" cy="78740"/>
            </a:xfrm>
            <a:custGeom>
              <a:avLst/>
              <a:gdLst/>
              <a:ahLst/>
              <a:cxnLst/>
              <a:rect l="l" t="t" r="r" b="b"/>
              <a:pathLst>
                <a:path w="75564" h="78739">
                  <a:moveTo>
                    <a:pt x="43916" y="0"/>
                  </a:moveTo>
                  <a:lnTo>
                    <a:pt x="0" y="72351"/>
                  </a:lnTo>
                  <a:lnTo>
                    <a:pt x="75234" y="78473"/>
                  </a:lnTo>
                  <a:lnTo>
                    <a:pt x="4391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875123" y="3645357"/>
              <a:ext cx="430530" cy="2044064"/>
            </a:xfrm>
            <a:custGeom>
              <a:avLst/>
              <a:gdLst/>
              <a:ahLst/>
              <a:cxnLst/>
              <a:rect l="l" t="t" r="r" b="b"/>
              <a:pathLst>
                <a:path w="430529" h="2044064">
                  <a:moveTo>
                    <a:pt x="0" y="2043722"/>
                  </a:moveTo>
                  <a:lnTo>
                    <a:pt x="430199" y="0"/>
                  </a:lnTo>
                </a:path>
              </a:pathLst>
            </a:custGeom>
            <a:ln w="935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267159" y="3576243"/>
              <a:ext cx="74295" cy="81915"/>
            </a:xfrm>
            <a:custGeom>
              <a:avLst/>
              <a:gdLst/>
              <a:ahLst/>
              <a:cxnLst/>
              <a:rect l="l" t="t" r="r" b="b"/>
              <a:pathLst>
                <a:path w="74295" h="81914">
                  <a:moveTo>
                    <a:pt x="52565" y="0"/>
                  </a:moveTo>
                  <a:lnTo>
                    <a:pt x="0" y="66230"/>
                  </a:lnTo>
                  <a:lnTo>
                    <a:pt x="74155" y="81711"/>
                  </a:lnTo>
                  <a:lnTo>
                    <a:pt x="5256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61077" y="5174284"/>
              <a:ext cx="309880" cy="488315"/>
            </a:xfrm>
            <a:custGeom>
              <a:avLst/>
              <a:gdLst/>
              <a:ahLst/>
              <a:cxnLst/>
              <a:rect l="l" t="t" r="r" b="b"/>
              <a:pathLst>
                <a:path w="309879" h="488314">
                  <a:moveTo>
                    <a:pt x="0" y="487794"/>
                  </a:moveTo>
                  <a:lnTo>
                    <a:pt x="309600" y="0"/>
                  </a:lnTo>
                </a:path>
              </a:pathLst>
            </a:custGeom>
            <a:ln w="935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136121" y="5114518"/>
              <a:ext cx="72390" cy="84455"/>
            </a:xfrm>
            <a:custGeom>
              <a:avLst/>
              <a:gdLst/>
              <a:ahLst/>
              <a:cxnLst/>
              <a:rect l="l" t="t" r="r" b="b"/>
              <a:pathLst>
                <a:path w="72389" h="84454">
                  <a:moveTo>
                    <a:pt x="72364" y="0"/>
                  </a:moveTo>
                  <a:lnTo>
                    <a:pt x="0" y="43561"/>
                  </a:lnTo>
                  <a:lnTo>
                    <a:pt x="63715" y="84239"/>
                  </a:lnTo>
                  <a:lnTo>
                    <a:pt x="7236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43</a:t>
            </a:fld>
            <a:endParaRPr spc="-2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Physical</a:t>
            </a:r>
            <a:r>
              <a:rPr sz="3600" spc="-80" dirty="0"/>
              <a:t> </a:t>
            </a:r>
            <a:r>
              <a:rPr sz="3600" spc="-10" dirty="0"/>
              <a:t>Media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316054" rIns="0" bIns="0" rtlCol="0">
            <a:spAutoFit/>
          </a:bodyPr>
          <a:lstStyle/>
          <a:p>
            <a:pPr marL="357505" marR="50800" indent="-332740">
              <a:lnSpc>
                <a:spcPct val="100000"/>
              </a:lnSpc>
              <a:spcBef>
                <a:spcPts val="100"/>
              </a:spcBef>
            </a:pPr>
            <a:r>
              <a:rPr sz="3075" u="none" spc="1147" baseline="1355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u="none" spc="337" baseline="135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u="none" dirty="0"/>
              <a:t>Bit:</a:t>
            </a:r>
            <a:r>
              <a:rPr sz="2400" u="none" spc="-25" dirty="0"/>
              <a:t> </a:t>
            </a:r>
            <a:r>
              <a:rPr sz="2400" u="none" dirty="0">
                <a:solidFill>
                  <a:srgbClr val="000000"/>
                </a:solidFill>
              </a:rPr>
              <a:t>propagates</a:t>
            </a:r>
            <a:r>
              <a:rPr sz="2400" u="none" spc="-45" dirty="0">
                <a:solidFill>
                  <a:srgbClr val="000000"/>
                </a:solidFill>
              </a:rPr>
              <a:t> </a:t>
            </a:r>
            <a:r>
              <a:rPr sz="2400" u="none" spc="-10" dirty="0">
                <a:solidFill>
                  <a:srgbClr val="000000"/>
                </a:solidFill>
              </a:rPr>
              <a:t>between </a:t>
            </a:r>
            <a:r>
              <a:rPr sz="2400" u="none" dirty="0">
                <a:solidFill>
                  <a:srgbClr val="000000"/>
                </a:solidFill>
              </a:rPr>
              <a:t>transmitter/rcvr</a:t>
            </a:r>
            <a:r>
              <a:rPr sz="2400" u="none" spc="-105" dirty="0">
                <a:solidFill>
                  <a:srgbClr val="000000"/>
                </a:solidFill>
              </a:rPr>
              <a:t> </a:t>
            </a:r>
            <a:r>
              <a:rPr sz="2400" u="none" spc="-10" dirty="0">
                <a:solidFill>
                  <a:srgbClr val="000000"/>
                </a:solidFill>
              </a:rPr>
              <a:t>pairs</a:t>
            </a:r>
            <a:endParaRPr sz="2400" dirty="0">
              <a:latin typeface="Times New Roman"/>
              <a:cs typeface="Times New Roman"/>
            </a:endParaRPr>
          </a:p>
          <a:p>
            <a:pPr marL="357505" marR="252095" indent="-332740">
              <a:lnSpc>
                <a:spcPct val="100000"/>
              </a:lnSpc>
              <a:spcBef>
                <a:spcPts val="590"/>
              </a:spcBef>
            </a:pPr>
            <a:r>
              <a:rPr sz="3075" u="none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u="none" spc="337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u="none" dirty="0"/>
              <a:t>physical</a:t>
            </a:r>
            <a:r>
              <a:rPr sz="2400" u="none" spc="-35" dirty="0"/>
              <a:t> </a:t>
            </a:r>
            <a:r>
              <a:rPr sz="2400" u="none" dirty="0"/>
              <a:t>link:</a:t>
            </a:r>
            <a:r>
              <a:rPr sz="2400" u="none" spc="-20" dirty="0"/>
              <a:t> </a:t>
            </a:r>
            <a:r>
              <a:rPr sz="2400" u="none" dirty="0">
                <a:solidFill>
                  <a:srgbClr val="000000"/>
                </a:solidFill>
              </a:rPr>
              <a:t>what</a:t>
            </a:r>
            <a:r>
              <a:rPr sz="2400" u="none" spc="-35" dirty="0">
                <a:solidFill>
                  <a:srgbClr val="000000"/>
                </a:solidFill>
              </a:rPr>
              <a:t> </a:t>
            </a:r>
            <a:r>
              <a:rPr sz="2400" u="none" spc="-20" dirty="0">
                <a:solidFill>
                  <a:srgbClr val="000000"/>
                </a:solidFill>
              </a:rPr>
              <a:t>lies </a:t>
            </a:r>
            <a:r>
              <a:rPr sz="2400" u="none" dirty="0">
                <a:solidFill>
                  <a:srgbClr val="000000"/>
                </a:solidFill>
              </a:rPr>
              <a:t>between</a:t>
            </a:r>
            <a:r>
              <a:rPr sz="2400" u="none" spc="-50" dirty="0">
                <a:solidFill>
                  <a:srgbClr val="000000"/>
                </a:solidFill>
              </a:rPr>
              <a:t> </a:t>
            </a:r>
            <a:r>
              <a:rPr sz="2400" u="none" dirty="0">
                <a:solidFill>
                  <a:srgbClr val="000000"/>
                </a:solidFill>
              </a:rPr>
              <a:t>transmitter</a:t>
            </a:r>
            <a:r>
              <a:rPr sz="2400" u="none" spc="-55" dirty="0">
                <a:solidFill>
                  <a:srgbClr val="000000"/>
                </a:solidFill>
              </a:rPr>
              <a:t> </a:t>
            </a:r>
            <a:r>
              <a:rPr sz="2400" u="none" spc="-50" dirty="0">
                <a:solidFill>
                  <a:srgbClr val="000000"/>
                </a:solidFill>
              </a:rPr>
              <a:t>&amp; </a:t>
            </a:r>
            <a:r>
              <a:rPr sz="2400" u="none" spc="-10" dirty="0">
                <a:solidFill>
                  <a:srgbClr val="000000"/>
                </a:solidFill>
              </a:rPr>
              <a:t>receiver</a:t>
            </a:r>
            <a:endParaRPr sz="2400" dirty="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595"/>
              </a:spcBef>
            </a:pPr>
            <a:r>
              <a:rPr sz="3075" u="none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u="none" spc="322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u="none" dirty="0"/>
              <a:t>guided</a:t>
            </a:r>
            <a:r>
              <a:rPr sz="2400" u="none" spc="-55" dirty="0"/>
              <a:t> </a:t>
            </a:r>
            <a:r>
              <a:rPr sz="2400" u="none" spc="-10" dirty="0"/>
              <a:t>media:</a:t>
            </a:r>
            <a:endParaRPr sz="2400" dirty="0">
              <a:latin typeface="Times New Roman"/>
              <a:cs typeface="Times New Roman"/>
            </a:endParaRPr>
          </a:p>
          <a:p>
            <a:pPr marL="758190" marR="17780" indent="-276225">
              <a:lnSpc>
                <a:spcPct val="100000"/>
              </a:lnSpc>
              <a:spcBef>
                <a:spcPts val="505"/>
              </a:spcBef>
            </a:pPr>
            <a:r>
              <a:rPr sz="2250" u="none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u="none" spc="465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u="none" dirty="0">
                <a:solidFill>
                  <a:srgbClr val="000000"/>
                </a:solidFill>
              </a:rPr>
              <a:t>signals</a:t>
            </a:r>
            <a:r>
              <a:rPr sz="2000" u="none" spc="-50" dirty="0">
                <a:solidFill>
                  <a:srgbClr val="000000"/>
                </a:solidFill>
              </a:rPr>
              <a:t> </a:t>
            </a:r>
            <a:r>
              <a:rPr sz="2000" u="none" dirty="0">
                <a:solidFill>
                  <a:srgbClr val="000000"/>
                </a:solidFill>
              </a:rPr>
              <a:t>propagate</a:t>
            </a:r>
            <a:r>
              <a:rPr sz="2000" u="none" spc="-50" dirty="0">
                <a:solidFill>
                  <a:srgbClr val="000000"/>
                </a:solidFill>
              </a:rPr>
              <a:t> </a:t>
            </a:r>
            <a:r>
              <a:rPr sz="2000" u="none" dirty="0">
                <a:solidFill>
                  <a:srgbClr val="000000"/>
                </a:solidFill>
              </a:rPr>
              <a:t>in</a:t>
            </a:r>
            <a:r>
              <a:rPr sz="2000" u="none" spc="-55" dirty="0">
                <a:solidFill>
                  <a:srgbClr val="000000"/>
                </a:solidFill>
              </a:rPr>
              <a:t> </a:t>
            </a:r>
            <a:r>
              <a:rPr sz="2000" u="none" spc="-20" dirty="0">
                <a:solidFill>
                  <a:srgbClr val="000000"/>
                </a:solidFill>
              </a:rPr>
              <a:t>solid </a:t>
            </a:r>
            <a:r>
              <a:rPr sz="2000" u="none" dirty="0">
                <a:solidFill>
                  <a:srgbClr val="000000"/>
                </a:solidFill>
              </a:rPr>
              <a:t>media:</a:t>
            </a:r>
            <a:r>
              <a:rPr sz="2000" u="none" spc="-55" dirty="0">
                <a:solidFill>
                  <a:srgbClr val="000000"/>
                </a:solidFill>
              </a:rPr>
              <a:t> </a:t>
            </a:r>
            <a:r>
              <a:rPr sz="2000" u="none" dirty="0">
                <a:solidFill>
                  <a:srgbClr val="000000"/>
                </a:solidFill>
              </a:rPr>
              <a:t>copper,</a:t>
            </a:r>
            <a:r>
              <a:rPr sz="2000" u="none" spc="-60" dirty="0">
                <a:solidFill>
                  <a:srgbClr val="000000"/>
                </a:solidFill>
              </a:rPr>
              <a:t> </a:t>
            </a:r>
            <a:r>
              <a:rPr sz="2000" u="none" dirty="0">
                <a:solidFill>
                  <a:srgbClr val="000000"/>
                </a:solidFill>
              </a:rPr>
              <a:t>fiber,</a:t>
            </a:r>
            <a:r>
              <a:rPr sz="2000" u="none" spc="-60" dirty="0">
                <a:solidFill>
                  <a:srgbClr val="000000"/>
                </a:solidFill>
              </a:rPr>
              <a:t> </a:t>
            </a:r>
            <a:r>
              <a:rPr sz="2000" u="none" spc="-20" dirty="0">
                <a:solidFill>
                  <a:srgbClr val="000000"/>
                </a:solidFill>
              </a:rPr>
              <a:t>coax</a:t>
            </a:r>
            <a:endParaRPr sz="2000" dirty="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600"/>
              </a:spcBef>
            </a:pPr>
            <a:r>
              <a:rPr sz="3075" u="none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u="none" spc="300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u="none" dirty="0"/>
              <a:t>unguided</a:t>
            </a:r>
            <a:r>
              <a:rPr sz="2400" u="none" spc="-70" dirty="0"/>
              <a:t> </a:t>
            </a:r>
            <a:r>
              <a:rPr sz="2400" u="none" spc="-10" dirty="0"/>
              <a:t>media:</a:t>
            </a:r>
            <a:endParaRPr sz="2400" dirty="0">
              <a:latin typeface="Times New Roman"/>
              <a:cs typeface="Times New Roman"/>
            </a:endParaRPr>
          </a:p>
          <a:p>
            <a:pPr marL="758190" marR="183515" indent="-276225">
              <a:lnSpc>
                <a:spcPct val="100000"/>
              </a:lnSpc>
              <a:spcBef>
                <a:spcPts val="500"/>
              </a:spcBef>
            </a:pPr>
            <a:r>
              <a:rPr sz="2250" u="none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u="none" spc="442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u="none" dirty="0">
                <a:solidFill>
                  <a:srgbClr val="000000"/>
                </a:solidFill>
              </a:rPr>
              <a:t>signals</a:t>
            </a:r>
            <a:r>
              <a:rPr sz="2000" u="none" spc="-60" dirty="0">
                <a:solidFill>
                  <a:srgbClr val="000000"/>
                </a:solidFill>
              </a:rPr>
              <a:t> </a:t>
            </a:r>
            <a:r>
              <a:rPr sz="2000" u="none" dirty="0">
                <a:solidFill>
                  <a:srgbClr val="000000"/>
                </a:solidFill>
              </a:rPr>
              <a:t>propagate</a:t>
            </a:r>
            <a:r>
              <a:rPr sz="2000" u="none" spc="-60" dirty="0">
                <a:solidFill>
                  <a:srgbClr val="000000"/>
                </a:solidFill>
              </a:rPr>
              <a:t> </a:t>
            </a:r>
            <a:r>
              <a:rPr sz="2000" u="none" spc="-10" dirty="0">
                <a:solidFill>
                  <a:srgbClr val="000000"/>
                </a:solidFill>
              </a:rPr>
              <a:t>freely, </a:t>
            </a:r>
            <a:r>
              <a:rPr sz="2000" u="none" dirty="0">
                <a:solidFill>
                  <a:srgbClr val="000000"/>
                </a:solidFill>
              </a:rPr>
              <a:t>e.g.,</a:t>
            </a:r>
            <a:r>
              <a:rPr sz="2000" u="none" spc="-35" dirty="0">
                <a:solidFill>
                  <a:srgbClr val="000000"/>
                </a:solidFill>
              </a:rPr>
              <a:t> </a:t>
            </a:r>
            <a:r>
              <a:rPr sz="2000" u="none" spc="-10" dirty="0">
                <a:solidFill>
                  <a:srgbClr val="000000"/>
                </a:solidFill>
              </a:rPr>
              <a:t>radio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28259" y="1235923"/>
            <a:ext cx="3510279" cy="292481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690"/>
              </a:spcBef>
            </a:pP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Twisted</a:t>
            </a:r>
            <a:r>
              <a:rPr sz="2400" u="sng" spc="-6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Pair</a:t>
            </a:r>
            <a:r>
              <a:rPr sz="2400" u="sng" spc="-5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(TP)</a:t>
            </a:r>
            <a:endParaRPr sz="2400" dirty="0">
              <a:latin typeface="Comic Sans MS"/>
              <a:cs typeface="Comic Sans MS"/>
            </a:endParaRPr>
          </a:p>
          <a:p>
            <a:pPr marL="372110" marR="198755" indent="-334645">
              <a:lnSpc>
                <a:spcPct val="100000"/>
              </a:lnSpc>
              <a:spcBef>
                <a:spcPts val="59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59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two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insulated</a:t>
            </a:r>
            <a:r>
              <a:rPr sz="2400" spc="-4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copper </a:t>
            </a:r>
            <a:r>
              <a:rPr sz="2400" spc="-20" dirty="0">
                <a:latin typeface="Comic Sans MS"/>
                <a:cs typeface="Comic Sans MS"/>
              </a:rPr>
              <a:t>wires</a:t>
            </a:r>
            <a:endParaRPr sz="2400" dirty="0">
              <a:latin typeface="Comic Sans MS"/>
              <a:cs typeface="Comic Sans MS"/>
            </a:endParaRPr>
          </a:p>
          <a:p>
            <a:pPr marL="771525" marR="30480" indent="-276860">
              <a:lnSpc>
                <a:spcPct val="100000"/>
              </a:lnSpc>
              <a:spcBef>
                <a:spcPts val="495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17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Category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3: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traditional </a:t>
            </a:r>
            <a:r>
              <a:rPr sz="2000" dirty="0">
                <a:latin typeface="Comic Sans MS"/>
                <a:cs typeface="Comic Sans MS"/>
              </a:rPr>
              <a:t>phone</a:t>
            </a:r>
            <a:r>
              <a:rPr sz="2000" spc="-4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wires,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10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spc="-20" dirty="0">
                <a:latin typeface="Comic Sans MS"/>
                <a:cs typeface="Comic Sans MS"/>
              </a:rPr>
              <a:t>Mbps </a:t>
            </a:r>
            <a:r>
              <a:rPr sz="2000" spc="-10" dirty="0">
                <a:latin typeface="Comic Sans MS"/>
                <a:cs typeface="Comic Sans MS"/>
              </a:rPr>
              <a:t>Ethernet</a:t>
            </a:r>
            <a:endParaRPr sz="2000" dirty="0">
              <a:latin typeface="Comic Sans MS"/>
              <a:cs typeface="Comic Sans MS"/>
            </a:endParaRPr>
          </a:p>
          <a:p>
            <a:pPr marL="771525" marR="518795" indent="-276860">
              <a:lnSpc>
                <a:spcPct val="100499"/>
              </a:lnSpc>
              <a:spcBef>
                <a:spcPts val="49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17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Category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spc="-25" dirty="0">
                <a:latin typeface="Comic Sans MS"/>
                <a:cs typeface="Comic Sans MS"/>
              </a:rPr>
              <a:t>5: </a:t>
            </a:r>
            <a:r>
              <a:rPr sz="2000" dirty="0">
                <a:latin typeface="Comic Sans MS"/>
                <a:cs typeface="Comic Sans MS"/>
              </a:rPr>
              <a:t>100Mbps</a:t>
            </a:r>
            <a:r>
              <a:rPr sz="2000" spc="-10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Ethernet</a:t>
            </a:r>
            <a:endParaRPr sz="2000" dirty="0">
              <a:latin typeface="Comic Sans MS"/>
              <a:cs typeface="Comic Sans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7056" y="4568388"/>
            <a:ext cx="3888645" cy="28483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44</a:t>
            </a:fld>
            <a:endParaRPr spc="-2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219" y="543496"/>
            <a:ext cx="511492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Physical</a:t>
            </a:r>
            <a:r>
              <a:rPr sz="3200" spc="-55" dirty="0"/>
              <a:t> </a:t>
            </a:r>
            <a:r>
              <a:rPr sz="3200" dirty="0"/>
              <a:t>Media:</a:t>
            </a:r>
            <a:r>
              <a:rPr sz="3200" spc="-45" dirty="0"/>
              <a:t> </a:t>
            </a:r>
            <a:r>
              <a:rPr sz="3200" dirty="0"/>
              <a:t>coax,</a:t>
            </a:r>
            <a:r>
              <a:rPr sz="3200" spc="-40" dirty="0"/>
              <a:t> </a:t>
            </a:r>
            <a:r>
              <a:rPr sz="3200" spc="-10" dirty="0"/>
              <a:t>fiber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585419" y="1314406"/>
            <a:ext cx="3553460" cy="341058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800"/>
              </a:spcBef>
            </a:pP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Coaxial</a:t>
            </a:r>
            <a:r>
              <a:rPr sz="2800" spc="-13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omic Sans MS"/>
                <a:cs typeface="Comic Sans MS"/>
              </a:rPr>
              <a:t>cable:</a:t>
            </a:r>
            <a:endParaRPr sz="2800" dirty="0">
              <a:latin typeface="Comic Sans MS"/>
              <a:cs typeface="Comic Sans MS"/>
            </a:endParaRPr>
          </a:p>
          <a:p>
            <a:pPr marL="370205" marR="30480" indent="-332740">
              <a:lnSpc>
                <a:spcPct val="100000"/>
              </a:lnSpc>
              <a:spcBef>
                <a:spcPts val="6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30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two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concentric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copper conductors</a:t>
            </a:r>
            <a:endParaRPr sz="2400" dirty="0">
              <a:latin typeface="Comic Sans MS"/>
              <a:cs typeface="Comic Sans MS"/>
            </a:endParaRPr>
          </a:p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sz="3075" spc="1147" baseline="1355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97" baseline="135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bidirectional</a:t>
            </a:r>
            <a:endParaRPr sz="2400" dirty="0">
              <a:latin typeface="Comic Sans MS"/>
              <a:cs typeface="Comic Sans MS"/>
            </a:endParaRPr>
          </a:p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sz="3075" spc="1147" baseline="1355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97" baseline="135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baseband:</a:t>
            </a:r>
            <a:endParaRPr sz="2400" dirty="0">
              <a:latin typeface="Comic Sans MS"/>
              <a:cs typeface="Comic Sans MS"/>
            </a:endParaRPr>
          </a:p>
          <a:p>
            <a:pPr marL="495300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480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single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channel</a:t>
            </a:r>
            <a:r>
              <a:rPr sz="2000" spc="-4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on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spc="-20" dirty="0">
                <a:latin typeface="Comic Sans MS"/>
                <a:cs typeface="Comic Sans MS"/>
              </a:rPr>
              <a:t>cable</a:t>
            </a:r>
            <a:endParaRPr sz="2000" dirty="0">
              <a:latin typeface="Comic Sans MS"/>
              <a:cs typeface="Comic Sans MS"/>
            </a:endParaRPr>
          </a:p>
          <a:p>
            <a:pPr marL="495300">
              <a:lnSpc>
                <a:spcPct val="100000"/>
              </a:lnSpc>
              <a:spcBef>
                <a:spcPts val="489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09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legacy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Ethernet</a:t>
            </a:r>
            <a:endParaRPr sz="2000" dirty="0">
              <a:latin typeface="Comic Sans MS"/>
              <a:cs typeface="Comic Sans MS"/>
            </a:endParaRPr>
          </a:p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97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broadband:</a:t>
            </a:r>
            <a:endParaRPr sz="2400" dirty="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8019" y="4770259"/>
            <a:ext cx="2070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509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19745" y="4699058"/>
            <a:ext cx="2957830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800"/>
              </a:lnSpc>
              <a:spcBef>
                <a:spcPts val="100"/>
              </a:spcBef>
            </a:pPr>
            <a:r>
              <a:rPr sz="2000" dirty="0">
                <a:latin typeface="Comic Sans MS"/>
                <a:cs typeface="Comic Sans MS"/>
              </a:rPr>
              <a:t>multiple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channel</a:t>
            </a:r>
            <a:r>
              <a:rPr sz="2000" spc="-4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on</a:t>
            </a:r>
            <a:r>
              <a:rPr sz="2000" spc="-50" dirty="0">
                <a:latin typeface="Comic Sans MS"/>
                <a:cs typeface="Comic Sans MS"/>
              </a:rPr>
              <a:t> </a:t>
            </a:r>
            <a:r>
              <a:rPr sz="2000" spc="-20" dirty="0">
                <a:latin typeface="Comic Sans MS"/>
                <a:cs typeface="Comic Sans MS"/>
              </a:rPr>
              <a:t>cable </a:t>
            </a:r>
            <a:r>
              <a:rPr sz="2000" spc="-25" dirty="0">
                <a:latin typeface="Comic Sans MS"/>
                <a:cs typeface="Comic Sans MS"/>
              </a:rPr>
              <a:t>HFC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8019" y="5138547"/>
            <a:ext cx="2070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509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endParaRPr sz="1500">
              <a:latin typeface="Symbol"/>
              <a:cs typeface="Symbo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6314" y="5463717"/>
            <a:ext cx="2501646" cy="108611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706594" y="1140530"/>
            <a:ext cx="4122420" cy="363601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800"/>
              </a:spcBef>
            </a:pP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Fiber</a:t>
            </a:r>
            <a:r>
              <a:rPr sz="2800" spc="-8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optic</a:t>
            </a:r>
            <a:r>
              <a:rPr sz="2800" spc="-7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omic Sans MS"/>
                <a:cs typeface="Comic Sans MS"/>
              </a:rPr>
              <a:t>cable:</a:t>
            </a:r>
            <a:endParaRPr sz="2800" dirty="0">
              <a:latin typeface="Comic Sans MS"/>
              <a:cs typeface="Comic Sans MS"/>
            </a:endParaRPr>
          </a:p>
          <a:p>
            <a:pPr marL="382905" marR="205740" indent="-332740">
              <a:lnSpc>
                <a:spcPct val="100000"/>
              </a:lnSpc>
              <a:spcBef>
                <a:spcPts val="600"/>
              </a:spcBef>
            </a:pPr>
            <a:r>
              <a:rPr sz="3075" spc="1147" baseline="1355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30" baseline="135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glass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fiber</a:t>
            </a:r>
            <a:r>
              <a:rPr sz="2400" spc="-4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carrying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light </a:t>
            </a:r>
            <a:r>
              <a:rPr sz="2400" dirty="0">
                <a:latin typeface="Comic Sans MS"/>
                <a:cs typeface="Comic Sans MS"/>
              </a:rPr>
              <a:t>pulses,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each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pulse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spc="-25" dirty="0">
                <a:latin typeface="Comic Sans MS"/>
                <a:cs typeface="Comic Sans MS"/>
              </a:rPr>
              <a:t>bit</a:t>
            </a:r>
            <a:endParaRPr sz="2400" dirty="0">
              <a:latin typeface="Comic Sans MS"/>
              <a:cs typeface="Comic Sans MS"/>
            </a:endParaRPr>
          </a:p>
          <a:p>
            <a:pPr marL="50800">
              <a:lnSpc>
                <a:spcPct val="100000"/>
              </a:lnSpc>
              <a:spcBef>
                <a:spcPts val="600"/>
              </a:spcBef>
            </a:pPr>
            <a:r>
              <a:rPr sz="3075" spc="1147" baseline="1355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97" baseline="135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omic Sans MS"/>
                <a:cs typeface="Comic Sans MS"/>
              </a:rPr>
              <a:t>high-</a:t>
            </a:r>
            <a:r>
              <a:rPr sz="2400" dirty="0">
                <a:latin typeface="Comic Sans MS"/>
                <a:cs typeface="Comic Sans MS"/>
              </a:rPr>
              <a:t>speed </a:t>
            </a:r>
            <a:r>
              <a:rPr sz="2400" spc="-10" dirty="0">
                <a:latin typeface="Comic Sans MS"/>
                <a:cs typeface="Comic Sans MS"/>
              </a:rPr>
              <a:t>operation:</a:t>
            </a:r>
            <a:endParaRPr sz="2400" dirty="0">
              <a:latin typeface="Comic Sans MS"/>
              <a:cs typeface="Comic Sans MS"/>
            </a:endParaRPr>
          </a:p>
          <a:p>
            <a:pPr marL="783590" marR="307340" indent="-276225">
              <a:lnSpc>
                <a:spcPct val="100000"/>
              </a:lnSpc>
              <a:spcBef>
                <a:spcPts val="484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55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high-</a:t>
            </a:r>
            <a:r>
              <a:rPr sz="2000" dirty="0">
                <a:latin typeface="Comic Sans MS"/>
                <a:cs typeface="Comic Sans MS"/>
              </a:rPr>
              <a:t>speed</a:t>
            </a:r>
            <a:r>
              <a:rPr sz="2000" spc="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point-to-</a:t>
            </a:r>
            <a:r>
              <a:rPr sz="2000" spc="-20" dirty="0">
                <a:latin typeface="Comic Sans MS"/>
                <a:cs typeface="Comic Sans MS"/>
              </a:rPr>
              <a:t>point </a:t>
            </a:r>
            <a:r>
              <a:rPr sz="2000" dirty="0">
                <a:latin typeface="Comic Sans MS"/>
                <a:cs typeface="Comic Sans MS"/>
              </a:rPr>
              <a:t>transmission</a:t>
            </a:r>
            <a:r>
              <a:rPr sz="2000" spc="-5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(e.g.,</a:t>
            </a:r>
            <a:r>
              <a:rPr sz="2000" spc="-5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5</a:t>
            </a:r>
            <a:r>
              <a:rPr sz="2000" spc="-50" dirty="0">
                <a:latin typeface="Comic Sans MS"/>
                <a:cs typeface="Comic Sans MS"/>
              </a:rPr>
              <a:t> </a:t>
            </a:r>
            <a:r>
              <a:rPr sz="2000" spc="-20" dirty="0">
                <a:latin typeface="Comic Sans MS"/>
                <a:cs typeface="Comic Sans MS"/>
              </a:rPr>
              <a:t>Gps)</a:t>
            </a:r>
            <a:endParaRPr sz="2000" dirty="0">
              <a:latin typeface="Comic Sans MS"/>
              <a:cs typeface="Comic Sans MS"/>
            </a:endParaRPr>
          </a:p>
          <a:p>
            <a:pPr marL="382905" marR="43180" indent="-332740" algn="just">
              <a:lnSpc>
                <a:spcPct val="100000"/>
              </a:lnSpc>
              <a:spcBef>
                <a:spcPts val="6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75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low</a:t>
            </a:r>
            <a:r>
              <a:rPr sz="2400" spc="-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error</a:t>
            </a:r>
            <a:r>
              <a:rPr sz="2400" spc="-1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rate:</a:t>
            </a:r>
            <a:r>
              <a:rPr sz="2400" spc="-10" dirty="0">
                <a:latin typeface="Comic Sans MS"/>
                <a:cs typeface="Comic Sans MS"/>
              </a:rPr>
              <a:t> repeaters </a:t>
            </a:r>
            <a:r>
              <a:rPr sz="2400" dirty="0">
                <a:latin typeface="Comic Sans MS"/>
                <a:cs typeface="Comic Sans MS"/>
              </a:rPr>
              <a:t>spaced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far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apart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;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immune </a:t>
            </a:r>
            <a:r>
              <a:rPr sz="2400" dirty="0">
                <a:latin typeface="Comic Sans MS"/>
                <a:cs typeface="Comic Sans MS"/>
              </a:rPr>
              <a:t>to</a:t>
            </a:r>
            <a:r>
              <a:rPr sz="2400" spc="-6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electromagnetic</a:t>
            </a:r>
            <a:r>
              <a:rPr sz="2400" spc="-5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noise</a:t>
            </a:r>
            <a:endParaRPr sz="2400" dirty="0">
              <a:latin typeface="Comic Sans MS"/>
              <a:cs typeface="Comic Sans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24474" y="4955756"/>
            <a:ext cx="2371674" cy="146052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45</a:t>
            </a:fld>
            <a:endParaRPr spc="-2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AD5695A-ADB6-F391-B136-425E83A7B1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962895"/>
              </p:ext>
            </p:extLst>
          </p:nvPr>
        </p:nvGraphicFramePr>
        <p:xfrm>
          <a:off x="516864" y="1146096"/>
          <a:ext cx="7636536" cy="5230893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545512">
                  <a:extLst>
                    <a:ext uri="{9D8B030D-6E8A-4147-A177-3AD203B41FA5}">
                      <a16:colId xmlns:a16="http://schemas.microsoft.com/office/drawing/2014/main" val="740074807"/>
                    </a:ext>
                  </a:extLst>
                </a:gridCol>
                <a:gridCol w="2545512">
                  <a:extLst>
                    <a:ext uri="{9D8B030D-6E8A-4147-A177-3AD203B41FA5}">
                      <a16:colId xmlns:a16="http://schemas.microsoft.com/office/drawing/2014/main" val="3827646500"/>
                    </a:ext>
                  </a:extLst>
                </a:gridCol>
                <a:gridCol w="2545512">
                  <a:extLst>
                    <a:ext uri="{9D8B030D-6E8A-4147-A177-3AD203B41FA5}">
                      <a16:colId xmlns:a16="http://schemas.microsoft.com/office/drawing/2014/main" val="1579739462"/>
                    </a:ext>
                  </a:extLst>
                </a:gridCol>
              </a:tblGrid>
              <a:tr h="437651"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marL="64647" marR="64647" marT="32323" marB="32323" anchor="ctr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Fiber Optic Cable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47" marR="64647" marT="32323" marB="32323" anchor="ctr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Copper Coaxial Cable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47" marR="64647" marT="32323" marB="32323" anchor="ctr"/>
                </a:tc>
                <a:extLst>
                  <a:ext uri="{0D108BD9-81ED-4DB2-BD59-A6C34878D82A}">
                    <a16:rowId xmlns:a16="http://schemas.microsoft.com/office/drawing/2014/main" val="4141323796"/>
                  </a:ext>
                </a:extLst>
              </a:tr>
              <a:tr h="783588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Speed / Bandwidth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47" marR="64647" marT="32323" marB="32323"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Much 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bandwidth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(10 Gbps and beyond)</a:t>
                      </a:r>
                    </a:p>
                  </a:txBody>
                  <a:tcPr marL="64647" marR="64647" marT="32323" marB="32323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 bandwidth; suitable for limited-speed usage</a:t>
                      </a:r>
                    </a:p>
                  </a:txBody>
                  <a:tcPr marL="64647" marR="64647" marT="32323" marB="32323" anchor="ctr"/>
                </a:tc>
                <a:extLst>
                  <a:ext uri="{0D108BD9-81ED-4DB2-BD59-A6C34878D82A}">
                    <a16:rowId xmlns:a16="http://schemas.microsoft.com/office/drawing/2014/main" val="3488915993"/>
                  </a:ext>
                </a:extLst>
              </a:tr>
              <a:tr h="783588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Distance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47" marR="64647" marT="32323" marB="32323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Transmits over </a:t>
                      </a: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longer distances</a:t>
                      </a: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without signal loss</a:t>
                      </a:r>
                    </a:p>
                  </a:txBody>
                  <a:tcPr marL="64647" marR="64647" marT="32323" marB="32323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Signal degrades faster, needs frequent amplifiers</a:t>
                      </a:r>
                    </a:p>
                  </a:txBody>
                  <a:tcPr marL="64647" marR="64647" marT="32323" marB="32323" anchor="ctr"/>
                </a:tc>
                <a:extLst>
                  <a:ext uri="{0D108BD9-81ED-4DB2-BD59-A6C34878D82A}">
                    <a16:rowId xmlns:a16="http://schemas.microsoft.com/office/drawing/2014/main" val="2427049303"/>
                  </a:ext>
                </a:extLst>
              </a:tr>
              <a:tr h="783588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Interference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47" marR="64647" marT="32323" marB="32323" anchor="ctr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Immune to electromagnetic interference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47" marR="64647" marT="32323" marB="32323"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Susceptible to EMI and radio frequency interference</a:t>
                      </a:r>
                    </a:p>
                  </a:txBody>
                  <a:tcPr marL="64647" marR="64647" marT="32323" marB="32323" anchor="ctr"/>
                </a:tc>
                <a:extLst>
                  <a:ext uri="{0D108BD9-81ED-4DB2-BD59-A6C34878D82A}">
                    <a16:rowId xmlns:a16="http://schemas.microsoft.com/office/drawing/2014/main" val="638501338"/>
                  </a:ext>
                </a:extLst>
              </a:tr>
              <a:tr h="783588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Signal Quality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47" marR="64647" marT="32323" marB="32323"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loss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high-quality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signal</a:t>
                      </a:r>
                    </a:p>
                  </a:txBody>
                  <a:tcPr marL="64647" marR="64647" marT="32323" marB="32323"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signal attenuation over distance</a:t>
                      </a:r>
                    </a:p>
                  </a:txBody>
                  <a:tcPr marL="64647" marR="64647" marT="32323" marB="32323" anchor="ctr"/>
                </a:tc>
                <a:extLst>
                  <a:ext uri="{0D108BD9-81ED-4DB2-BD59-A6C34878D82A}">
                    <a16:rowId xmlns:a16="http://schemas.microsoft.com/office/drawing/2014/main" val="2533179106"/>
                  </a:ext>
                </a:extLst>
              </a:tr>
              <a:tr h="783588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47" marR="64647" marT="32323" marB="32323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Difficult to tap without detection (more secure)</a:t>
                      </a:r>
                    </a:p>
                  </a:txBody>
                  <a:tcPr marL="64647" marR="64647" marT="32323" marB="32323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Easier to tap into (less secure)</a:t>
                      </a:r>
                    </a:p>
                  </a:txBody>
                  <a:tcPr marL="64647" marR="64647" marT="32323" marB="32323" anchor="ctr"/>
                </a:tc>
                <a:extLst>
                  <a:ext uri="{0D108BD9-81ED-4DB2-BD59-A6C34878D82A}">
                    <a16:rowId xmlns:a16="http://schemas.microsoft.com/office/drawing/2014/main" val="672616033"/>
                  </a:ext>
                </a:extLst>
              </a:tr>
              <a:tr h="437651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 and Weight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47" marR="64647" marT="32323" marB="32323" anchor="ctr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Lighter and thinner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47" marR="64647" marT="32323" marB="32323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Thicker and heavier</a:t>
                      </a:r>
                    </a:p>
                  </a:txBody>
                  <a:tcPr marL="64647" marR="64647" marT="32323" marB="32323" anchor="ctr"/>
                </a:tc>
                <a:extLst>
                  <a:ext uri="{0D108BD9-81ED-4DB2-BD59-A6C34878D82A}">
                    <a16:rowId xmlns:a16="http://schemas.microsoft.com/office/drawing/2014/main" val="1258780855"/>
                  </a:ext>
                </a:extLst>
              </a:tr>
              <a:tr h="437651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 (initial)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47" marR="64647" marT="32323" marB="32323" anchor="ctr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</a:t>
                      </a: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installation cost</a:t>
                      </a:r>
                    </a:p>
                  </a:txBody>
                  <a:tcPr marL="64647" marR="64647" marT="32323" marB="32323"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Cheaper initially</a:t>
                      </a:r>
                    </a:p>
                  </a:txBody>
                  <a:tcPr marL="64647" marR="64647" marT="32323" marB="32323" anchor="ctr"/>
                </a:tc>
                <a:extLst>
                  <a:ext uri="{0D108BD9-81ED-4DB2-BD59-A6C34878D82A}">
                    <a16:rowId xmlns:a16="http://schemas.microsoft.com/office/drawing/2014/main" val="1941292494"/>
                  </a:ext>
                </a:extLst>
              </a:tr>
            </a:tbl>
          </a:graphicData>
        </a:graphic>
      </p:graphicFrame>
      <p:sp>
        <p:nvSpPr>
          <p:cNvPr id="6" name="object 2">
            <a:extLst>
              <a:ext uri="{FF2B5EF4-FFF2-40B4-BE49-F238E27FC236}">
                <a16:creationId xmlns:a16="http://schemas.microsoft.com/office/drawing/2014/main" id="{B3A941B4-E437-7976-BD79-1C11C45CE9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525" y="481013"/>
            <a:ext cx="81089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Physical</a:t>
            </a:r>
            <a:r>
              <a:rPr sz="3200" spc="-55" dirty="0"/>
              <a:t> </a:t>
            </a:r>
            <a:r>
              <a:rPr sz="3200" dirty="0"/>
              <a:t>Media:</a:t>
            </a:r>
            <a:r>
              <a:rPr sz="3200" spc="-45" dirty="0"/>
              <a:t> </a:t>
            </a:r>
            <a:r>
              <a:rPr sz="3200" dirty="0"/>
              <a:t>coax,</a:t>
            </a:r>
            <a:r>
              <a:rPr sz="3200" spc="-40" dirty="0"/>
              <a:t> </a:t>
            </a:r>
            <a:r>
              <a:rPr sz="3200" spc="-10" dirty="0"/>
              <a:t>fiber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23399218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47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218" y="152400"/>
            <a:ext cx="815218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b="1" u="none" dirty="0"/>
              <a:t>Electromagnetic Spectrum 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598119" y="1403184"/>
            <a:ext cx="3492500" cy="39198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7505" marR="835025" indent="-332740" algn="just">
              <a:lnSpc>
                <a:spcPct val="100000"/>
              </a:lnSpc>
              <a:spcBef>
                <a:spcPts val="1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37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signal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carried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spc="-25" dirty="0">
                <a:latin typeface="Comic Sans MS"/>
                <a:cs typeface="Comic Sans MS"/>
              </a:rPr>
              <a:t>in </a:t>
            </a:r>
            <a:r>
              <a:rPr sz="2400" spc="-10" dirty="0">
                <a:latin typeface="Comic Sans MS"/>
                <a:cs typeface="Comic Sans MS"/>
              </a:rPr>
              <a:t>electromagnetic spectrum</a:t>
            </a:r>
            <a:endParaRPr sz="2400" dirty="0">
              <a:latin typeface="Comic Sans MS"/>
              <a:cs typeface="Comic Sans MS"/>
            </a:endParaRPr>
          </a:p>
          <a:p>
            <a:pPr marL="25400" algn="just">
              <a:lnSpc>
                <a:spcPct val="100000"/>
              </a:lnSpc>
              <a:spcBef>
                <a:spcPts val="6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45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no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physical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“wire”</a:t>
            </a:r>
            <a:endParaRPr sz="2400" dirty="0">
              <a:latin typeface="Comic Sans MS"/>
              <a:cs typeface="Comic Sans MS"/>
            </a:endParaRPr>
          </a:p>
          <a:p>
            <a:pPr marL="25400" algn="just">
              <a:lnSpc>
                <a:spcPct val="100000"/>
              </a:lnSpc>
              <a:spcBef>
                <a:spcPts val="6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97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bidirectional</a:t>
            </a:r>
            <a:endParaRPr sz="2400" dirty="0">
              <a:latin typeface="Comic Sans MS"/>
              <a:cs typeface="Comic Sans MS"/>
            </a:endParaRPr>
          </a:p>
          <a:p>
            <a:pPr marL="357505" marR="115570" indent="-332740" algn="just">
              <a:lnSpc>
                <a:spcPct val="100000"/>
              </a:lnSpc>
              <a:spcBef>
                <a:spcPts val="600"/>
              </a:spcBef>
            </a:pPr>
            <a:r>
              <a:rPr sz="3075" spc="1147" baseline="1355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97" baseline="135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propagation </a:t>
            </a:r>
            <a:r>
              <a:rPr sz="2400" dirty="0">
                <a:latin typeface="Comic Sans MS"/>
                <a:cs typeface="Comic Sans MS"/>
              </a:rPr>
              <a:t>environment</a:t>
            </a:r>
            <a:r>
              <a:rPr sz="2400" spc="-8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effects:</a:t>
            </a:r>
            <a:endParaRPr sz="2400" dirty="0">
              <a:latin typeface="Comic Sans MS"/>
              <a:cs typeface="Comic Sans MS"/>
            </a:endParaRPr>
          </a:p>
          <a:p>
            <a:pPr marL="482600" algn="just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47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reflection</a:t>
            </a:r>
            <a:endParaRPr sz="2000" dirty="0">
              <a:latin typeface="Comic Sans MS"/>
              <a:cs typeface="Comic Sans MS"/>
            </a:endParaRPr>
          </a:p>
          <a:p>
            <a:pPr marL="482600" algn="just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09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obstruction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by</a:t>
            </a:r>
            <a:r>
              <a:rPr sz="2000" spc="-10" dirty="0">
                <a:latin typeface="Comic Sans MS"/>
                <a:cs typeface="Comic Sans MS"/>
              </a:rPr>
              <a:t> objects</a:t>
            </a:r>
            <a:endParaRPr sz="2000" dirty="0">
              <a:latin typeface="Comic Sans MS"/>
              <a:cs typeface="Comic Sans MS"/>
            </a:endParaRPr>
          </a:p>
          <a:p>
            <a:pPr marL="482600" algn="just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47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interference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38382" y="1185397"/>
            <a:ext cx="4063365" cy="512572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785"/>
              </a:spcBef>
            </a:pP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Radio</a:t>
            </a:r>
            <a:r>
              <a:rPr sz="2800" spc="-7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link</a:t>
            </a:r>
            <a:r>
              <a:rPr sz="2800" spc="-6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omic Sans MS"/>
                <a:cs typeface="Comic Sans MS"/>
              </a:rPr>
              <a:t>types:</a:t>
            </a:r>
            <a:endParaRPr sz="2800">
              <a:latin typeface="Comic Sans MS"/>
              <a:cs typeface="Comic Sans MS"/>
            </a:endParaRPr>
          </a:p>
          <a:p>
            <a:pPr marL="38100">
              <a:lnSpc>
                <a:spcPct val="100000"/>
              </a:lnSpc>
              <a:spcBef>
                <a:spcPts val="590"/>
              </a:spcBef>
              <a:tabLst>
                <a:tab pos="2085339" algn="l"/>
              </a:tabLst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97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terrestrial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	</a:t>
            </a:r>
            <a:r>
              <a:rPr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microwave</a:t>
            </a:r>
            <a:endParaRPr sz="2400">
              <a:latin typeface="Comic Sans MS"/>
              <a:cs typeface="Comic Sans MS"/>
            </a:endParaRPr>
          </a:p>
          <a:p>
            <a:pPr marL="495300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09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e.g.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up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to</a:t>
            </a:r>
            <a:r>
              <a:rPr sz="2000" spc="-1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45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Mbps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channels</a:t>
            </a:r>
            <a:endParaRPr sz="2000">
              <a:latin typeface="Comic Sans MS"/>
              <a:cs typeface="Comic Sans MS"/>
            </a:endParaRPr>
          </a:p>
          <a:p>
            <a:pPr marR="1438910" algn="r">
              <a:lnSpc>
                <a:spcPct val="100000"/>
              </a:lnSpc>
              <a:spcBef>
                <a:spcPts val="6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52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LAN</a:t>
            </a:r>
            <a:r>
              <a:rPr sz="2400" spc="-2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(e.g.,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spc="-20" dirty="0">
                <a:latin typeface="Comic Sans MS"/>
                <a:cs typeface="Comic Sans MS"/>
              </a:rPr>
              <a:t>Wifi)</a:t>
            </a:r>
            <a:endParaRPr sz="2400">
              <a:latin typeface="Comic Sans MS"/>
              <a:cs typeface="Comic Sans MS"/>
            </a:endParaRPr>
          </a:p>
          <a:p>
            <a:pPr marR="1485900" algn="r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494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2Mbps,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11Mbps</a:t>
            </a:r>
            <a:endParaRPr sz="2000">
              <a:latin typeface="Comic Sans MS"/>
              <a:cs typeface="Comic Sans MS"/>
            </a:endParaRPr>
          </a:p>
          <a:p>
            <a:pPr marR="288290" algn="r">
              <a:lnSpc>
                <a:spcPct val="100000"/>
              </a:lnSpc>
              <a:spcBef>
                <a:spcPts val="6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67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wide-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area</a:t>
            </a:r>
            <a:r>
              <a:rPr sz="2400" spc="-2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(e.g.,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cellular)</a:t>
            </a:r>
            <a:endParaRPr sz="2400">
              <a:latin typeface="Comic Sans MS"/>
              <a:cs typeface="Comic Sans MS"/>
            </a:endParaRPr>
          </a:p>
          <a:p>
            <a:pPr marR="269240" algn="r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02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e.g.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3G: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hundreds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of</a:t>
            </a:r>
            <a:r>
              <a:rPr sz="2000" spc="-20" dirty="0">
                <a:latin typeface="Comic Sans MS"/>
                <a:cs typeface="Comic Sans MS"/>
              </a:rPr>
              <a:t> kbps</a:t>
            </a:r>
            <a:endParaRPr sz="2000">
              <a:latin typeface="Comic Sans MS"/>
              <a:cs typeface="Comic Sans MS"/>
            </a:endParaRPr>
          </a:p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97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satellite</a:t>
            </a:r>
            <a:endParaRPr sz="2400">
              <a:latin typeface="Comic Sans MS"/>
              <a:cs typeface="Comic Sans MS"/>
            </a:endParaRPr>
          </a:p>
          <a:p>
            <a:pPr marL="770890" marR="247015" indent="-276225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487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up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to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50Mbps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channel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spc="-25" dirty="0">
                <a:latin typeface="Comic Sans MS"/>
                <a:cs typeface="Comic Sans MS"/>
              </a:rPr>
              <a:t>(or </a:t>
            </a:r>
            <a:r>
              <a:rPr sz="2000" dirty="0">
                <a:latin typeface="Comic Sans MS"/>
                <a:cs typeface="Comic Sans MS"/>
              </a:rPr>
              <a:t>multiple</a:t>
            </a:r>
            <a:r>
              <a:rPr sz="2000" spc="-6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smaller</a:t>
            </a:r>
            <a:r>
              <a:rPr sz="2000" spc="-5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channels)</a:t>
            </a:r>
            <a:endParaRPr sz="2000">
              <a:latin typeface="Comic Sans MS"/>
              <a:cs typeface="Comic Sans MS"/>
            </a:endParaRPr>
          </a:p>
          <a:p>
            <a:pPr marL="495300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17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270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msec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spc="-20" dirty="0">
                <a:latin typeface="Comic Sans MS"/>
                <a:cs typeface="Comic Sans MS"/>
              </a:rPr>
              <a:t>end-</a:t>
            </a:r>
            <a:r>
              <a:rPr sz="2000" dirty="0">
                <a:latin typeface="Comic Sans MS"/>
                <a:cs typeface="Comic Sans MS"/>
              </a:rPr>
              <a:t>end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spc="-20" dirty="0">
                <a:latin typeface="Comic Sans MS"/>
                <a:cs typeface="Comic Sans MS"/>
              </a:rPr>
              <a:t>delay</a:t>
            </a:r>
            <a:endParaRPr sz="2000">
              <a:latin typeface="Comic Sans MS"/>
              <a:cs typeface="Comic Sans MS"/>
            </a:endParaRPr>
          </a:p>
          <a:p>
            <a:pPr marL="770890" marR="137795" indent="-276225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450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geosynchronous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versus</a:t>
            </a:r>
            <a:r>
              <a:rPr sz="2000" spc="-55" dirty="0">
                <a:latin typeface="Comic Sans MS"/>
                <a:cs typeface="Comic Sans MS"/>
              </a:rPr>
              <a:t> </a:t>
            </a:r>
            <a:r>
              <a:rPr sz="2000" spc="-25" dirty="0">
                <a:latin typeface="Comic Sans MS"/>
                <a:cs typeface="Comic Sans MS"/>
              </a:rPr>
              <a:t>low </a:t>
            </a:r>
            <a:r>
              <a:rPr sz="2000" spc="-10" dirty="0">
                <a:latin typeface="Comic Sans MS"/>
                <a:cs typeface="Comic Sans MS"/>
              </a:rPr>
              <a:t>altitude</a:t>
            </a:r>
            <a:endParaRPr sz="2000">
              <a:latin typeface="Comic Sans MS"/>
              <a:cs typeface="Comic Sans M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206FB8-1836-05AB-AE15-E24D82392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38200"/>
            <a:ext cx="8763000" cy="57912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EA6964C-A958-EC0B-CD9E-69213B643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8A5D6201-BF67-5BCE-FE17-B4793E99398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563EEB1-0914-4D91-6E0B-D072668B140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48</a:t>
            </a:fld>
            <a:endParaRPr spc="-25"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1BA66880-92A1-83BE-2EB2-810FDE11A5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2219" y="543496"/>
            <a:ext cx="395605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Physical</a:t>
            </a:r>
            <a:r>
              <a:rPr sz="3200" spc="-60" dirty="0"/>
              <a:t> </a:t>
            </a:r>
            <a:r>
              <a:rPr sz="3200" dirty="0"/>
              <a:t>media:</a:t>
            </a:r>
            <a:r>
              <a:rPr sz="3200" spc="-50" dirty="0"/>
              <a:t> </a:t>
            </a:r>
            <a:r>
              <a:rPr sz="3200" spc="-10" dirty="0"/>
              <a:t>radio</a:t>
            </a:r>
            <a:endParaRPr sz="32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91F5936-0460-83D9-D96C-FCDA4C7C7FB8}"/>
              </a:ext>
            </a:extLst>
          </p:cNvPr>
          <p:cNvSpPr txBox="1"/>
          <p:nvPr/>
        </p:nvSpPr>
        <p:spPr>
          <a:xfrm>
            <a:off x="598119" y="1403184"/>
            <a:ext cx="3492500" cy="39198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7505" marR="835025" indent="-332740" algn="just">
              <a:lnSpc>
                <a:spcPct val="100000"/>
              </a:lnSpc>
              <a:spcBef>
                <a:spcPts val="1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37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signal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carried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spc="-25" dirty="0">
                <a:latin typeface="Comic Sans MS"/>
                <a:cs typeface="Comic Sans MS"/>
              </a:rPr>
              <a:t>in </a:t>
            </a:r>
            <a:r>
              <a:rPr sz="2400" spc="-10" dirty="0">
                <a:latin typeface="Comic Sans MS"/>
                <a:cs typeface="Comic Sans MS"/>
              </a:rPr>
              <a:t>electromagnetic spectrum</a:t>
            </a:r>
            <a:endParaRPr sz="2400" dirty="0">
              <a:latin typeface="Comic Sans MS"/>
              <a:cs typeface="Comic Sans MS"/>
            </a:endParaRPr>
          </a:p>
          <a:p>
            <a:pPr marL="25400" algn="just">
              <a:lnSpc>
                <a:spcPct val="100000"/>
              </a:lnSpc>
              <a:spcBef>
                <a:spcPts val="6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45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no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physical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“wire”</a:t>
            </a:r>
            <a:endParaRPr sz="2400" dirty="0">
              <a:latin typeface="Comic Sans MS"/>
              <a:cs typeface="Comic Sans MS"/>
            </a:endParaRPr>
          </a:p>
          <a:p>
            <a:pPr marL="25400" algn="just">
              <a:lnSpc>
                <a:spcPct val="100000"/>
              </a:lnSpc>
              <a:spcBef>
                <a:spcPts val="6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97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bidirectional</a:t>
            </a:r>
            <a:endParaRPr sz="2400" dirty="0">
              <a:latin typeface="Comic Sans MS"/>
              <a:cs typeface="Comic Sans MS"/>
            </a:endParaRPr>
          </a:p>
          <a:p>
            <a:pPr marL="357505" marR="115570" indent="-332740" algn="just">
              <a:lnSpc>
                <a:spcPct val="100000"/>
              </a:lnSpc>
              <a:spcBef>
                <a:spcPts val="600"/>
              </a:spcBef>
            </a:pPr>
            <a:r>
              <a:rPr sz="3075" spc="1147" baseline="1355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97" baseline="135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propagation </a:t>
            </a:r>
            <a:r>
              <a:rPr sz="2400" dirty="0">
                <a:latin typeface="Comic Sans MS"/>
                <a:cs typeface="Comic Sans MS"/>
              </a:rPr>
              <a:t>environment</a:t>
            </a:r>
            <a:r>
              <a:rPr sz="2400" spc="-8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effects:</a:t>
            </a:r>
            <a:endParaRPr sz="2400" dirty="0">
              <a:latin typeface="Comic Sans MS"/>
              <a:cs typeface="Comic Sans MS"/>
            </a:endParaRPr>
          </a:p>
          <a:p>
            <a:pPr marL="482600" algn="just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47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reflection</a:t>
            </a:r>
            <a:endParaRPr sz="2000" dirty="0">
              <a:latin typeface="Comic Sans MS"/>
              <a:cs typeface="Comic Sans MS"/>
            </a:endParaRPr>
          </a:p>
          <a:p>
            <a:pPr marL="482600" algn="just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09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obstruction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by</a:t>
            </a:r>
            <a:r>
              <a:rPr sz="2000" spc="-10" dirty="0">
                <a:latin typeface="Comic Sans MS"/>
                <a:cs typeface="Comic Sans MS"/>
              </a:rPr>
              <a:t> objects</a:t>
            </a:r>
            <a:endParaRPr sz="2000" dirty="0">
              <a:latin typeface="Comic Sans MS"/>
              <a:cs typeface="Comic Sans MS"/>
            </a:endParaRPr>
          </a:p>
          <a:p>
            <a:pPr marL="482600" algn="just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47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interference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41040B7-63A6-AD7B-D878-5BF5DC587F29}"/>
              </a:ext>
            </a:extLst>
          </p:cNvPr>
          <p:cNvSpPr txBox="1"/>
          <p:nvPr/>
        </p:nvSpPr>
        <p:spPr>
          <a:xfrm>
            <a:off x="4738382" y="1185397"/>
            <a:ext cx="4063365" cy="512572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785"/>
              </a:spcBef>
            </a:pP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Radio</a:t>
            </a:r>
            <a:r>
              <a:rPr sz="2800" spc="-7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800" dirty="0">
                <a:solidFill>
                  <a:srgbClr val="FF0000"/>
                </a:solidFill>
                <a:latin typeface="Comic Sans MS"/>
                <a:cs typeface="Comic Sans MS"/>
              </a:rPr>
              <a:t>link</a:t>
            </a:r>
            <a:r>
              <a:rPr sz="2800" spc="-6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omic Sans MS"/>
                <a:cs typeface="Comic Sans MS"/>
              </a:rPr>
              <a:t>types:</a:t>
            </a:r>
            <a:endParaRPr sz="2800" dirty="0">
              <a:latin typeface="Comic Sans MS"/>
              <a:cs typeface="Comic Sans MS"/>
            </a:endParaRPr>
          </a:p>
          <a:p>
            <a:pPr marL="38100">
              <a:lnSpc>
                <a:spcPct val="100000"/>
              </a:lnSpc>
              <a:spcBef>
                <a:spcPts val="590"/>
              </a:spcBef>
              <a:tabLst>
                <a:tab pos="2085339" algn="l"/>
              </a:tabLst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97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terrestrial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	</a:t>
            </a:r>
            <a:r>
              <a:rPr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microwave</a:t>
            </a:r>
            <a:endParaRPr sz="2400" dirty="0">
              <a:latin typeface="Comic Sans MS"/>
              <a:cs typeface="Comic Sans MS"/>
            </a:endParaRPr>
          </a:p>
          <a:p>
            <a:pPr marL="495300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09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e.g.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up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to</a:t>
            </a:r>
            <a:r>
              <a:rPr sz="2000" spc="-1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45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Mbps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channels</a:t>
            </a:r>
            <a:endParaRPr sz="2000" dirty="0">
              <a:latin typeface="Comic Sans MS"/>
              <a:cs typeface="Comic Sans MS"/>
            </a:endParaRPr>
          </a:p>
          <a:p>
            <a:pPr marR="1438910" algn="r">
              <a:lnSpc>
                <a:spcPct val="100000"/>
              </a:lnSpc>
              <a:spcBef>
                <a:spcPts val="6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52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LAN</a:t>
            </a:r>
            <a:r>
              <a:rPr sz="2400" spc="-2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(e.g.,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spc="-20" dirty="0">
                <a:latin typeface="Comic Sans MS"/>
                <a:cs typeface="Comic Sans MS"/>
              </a:rPr>
              <a:t>Wifi)</a:t>
            </a:r>
            <a:endParaRPr sz="2400" dirty="0">
              <a:latin typeface="Comic Sans MS"/>
              <a:cs typeface="Comic Sans MS"/>
            </a:endParaRPr>
          </a:p>
          <a:p>
            <a:pPr marR="1485900" algn="r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494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2Mbps,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11Mbps</a:t>
            </a:r>
            <a:endParaRPr sz="2000" dirty="0">
              <a:latin typeface="Comic Sans MS"/>
              <a:cs typeface="Comic Sans MS"/>
            </a:endParaRPr>
          </a:p>
          <a:p>
            <a:pPr marR="288290" algn="r">
              <a:lnSpc>
                <a:spcPct val="100000"/>
              </a:lnSpc>
              <a:spcBef>
                <a:spcPts val="6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67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wide-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area</a:t>
            </a:r>
            <a:r>
              <a:rPr sz="2400" spc="-2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(e.g.,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cellular)</a:t>
            </a:r>
            <a:endParaRPr sz="2400" dirty="0">
              <a:latin typeface="Comic Sans MS"/>
              <a:cs typeface="Comic Sans MS"/>
            </a:endParaRPr>
          </a:p>
          <a:p>
            <a:pPr marR="269240" algn="r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02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e.g.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3G: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hundreds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of</a:t>
            </a:r>
            <a:r>
              <a:rPr sz="2000" spc="-20" dirty="0">
                <a:latin typeface="Comic Sans MS"/>
                <a:cs typeface="Comic Sans MS"/>
              </a:rPr>
              <a:t> kbps</a:t>
            </a:r>
            <a:endParaRPr sz="2000" dirty="0">
              <a:latin typeface="Comic Sans MS"/>
              <a:cs typeface="Comic Sans MS"/>
            </a:endParaRPr>
          </a:p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97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satellite</a:t>
            </a:r>
            <a:endParaRPr sz="2400" dirty="0">
              <a:latin typeface="Comic Sans MS"/>
              <a:cs typeface="Comic Sans MS"/>
            </a:endParaRPr>
          </a:p>
          <a:p>
            <a:pPr marL="770890" marR="247015" indent="-276225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487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up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to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50Mbps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channel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spc="-25" dirty="0">
                <a:latin typeface="Comic Sans MS"/>
                <a:cs typeface="Comic Sans MS"/>
              </a:rPr>
              <a:t>(or </a:t>
            </a:r>
            <a:r>
              <a:rPr sz="2000" dirty="0">
                <a:latin typeface="Comic Sans MS"/>
                <a:cs typeface="Comic Sans MS"/>
              </a:rPr>
              <a:t>multiple</a:t>
            </a:r>
            <a:r>
              <a:rPr sz="2000" spc="-6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smaller</a:t>
            </a:r>
            <a:r>
              <a:rPr sz="2000" spc="-5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channels)</a:t>
            </a:r>
            <a:endParaRPr sz="2000" dirty="0">
              <a:latin typeface="Comic Sans MS"/>
              <a:cs typeface="Comic Sans MS"/>
            </a:endParaRPr>
          </a:p>
          <a:p>
            <a:pPr marL="495300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17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270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msec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spc="-20" dirty="0">
                <a:latin typeface="Comic Sans MS"/>
                <a:cs typeface="Comic Sans MS"/>
              </a:rPr>
              <a:t>end-</a:t>
            </a:r>
            <a:r>
              <a:rPr sz="2000" dirty="0">
                <a:latin typeface="Comic Sans MS"/>
                <a:cs typeface="Comic Sans MS"/>
              </a:rPr>
              <a:t>end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spc="-20" dirty="0">
                <a:latin typeface="Comic Sans MS"/>
                <a:cs typeface="Comic Sans MS"/>
              </a:rPr>
              <a:t>delay</a:t>
            </a:r>
            <a:endParaRPr sz="2000" dirty="0">
              <a:latin typeface="Comic Sans MS"/>
              <a:cs typeface="Comic Sans MS"/>
            </a:endParaRPr>
          </a:p>
          <a:p>
            <a:pPr marL="770890" marR="137795" indent="-276225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450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geosynchronous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versus</a:t>
            </a:r>
            <a:r>
              <a:rPr sz="2000" spc="-55" dirty="0">
                <a:latin typeface="Comic Sans MS"/>
                <a:cs typeface="Comic Sans MS"/>
              </a:rPr>
              <a:t> </a:t>
            </a:r>
            <a:r>
              <a:rPr sz="2000" spc="-25" dirty="0">
                <a:latin typeface="Comic Sans MS"/>
                <a:cs typeface="Comic Sans MS"/>
              </a:rPr>
              <a:t>low </a:t>
            </a:r>
            <a:r>
              <a:rPr sz="2000" spc="-10" dirty="0">
                <a:latin typeface="Comic Sans MS"/>
                <a:cs typeface="Comic Sans MS"/>
              </a:rPr>
              <a:t>altitude</a:t>
            </a:r>
            <a:endParaRPr sz="2000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6755015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37260" y="6434899"/>
            <a:ext cx="10902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omic Sans MS"/>
                <a:cs typeface="Comic Sans MS"/>
              </a:rPr>
              <a:t>Introduction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98776" y="6434899"/>
            <a:ext cx="3530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1-</a:t>
            </a:r>
            <a:r>
              <a:rPr sz="1400" spc="-25" dirty="0">
                <a:latin typeface="Times New Roman"/>
                <a:cs typeface="Times New Roman"/>
              </a:rPr>
              <a:t>41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98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Internet</a:t>
            </a:r>
            <a:r>
              <a:rPr sz="3200" spc="-85" dirty="0"/>
              <a:t> </a:t>
            </a:r>
            <a:r>
              <a:rPr sz="3200" dirty="0"/>
              <a:t>structure:</a:t>
            </a:r>
            <a:r>
              <a:rPr sz="3200" spc="-85" dirty="0"/>
              <a:t> </a:t>
            </a:r>
            <a:r>
              <a:rPr sz="3200" dirty="0"/>
              <a:t>network</a:t>
            </a:r>
            <a:r>
              <a:rPr sz="3200" spc="-85" dirty="0"/>
              <a:t> </a:t>
            </a:r>
            <a:r>
              <a:rPr sz="3200" dirty="0"/>
              <a:t>of</a:t>
            </a:r>
            <a:r>
              <a:rPr sz="3200" spc="-75" dirty="0"/>
              <a:t> </a:t>
            </a:r>
            <a:r>
              <a:rPr sz="3200" spc="-10" dirty="0"/>
              <a:t>networks</a:t>
            </a:r>
            <a:endParaRPr sz="3200"/>
          </a:p>
        </p:txBody>
      </p:sp>
      <p:sp>
        <p:nvSpPr>
          <p:cNvPr id="5" name="object 5"/>
          <p:cNvSpPr txBox="1"/>
          <p:nvPr/>
        </p:nvSpPr>
        <p:spPr>
          <a:xfrm>
            <a:off x="416674" y="1385230"/>
            <a:ext cx="6959600" cy="836294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700"/>
              </a:spcBef>
            </a:pPr>
            <a:r>
              <a:rPr sz="3075" spc="1147" baseline="1355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67" baseline="135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“Tier-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3”</a:t>
            </a:r>
            <a:r>
              <a:rPr sz="2400" spc="-2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ISPs</a:t>
            </a:r>
            <a:r>
              <a:rPr sz="2400" spc="-2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and</a:t>
            </a:r>
            <a:r>
              <a:rPr sz="2400" spc="-3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local</a:t>
            </a:r>
            <a:r>
              <a:rPr sz="2400" spc="-20" dirty="0">
                <a:solidFill>
                  <a:srgbClr val="FF0000"/>
                </a:solidFill>
                <a:latin typeface="Comic Sans MS"/>
                <a:cs typeface="Comic Sans MS"/>
              </a:rPr>
              <a:t> ISPs</a:t>
            </a:r>
            <a:endParaRPr sz="2400">
              <a:latin typeface="Comic Sans MS"/>
              <a:cs typeface="Comic Sans MS"/>
            </a:endParaRPr>
          </a:p>
          <a:p>
            <a:pPr marL="482600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02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last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hop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(“access”)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network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(closest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to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end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systems)</a:t>
            </a:r>
            <a:endParaRPr sz="2000">
              <a:latin typeface="Comic Sans MS"/>
              <a:cs typeface="Comic Sans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941398" y="3281311"/>
            <a:ext cx="1183640" cy="2245360"/>
            <a:chOff x="1941398" y="3281311"/>
            <a:chExt cx="1183640" cy="2245360"/>
          </a:xfrm>
        </p:grpSpPr>
        <p:sp>
          <p:nvSpPr>
            <p:cNvPr id="7" name="object 7"/>
            <p:cNvSpPr/>
            <p:nvPr/>
          </p:nvSpPr>
          <p:spPr>
            <a:xfrm>
              <a:off x="2431795" y="488303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46160" y="3286074"/>
              <a:ext cx="609600" cy="2235835"/>
            </a:xfrm>
            <a:custGeom>
              <a:avLst/>
              <a:gdLst/>
              <a:ahLst/>
              <a:cxnLst/>
              <a:rect l="l" t="t" r="r" b="b"/>
              <a:pathLst>
                <a:path w="609600" h="2235835">
                  <a:moveTo>
                    <a:pt x="485635" y="1596961"/>
                  </a:moveTo>
                  <a:lnTo>
                    <a:pt x="485635" y="1596961"/>
                  </a:lnTo>
                  <a:lnTo>
                    <a:pt x="485635" y="1596961"/>
                  </a:lnTo>
                  <a:close/>
                </a:path>
                <a:path w="609600" h="2235835">
                  <a:moveTo>
                    <a:pt x="609472" y="0"/>
                  </a:moveTo>
                  <a:lnTo>
                    <a:pt x="609472" y="0"/>
                  </a:lnTo>
                  <a:lnTo>
                    <a:pt x="609472" y="0"/>
                  </a:lnTo>
                  <a:close/>
                </a:path>
                <a:path w="609600" h="2235835">
                  <a:moveTo>
                    <a:pt x="0" y="2235250"/>
                  </a:moveTo>
                  <a:lnTo>
                    <a:pt x="0" y="2235250"/>
                  </a:lnTo>
                  <a:lnTo>
                    <a:pt x="0" y="223525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79839" y="551771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79839" y="551771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17279" y="369539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17279" y="369539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06560" y="3809885"/>
              <a:ext cx="308610" cy="1076960"/>
            </a:xfrm>
            <a:custGeom>
              <a:avLst/>
              <a:gdLst/>
              <a:ahLst/>
              <a:cxnLst/>
              <a:rect l="l" t="t" r="r" b="b"/>
              <a:pathLst>
                <a:path w="308610" h="1076960">
                  <a:moveTo>
                    <a:pt x="0" y="0"/>
                  </a:moveTo>
                  <a:lnTo>
                    <a:pt x="308165" y="1076388"/>
                  </a:lnTo>
                </a:path>
              </a:pathLst>
            </a:custGeom>
            <a:ln w="19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60357" y="483227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60357" y="483227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3525475" y="3675234"/>
            <a:ext cx="9525" cy="9525"/>
            <a:chOff x="3525475" y="3675234"/>
            <a:chExt cx="9525" cy="9525"/>
          </a:xfrm>
        </p:grpSpPr>
        <p:sp>
          <p:nvSpPr>
            <p:cNvPr id="17" name="object 17"/>
            <p:cNvSpPr/>
            <p:nvPr/>
          </p:nvSpPr>
          <p:spPr>
            <a:xfrm>
              <a:off x="3530155" y="367991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530155" y="367991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3825595" y="4179519"/>
            <a:ext cx="2559685" cy="723265"/>
            <a:chOff x="3825595" y="4179519"/>
            <a:chExt cx="2559685" cy="723265"/>
          </a:xfrm>
        </p:grpSpPr>
        <p:sp>
          <p:nvSpPr>
            <p:cNvPr id="20" name="object 20"/>
            <p:cNvSpPr/>
            <p:nvPr/>
          </p:nvSpPr>
          <p:spPr>
            <a:xfrm>
              <a:off x="4800244" y="484451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00244" y="484451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121363" y="485100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121363" y="485100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669916" y="438119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669916" y="438119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206963" y="440640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206963" y="440640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835438" y="4495685"/>
              <a:ext cx="1311275" cy="396875"/>
            </a:xfrm>
            <a:custGeom>
              <a:avLst/>
              <a:gdLst/>
              <a:ahLst/>
              <a:cxnLst/>
              <a:rect l="l" t="t" r="r" b="b"/>
              <a:pathLst>
                <a:path w="1311275" h="396875">
                  <a:moveTo>
                    <a:pt x="942848" y="0"/>
                  </a:moveTo>
                  <a:lnTo>
                    <a:pt x="1311122" y="368274"/>
                  </a:lnTo>
                </a:path>
                <a:path w="1311275" h="396875">
                  <a:moveTo>
                    <a:pt x="0" y="396709"/>
                  </a:moveTo>
                  <a:lnTo>
                    <a:pt x="393839" y="21958"/>
                  </a:lnTo>
                </a:path>
              </a:pathLst>
            </a:custGeom>
            <a:ln w="19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694121" y="4184281"/>
              <a:ext cx="685800" cy="305435"/>
            </a:xfrm>
            <a:custGeom>
              <a:avLst/>
              <a:gdLst/>
              <a:ahLst/>
              <a:cxnLst/>
              <a:rect l="l" t="t" r="r" b="b"/>
              <a:pathLst>
                <a:path w="685800" h="305435">
                  <a:moveTo>
                    <a:pt x="685800" y="0"/>
                  </a:moveTo>
                  <a:lnTo>
                    <a:pt x="0" y="0"/>
                  </a:lnTo>
                  <a:lnTo>
                    <a:pt x="0" y="304914"/>
                  </a:lnTo>
                  <a:lnTo>
                    <a:pt x="343077" y="304914"/>
                  </a:lnTo>
                  <a:lnTo>
                    <a:pt x="685800" y="304914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694121" y="4184281"/>
              <a:ext cx="685800" cy="305435"/>
            </a:xfrm>
            <a:custGeom>
              <a:avLst/>
              <a:gdLst/>
              <a:ahLst/>
              <a:cxnLst/>
              <a:rect l="l" t="t" r="r" b="b"/>
              <a:pathLst>
                <a:path w="685800" h="305435">
                  <a:moveTo>
                    <a:pt x="343077" y="304914"/>
                  </a:moveTo>
                  <a:lnTo>
                    <a:pt x="0" y="304914"/>
                  </a:lnTo>
                  <a:lnTo>
                    <a:pt x="0" y="0"/>
                  </a:lnTo>
                  <a:lnTo>
                    <a:pt x="685800" y="0"/>
                  </a:lnTo>
                  <a:lnTo>
                    <a:pt x="685800" y="304914"/>
                  </a:lnTo>
                  <a:lnTo>
                    <a:pt x="343077" y="304914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3731761" y="4858924"/>
            <a:ext cx="9525" cy="9525"/>
            <a:chOff x="3731761" y="4858924"/>
            <a:chExt cx="9525" cy="9525"/>
          </a:xfrm>
        </p:grpSpPr>
        <p:sp>
          <p:nvSpPr>
            <p:cNvPr id="32" name="object 32"/>
            <p:cNvSpPr/>
            <p:nvPr/>
          </p:nvSpPr>
          <p:spPr>
            <a:xfrm>
              <a:off x="3736441" y="486360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736441" y="486360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4227125" y="5176437"/>
            <a:ext cx="9525" cy="9525"/>
            <a:chOff x="4227125" y="5176437"/>
            <a:chExt cx="9525" cy="9525"/>
          </a:xfrm>
        </p:grpSpPr>
        <p:sp>
          <p:nvSpPr>
            <p:cNvPr id="35" name="object 35"/>
            <p:cNvSpPr/>
            <p:nvPr/>
          </p:nvSpPr>
          <p:spPr>
            <a:xfrm>
              <a:off x="4231805" y="518111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231805" y="518111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4741919" y="5163839"/>
            <a:ext cx="9525" cy="9525"/>
            <a:chOff x="4741919" y="5163839"/>
            <a:chExt cx="9525" cy="9525"/>
          </a:xfrm>
        </p:grpSpPr>
        <p:sp>
          <p:nvSpPr>
            <p:cNvPr id="38" name="object 38"/>
            <p:cNvSpPr/>
            <p:nvPr/>
          </p:nvSpPr>
          <p:spPr>
            <a:xfrm>
              <a:off x="4746599" y="516851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746599" y="516851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/>
          <p:nvPr/>
        </p:nvSpPr>
        <p:spPr>
          <a:xfrm>
            <a:off x="4368965" y="5229364"/>
            <a:ext cx="381000" cy="25400"/>
          </a:xfrm>
          <a:custGeom>
            <a:avLst/>
            <a:gdLst/>
            <a:ahLst/>
            <a:cxnLst/>
            <a:rect l="l" t="t" r="r" b="b"/>
            <a:pathLst>
              <a:path w="381000" h="25400">
                <a:moveTo>
                  <a:pt x="0" y="25196"/>
                </a:moveTo>
                <a:lnTo>
                  <a:pt x="380873" y="0"/>
                </a:lnTo>
              </a:path>
            </a:pathLst>
          </a:custGeom>
          <a:ln w="190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5745505" y="4212259"/>
            <a:ext cx="5467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solidFill>
                  <a:srgbClr val="FFFFFF"/>
                </a:solidFill>
                <a:latin typeface="Comic Sans MS"/>
                <a:cs typeface="Comic Sans MS"/>
              </a:rPr>
              <a:t>NAP</a:t>
            </a:r>
            <a:endParaRPr sz="2000">
              <a:latin typeface="Comic Sans MS"/>
              <a:cs typeface="Comic Sans MS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857584" y="3944880"/>
            <a:ext cx="2232025" cy="967105"/>
            <a:chOff x="3857584" y="3944880"/>
            <a:chExt cx="2232025" cy="967105"/>
          </a:xfrm>
        </p:grpSpPr>
        <p:sp>
          <p:nvSpPr>
            <p:cNvPr id="43" name="object 43"/>
            <p:cNvSpPr/>
            <p:nvPr/>
          </p:nvSpPr>
          <p:spPr>
            <a:xfrm>
              <a:off x="3867124" y="4362475"/>
              <a:ext cx="1867535" cy="539750"/>
            </a:xfrm>
            <a:custGeom>
              <a:avLst/>
              <a:gdLst/>
              <a:ahLst/>
              <a:cxnLst/>
              <a:rect l="l" t="t" r="r" b="b"/>
              <a:pathLst>
                <a:path w="1867535" h="539750">
                  <a:moveTo>
                    <a:pt x="1866950" y="82448"/>
                  </a:moveTo>
                  <a:lnTo>
                    <a:pt x="1346390" y="507961"/>
                  </a:lnTo>
                </a:path>
                <a:path w="1867535" h="539750">
                  <a:moveTo>
                    <a:pt x="1835277" y="0"/>
                  </a:moveTo>
                  <a:lnTo>
                    <a:pt x="914400" y="114122"/>
                  </a:lnTo>
                </a:path>
                <a:path w="1867535" h="539750">
                  <a:moveTo>
                    <a:pt x="1835277" y="57238"/>
                  </a:moveTo>
                  <a:lnTo>
                    <a:pt x="0" y="539648"/>
                  </a:lnTo>
                </a:path>
              </a:pathLst>
            </a:custGeom>
            <a:ln w="19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083274" y="3949560"/>
              <a:ext cx="1905" cy="241935"/>
            </a:xfrm>
            <a:custGeom>
              <a:avLst/>
              <a:gdLst/>
              <a:ahLst/>
              <a:cxnLst/>
              <a:rect l="l" t="t" r="r" b="b"/>
              <a:pathLst>
                <a:path w="1904" h="241935">
                  <a:moveTo>
                    <a:pt x="0" y="0"/>
                  </a:moveTo>
                  <a:lnTo>
                    <a:pt x="1447" y="241553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/>
          <p:nvPr/>
        </p:nvSpPr>
        <p:spPr>
          <a:xfrm>
            <a:off x="4829035" y="333683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5124500" y="3488664"/>
            <a:ext cx="1184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omic Sans MS"/>
                <a:cs typeface="Comic Sans MS"/>
              </a:rPr>
              <a:t>Tier-</a:t>
            </a:r>
            <a:r>
              <a:rPr sz="1800" dirty="0">
                <a:latin typeface="Comic Sans MS"/>
                <a:cs typeface="Comic Sans MS"/>
              </a:rPr>
              <a:t>2</a:t>
            </a:r>
            <a:r>
              <a:rPr sz="1800" spc="25" dirty="0">
                <a:latin typeface="Comic Sans MS"/>
                <a:cs typeface="Comic Sans MS"/>
              </a:rPr>
              <a:t> </a:t>
            </a:r>
            <a:r>
              <a:rPr sz="1800" spc="-25" dirty="0">
                <a:latin typeface="Comic Sans MS"/>
                <a:cs typeface="Comic Sans MS"/>
              </a:rPr>
              <a:t>ISP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5050085" y="3710159"/>
            <a:ext cx="9525" cy="9525"/>
            <a:chOff x="5050085" y="3710159"/>
            <a:chExt cx="9525" cy="9525"/>
          </a:xfrm>
        </p:grpSpPr>
        <p:sp>
          <p:nvSpPr>
            <p:cNvPr id="48" name="object 48"/>
            <p:cNvSpPr/>
            <p:nvPr/>
          </p:nvSpPr>
          <p:spPr>
            <a:xfrm>
              <a:off x="5054765" y="371483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054765" y="371483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0" name="object 50"/>
          <p:cNvGrpSpPr/>
          <p:nvPr/>
        </p:nvGrpSpPr>
        <p:grpSpPr>
          <a:xfrm>
            <a:off x="3767042" y="3710159"/>
            <a:ext cx="9525" cy="9525"/>
            <a:chOff x="3767042" y="3710159"/>
            <a:chExt cx="9525" cy="9525"/>
          </a:xfrm>
        </p:grpSpPr>
        <p:sp>
          <p:nvSpPr>
            <p:cNvPr id="51" name="object 51"/>
            <p:cNvSpPr/>
            <p:nvPr/>
          </p:nvSpPr>
          <p:spPr>
            <a:xfrm>
              <a:off x="3771722" y="371483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71722" y="371483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/>
          <p:nvPr/>
        </p:nvSpPr>
        <p:spPr>
          <a:xfrm>
            <a:off x="4244759" y="553392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4" name="object 54"/>
          <p:cNvGrpSpPr/>
          <p:nvPr/>
        </p:nvGrpSpPr>
        <p:grpSpPr>
          <a:xfrm>
            <a:off x="5367242" y="5538959"/>
            <a:ext cx="9525" cy="9525"/>
            <a:chOff x="5367242" y="5538959"/>
            <a:chExt cx="9525" cy="9525"/>
          </a:xfrm>
        </p:grpSpPr>
        <p:sp>
          <p:nvSpPr>
            <p:cNvPr id="55" name="object 55"/>
            <p:cNvSpPr/>
            <p:nvPr/>
          </p:nvSpPr>
          <p:spPr>
            <a:xfrm>
              <a:off x="5371922" y="554363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371922" y="554363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/>
          <p:nvPr/>
        </p:nvSpPr>
        <p:spPr>
          <a:xfrm>
            <a:off x="6492595" y="505151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8" name="object 58"/>
          <p:cNvGrpSpPr/>
          <p:nvPr/>
        </p:nvGrpSpPr>
        <p:grpSpPr>
          <a:xfrm>
            <a:off x="6573958" y="5246274"/>
            <a:ext cx="9525" cy="9525"/>
            <a:chOff x="6573958" y="5246274"/>
            <a:chExt cx="9525" cy="9525"/>
          </a:xfrm>
        </p:grpSpPr>
        <p:sp>
          <p:nvSpPr>
            <p:cNvPr id="59" name="object 59"/>
            <p:cNvSpPr/>
            <p:nvPr/>
          </p:nvSpPr>
          <p:spPr>
            <a:xfrm>
              <a:off x="6578638" y="525095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578638" y="525095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/>
          <p:nvPr/>
        </p:nvSpPr>
        <p:spPr>
          <a:xfrm>
            <a:off x="6337084" y="368316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2" name="object 62"/>
          <p:cNvGrpSpPr/>
          <p:nvPr/>
        </p:nvGrpSpPr>
        <p:grpSpPr>
          <a:xfrm>
            <a:off x="6442022" y="3813299"/>
            <a:ext cx="895350" cy="1182370"/>
            <a:chOff x="6442022" y="3813299"/>
            <a:chExt cx="895350" cy="1182370"/>
          </a:xfrm>
        </p:grpSpPr>
        <p:sp>
          <p:nvSpPr>
            <p:cNvPr id="63" name="object 63"/>
            <p:cNvSpPr/>
            <p:nvPr/>
          </p:nvSpPr>
          <p:spPr>
            <a:xfrm>
              <a:off x="7302246" y="499068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451562" y="3822839"/>
              <a:ext cx="876300" cy="1155700"/>
            </a:xfrm>
            <a:custGeom>
              <a:avLst/>
              <a:gdLst/>
              <a:ahLst/>
              <a:cxnLst/>
              <a:rect l="l" t="t" r="r" b="b"/>
              <a:pathLst>
                <a:path w="876300" h="1155700">
                  <a:moveTo>
                    <a:pt x="0" y="0"/>
                  </a:moveTo>
                  <a:lnTo>
                    <a:pt x="876236" y="1155598"/>
                  </a:lnTo>
                </a:path>
              </a:pathLst>
            </a:custGeom>
            <a:ln w="19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/>
          <p:nvPr/>
        </p:nvSpPr>
        <p:spPr>
          <a:xfrm>
            <a:off x="6006960" y="379691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273281" y="267624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5458574" y="2742019"/>
            <a:ext cx="5054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5080" indent="-3873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mic Sans MS"/>
                <a:cs typeface="Comic Sans MS"/>
              </a:rPr>
              <a:t>local </a:t>
            </a:r>
            <a:r>
              <a:rPr sz="1800" spc="-25" dirty="0">
                <a:latin typeface="Comic Sans MS"/>
                <a:cs typeface="Comic Sans MS"/>
              </a:rPr>
              <a:t>ISP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4308475" y="282851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4493424" y="2894304"/>
            <a:ext cx="5054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" marR="5080" indent="-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mic Sans MS"/>
                <a:cs typeface="Comic Sans MS"/>
              </a:rPr>
              <a:t>local </a:t>
            </a:r>
            <a:r>
              <a:rPr sz="1800" spc="-25" dirty="0">
                <a:latin typeface="Comic Sans MS"/>
                <a:cs typeface="Comic Sans MS"/>
              </a:rPr>
              <a:t>ISP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6022441" y="28159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6207734" y="2881706"/>
            <a:ext cx="5054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5080" indent="-3873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mic Sans MS"/>
                <a:cs typeface="Comic Sans MS"/>
              </a:rPr>
              <a:t>local </a:t>
            </a:r>
            <a:r>
              <a:rPr sz="1800" spc="-25" dirty="0">
                <a:latin typeface="Comic Sans MS"/>
                <a:cs typeface="Comic Sans MS"/>
              </a:rPr>
              <a:t>ISP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1539354" y="587664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1724660" y="5942419"/>
            <a:ext cx="5054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5080" indent="-3873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mic Sans MS"/>
                <a:cs typeface="Comic Sans MS"/>
              </a:rPr>
              <a:t>local </a:t>
            </a:r>
            <a:r>
              <a:rPr sz="1800" spc="-25" dirty="0">
                <a:latin typeface="Comic Sans MS"/>
                <a:cs typeface="Comic Sans MS"/>
              </a:rPr>
              <a:t>ISP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846057" y="2780182"/>
            <a:ext cx="1188720" cy="956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2875" marR="505459" indent="-13081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mic Sans MS"/>
                <a:cs typeface="Comic Sans MS"/>
              </a:rPr>
              <a:t>Tier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spc="-50" dirty="0">
                <a:latin typeface="Comic Sans MS"/>
                <a:cs typeface="Comic Sans MS"/>
              </a:rPr>
              <a:t>3 </a:t>
            </a:r>
            <a:r>
              <a:rPr sz="1800" spc="-25" dirty="0">
                <a:latin typeface="Comic Sans MS"/>
                <a:cs typeface="Comic Sans MS"/>
              </a:rPr>
              <a:t>ISP</a:t>
            </a:r>
            <a:endParaRPr sz="1800">
              <a:latin typeface="Comic Sans MS"/>
              <a:cs typeface="Comic Sans MS"/>
            </a:endParaRPr>
          </a:p>
          <a:p>
            <a:pPr marL="17145">
              <a:lnSpc>
                <a:spcPct val="100000"/>
              </a:lnSpc>
              <a:spcBef>
                <a:spcPts val="844"/>
              </a:spcBef>
            </a:pPr>
            <a:r>
              <a:rPr sz="1800" spc="-20" dirty="0">
                <a:latin typeface="Comic Sans MS"/>
                <a:cs typeface="Comic Sans MS"/>
              </a:rPr>
              <a:t>Tier-</a:t>
            </a:r>
            <a:r>
              <a:rPr sz="1800" dirty="0">
                <a:latin typeface="Comic Sans MS"/>
                <a:cs typeface="Comic Sans MS"/>
              </a:rPr>
              <a:t>2</a:t>
            </a:r>
            <a:r>
              <a:rPr sz="1800" spc="25" dirty="0">
                <a:latin typeface="Comic Sans MS"/>
                <a:cs typeface="Comic Sans MS"/>
              </a:rPr>
              <a:t> </a:t>
            </a:r>
            <a:r>
              <a:rPr sz="1800" spc="-25" dirty="0">
                <a:latin typeface="Comic Sans MS"/>
                <a:cs typeface="Comic Sans MS"/>
              </a:rPr>
              <a:t>ISP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1882800" y="247284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2067737" y="2538615"/>
            <a:ext cx="5054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" marR="5080" indent="-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mic Sans MS"/>
                <a:cs typeface="Comic Sans MS"/>
              </a:rPr>
              <a:t>local </a:t>
            </a:r>
            <a:r>
              <a:rPr sz="1800" spc="-25" dirty="0">
                <a:latin typeface="Comic Sans MS"/>
                <a:cs typeface="Comic Sans MS"/>
              </a:rPr>
              <a:t>ISP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2746438" y="271439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8" name="object 78"/>
          <p:cNvGrpSpPr/>
          <p:nvPr/>
        </p:nvGrpSpPr>
        <p:grpSpPr>
          <a:xfrm>
            <a:off x="2893593" y="5935243"/>
            <a:ext cx="9525" cy="9525"/>
            <a:chOff x="2893593" y="5935243"/>
            <a:chExt cx="9525" cy="9525"/>
          </a:xfrm>
        </p:grpSpPr>
        <p:sp>
          <p:nvSpPr>
            <p:cNvPr id="79" name="object 79"/>
            <p:cNvSpPr/>
            <p:nvPr/>
          </p:nvSpPr>
          <p:spPr>
            <a:xfrm>
              <a:off x="2898355" y="594000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2898355" y="594000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2241626" y="5611952"/>
            <a:ext cx="1348105" cy="96837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800" spc="-20" dirty="0">
                <a:latin typeface="Comic Sans MS"/>
                <a:cs typeface="Comic Sans MS"/>
              </a:rPr>
              <a:t>Tier-</a:t>
            </a:r>
            <a:r>
              <a:rPr sz="1800" dirty="0">
                <a:latin typeface="Comic Sans MS"/>
                <a:cs typeface="Comic Sans MS"/>
              </a:rPr>
              <a:t>2</a:t>
            </a:r>
            <a:r>
              <a:rPr sz="1800" spc="25" dirty="0">
                <a:latin typeface="Comic Sans MS"/>
                <a:cs typeface="Comic Sans MS"/>
              </a:rPr>
              <a:t> </a:t>
            </a:r>
            <a:r>
              <a:rPr sz="1800" spc="-25" dirty="0">
                <a:latin typeface="Comic Sans MS"/>
                <a:cs typeface="Comic Sans MS"/>
              </a:rPr>
              <a:t>ISP</a:t>
            </a:r>
            <a:endParaRPr sz="1800">
              <a:latin typeface="Comic Sans MS"/>
              <a:cs typeface="Comic Sans MS"/>
            </a:endParaRPr>
          </a:p>
          <a:p>
            <a:pPr marL="892810" marR="5080" indent="-38735">
              <a:lnSpc>
                <a:spcPct val="100000"/>
              </a:lnSpc>
              <a:spcBef>
                <a:spcPts val="470"/>
              </a:spcBef>
            </a:pPr>
            <a:r>
              <a:rPr sz="1800" spc="-10" dirty="0">
                <a:latin typeface="Comic Sans MS"/>
                <a:cs typeface="Comic Sans MS"/>
              </a:rPr>
              <a:t>local </a:t>
            </a:r>
            <a:r>
              <a:rPr sz="1800" spc="-25" dirty="0">
                <a:latin typeface="Comic Sans MS"/>
                <a:cs typeface="Comic Sans MS"/>
              </a:rPr>
              <a:t>ISP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4595399" y="5935326"/>
            <a:ext cx="9525" cy="9525"/>
            <a:chOff x="4595399" y="5935326"/>
            <a:chExt cx="9525" cy="9525"/>
          </a:xfrm>
        </p:grpSpPr>
        <p:sp>
          <p:nvSpPr>
            <p:cNvPr id="83" name="object 83"/>
            <p:cNvSpPr/>
            <p:nvPr/>
          </p:nvSpPr>
          <p:spPr>
            <a:xfrm>
              <a:off x="4600079" y="594000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600079" y="594000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4540224" y="5640019"/>
            <a:ext cx="1183640" cy="9398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57810" marR="5080" indent="-245745">
              <a:lnSpc>
                <a:spcPct val="108300"/>
              </a:lnSpc>
              <a:spcBef>
                <a:spcPts val="280"/>
              </a:spcBef>
            </a:pPr>
            <a:r>
              <a:rPr sz="1800" spc="-20" dirty="0">
                <a:latin typeface="Comic Sans MS"/>
                <a:cs typeface="Comic Sans MS"/>
              </a:rPr>
              <a:t>Tier-</a:t>
            </a:r>
            <a:r>
              <a:rPr sz="1800" dirty="0">
                <a:latin typeface="Comic Sans MS"/>
                <a:cs typeface="Comic Sans MS"/>
              </a:rPr>
              <a:t>2</a:t>
            </a:r>
            <a:r>
              <a:rPr sz="1800" spc="25" dirty="0">
                <a:latin typeface="Comic Sans MS"/>
                <a:cs typeface="Comic Sans MS"/>
              </a:rPr>
              <a:t> </a:t>
            </a:r>
            <a:r>
              <a:rPr sz="1800" spc="-25" dirty="0">
                <a:latin typeface="Comic Sans MS"/>
                <a:cs typeface="Comic Sans MS"/>
              </a:rPr>
              <a:t>ISP </a:t>
            </a:r>
            <a:r>
              <a:rPr sz="1800" spc="-10" dirty="0">
                <a:latin typeface="Comic Sans MS"/>
                <a:cs typeface="Comic Sans MS"/>
              </a:rPr>
              <a:t>local</a:t>
            </a:r>
            <a:r>
              <a:rPr sz="1800" spc="500" dirty="0">
                <a:latin typeface="Comic Sans MS"/>
                <a:cs typeface="Comic Sans MS"/>
              </a:rPr>
              <a:t> </a:t>
            </a:r>
            <a:r>
              <a:rPr sz="1800" spc="-25" dirty="0">
                <a:latin typeface="Comic Sans MS"/>
                <a:cs typeface="Comic Sans MS"/>
              </a:rPr>
              <a:t>ISP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7301160" y="5478126"/>
            <a:ext cx="9525" cy="9525"/>
            <a:chOff x="7301160" y="5478126"/>
            <a:chExt cx="9525" cy="9525"/>
          </a:xfrm>
        </p:grpSpPr>
        <p:sp>
          <p:nvSpPr>
            <p:cNvPr id="87" name="object 87"/>
            <p:cNvSpPr/>
            <p:nvPr/>
          </p:nvSpPr>
          <p:spPr>
            <a:xfrm>
              <a:off x="7305840" y="548280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305840" y="548280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6788060" y="5132425"/>
            <a:ext cx="1208405" cy="99060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800" spc="-20" dirty="0">
                <a:latin typeface="Comic Sans MS"/>
                <a:cs typeface="Comic Sans MS"/>
              </a:rPr>
              <a:t>Tier-</a:t>
            </a:r>
            <a:r>
              <a:rPr sz="1800" dirty="0">
                <a:latin typeface="Comic Sans MS"/>
                <a:cs typeface="Comic Sans MS"/>
              </a:rPr>
              <a:t>2</a:t>
            </a:r>
            <a:r>
              <a:rPr sz="1800" spc="25" dirty="0">
                <a:latin typeface="Comic Sans MS"/>
                <a:cs typeface="Comic Sans MS"/>
              </a:rPr>
              <a:t> </a:t>
            </a:r>
            <a:r>
              <a:rPr sz="1800" spc="-25" dirty="0">
                <a:latin typeface="Comic Sans MS"/>
                <a:cs typeface="Comic Sans MS"/>
              </a:rPr>
              <a:t>ISP</a:t>
            </a:r>
            <a:endParaRPr sz="1800">
              <a:latin typeface="Comic Sans MS"/>
              <a:cs typeface="Comic Sans MS"/>
            </a:endParaRPr>
          </a:p>
          <a:p>
            <a:pPr marL="753110" marR="5080" indent="-38735">
              <a:lnSpc>
                <a:spcPct val="100000"/>
              </a:lnSpc>
              <a:spcBef>
                <a:spcPts val="560"/>
              </a:spcBef>
            </a:pPr>
            <a:r>
              <a:rPr sz="1800" spc="-10" dirty="0">
                <a:latin typeface="Comic Sans MS"/>
                <a:cs typeface="Comic Sans MS"/>
              </a:rPr>
              <a:t>local </a:t>
            </a:r>
            <a:r>
              <a:rPr sz="1800" spc="-25" dirty="0">
                <a:latin typeface="Comic Sans MS"/>
                <a:cs typeface="Comic Sans MS"/>
              </a:rPr>
              <a:t>ISP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261620" y="3372015"/>
            <a:ext cx="1577975" cy="221996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170"/>
              </a:spcBef>
            </a:pPr>
            <a:r>
              <a:rPr sz="1800" dirty="0">
                <a:latin typeface="Comic Sans MS"/>
                <a:cs typeface="Comic Sans MS"/>
              </a:rPr>
              <a:t>Local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and</a:t>
            </a:r>
            <a:r>
              <a:rPr sz="1800" spc="-20" dirty="0">
                <a:latin typeface="Comic Sans MS"/>
                <a:cs typeface="Comic Sans MS"/>
              </a:rPr>
              <a:t> tier- </a:t>
            </a:r>
            <a:r>
              <a:rPr sz="1800" dirty="0">
                <a:latin typeface="Comic Sans MS"/>
                <a:cs typeface="Comic Sans MS"/>
              </a:rPr>
              <a:t>3</a:t>
            </a:r>
            <a:r>
              <a:rPr sz="1800" spc="-3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ISPs</a:t>
            </a:r>
            <a:r>
              <a:rPr sz="1800" spc="-35" dirty="0">
                <a:latin typeface="Comic Sans MS"/>
                <a:cs typeface="Comic Sans MS"/>
              </a:rPr>
              <a:t> </a:t>
            </a:r>
            <a:r>
              <a:rPr sz="1800" spc="-25" dirty="0">
                <a:latin typeface="Comic Sans MS"/>
                <a:cs typeface="Comic Sans MS"/>
              </a:rPr>
              <a:t>are </a:t>
            </a:r>
            <a:r>
              <a:rPr sz="1850" i="1" spc="-25" dirty="0">
                <a:latin typeface="Comic Sans MS"/>
                <a:cs typeface="Comic Sans MS"/>
              </a:rPr>
              <a:t>customers</a:t>
            </a:r>
            <a:r>
              <a:rPr sz="1850" i="1" spc="-85" dirty="0">
                <a:latin typeface="Comic Sans MS"/>
                <a:cs typeface="Comic Sans MS"/>
              </a:rPr>
              <a:t> </a:t>
            </a:r>
            <a:r>
              <a:rPr sz="1800" spc="-25" dirty="0">
                <a:latin typeface="Comic Sans MS"/>
                <a:cs typeface="Comic Sans MS"/>
              </a:rPr>
              <a:t>of </a:t>
            </a:r>
            <a:r>
              <a:rPr sz="1800" dirty="0">
                <a:latin typeface="Comic Sans MS"/>
                <a:cs typeface="Comic Sans MS"/>
              </a:rPr>
              <a:t>higher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spc="-20" dirty="0">
                <a:latin typeface="Comic Sans MS"/>
                <a:cs typeface="Comic Sans MS"/>
              </a:rPr>
              <a:t>tier ISPs</a:t>
            </a:r>
            <a:endParaRPr sz="1800">
              <a:latin typeface="Comic Sans MS"/>
              <a:cs typeface="Comic Sans MS"/>
            </a:endParaRPr>
          </a:p>
          <a:p>
            <a:pPr marL="12700" marR="196850">
              <a:lnSpc>
                <a:spcPts val="2160"/>
              </a:lnSpc>
            </a:pPr>
            <a:r>
              <a:rPr sz="1800" spc="-10" dirty="0">
                <a:latin typeface="Comic Sans MS"/>
                <a:cs typeface="Comic Sans MS"/>
              </a:rPr>
              <a:t>connecting </a:t>
            </a:r>
            <a:r>
              <a:rPr sz="1800" dirty="0">
                <a:latin typeface="Comic Sans MS"/>
                <a:cs typeface="Comic Sans MS"/>
              </a:rPr>
              <a:t>them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to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spc="-20" dirty="0">
                <a:latin typeface="Comic Sans MS"/>
                <a:cs typeface="Comic Sans MS"/>
              </a:rPr>
              <a:t>rest </a:t>
            </a:r>
            <a:r>
              <a:rPr sz="1800" dirty="0">
                <a:latin typeface="Comic Sans MS"/>
                <a:cs typeface="Comic Sans MS"/>
              </a:rPr>
              <a:t>of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Internet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1697043" y="3174834"/>
            <a:ext cx="1303655" cy="2809875"/>
            <a:chOff x="1697043" y="3174834"/>
            <a:chExt cx="1303655" cy="2809875"/>
          </a:xfrm>
        </p:grpSpPr>
        <p:sp>
          <p:nvSpPr>
            <p:cNvPr id="92" name="object 92"/>
            <p:cNvSpPr/>
            <p:nvPr/>
          </p:nvSpPr>
          <p:spPr>
            <a:xfrm>
              <a:off x="1701723" y="3249714"/>
              <a:ext cx="508000" cy="1125855"/>
            </a:xfrm>
            <a:custGeom>
              <a:avLst/>
              <a:gdLst/>
              <a:ahLst/>
              <a:cxnLst/>
              <a:rect l="l" t="t" r="r" b="b"/>
              <a:pathLst>
                <a:path w="508000" h="1125854">
                  <a:moveTo>
                    <a:pt x="0" y="1125728"/>
                  </a:moveTo>
                  <a:lnTo>
                    <a:pt x="507593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2172957" y="3185274"/>
              <a:ext cx="69215" cy="85090"/>
            </a:xfrm>
            <a:custGeom>
              <a:avLst/>
              <a:gdLst/>
              <a:ahLst/>
              <a:cxnLst/>
              <a:rect l="l" t="t" r="r" b="b"/>
              <a:pathLst>
                <a:path w="69214" h="85089">
                  <a:moveTo>
                    <a:pt x="65519" y="0"/>
                  </a:moveTo>
                  <a:lnTo>
                    <a:pt x="0" y="53289"/>
                  </a:lnTo>
                  <a:lnTo>
                    <a:pt x="68757" y="84607"/>
                  </a:lnTo>
                  <a:lnTo>
                    <a:pt x="655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1727276" y="3227400"/>
              <a:ext cx="997585" cy="1110615"/>
            </a:xfrm>
            <a:custGeom>
              <a:avLst/>
              <a:gdLst/>
              <a:ahLst/>
              <a:cxnLst/>
              <a:rect l="l" t="t" r="r" b="b"/>
              <a:pathLst>
                <a:path w="997585" h="1110614">
                  <a:moveTo>
                    <a:pt x="0" y="1110234"/>
                  </a:moveTo>
                  <a:lnTo>
                    <a:pt x="997204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2693161" y="3174834"/>
              <a:ext cx="78740" cy="81915"/>
            </a:xfrm>
            <a:custGeom>
              <a:avLst/>
              <a:gdLst/>
              <a:ahLst/>
              <a:cxnLst/>
              <a:rect l="l" t="t" r="r" b="b"/>
              <a:pathLst>
                <a:path w="78739" h="81914">
                  <a:moveTo>
                    <a:pt x="78473" y="0"/>
                  </a:moveTo>
                  <a:lnTo>
                    <a:pt x="0" y="30962"/>
                  </a:lnTo>
                  <a:lnTo>
                    <a:pt x="56159" y="81368"/>
                  </a:lnTo>
                  <a:lnTo>
                    <a:pt x="784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1703514" y="4364634"/>
              <a:ext cx="135255" cy="1437640"/>
            </a:xfrm>
            <a:custGeom>
              <a:avLst/>
              <a:gdLst/>
              <a:ahLst/>
              <a:cxnLst/>
              <a:rect l="l" t="t" r="r" b="b"/>
              <a:pathLst>
                <a:path w="135255" h="1437639">
                  <a:moveTo>
                    <a:pt x="0" y="0"/>
                  </a:moveTo>
                  <a:lnTo>
                    <a:pt x="134645" y="1437119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1799996" y="5793117"/>
              <a:ext cx="75565" cy="79375"/>
            </a:xfrm>
            <a:custGeom>
              <a:avLst/>
              <a:gdLst/>
              <a:ahLst/>
              <a:cxnLst/>
              <a:rect l="l" t="t" r="r" b="b"/>
              <a:pathLst>
                <a:path w="75564" h="79375">
                  <a:moveTo>
                    <a:pt x="75247" y="0"/>
                  </a:moveTo>
                  <a:lnTo>
                    <a:pt x="0" y="7200"/>
                  </a:lnTo>
                  <a:lnTo>
                    <a:pt x="44640" y="78841"/>
                  </a:lnTo>
                  <a:lnTo>
                    <a:pt x="752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1704962" y="4354918"/>
              <a:ext cx="1251585" cy="1574800"/>
            </a:xfrm>
            <a:custGeom>
              <a:avLst/>
              <a:gdLst/>
              <a:ahLst/>
              <a:cxnLst/>
              <a:rect l="l" t="t" r="r" b="b"/>
              <a:pathLst>
                <a:path w="1251585" h="1574800">
                  <a:moveTo>
                    <a:pt x="0" y="0"/>
                  </a:moveTo>
                  <a:lnTo>
                    <a:pt x="1251356" y="1574634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2923565" y="5901842"/>
              <a:ext cx="76835" cy="83185"/>
            </a:xfrm>
            <a:custGeom>
              <a:avLst/>
              <a:gdLst/>
              <a:ahLst/>
              <a:cxnLst/>
              <a:rect l="l" t="t" r="r" b="b"/>
              <a:pathLst>
                <a:path w="76835" h="83185">
                  <a:moveTo>
                    <a:pt x="59397" y="0"/>
                  </a:moveTo>
                  <a:lnTo>
                    <a:pt x="0" y="47155"/>
                  </a:lnTo>
                  <a:lnTo>
                    <a:pt x="76669" y="82791"/>
                  </a:lnTo>
                  <a:lnTo>
                    <a:pt x="593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1" name="Picture 100">
            <a:extLst>
              <a:ext uri="{FF2B5EF4-FFF2-40B4-BE49-F238E27FC236}">
                <a16:creationId xmlns:a16="http://schemas.microsoft.com/office/drawing/2014/main" id="{99962013-372B-6568-7727-CDB22E23C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01" y="-224492"/>
            <a:ext cx="9448800" cy="6674294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D372BB50-5C09-F354-BD9E-6966C3CB0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194" y="4636478"/>
            <a:ext cx="2169186" cy="684838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ISP:</a:t>
            </a:r>
            <a:r>
              <a:rPr spc="-45" dirty="0"/>
              <a:t> </a:t>
            </a:r>
            <a:r>
              <a:rPr dirty="0"/>
              <a:t>e.g.,</a:t>
            </a:r>
            <a:r>
              <a:rPr spc="-40" dirty="0"/>
              <a:t> </a:t>
            </a:r>
            <a:r>
              <a:rPr spc="-10" dirty="0"/>
              <a:t>Sprint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3135" y="1402105"/>
            <a:ext cx="41211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mic Sans MS"/>
                <a:cs typeface="Comic Sans MS"/>
              </a:rPr>
              <a:t>Sprint</a:t>
            </a:r>
            <a:r>
              <a:rPr sz="2400" spc="-5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US</a:t>
            </a:r>
            <a:r>
              <a:rPr sz="2400" spc="-5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backbone</a:t>
            </a:r>
            <a:r>
              <a:rPr sz="2400" spc="-5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network</a:t>
            </a:r>
            <a:endParaRPr sz="2400">
              <a:latin typeface="Comic Sans MS"/>
              <a:cs typeface="Comic Sans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0201" y="1877758"/>
            <a:ext cx="7775638" cy="453528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50</a:t>
            </a:fld>
            <a:endParaRPr spc="-25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498776" y="6434899"/>
            <a:ext cx="3530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1-</a:t>
            </a:r>
            <a:r>
              <a:rPr sz="1400" spc="-25" dirty="0">
                <a:latin typeface="Times New Roman"/>
                <a:cs typeface="Times New Roman"/>
              </a:rPr>
              <a:t>42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98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Internet</a:t>
            </a:r>
            <a:r>
              <a:rPr sz="3200" spc="-85" dirty="0"/>
              <a:t> </a:t>
            </a:r>
            <a:r>
              <a:rPr sz="3200" dirty="0"/>
              <a:t>structure:</a:t>
            </a:r>
            <a:r>
              <a:rPr sz="3200" spc="-85" dirty="0"/>
              <a:t> </a:t>
            </a:r>
            <a:r>
              <a:rPr sz="3200" dirty="0"/>
              <a:t>network</a:t>
            </a:r>
            <a:r>
              <a:rPr sz="3200" spc="-85" dirty="0"/>
              <a:t> </a:t>
            </a:r>
            <a:r>
              <a:rPr sz="3200" dirty="0"/>
              <a:t>of</a:t>
            </a:r>
            <a:r>
              <a:rPr sz="3200" spc="-75" dirty="0"/>
              <a:t> </a:t>
            </a:r>
            <a:r>
              <a:rPr sz="3200" spc="-10" dirty="0"/>
              <a:t>networks</a:t>
            </a:r>
            <a:endParaRPr sz="3200"/>
          </a:p>
        </p:txBody>
      </p:sp>
      <p:sp>
        <p:nvSpPr>
          <p:cNvPr id="5" name="object 5"/>
          <p:cNvSpPr txBox="1"/>
          <p:nvPr/>
        </p:nvSpPr>
        <p:spPr>
          <a:xfrm>
            <a:off x="416674" y="1461503"/>
            <a:ext cx="60782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3075" spc="1147" baseline="1355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52" baseline="135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a</a:t>
            </a:r>
            <a:r>
              <a:rPr sz="2400" spc="-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packet</a:t>
            </a:r>
            <a:r>
              <a:rPr sz="2400" spc="-3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passes</a:t>
            </a:r>
            <a:r>
              <a:rPr sz="2400" spc="-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through</a:t>
            </a:r>
            <a:r>
              <a:rPr sz="2400" spc="-2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many</a:t>
            </a:r>
            <a:r>
              <a:rPr sz="2400" spc="-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networks!</a:t>
            </a:r>
            <a:endParaRPr sz="2400">
              <a:latin typeface="Comic Sans MS"/>
              <a:cs typeface="Comic Sans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427116" y="4878355"/>
            <a:ext cx="9525" cy="9525"/>
            <a:chOff x="2427116" y="4878355"/>
            <a:chExt cx="9525" cy="9525"/>
          </a:xfrm>
        </p:grpSpPr>
        <p:sp>
          <p:nvSpPr>
            <p:cNvPr id="7" name="object 7"/>
            <p:cNvSpPr/>
            <p:nvPr/>
          </p:nvSpPr>
          <p:spPr>
            <a:xfrm>
              <a:off x="2431796" y="488303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31796" y="488303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3525475" y="3675234"/>
            <a:ext cx="9525" cy="9525"/>
            <a:chOff x="3525475" y="3675234"/>
            <a:chExt cx="9525" cy="9525"/>
          </a:xfrm>
        </p:grpSpPr>
        <p:sp>
          <p:nvSpPr>
            <p:cNvPr id="10" name="object 10"/>
            <p:cNvSpPr/>
            <p:nvPr/>
          </p:nvSpPr>
          <p:spPr>
            <a:xfrm>
              <a:off x="3530155" y="367991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30155" y="367991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825595" y="4179519"/>
            <a:ext cx="2559685" cy="723265"/>
            <a:chOff x="3825595" y="4179519"/>
            <a:chExt cx="2559685" cy="723265"/>
          </a:xfrm>
        </p:grpSpPr>
        <p:sp>
          <p:nvSpPr>
            <p:cNvPr id="13" name="object 13"/>
            <p:cNvSpPr/>
            <p:nvPr/>
          </p:nvSpPr>
          <p:spPr>
            <a:xfrm>
              <a:off x="4800244" y="484451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00244" y="484451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121363" y="485100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21363" y="485100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669916" y="438119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669916" y="438119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206963" y="440640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206963" y="440640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35438" y="4495685"/>
              <a:ext cx="1311275" cy="396875"/>
            </a:xfrm>
            <a:custGeom>
              <a:avLst/>
              <a:gdLst/>
              <a:ahLst/>
              <a:cxnLst/>
              <a:rect l="l" t="t" r="r" b="b"/>
              <a:pathLst>
                <a:path w="1311275" h="396875">
                  <a:moveTo>
                    <a:pt x="942848" y="0"/>
                  </a:moveTo>
                  <a:lnTo>
                    <a:pt x="1311122" y="368274"/>
                  </a:lnTo>
                </a:path>
                <a:path w="1311275" h="396875">
                  <a:moveTo>
                    <a:pt x="0" y="396709"/>
                  </a:moveTo>
                  <a:lnTo>
                    <a:pt x="393839" y="21958"/>
                  </a:lnTo>
                </a:path>
              </a:pathLst>
            </a:custGeom>
            <a:ln w="19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694121" y="4184281"/>
              <a:ext cx="685800" cy="305435"/>
            </a:xfrm>
            <a:custGeom>
              <a:avLst/>
              <a:gdLst/>
              <a:ahLst/>
              <a:cxnLst/>
              <a:rect l="l" t="t" r="r" b="b"/>
              <a:pathLst>
                <a:path w="685800" h="305435">
                  <a:moveTo>
                    <a:pt x="685800" y="0"/>
                  </a:moveTo>
                  <a:lnTo>
                    <a:pt x="0" y="0"/>
                  </a:lnTo>
                  <a:lnTo>
                    <a:pt x="0" y="304914"/>
                  </a:lnTo>
                  <a:lnTo>
                    <a:pt x="343077" y="304914"/>
                  </a:lnTo>
                  <a:lnTo>
                    <a:pt x="685800" y="304914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694121" y="4184281"/>
              <a:ext cx="685800" cy="305435"/>
            </a:xfrm>
            <a:custGeom>
              <a:avLst/>
              <a:gdLst/>
              <a:ahLst/>
              <a:cxnLst/>
              <a:rect l="l" t="t" r="r" b="b"/>
              <a:pathLst>
                <a:path w="685800" h="305435">
                  <a:moveTo>
                    <a:pt x="343077" y="304914"/>
                  </a:moveTo>
                  <a:lnTo>
                    <a:pt x="0" y="304914"/>
                  </a:lnTo>
                  <a:lnTo>
                    <a:pt x="0" y="0"/>
                  </a:lnTo>
                  <a:lnTo>
                    <a:pt x="685800" y="0"/>
                  </a:lnTo>
                  <a:lnTo>
                    <a:pt x="685800" y="304914"/>
                  </a:lnTo>
                  <a:lnTo>
                    <a:pt x="343077" y="304914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668200" y="417816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3731761" y="4858924"/>
            <a:ext cx="9525" cy="9525"/>
            <a:chOff x="3731761" y="4858924"/>
            <a:chExt cx="9525" cy="9525"/>
          </a:xfrm>
        </p:grpSpPr>
        <p:sp>
          <p:nvSpPr>
            <p:cNvPr id="26" name="object 26"/>
            <p:cNvSpPr/>
            <p:nvPr/>
          </p:nvSpPr>
          <p:spPr>
            <a:xfrm>
              <a:off x="3736441" y="486360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736441" y="486360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4227125" y="5176437"/>
            <a:ext cx="9525" cy="9525"/>
            <a:chOff x="4227125" y="5176437"/>
            <a:chExt cx="9525" cy="9525"/>
          </a:xfrm>
        </p:grpSpPr>
        <p:sp>
          <p:nvSpPr>
            <p:cNvPr id="29" name="object 29"/>
            <p:cNvSpPr/>
            <p:nvPr/>
          </p:nvSpPr>
          <p:spPr>
            <a:xfrm>
              <a:off x="4231805" y="518111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231805" y="518111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4741919" y="5163839"/>
            <a:ext cx="9525" cy="9525"/>
            <a:chOff x="4741919" y="5163839"/>
            <a:chExt cx="9525" cy="9525"/>
          </a:xfrm>
        </p:grpSpPr>
        <p:sp>
          <p:nvSpPr>
            <p:cNvPr id="32" name="object 32"/>
            <p:cNvSpPr/>
            <p:nvPr/>
          </p:nvSpPr>
          <p:spPr>
            <a:xfrm>
              <a:off x="4746599" y="516851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746599" y="516851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/>
          <p:nvPr/>
        </p:nvSpPr>
        <p:spPr>
          <a:xfrm>
            <a:off x="4368965" y="5229364"/>
            <a:ext cx="381000" cy="25400"/>
          </a:xfrm>
          <a:custGeom>
            <a:avLst/>
            <a:gdLst/>
            <a:ahLst/>
            <a:cxnLst/>
            <a:rect l="l" t="t" r="r" b="b"/>
            <a:pathLst>
              <a:path w="381000" h="25400">
                <a:moveTo>
                  <a:pt x="0" y="25196"/>
                </a:moveTo>
                <a:lnTo>
                  <a:pt x="380873" y="0"/>
                </a:lnTo>
              </a:path>
            </a:pathLst>
          </a:custGeom>
          <a:ln w="190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745505" y="4212259"/>
            <a:ext cx="5467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solidFill>
                  <a:srgbClr val="FFFFFF"/>
                </a:solidFill>
                <a:latin typeface="Comic Sans MS"/>
                <a:cs typeface="Comic Sans MS"/>
              </a:rPr>
              <a:t>NAP</a:t>
            </a:r>
            <a:endParaRPr sz="2000">
              <a:latin typeface="Comic Sans MS"/>
              <a:cs typeface="Comic Sans MS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857584" y="3944880"/>
            <a:ext cx="2232025" cy="967105"/>
            <a:chOff x="3857584" y="3944880"/>
            <a:chExt cx="2232025" cy="967105"/>
          </a:xfrm>
        </p:grpSpPr>
        <p:sp>
          <p:nvSpPr>
            <p:cNvPr id="37" name="object 37"/>
            <p:cNvSpPr/>
            <p:nvPr/>
          </p:nvSpPr>
          <p:spPr>
            <a:xfrm>
              <a:off x="3867124" y="4362475"/>
              <a:ext cx="1867535" cy="539750"/>
            </a:xfrm>
            <a:custGeom>
              <a:avLst/>
              <a:gdLst/>
              <a:ahLst/>
              <a:cxnLst/>
              <a:rect l="l" t="t" r="r" b="b"/>
              <a:pathLst>
                <a:path w="1867535" h="539750">
                  <a:moveTo>
                    <a:pt x="1866950" y="82448"/>
                  </a:moveTo>
                  <a:lnTo>
                    <a:pt x="1346390" y="507961"/>
                  </a:lnTo>
                </a:path>
                <a:path w="1867535" h="539750">
                  <a:moveTo>
                    <a:pt x="1835277" y="0"/>
                  </a:moveTo>
                  <a:lnTo>
                    <a:pt x="914400" y="114122"/>
                  </a:lnTo>
                </a:path>
                <a:path w="1867535" h="539750">
                  <a:moveTo>
                    <a:pt x="1835277" y="57238"/>
                  </a:moveTo>
                  <a:lnTo>
                    <a:pt x="0" y="539648"/>
                  </a:lnTo>
                </a:path>
              </a:pathLst>
            </a:custGeom>
            <a:ln w="19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083274" y="3949560"/>
              <a:ext cx="1905" cy="241935"/>
            </a:xfrm>
            <a:custGeom>
              <a:avLst/>
              <a:gdLst/>
              <a:ahLst/>
              <a:cxnLst/>
              <a:rect l="l" t="t" r="r" b="b"/>
              <a:pathLst>
                <a:path w="1904" h="241935">
                  <a:moveTo>
                    <a:pt x="0" y="0"/>
                  </a:moveTo>
                  <a:lnTo>
                    <a:pt x="1447" y="241553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/>
          <p:nvPr/>
        </p:nvSpPr>
        <p:spPr>
          <a:xfrm>
            <a:off x="4829035" y="333683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5124500" y="3488664"/>
            <a:ext cx="1184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B1B1B1"/>
                </a:solidFill>
                <a:latin typeface="Comic Sans MS"/>
                <a:cs typeface="Comic Sans MS"/>
              </a:rPr>
              <a:t>Tier-</a:t>
            </a:r>
            <a:r>
              <a:rPr sz="1800" dirty="0">
                <a:solidFill>
                  <a:srgbClr val="B1B1B1"/>
                </a:solidFill>
                <a:latin typeface="Comic Sans MS"/>
                <a:cs typeface="Comic Sans MS"/>
              </a:rPr>
              <a:t>2</a:t>
            </a:r>
            <a:r>
              <a:rPr sz="1800" spc="25" dirty="0">
                <a:solidFill>
                  <a:srgbClr val="B1B1B1"/>
                </a:solidFill>
                <a:latin typeface="Comic Sans MS"/>
                <a:cs typeface="Comic Sans MS"/>
              </a:rPr>
              <a:t> </a:t>
            </a:r>
            <a:r>
              <a:rPr sz="1800" spc="-25" dirty="0">
                <a:solidFill>
                  <a:srgbClr val="B1B1B1"/>
                </a:solidFill>
                <a:latin typeface="Comic Sans MS"/>
                <a:cs typeface="Comic Sans MS"/>
              </a:rPr>
              <a:t>ISP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5050085" y="3710159"/>
            <a:ext cx="9525" cy="9525"/>
            <a:chOff x="5050085" y="3710159"/>
            <a:chExt cx="9525" cy="9525"/>
          </a:xfrm>
        </p:grpSpPr>
        <p:sp>
          <p:nvSpPr>
            <p:cNvPr id="42" name="object 42"/>
            <p:cNvSpPr/>
            <p:nvPr/>
          </p:nvSpPr>
          <p:spPr>
            <a:xfrm>
              <a:off x="5054765" y="371483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054765" y="371483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/>
          <p:nvPr/>
        </p:nvSpPr>
        <p:spPr>
          <a:xfrm>
            <a:off x="2555633" y="328607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5" name="object 45"/>
          <p:cNvGrpSpPr/>
          <p:nvPr/>
        </p:nvGrpSpPr>
        <p:grpSpPr>
          <a:xfrm>
            <a:off x="3767042" y="3710159"/>
            <a:ext cx="9525" cy="9525"/>
            <a:chOff x="3767042" y="3710159"/>
            <a:chExt cx="9525" cy="9525"/>
          </a:xfrm>
        </p:grpSpPr>
        <p:sp>
          <p:nvSpPr>
            <p:cNvPr id="46" name="object 46"/>
            <p:cNvSpPr/>
            <p:nvPr/>
          </p:nvSpPr>
          <p:spPr>
            <a:xfrm>
              <a:off x="3771722" y="371483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771722" y="371483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2846057" y="2780182"/>
            <a:ext cx="1188720" cy="956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2875" marR="505459" indent="-13081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B1B1B1"/>
                </a:solidFill>
                <a:latin typeface="Comic Sans MS"/>
                <a:cs typeface="Comic Sans MS"/>
              </a:rPr>
              <a:t>Tier</a:t>
            </a:r>
            <a:r>
              <a:rPr sz="1800" spc="-40" dirty="0">
                <a:solidFill>
                  <a:srgbClr val="B1B1B1"/>
                </a:solidFill>
                <a:latin typeface="Comic Sans MS"/>
                <a:cs typeface="Comic Sans MS"/>
              </a:rPr>
              <a:t> </a:t>
            </a:r>
            <a:r>
              <a:rPr sz="1800" spc="-50" dirty="0">
                <a:solidFill>
                  <a:srgbClr val="B1B1B1"/>
                </a:solidFill>
                <a:latin typeface="Comic Sans MS"/>
                <a:cs typeface="Comic Sans MS"/>
              </a:rPr>
              <a:t>3 </a:t>
            </a:r>
            <a:r>
              <a:rPr sz="1800" spc="-25" dirty="0">
                <a:solidFill>
                  <a:srgbClr val="B1B1B1"/>
                </a:solidFill>
                <a:latin typeface="Comic Sans MS"/>
                <a:cs typeface="Comic Sans MS"/>
              </a:rPr>
              <a:t>ISP</a:t>
            </a:r>
            <a:endParaRPr sz="1800" dirty="0">
              <a:latin typeface="Comic Sans MS"/>
              <a:cs typeface="Comic Sans MS"/>
            </a:endParaRPr>
          </a:p>
          <a:p>
            <a:pPr marL="17145">
              <a:lnSpc>
                <a:spcPct val="100000"/>
              </a:lnSpc>
              <a:spcBef>
                <a:spcPts val="844"/>
              </a:spcBef>
            </a:pPr>
            <a:r>
              <a:rPr sz="1800" spc="-20" dirty="0">
                <a:solidFill>
                  <a:srgbClr val="B1B1B1"/>
                </a:solidFill>
                <a:latin typeface="Comic Sans MS"/>
                <a:cs typeface="Comic Sans MS"/>
              </a:rPr>
              <a:t>Tier-</a:t>
            </a:r>
            <a:r>
              <a:rPr sz="1800" dirty="0">
                <a:solidFill>
                  <a:srgbClr val="B1B1B1"/>
                </a:solidFill>
                <a:latin typeface="Comic Sans MS"/>
                <a:cs typeface="Comic Sans MS"/>
              </a:rPr>
              <a:t>2</a:t>
            </a:r>
            <a:r>
              <a:rPr sz="1800" spc="25" dirty="0">
                <a:solidFill>
                  <a:srgbClr val="B1B1B1"/>
                </a:solidFill>
                <a:latin typeface="Comic Sans MS"/>
                <a:cs typeface="Comic Sans MS"/>
              </a:rPr>
              <a:t> </a:t>
            </a:r>
            <a:r>
              <a:rPr sz="1800" spc="-25" dirty="0">
                <a:solidFill>
                  <a:srgbClr val="B1B1B1"/>
                </a:solidFill>
                <a:latin typeface="Comic Sans MS"/>
                <a:cs typeface="Comic Sans MS"/>
              </a:rPr>
              <a:t>ISP</a:t>
            </a:r>
            <a:endParaRPr sz="1800" dirty="0">
              <a:latin typeface="Comic Sans MS"/>
              <a:cs typeface="Comic Sans MS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946160" y="552132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0" name="object 50"/>
          <p:cNvGrpSpPr/>
          <p:nvPr/>
        </p:nvGrpSpPr>
        <p:grpSpPr>
          <a:xfrm>
            <a:off x="2675159" y="5513038"/>
            <a:ext cx="9525" cy="9525"/>
            <a:chOff x="2675159" y="5513038"/>
            <a:chExt cx="9525" cy="9525"/>
          </a:xfrm>
        </p:grpSpPr>
        <p:sp>
          <p:nvSpPr>
            <p:cNvPr id="51" name="object 51"/>
            <p:cNvSpPr/>
            <p:nvPr/>
          </p:nvSpPr>
          <p:spPr>
            <a:xfrm>
              <a:off x="2679839" y="551771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679839" y="551771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/>
          <p:nvPr/>
        </p:nvSpPr>
        <p:spPr>
          <a:xfrm>
            <a:off x="4244759" y="553392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4" name="object 54"/>
          <p:cNvGrpSpPr/>
          <p:nvPr/>
        </p:nvGrpSpPr>
        <p:grpSpPr>
          <a:xfrm>
            <a:off x="5367242" y="5538959"/>
            <a:ext cx="9525" cy="9525"/>
            <a:chOff x="5367242" y="5538959"/>
            <a:chExt cx="9525" cy="9525"/>
          </a:xfrm>
        </p:grpSpPr>
        <p:sp>
          <p:nvSpPr>
            <p:cNvPr id="55" name="object 55"/>
            <p:cNvSpPr/>
            <p:nvPr/>
          </p:nvSpPr>
          <p:spPr>
            <a:xfrm>
              <a:off x="5371922" y="554363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371922" y="554363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/>
          <p:nvPr/>
        </p:nvSpPr>
        <p:spPr>
          <a:xfrm>
            <a:off x="6492595" y="505151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8" name="object 58"/>
          <p:cNvGrpSpPr/>
          <p:nvPr/>
        </p:nvGrpSpPr>
        <p:grpSpPr>
          <a:xfrm>
            <a:off x="6573958" y="5246274"/>
            <a:ext cx="9525" cy="9525"/>
            <a:chOff x="6573958" y="5246274"/>
            <a:chExt cx="9525" cy="9525"/>
          </a:xfrm>
        </p:grpSpPr>
        <p:sp>
          <p:nvSpPr>
            <p:cNvPr id="59" name="object 59"/>
            <p:cNvSpPr/>
            <p:nvPr/>
          </p:nvSpPr>
          <p:spPr>
            <a:xfrm>
              <a:off x="6578638" y="525095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578638" y="525095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1" name="object 61"/>
          <p:cNvGrpSpPr/>
          <p:nvPr/>
        </p:nvGrpSpPr>
        <p:grpSpPr>
          <a:xfrm>
            <a:off x="2712599" y="3690715"/>
            <a:ext cx="9525" cy="9525"/>
            <a:chOff x="2712599" y="3690715"/>
            <a:chExt cx="9525" cy="9525"/>
          </a:xfrm>
        </p:grpSpPr>
        <p:sp>
          <p:nvSpPr>
            <p:cNvPr id="62" name="object 62"/>
            <p:cNvSpPr/>
            <p:nvPr/>
          </p:nvSpPr>
          <p:spPr>
            <a:xfrm>
              <a:off x="2717279" y="369539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717279" y="369539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4" name="object 64"/>
          <p:cNvGrpSpPr/>
          <p:nvPr/>
        </p:nvGrpSpPr>
        <p:grpSpPr>
          <a:xfrm>
            <a:off x="2797020" y="3800345"/>
            <a:ext cx="327660" cy="1096010"/>
            <a:chOff x="2797020" y="3800345"/>
            <a:chExt cx="327660" cy="1096010"/>
          </a:xfrm>
        </p:grpSpPr>
        <p:sp>
          <p:nvSpPr>
            <p:cNvPr id="65" name="object 65"/>
            <p:cNvSpPr/>
            <p:nvPr/>
          </p:nvSpPr>
          <p:spPr>
            <a:xfrm>
              <a:off x="2806560" y="3809885"/>
              <a:ext cx="308610" cy="1076960"/>
            </a:xfrm>
            <a:custGeom>
              <a:avLst/>
              <a:gdLst/>
              <a:ahLst/>
              <a:cxnLst/>
              <a:rect l="l" t="t" r="r" b="b"/>
              <a:pathLst>
                <a:path w="308610" h="1076960">
                  <a:moveTo>
                    <a:pt x="0" y="0"/>
                  </a:moveTo>
                  <a:lnTo>
                    <a:pt x="308165" y="1076388"/>
                  </a:lnTo>
                </a:path>
              </a:pathLst>
            </a:custGeom>
            <a:ln w="19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060357" y="483227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060357" y="483227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/>
          <p:nvPr/>
        </p:nvSpPr>
        <p:spPr>
          <a:xfrm>
            <a:off x="6337084" y="368316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9" name="object 69"/>
          <p:cNvGrpSpPr/>
          <p:nvPr/>
        </p:nvGrpSpPr>
        <p:grpSpPr>
          <a:xfrm>
            <a:off x="6442022" y="3813299"/>
            <a:ext cx="895350" cy="1182370"/>
            <a:chOff x="6442022" y="3813299"/>
            <a:chExt cx="895350" cy="1182370"/>
          </a:xfrm>
        </p:grpSpPr>
        <p:sp>
          <p:nvSpPr>
            <p:cNvPr id="70" name="object 70"/>
            <p:cNvSpPr/>
            <p:nvPr/>
          </p:nvSpPr>
          <p:spPr>
            <a:xfrm>
              <a:off x="7302246" y="499068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451562" y="3822839"/>
              <a:ext cx="876300" cy="1155700"/>
            </a:xfrm>
            <a:custGeom>
              <a:avLst/>
              <a:gdLst/>
              <a:ahLst/>
              <a:cxnLst/>
              <a:rect l="l" t="t" r="r" b="b"/>
              <a:pathLst>
                <a:path w="876300" h="1155700">
                  <a:moveTo>
                    <a:pt x="0" y="0"/>
                  </a:moveTo>
                  <a:lnTo>
                    <a:pt x="876236" y="1155598"/>
                  </a:lnTo>
                </a:path>
              </a:pathLst>
            </a:custGeom>
            <a:ln w="19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/>
          <p:nvPr/>
        </p:nvSpPr>
        <p:spPr>
          <a:xfrm>
            <a:off x="6006960" y="379691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273281" y="267624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5458574" y="2742019"/>
            <a:ext cx="5054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5080" indent="-3873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B1B1B1"/>
                </a:solidFill>
                <a:latin typeface="Comic Sans MS"/>
                <a:cs typeface="Comic Sans MS"/>
              </a:rPr>
              <a:t>local </a:t>
            </a:r>
            <a:r>
              <a:rPr sz="1800" spc="-25" dirty="0">
                <a:solidFill>
                  <a:srgbClr val="B1B1B1"/>
                </a:solidFill>
                <a:latin typeface="Comic Sans MS"/>
                <a:cs typeface="Comic Sans MS"/>
              </a:rPr>
              <a:t>ISP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4308475" y="282851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4493424" y="2894304"/>
            <a:ext cx="5054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" marR="5080" indent="-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B1B1B1"/>
                </a:solidFill>
                <a:latin typeface="Comic Sans MS"/>
                <a:cs typeface="Comic Sans MS"/>
              </a:rPr>
              <a:t>local </a:t>
            </a:r>
            <a:r>
              <a:rPr sz="1800" spc="-25" dirty="0">
                <a:solidFill>
                  <a:srgbClr val="B1B1B1"/>
                </a:solidFill>
                <a:latin typeface="Comic Sans MS"/>
                <a:cs typeface="Comic Sans MS"/>
              </a:rPr>
              <a:t>ISP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6022441" y="28159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6207734" y="2881706"/>
            <a:ext cx="5054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5080" indent="-3873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B1B1B1"/>
                </a:solidFill>
                <a:latin typeface="Comic Sans MS"/>
                <a:cs typeface="Comic Sans MS"/>
              </a:rPr>
              <a:t>local </a:t>
            </a:r>
            <a:r>
              <a:rPr sz="1800" spc="-25" dirty="0">
                <a:solidFill>
                  <a:srgbClr val="B1B1B1"/>
                </a:solidFill>
                <a:latin typeface="Comic Sans MS"/>
                <a:cs typeface="Comic Sans MS"/>
              </a:rPr>
              <a:t>ISP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1539354" y="587664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1724660" y="5942419"/>
            <a:ext cx="5054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5080" indent="-3873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B1B1B1"/>
                </a:solidFill>
                <a:latin typeface="Comic Sans MS"/>
                <a:cs typeface="Comic Sans MS"/>
              </a:rPr>
              <a:t>local </a:t>
            </a:r>
            <a:r>
              <a:rPr sz="1800" spc="-25" dirty="0">
                <a:solidFill>
                  <a:srgbClr val="B1B1B1"/>
                </a:solidFill>
                <a:latin typeface="Comic Sans MS"/>
                <a:cs typeface="Comic Sans MS"/>
              </a:rPr>
              <a:t>ISP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067737" y="2538615"/>
            <a:ext cx="5054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" marR="5080" indent="-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B1B1B1"/>
                </a:solidFill>
                <a:latin typeface="Comic Sans MS"/>
                <a:cs typeface="Comic Sans MS"/>
              </a:rPr>
              <a:t>local </a:t>
            </a:r>
            <a:r>
              <a:rPr sz="1800" spc="-25" dirty="0">
                <a:solidFill>
                  <a:srgbClr val="B1B1B1"/>
                </a:solidFill>
                <a:latin typeface="Comic Sans MS"/>
                <a:cs typeface="Comic Sans MS"/>
              </a:rPr>
              <a:t>ISP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2746438" y="271439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3" name="object 83"/>
          <p:cNvGrpSpPr/>
          <p:nvPr/>
        </p:nvGrpSpPr>
        <p:grpSpPr>
          <a:xfrm>
            <a:off x="2893676" y="5935326"/>
            <a:ext cx="9525" cy="9525"/>
            <a:chOff x="2893676" y="5935326"/>
            <a:chExt cx="9525" cy="9525"/>
          </a:xfrm>
        </p:grpSpPr>
        <p:sp>
          <p:nvSpPr>
            <p:cNvPr id="84" name="object 84"/>
            <p:cNvSpPr/>
            <p:nvPr/>
          </p:nvSpPr>
          <p:spPr>
            <a:xfrm>
              <a:off x="2898355" y="594000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2898355" y="594000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7" name="object 87"/>
          <p:cNvGrpSpPr/>
          <p:nvPr/>
        </p:nvGrpSpPr>
        <p:grpSpPr>
          <a:xfrm>
            <a:off x="4595399" y="5935326"/>
            <a:ext cx="9525" cy="9525"/>
            <a:chOff x="4595399" y="5935326"/>
            <a:chExt cx="9525" cy="9525"/>
          </a:xfrm>
        </p:grpSpPr>
        <p:sp>
          <p:nvSpPr>
            <p:cNvPr id="88" name="object 88"/>
            <p:cNvSpPr/>
            <p:nvPr/>
          </p:nvSpPr>
          <p:spPr>
            <a:xfrm>
              <a:off x="4600079" y="594000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4600079" y="594000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4540224" y="5640019"/>
            <a:ext cx="1183640" cy="9398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57810" marR="5080" indent="-245745">
              <a:lnSpc>
                <a:spcPct val="108300"/>
              </a:lnSpc>
              <a:spcBef>
                <a:spcPts val="280"/>
              </a:spcBef>
            </a:pPr>
            <a:r>
              <a:rPr sz="1800" spc="-20" dirty="0">
                <a:solidFill>
                  <a:srgbClr val="B1B1B1"/>
                </a:solidFill>
                <a:latin typeface="Comic Sans MS"/>
                <a:cs typeface="Comic Sans MS"/>
              </a:rPr>
              <a:t>Tier-</a:t>
            </a:r>
            <a:r>
              <a:rPr sz="1800" dirty="0">
                <a:solidFill>
                  <a:srgbClr val="B1B1B1"/>
                </a:solidFill>
                <a:latin typeface="Comic Sans MS"/>
                <a:cs typeface="Comic Sans MS"/>
              </a:rPr>
              <a:t>2</a:t>
            </a:r>
            <a:r>
              <a:rPr sz="1800" spc="25" dirty="0">
                <a:solidFill>
                  <a:srgbClr val="B1B1B1"/>
                </a:solidFill>
                <a:latin typeface="Comic Sans MS"/>
                <a:cs typeface="Comic Sans MS"/>
              </a:rPr>
              <a:t> </a:t>
            </a:r>
            <a:r>
              <a:rPr sz="1800" spc="-25" dirty="0">
                <a:solidFill>
                  <a:srgbClr val="B1B1B1"/>
                </a:solidFill>
                <a:latin typeface="Comic Sans MS"/>
                <a:cs typeface="Comic Sans MS"/>
              </a:rPr>
              <a:t>ISP </a:t>
            </a:r>
            <a:r>
              <a:rPr sz="1800" spc="-10" dirty="0">
                <a:solidFill>
                  <a:srgbClr val="B1B1B1"/>
                </a:solidFill>
                <a:latin typeface="Comic Sans MS"/>
                <a:cs typeface="Comic Sans MS"/>
              </a:rPr>
              <a:t>local</a:t>
            </a:r>
            <a:r>
              <a:rPr sz="1800" spc="500" dirty="0">
                <a:solidFill>
                  <a:srgbClr val="B1B1B1"/>
                </a:solidFill>
                <a:latin typeface="Comic Sans MS"/>
                <a:cs typeface="Comic Sans MS"/>
              </a:rPr>
              <a:t> </a:t>
            </a:r>
            <a:r>
              <a:rPr sz="1800" spc="-25" dirty="0">
                <a:solidFill>
                  <a:srgbClr val="B1B1B1"/>
                </a:solidFill>
                <a:latin typeface="Comic Sans MS"/>
                <a:cs typeface="Comic Sans MS"/>
              </a:rPr>
              <a:t>ISP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7301160" y="5478126"/>
            <a:ext cx="9525" cy="9525"/>
            <a:chOff x="7301160" y="5478126"/>
            <a:chExt cx="9525" cy="9525"/>
          </a:xfrm>
        </p:grpSpPr>
        <p:sp>
          <p:nvSpPr>
            <p:cNvPr id="92" name="object 92"/>
            <p:cNvSpPr/>
            <p:nvPr/>
          </p:nvSpPr>
          <p:spPr>
            <a:xfrm>
              <a:off x="7305840" y="548280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305840" y="548280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6788060" y="5132425"/>
            <a:ext cx="1208405" cy="99060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800" spc="-20" dirty="0">
                <a:solidFill>
                  <a:srgbClr val="B1B1B1"/>
                </a:solidFill>
                <a:latin typeface="Comic Sans MS"/>
                <a:cs typeface="Comic Sans MS"/>
              </a:rPr>
              <a:t>Tier-</a:t>
            </a:r>
            <a:r>
              <a:rPr sz="1800" dirty="0">
                <a:solidFill>
                  <a:srgbClr val="B1B1B1"/>
                </a:solidFill>
                <a:latin typeface="Comic Sans MS"/>
                <a:cs typeface="Comic Sans MS"/>
              </a:rPr>
              <a:t>2</a:t>
            </a:r>
            <a:r>
              <a:rPr sz="1800" spc="25" dirty="0">
                <a:solidFill>
                  <a:srgbClr val="B1B1B1"/>
                </a:solidFill>
                <a:latin typeface="Comic Sans MS"/>
                <a:cs typeface="Comic Sans MS"/>
              </a:rPr>
              <a:t> </a:t>
            </a:r>
            <a:r>
              <a:rPr sz="1800" spc="-25" dirty="0">
                <a:solidFill>
                  <a:srgbClr val="B1B1B1"/>
                </a:solidFill>
                <a:latin typeface="Comic Sans MS"/>
                <a:cs typeface="Comic Sans MS"/>
              </a:rPr>
              <a:t>ISP</a:t>
            </a:r>
            <a:endParaRPr sz="1800">
              <a:latin typeface="Comic Sans MS"/>
              <a:cs typeface="Comic Sans MS"/>
            </a:endParaRPr>
          </a:p>
          <a:p>
            <a:pPr marL="753110" marR="5080" indent="-38735">
              <a:lnSpc>
                <a:spcPct val="100000"/>
              </a:lnSpc>
              <a:spcBef>
                <a:spcPts val="560"/>
              </a:spcBef>
            </a:pPr>
            <a:r>
              <a:rPr sz="1800" spc="-10" dirty="0">
                <a:solidFill>
                  <a:srgbClr val="B1B1B1"/>
                </a:solidFill>
                <a:latin typeface="Comic Sans MS"/>
                <a:cs typeface="Comic Sans MS"/>
              </a:rPr>
              <a:t>local </a:t>
            </a:r>
            <a:r>
              <a:rPr sz="1800" spc="-25" dirty="0">
                <a:solidFill>
                  <a:srgbClr val="B1B1B1"/>
                </a:solidFill>
                <a:latin typeface="Comic Sans MS"/>
                <a:cs typeface="Comic Sans MS"/>
              </a:rPr>
              <a:t>ISP</a:t>
            </a:r>
            <a:endParaRPr sz="1800">
              <a:latin typeface="Comic Sans MS"/>
              <a:cs typeface="Comic Sans MS"/>
            </a:endParaRPr>
          </a:p>
        </p:txBody>
      </p:sp>
      <p:pic>
        <p:nvPicPr>
          <p:cNvPr id="95" name="object 9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2722" y="2199957"/>
            <a:ext cx="411111" cy="316077"/>
          </a:xfrm>
          <a:prstGeom prst="rect">
            <a:avLst/>
          </a:prstGeom>
        </p:spPr>
      </p:pic>
      <p:pic>
        <p:nvPicPr>
          <p:cNvPr id="96" name="object 9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86635" y="6009843"/>
            <a:ext cx="411124" cy="316433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6CF6C652-E6FF-3BF6-61DA-E548EC0BFE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65" y="159672"/>
            <a:ext cx="8991600" cy="6469728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37260" y="6434899"/>
            <a:ext cx="10902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omic Sans MS"/>
                <a:cs typeface="Comic Sans MS"/>
              </a:rPr>
              <a:t>Introduction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98776" y="6434899"/>
            <a:ext cx="3530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1-</a:t>
            </a:r>
            <a:r>
              <a:rPr sz="1400" spc="-25" dirty="0">
                <a:latin typeface="Times New Roman"/>
                <a:cs typeface="Times New Roman"/>
              </a:rPr>
              <a:t>43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53580" y="520814"/>
            <a:ext cx="68700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75" dirty="0"/>
              <a:t> </a:t>
            </a:r>
            <a:r>
              <a:rPr dirty="0"/>
              <a:t>do</a:t>
            </a:r>
            <a:r>
              <a:rPr spc="-75" dirty="0"/>
              <a:t> </a:t>
            </a:r>
            <a:r>
              <a:rPr dirty="0"/>
              <a:t>loss</a:t>
            </a:r>
            <a:r>
              <a:rPr spc="-80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dirty="0"/>
              <a:t>delay</a:t>
            </a:r>
            <a:r>
              <a:rPr spc="-85" dirty="0"/>
              <a:t> </a:t>
            </a:r>
            <a:r>
              <a:rPr spc="-10" dirty="0"/>
              <a:t>occur?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984237" y="4151160"/>
            <a:ext cx="5659755" cy="1538605"/>
            <a:chOff x="984237" y="4151160"/>
            <a:chExt cx="5659755" cy="153860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8524" y="5160962"/>
              <a:ext cx="820980" cy="52847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339644" y="4846675"/>
              <a:ext cx="1198880" cy="263525"/>
            </a:xfrm>
            <a:custGeom>
              <a:avLst/>
              <a:gdLst/>
              <a:ahLst/>
              <a:cxnLst/>
              <a:rect l="l" t="t" r="r" b="b"/>
              <a:pathLst>
                <a:path w="1198879" h="263525">
                  <a:moveTo>
                    <a:pt x="1198435" y="0"/>
                  </a:moveTo>
                  <a:lnTo>
                    <a:pt x="0" y="0"/>
                  </a:lnTo>
                  <a:lnTo>
                    <a:pt x="0" y="263525"/>
                  </a:lnTo>
                  <a:lnTo>
                    <a:pt x="599389" y="263525"/>
                  </a:lnTo>
                  <a:lnTo>
                    <a:pt x="1198435" y="263525"/>
                  </a:lnTo>
                  <a:lnTo>
                    <a:pt x="1198435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44997" y="4913274"/>
              <a:ext cx="1905" cy="228600"/>
            </a:xfrm>
            <a:custGeom>
              <a:avLst/>
              <a:gdLst/>
              <a:ahLst/>
              <a:cxnLst/>
              <a:rect l="l" t="t" r="r" b="b"/>
              <a:pathLst>
                <a:path w="1904" h="228600">
                  <a:moveTo>
                    <a:pt x="0" y="0"/>
                  </a:moveTo>
                  <a:lnTo>
                    <a:pt x="1803" y="228600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44997" y="4875123"/>
              <a:ext cx="1198880" cy="263525"/>
            </a:xfrm>
            <a:custGeom>
              <a:avLst/>
              <a:gdLst/>
              <a:ahLst/>
              <a:cxnLst/>
              <a:rect l="l" t="t" r="r" b="b"/>
              <a:pathLst>
                <a:path w="1198879" h="263525">
                  <a:moveTo>
                    <a:pt x="1198803" y="0"/>
                  </a:moveTo>
                  <a:lnTo>
                    <a:pt x="0" y="0"/>
                  </a:lnTo>
                  <a:lnTo>
                    <a:pt x="0" y="263512"/>
                  </a:lnTo>
                  <a:lnTo>
                    <a:pt x="599401" y="263512"/>
                  </a:lnTo>
                  <a:lnTo>
                    <a:pt x="1198803" y="263512"/>
                  </a:lnTo>
                  <a:lnTo>
                    <a:pt x="1198803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4237" y="4151160"/>
              <a:ext cx="1139941" cy="52884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14638" y="4543564"/>
              <a:ext cx="3352800" cy="1000125"/>
            </a:xfrm>
            <a:custGeom>
              <a:avLst/>
              <a:gdLst/>
              <a:ahLst/>
              <a:cxnLst/>
              <a:rect l="l" t="t" r="r" b="b"/>
              <a:pathLst>
                <a:path w="3352800" h="1000125">
                  <a:moveTo>
                    <a:pt x="1419123" y="428396"/>
                  </a:moveTo>
                  <a:lnTo>
                    <a:pt x="3352685" y="438111"/>
                  </a:lnTo>
                </a:path>
                <a:path w="3352800" h="1000125">
                  <a:moveTo>
                    <a:pt x="0" y="0"/>
                  </a:moveTo>
                  <a:lnTo>
                    <a:pt x="1435" y="1000074"/>
                  </a:lnTo>
                </a:path>
                <a:path w="3352800" h="1000125">
                  <a:moveTo>
                    <a:pt x="9359" y="433070"/>
                  </a:moveTo>
                  <a:lnTo>
                    <a:pt x="209524" y="434873"/>
                  </a:lnTo>
                </a:path>
              </a:pathLst>
            </a:custGeom>
            <a:ln w="19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00400" y="4843437"/>
              <a:ext cx="147955" cy="200660"/>
            </a:xfrm>
            <a:custGeom>
              <a:avLst/>
              <a:gdLst/>
              <a:ahLst/>
              <a:cxnLst/>
              <a:rect l="l" t="t" r="r" b="b"/>
              <a:pathLst>
                <a:path w="147954" h="200660">
                  <a:moveTo>
                    <a:pt x="147599" y="0"/>
                  </a:moveTo>
                  <a:lnTo>
                    <a:pt x="0" y="0"/>
                  </a:lnTo>
                  <a:lnTo>
                    <a:pt x="0" y="200164"/>
                  </a:lnTo>
                  <a:lnTo>
                    <a:pt x="73799" y="200164"/>
                  </a:lnTo>
                  <a:lnTo>
                    <a:pt x="147599" y="200164"/>
                  </a:lnTo>
                  <a:lnTo>
                    <a:pt x="147599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00400" y="4843437"/>
              <a:ext cx="147955" cy="200660"/>
            </a:xfrm>
            <a:custGeom>
              <a:avLst/>
              <a:gdLst/>
              <a:ahLst/>
              <a:cxnLst/>
              <a:rect l="l" t="t" r="r" b="b"/>
              <a:pathLst>
                <a:path w="147954" h="200660">
                  <a:moveTo>
                    <a:pt x="73799" y="200164"/>
                  </a:moveTo>
                  <a:lnTo>
                    <a:pt x="0" y="200164"/>
                  </a:lnTo>
                  <a:lnTo>
                    <a:pt x="0" y="0"/>
                  </a:lnTo>
                  <a:lnTo>
                    <a:pt x="147599" y="0"/>
                  </a:lnTo>
                  <a:lnTo>
                    <a:pt x="147599" y="200164"/>
                  </a:lnTo>
                  <a:lnTo>
                    <a:pt x="73799" y="200164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62401" y="4843437"/>
              <a:ext cx="147955" cy="200660"/>
            </a:xfrm>
            <a:custGeom>
              <a:avLst/>
              <a:gdLst/>
              <a:ahLst/>
              <a:cxnLst/>
              <a:rect l="l" t="t" r="r" b="b"/>
              <a:pathLst>
                <a:path w="147954" h="200660">
                  <a:moveTo>
                    <a:pt x="147599" y="0"/>
                  </a:moveTo>
                  <a:lnTo>
                    <a:pt x="0" y="0"/>
                  </a:lnTo>
                  <a:lnTo>
                    <a:pt x="0" y="200164"/>
                  </a:lnTo>
                  <a:lnTo>
                    <a:pt x="73799" y="200164"/>
                  </a:lnTo>
                  <a:lnTo>
                    <a:pt x="147599" y="200164"/>
                  </a:lnTo>
                  <a:lnTo>
                    <a:pt x="147599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62401" y="4843437"/>
              <a:ext cx="147955" cy="200660"/>
            </a:xfrm>
            <a:custGeom>
              <a:avLst/>
              <a:gdLst/>
              <a:ahLst/>
              <a:cxnLst/>
              <a:rect l="l" t="t" r="r" b="b"/>
              <a:pathLst>
                <a:path w="147954" h="200660">
                  <a:moveTo>
                    <a:pt x="73799" y="200164"/>
                  </a:moveTo>
                  <a:lnTo>
                    <a:pt x="0" y="200164"/>
                  </a:lnTo>
                  <a:lnTo>
                    <a:pt x="0" y="0"/>
                  </a:lnTo>
                  <a:lnTo>
                    <a:pt x="147599" y="0"/>
                  </a:lnTo>
                  <a:lnTo>
                    <a:pt x="147599" y="200164"/>
                  </a:lnTo>
                  <a:lnTo>
                    <a:pt x="73799" y="200164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147760" y="4743361"/>
              <a:ext cx="147955" cy="200660"/>
            </a:xfrm>
            <a:custGeom>
              <a:avLst/>
              <a:gdLst/>
              <a:ahLst/>
              <a:cxnLst/>
              <a:rect l="l" t="t" r="r" b="b"/>
              <a:pathLst>
                <a:path w="147955" h="200660">
                  <a:moveTo>
                    <a:pt x="147599" y="0"/>
                  </a:moveTo>
                  <a:lnTo>
                    <a:pt x="0" y="0"/>
                  </a:lnTo>
                  <a:lnTo>
                    <a:pt x="0" y="200164"/>
                  </a:lnTo>
                  <a:lnTo>
                    <a:pt x="73799" y="200164"/>
                  </a:lnTo>
                  <a:lnTo>
                    <a:pt x="147599" y="200164"/>
                  </a:lnTo>
                  <a:lnTo>
                    <a:pt x="147599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147760" y="4743361"/>
              <a:ext cx="147955" cy="200660"/>
            </a:xfrm>
            <a:custGeom>
              <a:avLst/>
              <a:gdLst/>
              <a:ahLst/>
              <a:cxnLst/>
              <a:rect l="l" t="t" r="r" b="b"/>
              <a:pathLst>
                <a:path w="147955" h="200660">
                  <a:moveTo>
                    <a:pt x="73799" y="200164"/>
                  </a:moveTo>
                  <a:lnTo>
                    <a:pt x="0" y="200164"/>
                  </a:lnTo>
                  <a:lnTo>
                    <a:pt x="0" y="0"/>
                  </a:lnTo>
                  <a:lnTo>
                    <a:pt x="147599" y="0"/>
                  </a:lnTo>
                  <a:lnTo>
                    <a:pt x="147599" y="200164"/>
                  </a:lnTo>
                  <a:lnTo>
                    <a:pt x="73799" y="200164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324163" y="4848123"/>
              <a:ext cx="172720" cy="3810"/>
            </a:xfrm>
            <a:custGeom>
              <a:avLst/>
              <a:gdLst/>
              <a:ahLst/>
              <a:cxnLst/>
              <a:rect l="l" t="t" r="r" b="b"/>
              <a:pathLst>
                <a:path w="172719" h="3810">
                  <a:moveTo>
                    <a:pt x="0" y="0"/>
                  </a:moveTo>
                  <a:lnTo>
                    <a:pt x="172440" y="3594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490838" y="4813922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5" h="76200">
                  <a:moveTo>
                    <a:pt x="1447" y="0"/>
                  </a:moveTo>
                  <a:lnTo>
                    <a:pt x="0" y="75603"/>
                  </a:lnTo>
                  <a:lnTo>
                    <a:pt x="76327" y="39243"/>
                  </a:lnTo>
                  <a:lnTo>
                    <a:pt x="14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90801" y="5185079"/>
              <a:ext cx="1270" cy="125095"/>
            </a:xfrm>
            <a:custGeom>
              <a:avLst/>
              <a:gdLst/>
              <a:ahLst/>
              <a:cxnLst/>
              <a:rect l="l" t="t" r="r" b="b"/>
              <a:pathLst>
                <a:path w="1269" h="125095">
                  <a:moveTo>
                    <a:pt x="0" y="124917"/>
                  </a:moveTo>
                  <a:lnTo>
                    <a:pt x="1079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53717" y="511451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519" y="0"/>
                  </a:moveTo>
                  <a:lnTo>
                    <a:pt x="0" y="75247"/>
                  </a:lnTo>
                  <a:lnTo>
                    <a:pt x="75603" y="75958"/>
                  </a:lnTo>
                  <a:lnTo>
                    <a:pt x="385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490925" y="4781524"/>
              <a:ext cx="147955" cy="200660"/>
            </a:xfrm>
            <a:custGeom>
              <a:avLst/>
              <a:gdLst/>
              <a:ahLst/>
              <a:cxnLst/>
              <a:rect l="l" t="t" r="r" b="b"/>
              <a:pathLst>
                <a:path w="147954" h="200660">
                  <a:moveTo>
                    <a:pt x="147599" y="0"/>
                  </a:moveTo>
                  <a:lnTo>
                    <a:pt x="0" y="0"/>
                  </a:lnTo>
                  <a:lnTo>
                    <a:pt x="0" y="200152"/>
                  </a:lnTo>
                  <a:lnTo>
                    <a:pt x="73799" y="200152"/>
                  </a:lnTo>
                  <a:lnTo>
                    <a:pt x="147599" y="200152"/>
                  </a:lnTo>
                  <a:lnTo>
                    <a:pt x="147599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490925" y="4781524"/>
              <a:ext cx="147955" cy="200660"/>
            </a:xfrm>
            <a:custGeom>
              <a:avLst/>
              <a:gdLst/>
              <a:ahLst/>
              <a:cxnLst/>
              <a:rect l="l" t="t" r="r" b="b"/>
              <a:pathLst>
                <a:path w="147954" h="200660">
                  <a:moveTo>
                    <a:pt x="73799" y="200152"/>
                  </a:moveTo>
                  <a:lnTo>
                    <a:pt x="0" y="200152"/>
                  </a:lnTo>
                  <a:lnTo>
                    <a:pt x="0" y="0"/>
                  </a:lnTo>
                  <a:lnTo>
                    <a:pt x="147599" y="0"/>
                  </a:lnTo>
                  <a:lnTo>
                    <a:pt x="147599" y="200152"/>
                  </a:lnTo>
                  <a:lnTo>
                    <a:pt x="73799" y="200152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4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81456" y="4634094"/>
            <a:ext cx="501302" cy="137888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988098" y="5223509"/>
            <a:ext cx="21780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3333CC"/>
                </a:solidFill>
                <a:latin typeface="Comic Sans MS"/>
                <a:cs typeface="Comic Sans MS"/>
              </a:rPr>
              <a:t>B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08483" y="1301758"/>
            <a:ext cx="8202930" cy="329374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800"/>
              </a:spcBef>
            </a:pPr>
            <a:r>
              <a:rPr sz="2800" dirty="0">
                <a:latin typeface="Comic Sans MS"/>
                <a:cs typeface="Comic Sans MS"/>
              </a:rPr>
              <a:t>packets</a:t>
            </a:r>
            <a:r>
              <a:rPr sz="2800" spc="-80" dirty="0">
                <a:latin typeface="Comic Sans MS"/>
                <a:cs typeface="Comic Sans MS"/>
              </a:rPr>
              <a:t> </a:t>
            </a:r>
            <a:r>
              <a:rPr sz="2900" i="1" spc="-40" dirty="0">
                <a:latin typeface="Comic Sans MS"/>
                <a:cs typeface="Comic Sans MS"/>
              </a:rPr>
              <a:t>queue</a:t>
            </a:r>
            <a:r>
              <a:rPr sz="2900" i="1" spc="-114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in</a:t>
            </a:r>
            <a:r>
              <a:rPr sz="2800" spc="-9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router</a:t>
            </a:r>
            <a:r>
              <a:rPr sz="2800" spc="-85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buffers</a:t>
            </a:r>
            <a:endParaRPr sz="2800">
              <a:latin typeface="Comic Sans MS"/>
              <a:cs typeface="Comic Sans MS"/>
            </a:endParaRPr>
          </a:p>
          <a:p>
            <a:pPr marL="50800">
              <a:lnSpc>
                <a:spcPct val="100000"/>
              </a:lnSpc>
              <a:spcBef>
                <a:spcPts val="58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52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packet</a:t>
            </a:r>
            <a:r>
              <a:rPr sz="2400" spc="-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arrival</a:t>
            </a:r>
            <a:r>
              <a:rPr sz="2400" spc="-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rate</a:t>
            </a:r>
            <a:r>
              <a:rPr sz="2400" spc="-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to</a:t>
            </a:r>
            <a:r>
              <a:rPr sz="2400" spc="-3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link</a:t>
            </a:r>
            <a:r>
              <a:rPr sz="2400" spc="-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exceeds</a:t>
            </a:r>
            <a:r>
              <a:rPr sz="2400" spc="-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output</a:t>
            </a:r>
            <a:r>
              <a:rPr sz="2400" spc="-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link</a:t>
            </a:r>
            <a:r>
              <a:rPr sz="2400" spc="-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capacity</a:t>
            </a:r>
            <a:endParaRPr sz="2400">
              <a:latin typeface="Comic Sans MS"/>
              <a:cs typeface="Comic Sans MS"/>
            </a:endParaRPr>
          </a:p>
          <a:p>
            <a:pPr marL="50800">
              <a:lnSpc>
                <a:spcPct val="100000"/>
              </a:lnSpc>
              <a:spcBef>
                <a:spcPts val="6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52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packets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queue,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wait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for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spc="-20" dirty="0">
                <a:latin typeface="Comic Sans MS"/>
                <a:cs typeface="Comic Sans MS"/>
              </a:rPr>
              <a:t>turn</a:t>
            </a:r>
            <a:endParaRPr sz="24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675"/>
              </a:spcBef>
            </a:pPr>
            <a:endParaRPr sz="2400">
              <a:latin typeface="Comic Sans MS"/>
              <a:cs typeface="Comic Sans MS"/>
            </a:endParaRPr>
          </a:p>
          <a:p>
            <a:pPr marL="3910329">
              <a:lnSpc>
                <a:spcPct val="100000"/>
              </a:lnSpc>
            </a:pPr>
            <a:r>
              <a:rPr sz="1800" dirty="0">
                <a:latin typeface="Comic Sans MS"/>
                <a:cs typeface="Comic Sans MS"/>
              </a:rPr>
              <a:t>packet</a:t>
            </a:r>
            <a:r>
              <a:rPr sz="1800" spc="-5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being</a:t>
            </a:r>
            <a:r>
              <a:rPr sz="1800" spc="-5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transmitted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mic Sans MS"/>
                <a:cs typeface="Comic Sans MS"/>
              </a:rPr>
              <a:t>(delay)</a:t>
            </a:r>
            <a:endParaRPr sz="18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2039"/>
              </a:spcBef>
            </a:pPr>
            <a:endParaRPr sz="1800">
              <a:latin typeface="Comic Sans MS"/>
              <a:cs typeface="Comic Sans MS"/>
            </a:endParaRPr>
          </a:p>
          <a:p>
            <a:pPr marL="416559">
              <a:lnSpc>
                <a:spcPct val="100000"/>
              </a:lnSpc>
            </a:pPr>
            <a:r>
              <a:rPr sz="2400" spc="-50" dirty="0">
                <a:solidFill>
                  <a:srgbClr val="00CC99"/>
                </a:solidFill>
                <a:latin typeface="Comic Sans MS"/>
                <a:cs typeface="Comic Sans MS"/>
              </a:rPr>
              <a:t>A</a:t>
            </a:r>
            <a:endParaRPr sz="2400">
              <a:latin typeface="Comic Sans MS"/>
              <a:cs typeface="Comic Sans M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940045" y="5297404"/>
            <a:ext cx="157480" cy="209550"/>
            <a:chOff x="1940045" y="5297404"/>
            <a:chExt cx="157480" cy="209550"/>
          </a:xfrm>
        </p:grpSpPr>
        <p:sp>
          <p:nvSpPr>
            <p:cNvPr id="28" name="object 28"/>
            <p:cNvSpPr/>
            <p:nvPr/>
          </p:nvSpPr>
          <p:spPr>
            <a:xfrm>
              <a:off x="1944725" y="5302084"/>
              <a:ext cx="147955" cy="200660"/>
            </a:xfrm>
            <a:custGeom>
              <a:avLst/>
              <a:gdLst/>
              <a:ahLst/>
              <a:cxnLst/>
              <a:rect l="l" t="t" r="r" b="b"/>
              <a:pathLst>
                <a:path w="147955" h="200660">
                  <a:moveTo>
                    <a:pt x="147599" y="0"/>
                  </a:moveTo>
                  <a:lnTo>
                    <a:pt x="0" y="0"/>
                  </a:lnTo>
                  <a:lnTo>
                    <a:pt x="0" y="200152"/>
                  </a:lnTo>
                  <a:lnTo>
                    <a:pt x="73799" y="200152"/>
                  </a:lnTo>
                  <a:lnTo>
                    <a:pt x="147599" y="200152"/>
                  </a:lnTo>
                  <a:lnTo>
                    <a:pt x="147599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44725" y="5302084"/>
              <a:ext cx="147955" cy="200660"/>
            </a:xfrm>
            <a:custGeom>
              <a:avLst/>
              <a:gdLst/>
              <a:ahLst/>
              <a:cxnLst/>
              <a:rect l="l" t="t" r="r" b="b"/>
              <a:pathLst>
                <a:path w="147955" h="200660">
                  <a:moveTo>
                    <a:pt x="73799" y="200152"/>
                  </a:moveTo>
                  <a:lnTo>
                    <a:pt x="0" y="200152"/>
                  </a:lnTo>
                  <a:lnTo>
                    <a:pt x="0" y="0"/>
                  </a:lnTo>
                  <a:lnTo>
                    <a:pt x="147599" y="0"/>
                  </a:lnTo>
                  <a:lnTo>
                    <a:pt x="147599" y="200152"/>
                  </a:lnTo>
                  <a:lnTo>
                    <a:pt x="73799" y="200152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1668595" y="3637083"/>
            <a:ext cx="4600575" cy="2366010"/>
            <a:chOff x="1668595" y="3637083"/>
            <a:chExt cx="4600575" cy="2366010"/>
          </a:xfrm>
        </p:grpSpPr>
        <p:sp>
          <p:nvSpPr>
            <p:cNvPr id="31" name="object 31"/>
            <p:cNvSpPr/>
            <p:nvPr/>
          </p:nvSpPr>
          <p:spPr>
            <a:xfrm>
              <a:off x="3644645" y="3641762"/>
              <a:ext cx="1626235" cy="1082040"/>
            </a:xfrm>
            <a:custGeom>
              <a:avLst/>
              <a:gdLst/>
              <a:ahLst/>
              <a:cxnLst/>
              <a:rect l="l" t="t" r="r" b="b"/>
              <a:pathLst>
                <a:path w="1626235" h="1082039">
                  <a:moveTo>
                    <a:pt x="1625752" y="0"/>
                  </a:moveTo>
                  <a:lnTo>
                    <a:pt x="0" y="1081443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585959" y="4689004"/>
              <a:ext cx="84455" cy="73660"/>
            </a:xfrm>
            <a:custGeom>
              <a:avLst/>
              <a:gdLst/>
              <a:ahLst/>
              <a:cxnLst/>
              <a:rect l="l" t="t" r="r" b="b"/>
              <a:pathLst>
                <a:path w="84454" h="73660">
                  <a:moveTo>
                    <a:pt x="42125" y="0"/>
                  </a:moveTo>
                  <a:lnTo>
                    <a:pt x="0" y="73431"/>
                  </a:lnTo>
                  <a:lnTo>
                    <a:pt x="83883" y="62992"/>
                  </a:lnTo>
                  <a:lnTo>
                    <a:pt x="421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391915" y="5147995"/>
              <a:ext cx="702945" cy="596265"/>
            </a:xfrm>
            <a:custGeom>
              <a:avLst/>
              <a:gdLst/>
              <a:ahLst/>
              <a:cxnLst/>
              <a:rect l="l" t="t" r="r" b="b"/>
              <a:pathLst>
                <a:path w="702945" h="596264">
                  <a:moveTo>
                    <a:pt x="702729" y="595807"/>
                  </a:moveTo>
                  <a:lnTo>
                    <a:pt x="0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338283" y="5102275"/>
              <a:ext cx="82550" cy="78105"/>
            </a:xfrm>
            <a:custGeom>
              <a:avLst/>
              <a:gdLst/>
              <a:ahLst/>
              <a:cxnLst/>
              <a:rect l="l" t="t" r="r" b="b"/>
              <a:pathLst>
                <a:path w="82550" h="78104">
                  <a:moveTo>
                    <a:pt x="0" y="0"/>
                  </a:moveTo>
                  <a:lnTo>
                    <a:pt x="33121" y="77762"/>
                  </a:lnTo>
                  <a:lnTo>
                    <a:pt x="82080" y="201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67378" y="4690977"/>
              <a:ext cx="501658" cy="138243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68595" y="4267079"/>
              <a:ext cx="377640" cy="20915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76683" y="4838757"/>
              <a:ext cx="436321" cy="209524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854439" y="5133593"/>
              <a:ext cx="146050" cy="864869"/>
            </a:xfrm>
            <a:custGeom>
              <a:avLst/>
              <a:gdLst/>
              <a:ahLst/>
              <a:cxnLst/>
              <a:rect l="l" t="t" r="r" b="b"/>
              <a:pathLst>
                <a:path w="146050" h="864870">
                  <a:moveTo>
                    <a:pt x="0" y="864361"/>
                  </a:moveTo>
                  <a:lnTo>
                    <a:pt x="145440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961716" y="5064124"/>
              <a:ext cx="74930" cy="80645"/>
            </a:xfrm>
            <a:custGeom>
              <a:avLst/>
              <a:gdLst/>
              <a:ahLst/>
              <a:cxnLst/>
              <a:rect l="l" t="t" r="r" b="b"/>
              <a:pathLst>
                <a:path w="74930" h="80645">
                  <a:moveTo>
                    <a:pt x="49682" y="0"/>
                  </a:moveTo>
                  <a:lnTo>
                    <a:pt x="0" y="68389"/>
                  </a:lnTo>
                  <a:lnTo>
                    <a:pt x="74523" y="80632"/>
                  </a:lnTo>
                  <a:lnTo>
                    <a:pt x="496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2590825" y="5457152"/>
            <a:ext cx="4395470" cy="1084580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517015">
              <a:lnSpc>
                <a:spcPct val="100000"/>
              </a:lnSpc>
              <a:spcBef>
                <a:spcPts val="1030"/>
              </a:spcBef>
            </a:pPr>
            <a:r>
              <a:rPr sz="1800" dirty="0">
                <a:latin typeface="Comic Sans MS"/>
                <a:cs typeface="Comic Sans MS"/>
              </a:rPr>
              <a:t>packets</a:t>
            </a:r>
            <a:r>
              <a:rPr sz="1800" spc="-8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queueing</a:t>
            </a:r>
            <a:r>
              <a:rPr sz="1800" spc="-65" dirty="0">
                <a:latin typeface="Comic Sans MS"/>
                <a:cs typeface="Comic Sans MS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mic Sans MS"/>
                <a:cs typeface="Comic Sans MS"/>
              </a:rPr>
              <a:t>(delay)</a:t>
            </a:r>
            <a:endParaRPr sz="1800">
              <a:latin typeface="Comic Sans MS"/>
              <a:cs typeface="Comic Sans MS"/>
            </a:endParaRPr>
          </a:p>
          <a:p>
            <a:pPr marL="12700" marR="5080">
              <a:lnSpc>
                <a:spcPct val="100000"/>
              </a:lnSpc>
              <a:spcBef>
                <a:spcPts val="930"/>
              </a:spcBef>
            </a:pPr>
            <a:r>
              <a:rPr sz="1800" dirty="0">
                <a:latin typeface="Comic Sans MS"/>
                <a:cs typeface="Comic Sans MS"/>
              </a:rPr>
              <a:t>free</a:t>
            </a:r>
            <a:r>
              <a:rPr sz="1800" spc="-4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(available)</a:t>
            </a:r>
            <a:r>
              <a:rPr sz="1800" spc="-5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buffers: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arriving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packets </a:t>
            </a:r>
            <a:r>
              <a:rPr sz="1800" dirty="0">
                <a:latin typeface="Comic Sans MS"/>
                <a:cs typeface="Comic Sans MS"/>
              </a:rPr>
              <a:t>dropped</a:t>
            </a:r>
            <a:r>
              <a:rPr sz="1800" spc="-3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(</a:t>
            </a:r>
            <a:r>
              <a:rPr sz="1800" dirty="0">
                <a:solidFill>
                  <a:srgbClr val="FF0000"/>
                </a:solidFill>
                <a:latin typeface="Comic Sans MS"/>
                <a:cs typeface="Comic Sans MS"/>
              </a:rPr>
              <a:t>loss</a:t>
            </a:r>
            <a:r>
              <a:rPr sz="1800" dirty="0">
                <a:latin typeface="Comic Sans MS"/>
                <a:cs typeface="Comic Sans MS"/>
              </a:rPr>
              <a:t>)</a:t>
            </a:r>
            <a:r>
              <a:rPr sz="1800" spc="-3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if</a:t>
            </a:r>
            <a:r>
              <a:rPr sz="1800" spc="-3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no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free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buffers</a:t>
            </a:r>
            <a:endParaRPr sz="1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37260" y="6434899"/>
            <a:ext cx="10902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omic Sans MS"/>
                <a:cs typeface="Comic Sans MS"/>
              </a:rPr>
              <a:t>Introduction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98776" y="6434899"/>
            <a:ext cx="3530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1-</a:t>
            </a:r>
            <a:r>
              <a:rPr sz="1400" spc="-25" dirty="0">
                <a:latin typeface="Times New Roman"/>
                <a:cs typeface="Times New Roman"/>
              </a:rPr>
              <a:t>44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53580" y="520814"/>
            <a:ext cx="68624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Four</a:t>
            </a:r>
            <a:r>
              <a:rPr spc="-65" dirty="0"/>
              <a:t> </a:t>
            </a:r>
            <a:r>
              <a:rPr dirty="0"/>
              <a:t>sources</a:t>
            </a:r>
            <a:r>
              <a:rPr spc="-65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packet</a:t>
            </a:r>
            <a:r>
              <a:rPr spc="-60" dirty="0"/>
              <a:t> </a:t>
            </a:r>
            <a:r>
              <a:rPr spc="-10" dirty="0"/>
              <a:t>delay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3661" y="1584670"/>
            <a:ext cx="3357879" cy="120459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R="220345" algn="ctr">
              <a:lnSpc>
                <a:spcPct val="100000"/>
              </a:lnSpc>
              <a:spcBef>
                <a:spcPts val="7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67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1.</a:t>
            </a:r>
            <a:r>
              <a:rPr sz="2400" spc="-2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nodal</a:t>
            </a:r>
            <a:r>
              <a:rPr sz="2400" spc="-3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processing:</a:t>
            </a:r>
            <a:endParaRPr sz="2400" dirty="0">
              <a:latin typeface="Comic Sans MS"/>
              <a:cs typeface="Comic Sans MS"/>
            </a:endParaRPr>
          </a:p>
          <a:p>
            <a:pPr marR="142240" algn="ctr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25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check</a:t>
            </a:r>
            <a:r>
              <a:rPr sz="2000" spc="-1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bit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errors</a:t>
            </a:r>
            <a:endParaRPr sz="2000" dirty="0">
              <a:latin typeface="Comic Sans MS"/>
              <a:cs typeface="Comic Sans MS"/>
            </a:endParaRPr>
          </a:p>
          <a:p>
            <a:pPr marL="456565" algn="ctr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02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determine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output</a:t>
            </a:r>
            <a:r>
              <a:rPr sz="2000" spc="-20" dirty="0">
                <a:latin typeface="Comic Sans MS"/>
                <a:cs typeface="Comic Sans MS"/>
              </a:rPr>
              <a:t> link</a:t>
            </a:r>
            <a:endParaRPr sz="2000" dirty="0">
              <a:latin typeface="Comic Sans MS"/>
              <a:cs typeface="Comic Sans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84237" y="4151160"/>
            <a:ext cx="5651500" cy="1529080"/>
            <a:chOff x="984237" y="4151160"/>
            <a:chExt cx="5651500" cy="152908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8524" y="5160962"/>
              <a:ext cx="811252" cy="51911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339644" y="4846319"/>
              <a:ext cx="1189355" cy="254000"/>
            </a:xfrm>
            <a:custGeom>
              <a:avLst/>
              <a:gdLst/>
              <a:ahLst/>
              <a:cxnLst/>
              <a:rect l="l" t="t" r="r" b="b"/>
              <a:pathLst>
                <a:path w="1189354" h="254000">
                  <a:moveTo>
                    <a:pt x="1189075" y="0"/>
                  </a:moveTo>
                  <a:lnTo>
                    <a:pt x="0" y="0"/>
                  </a:lnTo>
                  <a:lnTo>
                    <a:pt x="0" y="253796"/>
                  </a:lnTo>
                  <a:lnTo>
                    <a:pt x="594715" y="253796"/>
                  </a:lnTo>
                  <a:lnTo>
                    <a:pt x="1189075" y="253796"/>
                  </a:lnTo>
                  <a:lnTo>
                    <a:pt x="1189075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81456" y="4634094"/>
              <a:ext cx="501302" cy="13788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436717" y="493344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46801" y="4913274"/>
              <a:ext cx="0" cy="219710"/>
            </a:xfrm>
            <a:custGeom>
              <a:avLst/>
              <a:gdLst/>
              <a:ahLst/>
              <a:cxnLst/>
              <a:rect l="l" t="t" r="r" b="b"/>
              <a:pathLst>
                <a:path h="219710">
                  <a:moveTo>
                    <a:pt x="0" y="0"/>
                  </a:moveTo>
                  <a:lnTo>
                    <a:pt x="0" y="219240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46445" y="4875123"/>
              <a:ext cx="1189355" cy="254635"/>
            </a:xfrm>
            <a:custGeom>
              <a:avLst/>
              <a:gdLst/>
              <a:ahLst/>
              <a:cxnLst/>
              <a:rect l="l" t="t" r="r" b="b"/>
              <a:pathLst>
                <a:path w="1189354" h="254635">
                  <a:moveTo>
                    <a:pt x="1189075" y="0"/>
                  </a:moveTo>
                  <a:lnTo>
                    <a:pt x="0" y="0"/>
                  </a:lnTo>
                  <a:lnTo>
                    <a:pt x="0" y="254152"/>
                  </a:lnTo>
                  <a:lnTo>
                    <a:pt x="594715" y="254152"/>
                  </a:lnTo>
                  <a:lnTo>
                    <a:pt x="1189075" y="254152"/>
                  </a:lnTo>
                  <a:lnTo>
                    <a:pt x="1189075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4237" y="4151160"/>
              <a:ext cx="1120686" cy="51912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114638" y="4543564"/>
              <a:ext cx="3343910" cy="990600"/>
            </a:xfrm>
            <a:custGeom>
              <a:avLst/>
              <a:gdLst/>
              <a:ahLst/>
              <a:cxnLst/>
              <a:rect l="l" t="t" r="r" b="b"/>
              <a:pathLst>
                <a:path w="3343910" h="990600">
                  <a:moveTo>
                    <a:pt x="1419123" y="428396"/>
                  </a:moveTo>
                  <a:lnTo>
                    <a:pt x="3343325" y="428396"/>
                  </a:lnTo>
                </a:path>
                <a:path w="3343910" h="990600">
                  <a:moveTo>
                    <a:pt x="0" y="0"/>
                  </a:moveTo>
                  <a:lnTo>
                    <a:pt x="0" y="990358"/>
                  </a:lnTo>
                </a:path>
                <a:path w="3343910" h="990600">
                  <a:moveTo>
                    <a:pt x="9359" y="433070"/>
                  </a:moveTo>
                  <a:lnTo>
                    <a:pt x="199796" y="433070"/>
                  </a:lnTo>
                </a:path>
              </a:pathLst>
            </a:custGeom>
            <a:ln w="19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54283" y="4771796"/>
              <a:ext cx="138430" cy="190500"/>
            </a:xfrm>
            <a:custGeom>
              <a:avLst/>
              <a:gdLst/>
              <a:ahLst/>
              <a:cxnLst/>
              <a:rect l="l" t="t" r="r" b="b"/>
              <a:pathLst>
                <a:path w="138429" h="190500">
                  <a:moveTo>
                    <a:pt x="137871" y="0"/>
                  </a:moveTo>
                  <a:lnTo>
                    <a:pt x="0" y="0"/>
                  </a:lnTo>
                  <a:lnTo>
                    <a:pt x="0" y="190449"/>
                  </a:lnTo>
                  <a:lnTo>
                    <a:pt x="69113" y="190449"/>
                  </a:lnTo>
                  <a:lnTo>
                    <a:pt x="137871" y="190449"/>
                  </a:lnTo>
                  <a:lnTo>
                    <a:pt x="137871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4283" y="4771796"/>
              <a:ext cx="138430" cy="190500"/>
            </a:xfrm>
            <a:custGeom>
              <a:avLst/>
              <a:gdLst/>
              <a:ahLst/>
              <a:cxnLst/>
              <a:rect l="l" t="t" r="r" b="b"/>
              <a:pathLst>
                <a:path w="138429" h="190500">
                  <a:moveTo>
                    <a:pt x="69113" y="190449"/>
                  </a:moveTo>
                  <a:lnTo>
                    <a:pt x="0" y="190449"/>
                  </a:lnTo>
                  <a:lnTo>
                    <a:pt x="0" y="0"/>
                  </a:lnTo>
                  <a:lnTo>
                    <a:pt x="137871" y="0"/>
                  </a:lnTo>
                  <a:lnTo>
                    <a:pt x="137871" y="190449"/>
                  </a:lnTo>
                  <a:lnTo>
                    <a:pt x="69113" y="190449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95720" y="4838401"/>
              <a:ext cx="311035" cy="19979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146325" y="4743005"/>
              <a:ext cx="138430" cy="190500"/>
            </a:xfrm>
            <a:custGeom>
              <a:avLst/>
              <a:gdLst/>
              <a:ahLst/>
              <a:cxnLst/>
              <a:rect l="l" t="t" r="r" b="b"/>
              <a:pathLst>
                <a:path w="138430" h="190500">
                  <a:moveTo>
                    <a:pt x="138239" y="0"/>
                  </a:moveTo>
                  <a:lnTo>
                    <a:pt x="0" y="0"/>
                  </a:lnTo>
                  <a:lnTo>
                    <a:pt x="0" y="190436"/>
                  </a:lnTo>
                  <a:lnTo>
                    <a:pt x="69113" y="190436"/>
                  </a:lnTo>
                  <a:lnTo>
                    <a:pt x="138239" y="190436"/>
                  </a:lnTo>
                  <a:lnTo>
                    <a:pt x="138239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46325" y="4743005"/>
              <a:ext cx="138430" cy="190500"/>
            </a:xfrm>
            <a:custGeom>
              <a:avLst/>
              <a:gdLst/>
              <a:ahLst/>
              <a:cxnLst/>
              <a:rect l="l" t="t" r="r" b="b"/>
              <a:pathLst>
                <a:path w="138430" h="190500">
                  <a:moveTo>
                    <a:pt x="69113" y="190436"/>
                  </a:moveTo>
                  <a:lnTo>
                    <a:pt x="0" y="190436"/>
                  </a:lnTo>
                  <a:lnTo>
                    <a:pt x="0" y="0"/>
                  </a:lnTo>
                  <a:lnTo>
                    <a:pt x="138239" y="0"/>
                  </a:lnTo>
                  <a:lnTo>
                    <a:pt x="138239" y="190436"/>
                  </a:lnTo>
                  <a:lnTo>
                    <a:pt x="69113" y="190436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324163" y="4848123"/>
              <a:ext cx="163195" cy="0"/>
            </a:xfrm>
            <a:custGeom>
              <a:avLst/>
              <a:gdLst/>
              <a:ahLst/>
              <a:cxnLst/>
              <a:rect l="l" t="t" r="r" b="b"/>
              <a:pathLst>
                <a:path w="163194">
                  <a:moveTo>
                    <a:pt x="0" y="0"/>
                  </a:moveTo>
                  <a:lnTo>
                    <a:pt x="162712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481833" y="481031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603"/>
                  </a:lnTo>
                  <a:lnTo>
                    <a:pt x="75603" y="378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990801" y="5185435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01"/>
                  </a:moveTo>
                  <a:lnTo>
                    <a:pt x="0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953005" y="511487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795" y="0"/>
                  </a:moveTo>
                  <a:lnTo>
                    <a:pt x="0" y="75603"/>
                  </a:lnTo>
                  <a:lnTo>
                    <a:pt x="75590" y="75603"/>
                  </a:lnTo>
                  <a:lnTo>
                    <a:pt x="377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226126" y="4572000"/>
              <a:ext cx="287020" cy="0"/>
            </a:xfrm>
            <a:custGeom>
              <a:avLst/>
              <a:gdLst/>
              <a:ahLst/>
              <a:cxnLst/>
              <a:rect l="l" t="t" r="r" b="b"/>
              <a:pathLst>
                <a:path w="287020">
                  <a:moveTo>
                    <a:pt x="0" y="0"/>
                  </a:moveTo>
                  <a:lnTo>
                    <a:pt x="286550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507634" y="453420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590"/>
                  </a:lnTo>
                  <a:lnTo>
                    <a:pt x="75603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490925" y="4781156"/>
              <a:ext cx="138430" cy="190500"/>
            </a:xfrm>
            <a:custGeom>
              <a:avLst/>
              <a:gdLst/>
              <a:ahLst/>
              <a:cxnLst/>
              <a:rect l="l" t="t" r="r" b="b"/>
              <a:pathLst>
                <a:path w="138429" h="190500">
                  <a:moveTo>
                    <a:pt x="138239" y="0"/>
                  </a:moveTo>
                  <a:lnTo>
                    <a:pt x="0" y="0"/>
                  </a:lnTo>
                  <a:lnTo>
                    <a:pt x="0" y="190449"/>
                  </a:lnTo>
                  <a:lnTo>
                    <a:pt x="69113" y="190449"/>
                  </a:lnTo>
                  <a:lnTo>
                    <a:pt x="138239" y="190449"/>
                  </a:lnTo>
                  <a:lnTo>
                    <a:pt x="138239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490925" y="4781156"/>
              <a:ext cx="138430" cy="190500"/>
            </a:xfrm>
            <a:custGeom>
              <a:avLst/>
              <a:gdLst/>
              <a:ahLst/>
              <a:cxnLst/>
              <a:rect l="l" t="t" r="r" b="b"/>
              <a:pathLst>
                <a:path w="138429" h="190500">
                  <a:moveTo>
                    <a:pt x="69113" y="190449"/>
                  </a:moveTo>
                  <a:lnTo>
                    <a:pt x="0" y="190449"/>
                  </a:lnTo>
                  <a:lnTo>
                    <a:pt x="0" y="0"/>
                  </a:lnTo>
                  <a:lnTo>
                    <a:pt x="138239" y="0"/>
                  </a:lnTo>
                  <a:lnTo>
                    <a:pt x="138239" y="190449"/>
                  </a:lnTo>
                  <a:lnTo>
                    <a:pt x="69113" y="190449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08736" y="4203624"/>
            <a:ext cx="2489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00CC99"/>
                </a:solidFill>
                <a:latin typeface="Comic Sans MS"/>
                <a:cs typeface="Comic Sans MS"/>
              </a:rPr>
              <a:t>A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84135" y="5223509"/>
            <a:ext cx="21780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3333CC"/>
                </a:solidFill>
                <a:latin typeface="Comic Sans MS"/>
                <a:cs typeface="Comic Sans MS"/>
              </a:rPr>
              <a:t>B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953421" y="4418177"/>
            <a:ext cx="1266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Comic Sans MS"/>
                <a:cs typeface="Comic Sans MS"/>
              </a:rPr>
              <a:t>propagation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622319" y="4534204"/>
            <a:ext cx="334010" cy="76200"/>
            <a:chOff x="3622319" y="4534204"/>
            <a:chExt cx="334010" cy="76200"/>
          </a:xfrm>
        </p:grpSpPr>
        <p:sp>
          <p:nvSpPr>
            <p:cNvPr id="32" name="object 32"/>
            <p:cNvSpPr/>
            <p:nvPr/>
          </p:nvSpPr>
          <p:spPr>
            <a:xfrm>
              <a:off x="3692880" y="4571999"/>
              <a:ext cx="258445" cy="0"/>
            </a:xfrm>
            <a:custGeom>
              <a:avLst/>
              <a:gdLst/>
              <a:ahLst/>
              <a:cxnLst/>
              <a:rect l="l" t="t" r="r" b="b"/>
              <a:pathLst>
                <a:path w="258445">
                  <a:moveTo>
                    <a:pt x="258114" y="0"/>
                  </a:moveTo>
                  <a:lnTo>
                    <a:pt x="0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622319" y="453420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603" y="0"/>
                  </a:moveTo>
                  <a:lnTo>
                    <a:pt x="0" y="37795"/>
                  </a:lnTo>
                  <a:lnTo>
                    <a:pt x="75603" y="75590"/>
                  </a:lnTo>
                  <a:lnTo>
                    <a:pt x="756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056218" y="3999141"/>
            <a:ext cx="1358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Comic Sans MS"/>
                <a:cs typeface="Comic Sans MS"/>
              </a:rPr>
              <a:t>transmission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052711" y="4233875"/>
            <a:ext cx="524510" cy="528955"/>
            <a:chOff x="3052711" y="4233875"/>
            <a:chExt cx="524510" cy="528955"/>
          </a:xfrm>
        </p:grpSpPr>
        <p:sp>
          <p:nvSpPr>
            <p:cNvPr id="36" name="object 36"/>
            <p:cNvSpPr/>
            <p:nvPr/>
          </p:nvSpPr>
          <p:spPr>
            <a:xfrm>
              <a:off x="3057474" y="4238637"/>
              <a:ext cx="469900" cy="474345"/>
            </a:xfrm>
            <a:custGeom>
              <a:avLst/>
              <a:gdLst/>
              <a:ahLst/>
              <a:cxnLst/>
              <a:rect l="l" t="t" r="r" b="b"/>
              <a:pathLst>
                <a:path w="469900" h="474345">
                  <a:moveTo>
                    <a:pt x="0" y="0"/>
                  </a:moveTo>
                  <a:lnTo>
                    <a:pt x="469442" y="47376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496678" y="4682159"/>
              <a:ext cx="80010" cy="80645"/>
            </a:xfrm>
            <a:custGeom>
              <a:avLst/>
              <a:gdLst/>
              <a:ahLst/>
              <a:cxnLst/>
              <a:rect l="l" t="t" r="r" b="b"/>
              <a:pathLst>
                <a:path w="80010" h="80645">
                  <a:moveTo>
                    <a:pt x="53644" y="0"/>
                  </a:moveTo>
                  <a:lnTo>
                    <a:pt x="0" y="53276"/>
                  </a:lnTo>
                  <a:lnTo>
                    <a:pt x="79921" y="80276"/>
                  </a:lnTo>
                  <a:lnTo>
                    <a:pt x="536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2183295" y="5532018"/>
            <a:ext cx="11468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8384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Comic Sans MS"/>
                <a:cs typeface="Comic Sans MS"/>
              </a:rPr>
              <a:t>nodal processing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355837" y="5267515"/>
            <a:ext cx="1205230" cy="314325"/>
            <a:chOff x="2355837" y="5267515"/>
            <a:chExt cx="1205230" cy="314325"/>
          </a:xfrm>
        </p:grpSpPr>
        <p:sp>
          <p:nvSpPr>
            <p:cNvPr id="40" name="object 40"/>
            <p:cNvSpPr/>
            <p:nvPr/>
          </p:nvSpPr>
          <p:spPr>
            <a:xfrm>
              <a:off x="2426398" y="5543639"/>
              <a:ext cx="702310" cy="0"/>
            </a:xfrm>
            <a:custGeom>
              <a:avLst/>
              <a:gdLst/>
              <a:ahLst/>
              <a:cxnLst/>
              <a:rect l="l" t="t" r="r" b="b"/>
              <a:pathLst>
                <a:path w="702310">
                  <a:moveTo>
                    <a:pt x="702005" y="0"/>
                  </a:moveTo>
                  <a:lnTo>
                    <a:pt x="0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55837" y="5505843"/>
              <a:ext cx="843280" cy="76200"/>
            </a:xfrm>
            <a:custGeom>
              <a:avLst/>
              <a:gdLst/>
              <a:ahLst/>
              <a:cxnLst/>
              <a:rect l="l" t="t" r="r" b="b"/>
              <a:pathLst>
                <a:path w="843280" h="76200">
                  <a:moveTo>
                    <a:pt x="75603" y="0"/>
                  </a:moveTo>
                  <a:lnTo>
                    <a:pt x="0" y="37795"/>
                  </a:lnTo>
                  <a:lnTo>
                    <a:pt x="75603" y="75590"/>
                  </a:lnTo>
                  <a:lnTo>
                    <a:pt x="75603" y="0"/>
                  </a:lnTo>
                  <a:close/>
                </a:path>
                <a:path w="843280" h="76200">
                  <a:moveTo>
                    <a:pt x="843127" y="37795"/>
                  </a:moveTo>
                  <a:lnTo>
                    <a:pt x="767524" y="0"/>
                  </a:lnTo>
                  <a:lnTo>
                    <a:pt x="767524" y="75590"/>
                  </a:lnTo>
                  <a:lnTo>
                    <a:pt x="843127" y="377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36036" y="5305323"/>
              <a:ext cx="254635" cy="0"/>
            </a:xfrm>
            <a:custGeom>
              <a:avLst/>
              <a:gdLst/>
              <a:ahLst/>
              <a:cxnLst/>
              <a:rect l="l" t="t" r="r" b="b"/>
              <a:pathLst>
                <a:path w="254635">
                  <a:moveTo>
                    <a:pt x="254165" y="0"/>
                  </a:moveTo>
                  <a:lnTo>
                    <a:pt x="0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165475" y="5267515"/>
              <a:ext cx="395605" cy="76200"/>
            </a:xfrm>
            <a:custGeom>
              <a:avLst/>
              <a:gdLst/>
              <a:ahLst/>
              <a:cxnLst/>
              <a:rect l="l" t="t" r="r" b="b"/>
              <a:pathLst>
                <a:path w="395604" h="76200">
                  <a:moveTo>
                    <a:pt x="75603" y="0"/>
                  </a:moveTo>
                  <a:lnTo>
                    <a:pt x="0" y="37807"/>
                  </a:lnTo>
                  <a:lnTo>
                    <a:pt x="75603" y="75603"/>
                  </a:lnTo>
                  <a:lnTo>
                    <a:pt x="75603" y="0"/>
                  </a:lnTo>
                  <a:close/>
                </a:path>
                <a:path w="395604" h="76200">
                  <a:moveTo>
                    <a:pt x="395287" y="37807"/>
                  </a:moveTo>
                  <a:lnTo>
                    <a:pt x="319684" y="0"/>
                  </a:lnTo>
                  <a:lnTo>
                    <a:pt x="319684" y="75603"/>
                  </a:lnTo>
                  <a:lnTo>
                    <a:pt x="395287" y="378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660025" y="5789777"/>
            <a:ext cx="935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Comic Sans MS"/>
                <a:cs typeface="Comic Sans MS"/>
              </a:rPr>
              <a:t>queueing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322796" y="4690978"/>
            <a:ext cx="2948305" cy="1171575"/>
            <a:chOff x="3322796" y="4690978"/>
            <a:chExt cx="2948305" cy="1171575"/>
          </a:xfrm>
        </p:grpSpPr>
        <p:sp>
          <p:nvSpPr>
            <p:cNvPr id="46" name="object 46"/>
            <p:cNvSpPr/>
            <p:nvPr/>
          </p:nvSpPr>
          <p:spPr>
            <a:xfrm>
              <a:off x="3327476" y="5295595"/>
              <a:ext cx="605155" cy="561975"/>
            </a:xfrm>
            <a:custGeom>
              <a:avLst/>
              <a:gdLst/>
              <a:ahLst/>
              <a:cxnLst/>
              <a:rect l="l" t="t" r="r" b="b"/>
              <a:pathLst>
                <a:path w="605154" h="561975">
                  <a:moveTo>
                    <a:pt x="604799" y="561962"/>
                  </a:moveTo>
                  <a:lnTo>
                    <a:pt x="0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69182" y="4690978"/>
              <a:ext cx="501302" cy="138243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4480623" y="1586560"/>
            <a:ext cx="3450590" cy="181356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97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2.</a:t>
            </a:r>
            <a:r>
              <a:rPr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 queueing</a:t>
            </a:r>
            <a:endParaRPr sz="2400" dirty="0">
              <a:latin typeface="Comic Sans MS"/>
              <a:cs typeface="Comic Sans MS"/>
            </a:endParaRPr>
          </a:p>
          <a:p>
            <a:pPr marL="770255" marR="55880" indent="-275590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17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time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waiting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at</a:t>
            </a:r>
            <a:r>
              <a:rPr sz="2000" spc="-10" dirty="0">
                <a:latin typeface="Comic Sans MS"/>
                <a:cs typeface="Comic Sans MS"/>
              </a:rPr>
              <a:t> output </a:t>
            </a:r>
            <a:r>
              <a:rPr sz="2000" dirty="0">
                <a:latin typeface="Comic Sans MS"/>
                <a:cs typeface="Comic Sans MS"/>
              </a:rPr>
              <a:t>link</a:t>
            </a:r>
            <a:r>
              <a:rPr sz="2000" spc="-1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for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transmission</a:t>
            </a:r>
            <a:endParaRPr sz="2000" dirty="0">
              <a:latin typeface="Comic Sans MS"/>
              <a:cs typeface="Comic Sans MS"/>
            </a:endParaRPr>
          </a:p>
          <a:p>
            <a:pPr marL="770255" marR="30480" indent="-275590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494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depends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on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congestion </a:t>
            </a:r>
            <a:r>
              <a:rPr sz="2000" dirty="0">
                <a:latin typeface="Comic Sans MS"/>
                <a:cs typeface="Comic Sans MS"/>
              </a:rPr>
              <a:t>level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of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router</a:t>
            </a:r>
            <a:endParaRPr sz="2000" dirty="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37260" y="6434899"/>
            <a:ext cx="10902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omic Sans MS"/>
                <a:cs typeface="Comic Sans MS"/>
              </a:rPr>
              <a:t>Introduction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98776" y="6434899"/>
            <a:ext cx="3530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1-</a:t>
            </a:r>
            <a:r>
              <a:rPr sz="1400" spc="-25" dirty="0">
                <a:latin typeface="Times New Roman"/>
                <a:cs typeface="Times New Roman"/>
              </a:rPr>
              <a:t>45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2549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Delay</a:t>
            </a:r>
            <a:r>
              <a:rPr sz="3600" spc="-65" dirty="0"/>
              <a:t> </a:t>
            </a:r>
            <a:r>
              <a:rPr sz="3600" dirty="0"/>
              <a:t>in</a:t>
            </a:r>
            <a:r>
              <a:rPr sz="3600" spc="-60" dirty="0"/>
              <a:t> </a:t>
            </a:r>
            <a:r>
              <a:rPr sz="3600" spc="-25" dirty="0"/>
              <a:t>packet-</a:t>
            </a:r>
            <a:r>
              <a:rPr sz="3600" dirty="0"/>
              <a:t>switched</a:t>
            </a:r>
            <a:r>
              <a:rPr sz="3600" spc="-65" dirty="0"/>
              <a:t> </a:t>
            </a:r>
            <a:r>
              <a:rPr sz="3600" spc="-10" dirty="0"/>
              <a:t>networks</a:t>
            </a:r>
            <a:endParaRPr sz="3600"/>
          </a:p>
        </p:txBody>
      </p:sp>
      <p:sp>
        <p:nvSpPr>
          <p:cNvPr id="5" name="object 5"/>
          <p:cNvSpPr txBox="1"/>
          <p:nvPr/>
        </p:nvSpPr>
        <p:spPr>
          <a:xfrm>
            <a:off x="575335" y="1326995"/>
            <a:ext cx="3614420" cy="21596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700"/>
              </a:spcBef>
            </a:pP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3.</a:t>
            </a:r>
            <a:r>
              <a:rPr sz="2400" spc="-7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Transmission</a:t>
            </a:r>
            <a:r>
              <a:rPr sz="2400" spc="-7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delay:</a:t>
            </a:r>
            <a:endParaRPr sz="2400">
              <a:latin typeface="Comic Sans MS"/>
              <a:cs typeface="Comic Sans MS"/>
            </a:endParaRPr>
          </a:p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15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R=link</a:t>
            </a:r>
            <a:r>
              <a:rPr sz="2400" spc="-6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bandwidth</a:t>
            </a:r>
            <a:r>
              <a:rPr sz="2400" spc="-4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(bps)</a:t>
            </a:r>
            <a:endParaRPr sz="2400">
              <a:latin typeface="Comic Sans MS"/>
              <a:cs typeface="Comic Sans MS"/>
            </a:endParaRPr>
          </a:p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37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L=packet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length</a:t>
            </a:r>
            <a:r>
              <a:rPr sz="2400" spc="-4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(bits)</a:t>
            </a:r>
            <a:endParaRPr sz="2400">
              <a:latin typeface="Comic Sans MS"/>
              <a:cs typeface="Comic Sans MS"/>
            </a:endParaRPr>
          </a:p>
          <a:p>
            <a:pPr marL="372110" marR="174625" indent="-334645">
              <a:lnSpc>
                <a:spcPct val="100000"/>
              </a:lnSpc>
              <a:spcBef>
                <a:spcPts val="600"/>
              </a:spcBef>
            </a:pPr>
            <a:r>
              <a:rPr sz="3075" spc="1147" baseline="1355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82" baseline="135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time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to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send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bits</a:t>
            </a:r>
            <a:r>
              <a:rPr sz="2400" spc="-15" dirty="0">
                <a:latin typeface="Comic Sans MS"/>
                <a:cs typeface="Comic Sans MS"/>
              </a:rPr>
              <a:t> </a:t>
            </a:r>
            <a:r>
              <a:rPr sz="2400" spc="-20" dirty="0">
                <a:latin typeface="Comic Sans MS"/>
                <a:cs typeface="Comic Sans MS"/>
              </a:rPr>
              <a:t>into </a:t>
            </a:r>
            <a:r>
              <a:rPr sz="2400" dirty="0">
                <a:latin typeface="Comic Sans MS"/>
                <a:cs typeface="Comic Sans MS"/>
              </a:rPr>
              <a:t>link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=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spc="-25" dirty="0">
                <a:latin typeface="Comic Sans MS"/>
                <a:cs typeface="Comic Sans MS"/>
              </a:rPr>
              <a:t>L/R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28858" y="1317990"/>
            <a:ext cx="4026535" cy="21596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700"/>
              </a:spcBef>
            </a:pP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4.</a:t>
            </a:r>
            <a:r>
              <a:rPr sz="2400" spc="-6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Propagation</a:t>
            </a:r>
            <a:r>
              <a:rPr sz="2400" spc="-6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delay:</a:t>
            </a:r>
            <a:endParaRPr sz="2400">
              <a:latin typeface="Comic Sans MS"/>
              <a:cs typeface="Comic Sans MS"/>
            </a:endParaRPr>
          </a:p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45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d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=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length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of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physical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spc="-20" dirty="0">
                <a:latin typeface="Comic Sans MS"/>
                <a:cs typeface="Comic Sans MS"/>
              </a:rPr>
              <a:t>link</a:t>
            </a:r>
            <a:endParaRPr sz="2400">
              <a:latin typeface="Comic Sans MS"/>
              <a:cs typeface="Comic Sans MS"/>
            </a:endParaRPr>
          </a:p>
          <a:p>
            <a:pPr marL="370205" marR="258445" indent="-332740">
              <a:lnSpc>
                <a:spcPct val="100000"/>
              </a:lnSpc>
              <a:spcBef>
                <a:spcPts val="600"/>
              </a:spcBef>
            </a:pPr>
            <a:r>
              <a:rPr sz="3075" spc="1147" baseline="1355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37" baseline="135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s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=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propagation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speed</a:t>
            </a:r>
            <a:r>
              <a:rPr sz="2400" spc="-45" dirty="0">
                <a:latin typeface="Comic Sans MS"/>
                <a:cs typeface="Comic Sans MS"/>
              </a:rPr>
              <a:t> </a:t>
            </a:r>
            <a:r>
              <a:rPr sz="2400" spc="-25" dirty="0">
                <a:latin typeface="Comic Sans MS"/>
                <a:cs typeface="Comic Sans MS"/>
              </a:rPr>
              <a:t>in </a:t>
            </a:r>
            <a:r>
              <a:rPr sz="2400" dirty="0">
                <a:latin typeface="Comic Sans MS"/>
                <a:cs typeface="Comic Sans MS"/>
              </a:rPr>
              <a:t>medium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(~2x10</a:t>
            </a:r>
            <a:r>
              <a:rPr sz="2025" baseline="28806" dirty="0">
                <a:latin typeface="Comic Sans MS"/>
                <a:cs typeface="Comic Sans MS"/>
              </a:rPr>
              <a:t>8</a:t>
            </a:r>
            <a:r>
              <a:rPr sz="2025" spc="419" baseline="28806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m/sec)</a:t>
            </a:r>
            <a:endParaRPr sz="2400">
              <a:latin typeface="Comic Sans MS"/>
              <a:cs typeface="Comic Sans MS"/>
            </a:endParaRPr>
          </a:p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sz="3075" spc="1147" baseline="1355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00" baseline="135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propagation</a:t>
            </a:r>
            <a:r>
              <a:rPr sz="2400" spc="-4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delay</a:t>
            </a:r>
            <a:r>
              <a:rPr sz="2400" spc="-5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=</a:t>
            </a:r>
            <a:r>
              <a:rPr sz="2400" spc="-50" dirty="0">
                <a:latin typeface="Comic Sans MS"/>
                <a:cs typeface="Comic Sans MS"/>
              </a:rPr>
              <a:t> </a:t>
            </a:r>
            <a:r>
              <a:rPr sz="2400" spc="-25" dirty="0">
                <a:latin typeface="Comic Sans MS"/>
                <a:cs typeface="Comic Sans MS"/>
              </a:rPr>
              <a:t>d/s</a:t>
            </a:r>
            <a:endParaRPr sz="2400">
              <a:latin typeface="Comic Sans MS"/>
              <a:cs typeface="Comic Sans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74877" y="4618075"/>
            <a:ext cx="5647690" cy="1529080"/>
            <a:chOff x="974877" y="4618075"/>
            <a:chExt cx="5647690" cy="152908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9164" y="5627522"/>
              <a:ext cx="811252" cy="51911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328481" y="5313235"/>
              <a:ext cx="1189355" cy="254635"/>
            </a:xfrm>
            <a:custGeom>
              <a:avLst/>
              <a:gdLst/>
              <a:ahLst/>
              <a:cxnLst/>
              <a:rect l="l" t="t" r="r" b="b"/>
              <a:pathLst>
                <a:path w="1189354" h="254635">
                  <a:moveTo>
                    <a:pt x="1189075" y="0"/>
                  </a:moveTo>
                  <a:lnTo>
                    <a:pt x="0" y="0"/>
                  </a:lnTo>
                  <a:lnTo>
                    <a:pt x="0" y="254165"/>
                  </a:lnTo>
                  <a:lnTo>
                    <a:pt x="594715" y="254165"/>
                  </a:lnTo>
                  <a:lnTo>
                    <a:pt x="1189075" y="254165"/>
                  </a:lnTo>
                  <a:lnTo>
                    <a:pt x="1189075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0306" y="5100654"/>
              <a:ext cx="501658" cy="13788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424119" y="540035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33834" y="5380202"/>
              <a:ext cx="0" cy="219075"/>
            </a:xfrm>
            <a:custGeom>
              <a:avLst/>
              <a:gdLst/>
              <a:ahLst/>
              <a:cxnLst/>
              <a:rect l="l" t="t" r="r" b="b"/>
              <a:pathLst>
                <a:path h="219075">
                  <a:moveTo>
                    <a:pt x="0" y="0"/>
                  </a:moveTo>
                  <a:lnTo>
                    <a:pt x="0" y="218871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33479" y="5341683"/>
              <a:ext cx="1189355" cy="254000"/>
            </a:xfrm>
            <a:custGeom>
              <a:avLst/>
              <a:gdLst/>
              <a:ahLst/>
              <a:cxnLst/>
              <a:rect l="l" t="t" r="r" b="b"/>
              <a:pathLst>
                <a:path w="1189354" h="254000">
                  <a:moveTo>
                    <a:pt x="1189075" y="0"/>
                  </a:moveTo>
                  <a:lnTo>
                    <a:pt x="0" y="0"/>
                  </a:lnTo>
                  <a:lnTo>
                    <a:pt x="0" y="253796"/>
                  </a:lnTo>
                  <a:lnTo>
                    <a:pt x="594715" y="253796"/>
                  </a:lnTo>
                  <a:lnTo>
                    <a:pt x="1189075" y="253796"/>
                  </a:lnTo>
                  <a:lnTo>
                    <a:pt x="1189075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4877" y="4618075"/>
              <a:ext cx="1120686" cy="51912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104923" y="5010124"/>
              <a:ext cx="3342004" cy="991235"/>
            </a:xfrm>
            <a:custGeom>
              <a:avLst/>
              <a:gdLst/>
              <a:ahLst/>
              <a:cxnLst/>
              <a:rect l="l" t="t" r="r" b="b"/>
              <a:pathLst>
                <a:path w="3342004" h="991235">
                  <a:moveTo>
                    <a:pt x="1419479" y="428752"/>
                  </a:moveTo>
                  <a:lnTo>
                    <a:pt x="3341878" y="428752"/>
                  </a:lnTo>
                </a:path>
                <a:path w="3342004" h="991235">
                  <a:moveTo>
                    <a:pt x="0" y="0"/>
                  </a:moveTo>
                  <a:lnTo>
                    <a:pt x="0" y="990714"/>
                  </a:lnTo>
                </a:path>
                <a:path w="3342004" h="991235">
                  <a:moveTo>
                    <a:pt x="9715" y="433438"/>
                  </a:moveTo>
                  <a:lnTo>
                    <a:pt x="200152" y="433438"/>
                  </a:lnTo>
                </a:path>
              </a:pathLst>
            </a:custGeom>
            <a:ln w="19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41685" y="5238356"/>
              <a:ext cx="138430" cy="190500"/>
            </a:xfrm>
            <a:custGeom>
              <a:avLst/>
              <a:gdLst/>
              <a:ahLst/>
              <a:cxnLst/>
              <a:rect l="l" t="t" r="r" b="b"/>
              <a:pathLst>
                <a:path w="138429" h="190500">
                  <a:moveTo>
                    <a:pt x="138239" y="0"/>
                  </a:moveTo>
                  <a:lnTo>
                    <a:pt x="0" y="0"/>
                  </a:lnTo>
                  <a:lnTo>
                    <a:pt x="0" y="190449"/>
                  </a:lnTo>
                  <a:lnTo>
                    <a:pt x="69113" y="190449"/>
                  </a:lnTo>
                  <a:lnTo>
                    <a:pt x="138239" y="190449"/>
                  </a:lnTo>
                  <a:lnTo>
                    <a:pt x="138239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41685" y="5238356"/>
              <a:ext cx="138430" cy="190500"/>
            </a:xfrm>
            <a:custGeom>
              <a:avLst/>
              <a:gdLst/>
              <a:ahLst/>
              <a:cxnLst/>
              <a:rect l="l" t="t" r="r" b="b"/>
              <a:pathLst>
                <a:path w="138429" h="190500">
                  <a:moveTo>
                    <a:pt x="69113" y="190449"/>
                  </a:moveTo>
                  <a:lnTo>
                    <a:pt x="0" y="190449"/>
                  </a:lnTo>
                  <a:lnTo>
                    <a:pt x="0" y="0"/>
                  </a:lnTo>
                  <a:lnTo>
                    <a:pt x="138239" y="0"/>
                  </a:lnTo>
                  <a:lnTo>
                    <a:pt x="138239" y="190449"/>
                  </a:lnTo>
                  <a:lnTo>
                    <a:pt x="69113" y="190449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86004" y="5305317"/>
              <a:ext cx="308152" cy="19980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138400" y="5209920"/>
              <a:ext cx="138430" cy="190500"/>
            </a:xfrm>
            <a:custGeom>
              <a:avLst/>
              <a:gdLst/>
              <a:ahLst/>
              <a:cxnLst/>
              <a:rect l="l" t="t" r="r" b="b"/>
              <a:pathLst>
                <a:path w="138430" h="190500">
                  <a:moveTo>
                    <a:pt x="138239" y="0"/>
                  </a:moveTo>
                  <a:lnTo>
                    <a:pt x="0" y="0"/>
                  </a:lnTo>
                  <a:lnTo>
                    <a:pt x="0" y="190436"/>
                  </a:lnTo>
                  <a:lnTo>
                    <a:pt x="69113" y="190436"/>
                  </a:lnTo>
                  <a:lnTo>
                    <a:pt x="138239" y="190436"/>
                  </a:lnTo>
                  <a:lnTo>
                    <a:pt x="138239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138400" y="5209920"/>
              <a:ext cx="138430" cy="190500"/>
            </a:xfrm>
            <a:custGeom>
              <a:avLst/>
              <a:gdLst/>
              <a:ahLst/>
              <a:cxnLst/>
              <a:rect l="l" t="t" r="r" b="b"/>
              <a:pathLst>
                <a:path w="138430" h="190500">
                  <a:moveTo>
                    <a:pt x="69113" y="190436"/>
                  </a:moveTo>
                  <a:lnTo>
                    <a:pt x="0" y="190436"/>
                  </a:lnTo>
                  <a:lnTo>
                    <a:pt x="0" y="0"/>
                  </a:lnTo>
                  <a:lnTo>
                    <a:pt x="138239" y="0"/>
                  </a:lnTo>
                  <a:lnTo>
                    <a:pt x="138239" y="190436"/>
                  </a:lnTo>
                  <a:lnTo>
                    <a:pt x="69113" y="190436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313000" y="5315038"/>
              <a:ext cx="163195" cy="0"/>
            </a:xfrm>
            <a:custGeom>
              <a:avLst/>
              <a:gdLst/>
              <a:ahLst/>
              <a:cxnLst/>
              <a:rect l="l" t="t" r="r" b="b"/>
              <a:pathLst>
                <a:path w="163194">
                  <a:moveTo>
                    <a:pt x="0" y="0"/>
                  </a:moveTo>
                  <a:lnTo>
                    <a:pt x="162725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470683" y="527724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590"/>
                  </a:lnTo>
                  <a:lnTo>
                    <a:pt x="75590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981085" y="5652363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115201"/>
                  </a:moveTo>
                  <a:lnTo>
                    <a:pt x="0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43277" y="558180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807" y="0"/>
                  </a:moveTo>
                  <a:lnTo>
                    <a:pt x="0" y="75603"/>
                  </a:lnTo>
                  <a:lnTo>
                    <a:pt x="75603" y="75603"/>
                  </a:lnTo>
                  <a:lnTo>
                    <a:pt x="378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213515" y="5038559"/>
              <a:ext cx="287020" cy="0"/>
            </a:xfrm>
            <a:custGeom>
              <a:avLst/>
              <a:gdLst/>
              <a:ahLst/>
              <a:cxnLst/>
              <a:rect l="l" t="t" r="r" b="b"/>
              <a:pathLst>
                <a:path w="287020">
                  <a:moveTo>
                    <a:pt x="0" y="0"/>
                  </a:moveTo>
                  <a:lnTo>
                    <a:pt x="286562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495036" y="500076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5590"/>
                  </a:lnTo>
                  <a:lnTo>
                    <a:pt x="75603" y="37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481197" y="5248084"/>
              <a:ext cx="138430" cy="190500"/>
            </a:xfrm>
            <a:custGeom>
              <a:avLst/>
              <a:gdLst/>
              <a:ahLst/>
              <a:cxnLst/>
              <a:rect l="l" t="t" r="r" b="b"/>
              <a:pathLst>
                <a:path w="138429" h="190500">
                  <a:moveTo>
                    <a:pt x="137883" y="0"/>
                  </a:moveTo>
                  <a:lnTo>
                    <a:pt x="0" y="0"/>
                  </a:lnTo>
                  <a:lnTo>
                    <a:pt x="0" y="190436"/>
                  </a:lnTo>
                  <a:lnTo>
                    <a:pt x="69126" y="190436"/>
                  </a:lnTo>
                  <a:lnTo>
                    <a:pt x="137883" y="190436"/>
                  </a:lnTo>
                  <a:lnTo>
                    <a:pt x="137883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481197" y="5248084"/>
              <a:ext cx="138430" cy="190500"/>
            </a:xfrm>
            <a:custGeom>
              <a:avLst/>
              <a:gdLst/>
              <a:ahLst/>
              <a:cxnLst/>
              <a:rect l="l" t="t" r="r" b="b"/>
              <a:pathLst>
                <a:path w="138429" h="190500">
                  <a:moveTo>
                    <a:pt x="69126" y="190436"/>
                  </a:moveTo>
                  <a:lnTo>
                    <a:pt x="0" y="190436"/>
                  </a:lnTo>
                  <a:lnTo>
                    <a:pt x="0" y="0"/>
                  </a:lnTo>
                  <a:lnTo>
                    <a:pt x="137883" y="0"/>
                  </a:lnTo>
                  <a:lnTo>
                    <a:pt x="137883" y="190436"/>
                  </a:lnTo>
                  <a:lnTo>
                    <a:pt x="69126" y="190436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98665" y="4670907"/>
            <a:ext cx="2489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00CC99"/>
                </a:solidFill>
                <a:latin typeface="Comic Sans MS"/>
                <a:cs typeface="Comic Sans MS"/>
              </a:rPr>
              <a:t>A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75499" y="5689346"/>
            <a:ext cx="21780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3333CC"/>
                </a:solidFill>
                <a:latin typeface="Comic Sans MS"/>
                <a:cs typeface="Comic Sans MS"/>
              </a:rPr>
              <a:t>B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942257" y="4885817"/>
            <a:ext cx="12680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Comic Sans MS"/>
                <a:cs typeface="Comic Sans MS"/>
              </a:rPr>
              <a:t>propagation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613315" y="5000764"/>
            <a:ext cx="333375" cy="76200"/>
            <a:chOff x="3613315" y="5000764"/>
            <a:chExt cx="333375" cy="76200"/>
          </a:xfrm>
        </p:grpSpPr>
        <p:sp>
          <p:nvSpPr>
            <p:cNvPr id="33" name="object 33"/>
            <p:cNvSpPr/>
            <p:nvPr/>
          </p:nvSpPr>
          <p:spPr>
            <a:xfrm>
              <a:off x="3683876" y="5038559"/>
              <a:ext cx="257810" cy="0"/>
            </a:xfrm>
            <a:custGeom>
              <a:avLst/>
              <a:gdLst/>
              <a:ahLst/>
              <a:cxnLst/>
              <a:rect l="l" t="t" r="r" b="b"/>
              <a:pathLst>
                <a:path w="257810">
                  <a:moveTo>
                    <a:pt x="257759" y="0"/>
                  </a:moveTo>
                  <a:lnTo>
                    <a:pt x="0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613315" y="500076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603" y="0"/>
                  </a:moveTo>
                  <a:lnTo>
                    <a:pt x="0" y="37795"/>
                  </a:lnTo>
                  <a:lnTo>
                    <a:pt x="75603" y="75590"/>
                  </a:lnTo>
                  <a:lnTo>
                    <a:pt x="756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046135" y="4466425"/>
            <a:ext cx="1360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Comic Sans MS"/>
                <a:cs typeface="Comic Sans MS"/>
              </a:rPr>
              <a:t>transmission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043351" y="4700435"/>
            <a:ext cx="524510" cy="528955"/>
            <a:chOff x="3043351" y="4700435"/>
            <a:chExt cx="524510" cy="528955"/>
          </a:xfrm>
        </p:grpSpPr>
        <p:sp>
          <p:nvSpPr>
            <p:cNvPr id="37" name="object 37"/>
            <p:cNvSpPr/>
            <p:nvPr/>
          </p:nvSpPr>
          <p:spPr>
            <a:xfrm>
              <a:off x="3048114" y="4705197"/>
              <a:ext cx="469900" cy="474345"/>
            </a:xfrm>
            <a:custGeom>
              <a:avLst/>
              <a:gdLst/>
              <a:ahLst/>
              <a:cxnLst/>
              <a:rect l="l" t="t" r="r" b="b"/>
              <a:pathLst>
                <a:path w="469900" h="474345">
                  <a:moveTo>
                    <a:pt x="0" y="0"/>
                  </a:moveTo>
                  <a:lnTo>
                    <a:pt x="469442" y="474116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487318" y="5149075"/>
              <a:ext cx="80010" cy="80645"/>
            </a:xfrm>
            <a:custGeom>
              <a:avLst/>
              <a:gdLst/>
              <a:ahLst/>
              <a:cxnLst/>
              <a:rect l="l" t="t" r="r" b="b"/>
              <a:pathLst>
                <a:path w="80010" h="80645">
                  <a:moveTo>
                    <a:pt x="53644" y="0"/>
                  </a:moveTo>
                  <a:lnTo>
                    <a:pt x="0" y="53289"/>
                  </a:lnTo>
                  <a:lnTo>
                    <a:pt x="79921" y="80289"/>
                  </a:lnTo>
                  <a:lnTo>
                    <a:pt x="536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2171776" y="5999657"/>
            <a:ext cx="11480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8384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Comic Sans MS"/>
                <a:cs typeface="Comic Sans MS"/>
              </a:rPr>
              <a:t>nodal processing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346121" y="5734443"/>
            <a:ext cx="1205865" cy="313690"/>
            <a:chOff x="2346121" y="5734443"/>
            <a:chExt cx="1205865" cy="313690"/>
          </a:xfrm>
        </p:grpSpPr>
        <p:sp>
          <p:nvSpPr>
            <p:cNvPr id="41" name="object 41"/>
            <p:cNvSpPr/>
            <p:nvPr/>
          </p:nvSpPr>
          <p:spPr>
            <a:xfrm>
              <a:off x="2416682" y="6010198"/>
              <a:ext cx="701675" cy="0"/>
            </a:xfrm>
            <a:custGeom>
              <a:avLst/>
              <a:gdLst/>
              <a:ahLst/>
              <a:cxnLst/>
              <a:rect l="l" t="t" r="r" b="b"/>
              <a:pathLst>
                <a:path w="701675">
                  <a:moveTo>
                    <a:pt x="701636" y="0"/>
                  </a:moveTo>
                  <a:lnTo>
                    <a:pt x="0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346121" y="5972403"/>
              <a:ext cx="843280" cy="76200"/>
            </a:xfrm>
            <a:custGeom>
              <a:avLst/>
              <a:gdLst/>
              <a:ahLst/>
              <a:cxnLst/>
              <a:rect l="l" t="t" r="r" b="b"/>
              <a:pathLst>
                <a:path w="843280" h="76200">
                  <a:moveTo>
                    <a:pt x="75603" y="0"/>
                  </a:moveTo>
                  <a:lnTo>
                    <a:pt x="0" y="37795"/>
                  </a:lnTo>
                  <a:lnTo>
                    <a:pt x="75603" y="75590"/>
                  </a:lnTo>
                  <a:lnTo>
                    <a:pt x="75603" y="0"/>
                  </a:lnTo>
                  <a:close/>
                </a:path>
                <a:path w="843280" h="76200">
                  <a:moveTo>
                    <a:pt x="842759" y="37795"/>
                  </a:moveTo>
                  <a:lnTo>
                    <a:pt x="767156" y="0"/>
                  </a:lnTo>
                  <a:lnTo>
                    <a:pt x="767156" y="75590"/>
                  </a:lnTo>
                  <a:lnTo>
                    <a:pt x="842759" y="377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226676" y="5772238"/>
              <a:ext cx="254635" cy="0"/>
            </a:xfrm>
            <a:custGeom>
              <a:avLst/>
              <a:gdLst/>
              <a:ahLst/>
              <a:cxnLst/>
              <a:rect l="l" t="t" r="r" b="b"/>
              <a:pathLst>
                <a:path w="254635">
                  <a:moveTo>
                    <a:pt x="254165" y="0"/>
                  </a:moveTo>
                  <a:lnTo>
                    <a:pt x="0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156115" y="5734443"/>
              <a:ext cx="395605" cy="76200"/>
            </a:xfrm>
            <a:custGeom>
              <a:avLst/>
              <a:gdLst/>
              <a:ahLst/>
              <a:cxnLst/>
              <a:rect l="l" t="t" r="r" b="b"/>
              <a:pathLst>
                <a:path w="395604" h="76200">
                  <a:moveTo>
                    <a:pt x="75603" y="0"/>
                  </a:moveTo>
                  <a:lnTo>
                    <a:pt x="0" y="37795"/>
                  </a:lnTo>
                  <a:lnTo>
                    <a:pt x="75603" y="75590"/>
                  </a:lnTo>
                  <a:lnTo>
                    <a:pt x="75603" y="0"/>
                  </a:lnTo>
                  <a:close/>
                </a:path>
                <a:path w="395604" h="76200">
                  <a:moveTo>
                    <a:pt x="395287" y="37795"/>
                  </a:moveTo>
                  <a:lnTo>
                    <a:pt x="319684" y="0"/>
                  </a:lnTo>
                  <a:lnTo>
                    <a:pt x="319684" y="75590"/>
                  </a:lnTo>
                  <a:lnTo>
                    <a:pt x="395287" y="377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648862" y="6257416"/>
            <a:ext cx="937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Comic Sans MS"/>
                <a:cs typeface="Comic Sans MS"/>
              </a:rPr>
              <a:t>queueing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313080" y="5157906"/>
            <a:ext cx="2945130" cy="1170940"/>
            <a:chOff x="3313080" y="5157906"/>
            <a:chExt cx="2945130" cy="1170940"/>
          </a:xfrm>
        </p:grpSpPr>
        <p:sp>
          <p:nvSpPr>
            <p:cNvPr id="47" name="object 47"/>
            <p:cNvSpPr/>
            <p:nvPr/>
          </p:nvSpPr>
          <p:spPr>
            <a:xfrm>
              <a:off x="3317760" y="5762155"/>
              <a:ext cx="605155" cy="561975"/>
            </a:xfrm>
            <a:custGeom>
              <a:avLst/>
              <a:gdLst/>
              <a:ahLst/>
              <a:cxnLst/>
              <a:rect l="l" t="t" r="r" b="b"/>
              <a:pathLst>
                <a:path w="605154" h="561975">
                  <a:moveTo>
                    <a:pt x="604799" y="561962"/>
                  </a:moveTo>
                  <a:lnTo>
                    <a:pt x="0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56215" y="5157906"/>
              <a:ext cx="501658" cy="137875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4476241" y="3800525"/>
            <a:ext cx="3677285" cy="876300"/>
          </a:xfrm>
          <a:prstGeom prst="rect">
            <a:avLst/>
          </a:prstGeom>
          <a:ln w="19079">
            <a:solidFill>
              <a:srgbClr val="3333CC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R="384175" algn="r">
              <a:lnSpc>
                <a:spcPts val="2935"/>
              </a:lnSpc>
              <a:spcBef>
                <a:spcPts val="245"/>
              </a:spcBef>
            </a:pP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Note:</a:t>
            </a:r>
            <a:r>
              <a:rPr sz="2400" spc="-2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s</a:t>
            </a:r>
            <a:r>
              <a:rPr sz="2400" spc="-1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and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R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are</a:t>
            </a:r>
            <a:r>
              <a:rPr sz="2400" spc="10" dirty="0">
                <a:latin typeface="Comic Sans MS"/>
                <a:cs typeface="Comic Sans MS"/>
              </a:rPr>
              <a:t> </a:t>
            </a:r>
            <a:r>
              <a:rPr sz="2450" i="1" spc="-20" dirty="0">
                <a:latin typeface="Comic Sans MS"/>
                <a:cs typeface="Comic Sans MS"/>
              </a:rPr>
              <a:t>very</a:t>
            </a:r>
            <a:endParaRPr sz="2450">
              <a:latin typeface="Comic Sans MS"/>
              <a:cs typeface="Comic Sans MS"/>
            </a:endParaRPr>
          </a:p>
          <a:p>
            <a:pPr marR="309245" algn="r">
              <a:lnSpc>
                <a:spcPts val="2875"/>
              </a:lnSpc>
            </a:pPr>
            <a:r>
              <a:rPr sz="2400" dirty="0">
                <a:latin typeface="Comic Sans MS"/>
                <a:cs typeface="Comic Sans MS"/>
              </a:rPr>
              <a:t>different</a:t>
            </a:r>
            <a:r>
              <a:rPr sz="2400" spc="-7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quantities!</a:t>
            </a:r>
            <a:endParaRPr sz="24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55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00"/>
              </a:spcBef>
            </a:pPr>
            <a:r>
              <a:rPr dirty="0"/>
              <a:t>Nodal</a:t>
            </a:r>
            <a:r>
              <a:rPr spc="-55" dirty="0"/>
              <a:t> </a:t>
            </a:r>
            <a:r>
              <a:rPr spc="-10" dirty="0"/>
              <a:t>delay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2719" y="1450340"/>
            <a:ext cx="6536055" cy="452120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417320">
              <a:lnSpc>
                <a:spcPct val="100000"/>
              </a:lnSpc>
              <a:spcBef>
                <a:spcPts val="120"/>
              </a:spcBef>
            </a:pPr>
            <a:r>
              <a:rPr sz="5625" i="1" spc="-225" baseline="17777" dirty="0">
                <a:latin typeface="Times New Roman"/>
                <a:cs typeface="Times New Roman"/>
              </a:rPr>
              <a:t>d</a:t>
            </a:r>
            <a:r>
              <a:rPr sz="2500" spc="-150" dirty="0">
                <a:latin typeface="Times New Roman"/>
                <a:cs typeface="Times New Roman"/>
              </a:rPr>
              <a:t>nodal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5625" spc="-262" baseline="17777" dirty="0">
                <a:latin typeface="Times New Roman"/>
                <a:cs typeface="Times New Roman"/>
              </a:rPr>
              <a:t>=d</a:t>
            </a:r>
            <a:r>
              <a:rPr sz="2500" spc="-175" dirty="0">
                <a:latin typeface="Times New Roman"/>
                <a:cs typeface="Times New Roman"/>
              </a:rPr>
              <a:t>proc</a:t>
            </a:r>
            <a:r>
              <a:rPr sz="2500" spc="-145" dirty="0">
                <a:latin typeface="Times New Roman"/>
                <a:cs typeface="Times New Roman"/>
              </a:rPr>
              <a:t> </a:t>
            </a:r>
            <a:r>
              <a:rPr sz="5625" spc="-270" baseline="17777" dirty="0">
                <a:latin typeface="Times New Roman"/>
                <a:cs typeface="Times New Roman"/>
              </a:rPr>
              <a:t>+d</a:t>
            </a:r>
            <a:r>
              <a:rPr sz="2500" spc="-180" dirty="0">
                <a:latin typeface="Times New Roman"/>
                <a:cs typeface="Times New Roman"/>
              </a:rPr>
              <a:t>queue</a:t>
            </a:r>
            <a:r>
              <a:rPr sz="2500" spc="-270" dirty="0">
                <a:latin typeface="Times New Roman"/>
                <a:cs typeface="Times New Roman"/>
              </a:rPr>
              <a:t> </a:t>
            </a:r>
            <a:r>
              <a:rPr sz="5625" spc="-240" baseline="17777" dirty="0">
                <a:latin typeface="Times New Roman"/>
                <a:cs typeface="Times New Roman"/>
              </a:rPr>
              <a:t>+d</a:t>
            </a:r>
            <a:r>
              <a:rPr sz="2500" spc="-160" dirty="0">
                <a:latin typeface="Times New Roman"/>
                <a:cs typeface="Times New Roman"/>
              </a:rPr>
              <a:t>trans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5625" spc="-157" baseline="17777" dirty="0">
                <a:latin typeface="Times New Roman"/>
                <a:cs typeface="Times New Roman"/>
              </a:rPr>
              <a:t>+d</a:t>
            </a:r>
            <a:r>
              <a:rPr sz="2500" spc="-105" dirty="0">
                <a:latin typeface="Times New Roman"/>
                <a:cs typeface="Times New Roman"/>
              </a:rPr>
              <a:t>prop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0"/>
              </a:spcBef>
            </a:pPr>
            <a:endParaRPr sz="25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3075" spc="1147" baseline="813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67" baseline="813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d</a:t>
            </a:r>
            <a:r>
              <a:rPr sz="2025" baseline="-24691" dirty="0">
                <a:latin typeface="Comic Sans MS"/>
                <a:cs typeface="Comic Sans MS"/>
              </a:rPr>
              <a:t>proc</a:t>
            </a:r>
            <a:r>
              <a:rPr sz="2025" spc="457" baseline="-24691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=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processing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delay</a:t>
            </a:r>
            <a:endParaRPr sz="2400">
              <a:latin typeface="Comic Sans MS"/>
              <a:cs typeface="Comic Sans MS"/>
            </a:endParaRPr>
          </a:p>
          <a:p>
            <a:pPr marL="508000">
              <a:lnSpc>
                <a:spcPct val="100000"/>
              </a:lnSpc>
              <a:spcBef>
                <a:spcPts val="89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02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typically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a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few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microsecs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or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spc="-20" dirty="0">
                <a:latin typeface="Comic Sans MS"/>
                <a:cs typeface="Comic Sans MS"/>
              </a:rPr>
              <a:t>less</a:t>
            </a:r>
            <a:endParaRPr sz="2000">
              <a:latin typeface="Comic Sans MS"/>
              <a:cs typeface="Comic Sans MS"/>
            </a:endParaRPr>
          </a:p>
          <a:p>
            <a:pPr marL="50800">
              <a:lnSpc>
                <a:spcPct val="100000"/>
              </a:lnSpc>
              <a:spcBef>
                <a:spcPts val="600"/>
              </a:spcBef>
            </a:pPr>
            <a:r>
              <a:rPr sz="3075" spc="1147" baseline="677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90" baseline="67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d</a:t>
            </a:r>
            <a:r>
              <a:rPr sz="2025" baseline="-24691" dirty="0">
                <a:latin typeface="Comic Sans MS"/>
                <a:cs typeface="Comic Sans MS"/>
              </a:rPr>
              <a:t>queue</a:t>
            </a:r>
            <a:r>
              <a:rPr sz="2025" spc="457" baseline="-24691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=</a:t>
            </a:r>
            <a:r>
              <a:rPr sz="2400" spc="-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queuing</a:t>
            </a:r>
            <a:r>
              <a:rPr sz="2400" spc="-5" dirty="0">
                <a:latin typeface="Comic Sans MS"/>
                <a:cs typeface="Comic Sans MS"/>
              </a:rPr>
              <a:t> </a:t>
            </a:r>
            <a:r>
              <a:rPr sz="2400" spc="-20" dirty="0">
                <a:latin typeface="Comic Sans MS"/>
                <a:cs typeface="Comic Sans MS"/>
              </a:rPr>
              <a:t>delay</a:t>
            </a:r>
            <a:endParaRPr sz="2400">
              <a:latin typeface="Comic Sans MS"/>
              <a:cs typeface="Comic Sans MS"/>
            </a:endParaRPr>
          </a:p>
          <a:p>
            <a:pPr marL="508000">
              <a:lnSpc>
                <a:spcPct val="100000"/>
              </a:lnSpc>
              <a:spcBef>
                <a:spcPts val="9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487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depends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on</a:t>
            </a:r>
            <a:r>
              <a:rPr sz="2000" spc="-4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congestion</a:t>
            </a:r>
            <a:endParaRPr sz="2000">
              <a:latin typeface="Comic Sans MS"/>
              <a:cs typeface="Comic Sans MS"/>
            </a:endParaRPr>
          </a:p>
          <a:p>
            <a:pPr marL="50800">
              <a:lnSpc>
                <a:spcPct val="100000"/>
              </a:lnSpc>
              <a:spcBef>
                <a:spcPts val="600"/>
              </a:spcBef>
            </a:pPr>
            <a:r>
              <a:rPr sz="3075" spc="1147" baseline="813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59" baseline="813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d</a:t>
            </a:r>
            <a:r>
              <a:rPr sz="2025" baseline="-24691" dirty="0">
                <a:latin typeface="Comic Sans MS"/>
                <a:cs typeface="Comic Sans MS"/>
              </a:rPr>
              <a:t>trans</a:t>
            </a:r>
            <a:r>
              <a:rPr sz="2025" spc="434" baseline="-24691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=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transmission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delay</a:t>
            </a:r>
            <a:endParaRPr sz="2400">
              <a:latin typeface="Comic Sans MS"/>
              <a:cs typeface="Comic Sans MS"/>
            </a:endParaRPr>
          </a:p>
          <a:p>
            <a:pPr marL="508000">
              <a:lnSpc>
                <a:spcPct val="100000"/>
              </a:lnSpc>
              <a:spcBef>
                <a:spcPts val="89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02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=</a:t>
            </a:r>
            <a:r>
              <a:rPr sz="2000" spc="-1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L/R,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significant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for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low-</a:t>
            </a:r>
            <a:r>
              <a:rPr sz="2000" dirty="0">
                <a:latin typeface="Comic Sans MS"/>
                <a:cs typeface="Comic Sans MS"/>
              </a:rPr>
              <a:t>speed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links</a:t>
            </a:r>
            <a:endParaRPr sz="2000">
              <a:latin typeface="Comic Sans MS"/>
              <a:cs typeface="Comic Sans MS"/>
            </a:endParaRPr>
          </a:p>
          <a:p>
            <a:pPr marL="50800">
              <a:lnSpc>
                <a:spcPct val="100000"/>
              </a:lnSpc>
              <a:spcBef>
                <a:spcPts val="600"/>
              </a:spcBef>
            </a:pPr>
            <a:r>
              <a:rPr sz="3075" spc="1147" baseline="677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59" baseline="67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d</a:t>
            </a:r>
            <a:r>
              <a:rPr sz="2025" baseline="-24691" dirty="0">
                <a:latin typeface="Comic Sans MS"/>
                <a:cs typeface="Comic Sans MS"/>
              </a:rPr>
              <a:t>prop</a:t>
            </a:r>
            <a:r>
              <a:rPr sz="2025" spc="434" baseline="-24691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=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propagation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delay</a:t>
            </a:r>
            <a:endParaRPr sz="2400">
              <a:latin typeface="Comic Sans MS"/>
              <a:cs typeface="Comic Sans MS"/>
            </a:endParaRPr>
          </a:p>
          <a:p>
            <a:pPr marL="508000">
              <a:lnSpc>
                <a:spcPct val="100000"/>
              </a:lnSpc>
              <a:spcBef>
                <a:spcPts val="9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09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a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few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microsecs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to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hundreds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of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msecs</a:t>
            </a:r>
            <a:endParaRPr sz="20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56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00"/>
              </a:spcBef>
            </a:pPr>
            <a:r>
              <a:rPr dirty="0"/>
              <a:t>Packet</a:t>
            </a:r>
            <a:r>
              <a:rPr spc="-114" dirty="0"/>
              <a:t> </a:t>
            </a:r>
            <a:r>
              <a:rPr spc="-20" dirty="0"/>
              <a:t>loss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8119" y="1631785"/>
            <a:ext cx="7616825" cy="3189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7505" marR="139700" indent="-332740">
              <a:lnSpc>
                <a:spcPct val="100000"/>
              </a:lnSpc>
              <a:spcBef>
                <a:spcPts val="100"/>
              </a:spcBef>
            </a:pPr>
            <a:r>
              <a:rPr sz="3525" spc="1372" baseline="13002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525" spc="-225" baseline="13002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Comic Sans MS"/>
                <a:cs typeface="Comic Sans MS"/>
              </a:rPr>
              <a:t>queue</a:t>
            </a:r>
            <a:r>
              <a:rPr sz="2800" spc="-6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(aka</a:t>
            </a:r>
            <a:r>
              <a:rPr sz="2800" spc="-6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buffer)</a:t>
            </a:r>
            <a:r>
              <a:rPr sz="2800" spc="-7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preceding</a:t>
            </a:r>
            <a:r>
              <a:rPr sz="2800" spc="-6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link</a:t>
            </a:r>
            <a:r>
              <a:rPr sz="2800" spc="-5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in</a:t>
            </a:r>
            <a:r>
              <a:rPr sz="2800" spc="-70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buffer </a:t>
            </a:r>
            <a:r>
              <a:rPr sz="2800" dirty="0">
                <a:latin typeface="Comic Sans MS"/>
                <a:cs typeface="Comic Sans MS"/>
              </a:rPr>
              <a:t>has</a:t>
            </a:r>
            <a:r>
              <a:rPr sz="2800" spc="-6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finite</a:t>
            </a:r>
            <a:r>
              <a:rPr sz="2800" spc="-60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capacity</a:t>
            </a:r>
            <a:endParaRPr sz="2800">
              <a:latin typeface="Comic Sans MS"/>
              <a:cs typeface="Comic Sans MS"/>
            </a:endParaRPr>
          </a:p>
          <a:p>
            <a:pPr marL="357505" marR="71120" indent="-332740">
              <a:lnSpc>
                <a:spcPct val="100000"/>
              </a:lnSpc>
              <a:spcBef>
                <a:spcPts val="700"/>
              </a:spcBef>
            </a:pPr>
            <a:r>
              <a:rPr sz="3525" spc="1372" baseline="13002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525" spc="-225" baseline="13002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Comic Sans MS"/>
                <a:cs typeface="Comic Sans MS"/>
              </a:rPr>
              <a:t>when</a:t>
            </a:r>
            <a:r>
              <a:rPr sz="2800" spc="-7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packet</a:t>
            </a:r>
            <a:r>
              <a:rPr sz="2800" spc="-6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arrives</a:t>
            </a:r>
            <a:r>
              <a:rPr sz="2800" spc="-7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to</a:t>
            </a:r>
            <a:r>
              <a:rPr sz="2800" spc="-6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full</a:t>
            </a:r>
            <a:r>
              <a:rPr sz="2800" spc="-6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queue,</a:t>
            </a:r>
            <a:r>
              <a:rPr sz="2800" spc="-6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packet</a:t>
            </a:r>
            <a:r>
              <a:rPr sz="2800" spc="-65" dirty="0">
                <a:latin typeface="Comic Sans MS"/>
                <a:cs typeface="Comic Sans MS"/>
              </a:rPr>
              <a:t> </a:t>
            </a:r>
            <a:r>
              <a:rPr sz="2800" spc="-25" dirty="0">
                <a:latin typeface="Comic Sans MS"/>
                <a:cs typeface="Comic Sans MS"/>
              </a:rPr>
              <a:t>is </a:t>
            </a:r>
            <a:r>
              <a:rPr sz="2800" dirty="0">
                <a:latin typeface="Comic Sans MS"/>
                <a:cs typeface="Comic Sans MS"/>
              </a:rPr>
              <a:t>dropped</a:t>
            </a:r>
            <a:r>
              <a:rPr sz="2800" spc="-9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(aka</a:t>
            </a:r>
            <a:r>
              <a:rPr sz="2800" spc="-95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lost)</a:t>
            </a:r>
            <a:endParaRPr sz="2800">
              <a:latin typeface="Comic Sans MS"/>
              <a:cs typeface="Comic Sans MS"/>
            </a:endParaRPr>
          </a:p>
          <a:p>
            <a:pPr marL="357505" marR="17780" indent="-332740">
              <a:lnSpc>
                <a:spcPct val="100000"/>
              </a:lnSpc>
              <a:spcBef>
                <a:spcPts val="700"/>
              </a:spcBef>
            </a:pPr>
            <a:r>
              <a:rPr sz="3525" spc="1372" baseline="13002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525" spc="-225" baseline="13002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Comic Sans MS"/>
                <a:cs typeface="Comic Sans MS"/>
              </a:rPr>
              <a:t>lost</a:t>
            </a:r>
            <a:r>
              <a:rPr sz="2800" spc="-5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packet</a:t>
            </a:r>
            <a:r>
              <a:rPr sz="2800" spc="-5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may</a:t>
            </a:r>
            <a:r>
              <a:rPr sz="2800" spc="-6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be</a:t>
            </a:r>
            <a:r>
              <a:rPr sz="2800" spc="-60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retransmitted</a:t>
            </a:r>
            <a:r>
              <a:rPr sz="2800" spc="-55" dirty="0">
                <a:latin typeface="Comic Sans MS"/>
                <a:cs typeface="Comic Sans MS"/>
              </a:rPr>
              <a:t> </a:t>
            </a:r>
            <a:r>
              <a:rPr sz="2800" spc="-25" dirty="0">
                <a:latin typeface="Comic Sans MS"/>
                <a:cs typeface="Comic Sans MS"/>
              </a:rPr>
              <a:t>by </a:t>
            </a:r>
            <a:r>
              <a:rPr sz="2800" dirty="0">
                <a:latin typeface="Comic Sans MS"/>
                <a:cs typeface="Comic Sans MS"/>
              </a:rPr>
              <a:t>previous</a:t>
            </a:r>
            <a:r>
              <a:rPr sz="2800" spc="-8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node,</a:t>
            </a:r>
            <a:r>
              <a:rPr sz="2800" spc="-7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by</a:t>
            </a:r>
            <a:r>
              <a:rPr sz="2800" spc="-7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source</a:t>
            </a:r>
            <a:r>
              <a:rPr sz="2800" spc="-7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end</a:t>
            </a:r>
            <a:r>
              <a:rPr sz="2800" spc="-7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system,</a:t>
            </a:r>
            <a:r>
              <a:rPr sz="2800" spc="-6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or</a:t>
            </a:r>
            <a:r>
              <a:rPr sz="2800" spc="-70" dirty="0">
                <a:latin typeface="Comic Sans MS"/>
                <a:cs typeface="Comic Sans MS"/>
              </a:rPr>
              <a:t> </a:t>
            </a:r>
            <a:r>
              <a:rPr sz="2800" spc="-25" dirty="0">
                <a:latin typeface="Comic Sans MS"/>
                <a:cs typeface="Comic Sans MS"/>
              </a:rPr>
              <a:t>not </a:t>
            </a:r>
            <a:r>
              <a:rPr sz="2800" spc="-10" dirty="0">
                <a:latin typeface="Comic Sans MS"/>
                <a:cs typeface="Comic Sans MS"/>
              </a:rPr>
              <a:t>retransmitted</a:t>
            </a:r>
            <a:r>
              <a:rPr sz="2800" spc="-60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at</a:t>
            </a:r>
            <a:r>
              <a:rPr sz="2800" spc="-60" dirty="0">
                <a:latin typeface="Comic Sans MS"/>
                <a:cs typeface="Comic Sans MS"/>
              </a:rPr>
              <a:t> </a:t>
            </a:r>
            <a:r>
              <a:rPr sz="2800" spc="-25" dirty="0">
                <a:latin typeface="Comic Sans MS"/>
                <a:cs typeface="Comic Sans MS"/>
              </a:rPr>
              <a:t>all</a:t>
            </a:r>
            <a:endParaRPr sz="2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6216" rIns="0" bIns="0" rtlCol="0">
            <a:spAutoFit/>
          </a:bodyPr>
          <a:lstStyle/>
          <a:p>
            <a:pPr marL="942340">
              <a:lnSpc>
                <a:spcPts val="1240"/>
              </a:lnSpc>
            </a:pPr>
            <a:fld id="{81D60167-4931-47E6-BA6A-407CBD079E47}" type="slidenum">
              <a:rPr sz="1200" spc="-25" dirty="0">
                <a:solidFill>
                  <a:srgbClr val="B1B1B1"/>
                </a:solidFill>
                <a:latin typeface="Calibri"/>
                <a:cs typeface="Calibri"/>
              </a:rPr>
              <a:t>57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4417" y="497776"/>
            <a:ext cx="682561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u="none" dirty="0">
                <a:solidFill>
                  <a:srgbClr val="000000"/>
                </a:solidFill>
                <a:latin typeface="Arial"/>
                <a:cs typeface="Arial"/>
              </a:rPr>
              <a:t>Network</a:t>
            </a:r>
            <a:r>
              <a:rPr sz="4400" u="none" spc="-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4400" u="none" dirty="0">
                <a:solidFill>
                  <a:srgbClr val="000000"/>
                </a:solidFill>
                <a:latin typeface="Arial"/>
                <a:cs typeface="Arial"/>
              </a:rPr>
              <a:t>System</a:t>
            </a:r>
            <a:r>
              <a:rPr sz="4400" u="none" spc="-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4400" u="none" spc="-10" dirty="0">
                <a:solidFill>
                  <a:srgbClr val="000000"/>
                </a:solidFill>
                <a:latin typeface="Arial"/>
                <a:cs typeface="Arial"/>
              </a:rPr>
              <a:t>Modularity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4504" y="1549267"/>
            <a:ext cx="7937500" cy="499935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750"/>
              </a:spcBef>
            </a:pPr>
            <a:r>
              <a:rPr sz="3200" dirty="0">
                <a:latin typeface="Arial"/>
                <a:cs typeface="Arial"/>
              </a:rPr>
              <a:t>Like</a:t>
            </a:r>
            <a:r>
              <a:rPr sz="3200" spc="-8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software</a:t>
            </a:r>
            <a:r>
              <a:rPr sz="3200" spc="-7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modularity,</a:t>
            </a:r>
            <a:r>
              <a:rPr sz="3200" spc="40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but:</a:t>
            </a:r>
            <a:endParaRPr sz="3200" dirty="0">
              <a:latin typeface="Arial"/>
              <a:cs typeface="Arial"/>
            </a:endParaRPr>
          </a:p>
          <a:p>
            <a:pPr marL="346710" marR="5080" indent="-334645">
              <a:lnSpc>
                <a:spcPct val="100000"/>
              </a:lnSpc>
              <a:spcBef>
                <a:spcPts val="650"/>
              </a:spcBef>
              <a:buChar char="•"/>
              <a:tabLst>
                <a:tab pos="346710" algn="l"/>
              </a:tabLst>
            </a:pPr>
            <a:r>
              <a:rPr sz="3200" dirty="0">
                <a:latin typeface="Arial"/>
                <a:cs typeface="Arial"/>
              </a:rPr>
              <a:t>Implementation</a:t>
            </a:r>
            <a:r>
              <a:rPr sz="3200" spc="-6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is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distributed</a:t>
            </a:r>
            <a:r>
              <a:rPr sz="3200" spc="-6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across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many </a:t>
            </a:r>
            <a:r>
              <a:rPr sz="3200" dirty="0">
                <a:latin typeface="Arial"/>
                <a:cs typeface="Arial"/>
              </a:rPr>
              <a:t>machines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(routers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and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hosts)</a:t>
            </a:r>
            <a:endParaRPr sz="3200" dirty="0">
              <a:latin typeface="Arial"/>
              <a:cs typeface="Arial"/>
            </a:endParaRPr>
          </a:p>
          <a:p>
            <a:pPr marL="346710" indent="-334010">
              <a:lnSpc>
                <a:spcPct val="100000"/>
              </a:lnSpc>
              <a:spcBef>
                <a:spcPts val="650"/>
              </a:spcBef>
              <a:buChar char="•"/>
              <a:tabLst>
                <a:tab pos="346710" algn="l"/>
              </a:tabLst>
            </a:pPr>
            <a:r>
              <a:rPr sz="3200" dirty="0">
                <a:latin typeface="Arial"/>
                <a:cs typeface="Arial"/>
              </a:rPr>
              <a:t>Must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decide:</a:t>
            </a:r>
            <a:endParaRPr sz="3200" dirty="0">
              <a:latin typeface="Arial"/>
              <a:cs typeface="Arial"/>
            </a:endParaRPr>
          </a:p>
          <a:p>
            <a:pPr marL="746125" lvl="1" indent="-276225">
              <a:lnSpc>
                <a:spcPct val="100000"/>
              </a:lnSpc>
              <a:spcBef>
                <a:spcPts val="560"/>
              </a:spcBef>
              <a:buChar char="–"/>
              <a:tabLst>
                <a:tab pos="746125" algn="l"/>
              </a:tabLst>
            </a:pPr>
            <a:r>
              <a:rPr sz="2800" dirty="0">
                <a:latin typeface="Arial"/>
                <a:cs typeface="Arial"/>
              </a:rPr>
              <a:t>How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break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system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into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modules</a:t>
            </a:r>
            <a:endParaRPr sz="2800" dirty="0">
              <a:latin typeface="Arial"/>
              <a:cs typeface="Arial"/>
            </a:endParaRPr>
          </a:p>
          <a:p>
            <a:pPr marL="1154430" lvl="2" indent="-22479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1154430" algn="l"/>
              </a:tabLst>
            </a:pP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Layering</a:t>
            </a:r>
            <a:endParaRPr sz="2400" dirty="0">
              <a:latin typeface="Arial"/>
              <a:cs typeface="Arial"/>
            </a:endParaRPr>
          </a:p>
          <a:p>
            <a:pPr marL="746125" lvl="1" indent="-276225">
              <a:lnSpc>
                <a:spcPct val="100000"/>
              </a:lnSpc>
              <a:spcBef>
                <a:spcPts val="560"/>
              </a:spcBef>
              <a:buChar char="–"/>
              <a:tabLst>
                <a:tab pos="746125" algn="l"/>
              </a:tabLst>
            </a:pPr>
            <a:r>
              <a:rPr sz="2800" dirty="0">
                <a:latin typeface="Arial"/>
                <a:cs typeface="Arial"/>
              </a:rPr>
              <a:t>Where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modules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are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implemented</a:t>
            </a:r>
            <a:endParaRPr sz="2800" dirty="0">
              <a:latin typeface="Arial"/>
              <a:cs typeface="Arial"/>
            </a:endParaRPr>
          </a:p>
          <a:p>
            <a:pPr marL="1154430" lvl="2" indent="-224790">
              <a:lnSpc>
                <a:spcPct val="100000"/>
              </a:lnSpc>
              <a:spcBef>
                <a:spcPts val="489"/>
              </a:spcBef>
              <a:buFont typeface="Arial"/>
              <a:buChar char="•"/>
              <a:tabLst>
                <a:tab pos="1154430" algn="l"/>
              </a:tabLst>
            </a:pP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End-to-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End</a:t>
            </a:r>
            <a:r>
              <a:rPr sz="2400" b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Principle</a:t>
            </a:r>
            <a:endParaRPr sz="2400" dirty="0">
              <a:latin typeface="Arial"/>
              <a:cs typeface="Arial"/>
            </a:endParaRPr>
          </a:p>
          <a:p>
            <a:pPr marL="746125" lvl="1" indent="-276225">
              <a:lnSpc>
                <a:spcPct val="100000"/>
              </a:lnSpc>
              <a:spcBef>
                <a:spcPts val="560"/>
              </a:spcBef>
              <a:buChar char="–"/>
              <a:tabLst>
                <a:tab pos="746125" algn="l"/>
              </a:tabLst>
            </a:pPr>
            <a:r>
              <a:rPr sz="2800" dirty="0">
                <a:latin typeface="Arial"/>
                <a:cs typeface="Arial"/>
              </a:rPr>
              <a:t>Where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state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is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stored</a:t>
            </a:r>
            <a:endParaRPr sz="2800" dirty="0">
              <a:latin typeface="Arial"/>
              <a:cs typeface="Arial"/>
            </a:endParaRPr>
          </a:p>
          <a:p>
            <a:pPr marL="1154430" lvl="2" indent="-22479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1154430" algn="l"/>
              </a:tabLst>
            </a:pPr>
            <a:r>
              <a:rPr sz="2400" b="1" spc="-20" dirty="0">
                <a:solidFill>
                  <a:srgbClr val="FF0000"/>
                </a:solidFill>
                <a:latin typeface="Arial"/>
                <a:cs typeface="Arial"/>
              </a:rPr>
              <a:t>Fate-</a:t>
            </a: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sharing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73A6A4-66F9-A994-787D-456627C27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4221" y="228600"/>
            <a:ext cx="9610872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FD74E2-BB07-F7F0-ED9E-EB7413D4C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99BB3CE6-FC60-D69E-3394-A4FF3E465DA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6216" rIns="0" bIns="0" rtlCol="0">
            <a:spAutoFit/>
          </a:bodyPr>
          <a:lstStyle/>
          <a:p>
            <a:pPr marL="942340">
              <a:lnSpc>
                <a:spcPts val="1240"/>
              </a:lnSpc>
            </a:pPr>
            <a:fld id="{81D60167-4931-47E6-BA6A-407CBD079E47}" type="slidenum">
              <a:rPr sz="1200" spc="-25" dirty="0">
                <a:solidFill>
                  <a:srgbClr val="B1B1B1"/>
                </a:solidFill>
                <a:latin typeface="Calibri"/>
                <a:cs typeface="Calibri"/>
              </a:rPr>
              <a:t>58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A478D168-7A74-2A47-6827-5FD7F68B53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497776"/>
            <a:ext cx="7141832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sz="4400" u="none" spc="-9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4400" u="none" spc="-9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u="none" spc="-1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Modularity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678E9CC-0FDA-D92F-2DD9-15EFE0625DE4}"/>
              </a:ext>
            </a:extLst>
          </p:cNvPr>
          <p:cNvSpPr txBox="1"/>
          <p:nvPr/>
        </p:nvSpPr>
        <p:spPr>
          <a:xfrm>
            <a:off x="534504" y="1549267"/>
            <a:ext cx="7937500" cy="5069336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750"/>
              </a:spcBef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sz="3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modularity,</a:t>
            </a:r>
            <a:r>
              <a:rPr sz="3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but: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6710" marR="5080" indent="-334645">
              <a:lnSpc>
                <a:spcPct val="100000"/>
              </a:lnSpc>
              <a:spcBef>
                <a:spcPts val="650"/>
              </a:spcBef>
              <a:buChar char="•"/>
              <a:tabLst>
                <a:tab pos="346710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3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machines</a:t>
            </a:r>
            <a:r>
              <a:rPr sz="3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(routers</a:t>
            </a:r>
            <a:r>
              <a:rPr sz="3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3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hosts)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6710" indent="-334010">
              <a:lnSpc>
                <a:spcPct val="100000"/>
              </a:lnSpc>
              <a:spcBef>
                <a:spcPts val="650"/>
              </a:spcBef>
              <a:buChar char="•"/>
              <a:tabLst>
                <a:tab pos="346710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decide: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6125" lvl="1" indent="-276225">
              <a:lnSpc>
                <a:spcPct val="100000"/>
              </a:lnSpc>
              <a:spcBef>
                <a:spcPts val="560"/>
              </a:spcBef>
              <a:buChar char="–"/>
              <a:tabLst>
                <a:tab pos="74612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54430" lvl="2" indent="-22479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1154430" algn="l"/>
              </a:tabLst>
            </a:pPr>
            <a:r>
              <a:rPr sz="24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Layering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6125" lvl="1" indent="-276225">
              <a:lnSpc>
                <a:spcPct val="100000"/>
              </a:lnSpc>
              <a:spcBef>
                <a:spcPts val="560"/>
              </a:spcBef>
              <a:buChar char="–"/>
              <a:tabLst>
                <a:tab pos="74612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54430" lvl="2" indent="-224790">
              <a:lnSpc>
                <a:spcPct val="100000"/>
              </a:lnSpc>
              <a:spcBef>
                <a:spcPts val="489"/>
              </a:spcBef>
              <a:buFont typeface="Arial"/>
              <a:buChar char="•"/>
              <a:tabLst>
                <a:tab pos="1154430" algn="l"/>
              </a:tabLst>
            </a:pPr>
            <a:r>
              <a:rPr sz="24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</a:t>
            </a:r>
            <a:r>
              <a:rPr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sz="2400" b="1" spc="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Principle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6125" lvl="1" indent="-276225">
              <a:lnSpc>
                <a:spcPct val="100000"/>
              </a:lnSpc>
              <a:spcBef>
                <a:spcPts val="560"/>
              </a:spcBef>
              <a:buChar char="–"/>
              <a:tabLst>
                <a:tab pos="74612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54430" lvl="2" indent="-22479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1154430" algn="l"/>
              </a:tabLst>
            </a:pPr>
            <a:r>
              <a:rPr sz="2400" b="1"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Fate-</a:t>
            </a:r>
            <a:r>
              <a:rPr sz="24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sharing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02889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2600" y="497776"/>
            <a:ext cx="478977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Layering</a:t>
            </a:r>
            <a:r>
              <a:rPr sz="4400" u="none" spc="-9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u="none" spc="-1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4975" y="1257376"/>
            <a:ext cx="8552815" cy="1570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6710" marR="5080" indent="-33464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46710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restricted</a:t>
            </a:r>
            <a:r>
              <a:rPr sz="3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abstraction: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divided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layers,</a:t>
            </a: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upon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6710" indent="-33401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346710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</a:t>
            </a: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</a:t>
            </a: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3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sz="3200" b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structure!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0431" y="3456013"/>
            <a:ext cx="2533557" cy="311147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6216" rIns="0" bIns="0" rtlCol="0">
            <a:spAutoFit/>
          </a:bodyPr>
          <a:lstStyle/>
          <a:p>
            <a:pPr marL="942340">
              <a:lnSpc>
                <a:spcPts val="1240"/>
              </a:lnSpc>
            </a:pPr>
            <a:fld id="{81D60167-4931-47E6-BA6A-407CBD079E47}" type="slidenum">
              <a:rPr sz="1200" spc="-25" dirty="0">
                <a:solidFill>
                  <a:srgbClr val="B1B1B1"/>
                </a:solidFill>
                <a:latin typeface="Calibri"/>
                <a:cs typeface="Calibri"/>
              </a:rPr>
              <a:t>59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6216" rIns="0" bIns="0" rtlCol="0">
            <a:spAutoFit/>
          </a:bodyPr>
          <a:lstStyle/>
          <a:p>
            <a:pPr marL="942340">
              <a:lnSpc>
                <a:spcPts val="1240"/>
              </a:lnSpc>
            </a:pPr>
            <a:fld id="{81D60167-4931-47E6-BA6A-407CBD079E47}" type="slidenum">
              <a:rPr sz="1200" spc="-25" dirty="0">
                <a:solidFill>
                  <a:srgbClr val="B1B1B1"/>
                </a:solidFill>
                <a:latin typeface="Calibri"/>
                <a:cs typeface="Calibri"/>
              </a:rPr>
              <a:t>60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497776"/>
            <a:ext cx="6853047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Layers</a:t>
            </a:r>
            <a:r>
              <a:rPr sz="4400" u="none" spc="-10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4400" u="none" spc="-10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u="none" spc="-1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Communications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4504" y="1549267"/>
            <a:ext cx="7305040" cy="2904641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46710" indent="-334010">
              <a:lnSpc>
                <a:spcPct val="100000"/>
              </a:lnSpc>
              <a:spcBef>
                <a:spcPts val="750"/>
              </a:spcBef>
              <a:buFont typeface="Arial"/>
              <a:buChar char="•"/>
              <a:tabLst>
                <a:tab pos="346710" algn="l"/>
              </a:tabLs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</a:t>
            </a:r>
            <a:r>
              <a:rPr lang="en-US" sz="32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en-US" sz="32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en-US" sz="32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adjacent</a:t>
            </a:r>
            <a:r>
              <a:rPr lang="en-US" sz="32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6710" indent="-33401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346710" algn="l"/>
              </a:tabLst>
            </a:pP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lang="en-US" sz="3200" i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i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  <a:r>
              <a:rPr lang="en-US"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</a:t>
            </a:r>
            <a:r>
              <a:rPr lang="en-US"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</a:t>
            </a:r>
            <a:r>
              <a:rPr lang="en-US"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lang="en-US" sz="3200" i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sz="3200"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6710" indent="-33401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346710" algn="l"/>
              </a:tabLst>
            </a:pP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lang="en-US" sz="3200" i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i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</a:t>
            </a:r>
            <a:r>
              <a:rPr lang="en-US"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lang="en-US"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3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lang="en-US" sz="3200" i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n+1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6710" indent="-33401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346710" algn="l"/>
              </a:tabLst>
            </a:pPr>
            <a:r>
              <a:rPr lang="en-US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Bottom</a:t>
            </a:r>
            <a:r>
              <a:rPr lang="en-US"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lang="en-US"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</a:t>
            </a:r>
            <a:r>
              <a:rPr lang="en-US"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6710" indent="-33401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346710" algn="l"/>
              </a:tabLs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lang="en-US" sz="3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lang="en-US" sz="3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3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9979" y="497776"/>
            <a:ext cx="40779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</a:t>
            </a:r>
            <a:r>
              <a:rPr sz="4400" u="none" spc="-13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4400" u="none" spc="-13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u="none" spc="-1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Peers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3222" y="1165867"/>
            <a:ext cx="8195309" cy="362201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19380">
              <a:lnSpc>
                <a:spcPct val="116799"/>
              </a:lnSpc>
              <a:spcBef>
                <a:spcPts val="105"/>
              </a:spcBef>
            </a:pP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</a:t>
            </a:r>
            <a:r>
              <a:rPr lang="en-US" sz="3200" i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thing</a:t>
            </a:r>
            <a:r>
              <a:rPr lang="en-US" sz="3200" i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</a:t>
            </a:r>
            <a:r>
              <a:rPr lang="en-US"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</a:t>
            </a:r>
            <a:r>
              <a:rPr lang="en-US"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existence)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</a:t>
            </a:r>
            <a:r>
              <a:rPr lang="en-US"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</a:t>
            </a:r>
            <a:r>
              <a:rPr lang="en-US" sz="3200" i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</a:t>
            </a:r>
            <a:r>
              <a:rPr lang="en-US"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above</a:t>
            </a:r>
            <a:r>
              <a:rPr lang="en-US"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below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</a:t>
            </a:r>
            <a:r>
              <a:rPr lang="en-US"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communicate</a:t>
            </a:r>
            <a:r>
              <a:rPr lang="en-US" sz="3200" i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</a:t>
            </a:r>
            <a:r>
              <a:rPr lang="en-US" sz="3200" i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8030" marR="5080" indent="-278765">
              <a:lnSpc>
                <a:spcPct val="100000"/>
              </a:lnSpc>
              <a:spcBef>
                <a:spcPts val="490"/>
              </a:spcBef>
            </a:pPr>
            <a:r>
              <a:rPr lang="en-US" sz="3600" baseline="3472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3600" spc="187" baseline="347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lang="en-US"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lang="en-US"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en-US"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lang="en-US"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</a:t>
            </a:r>
            <a:r>
              <a:rPr lang="en-US"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lang="en-US"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person,</a:t>
            </a:r>
            <a:r>
              <a:rPr lang="en-US"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box,</a:t>
            </a:r>
            <a:r>
              <a:rPr lang="en-US"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lang="en-US"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205740">
              <a:lnSpc>
                <a:spcPts val="3829"/>
              </a:lnSpc>
              <a:spcBef>
                <a:spcPts val="760"/>
              </a:spcBef>
            </a:pPr>
            <a:r>
              <a:rPr lang="en-US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Communications</a:t>
            </a:r>
            <a:r>
              <a:rPr lang="en-US" sz="3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en-US"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peers</a:t>
            </a:r>
            <a:r>
              <a:rPr lang="en-US" sz="32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supported</a:t>
            </a:r>
            <a:r>
              <a:rPr lang="en-US"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</a:t>
            </a:r>
            <a:r>
              <a:rPr lang="en-US"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en-US"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</a:t>
            </a:r>
            <a:r>
              <a:rPr lang="en-US"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4922" y="4896015"/>
            <a:ext cx="5744339" cy="158903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6216" rIns="0" bIns="0" rtlCol="0">
            <a:spAutoFit/>
          </a:bodyPr>
          <a:lstStyle/>
          <a:p>
            <a:pPr marL="942340">
              <a:lnSpc>
                <a:spcPts val="1240"/>
              </a:lnSpc>
            </a:pPr>
            <a:fld id="{81D60167-4931-47E6-BA6A-407CBD079E47}" type="slidenum">
              <a:rPr sz="1200" spc="-25" dirty="0">
                <a:solidFill>
                  <a:srgbClr val="B1B1B1"/>
                </a:solidFill>
                <a:latin typeface="Calibri"/>
                <a:cs typeface="Calibri"/>
              </a:rPr>
              <a:t>61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9979" y="497776"/>
            <a:ext cx="40779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</a:t>
            </a:r>
            <a:r>
              <a:rPr sz="4400" u="none" spc="-13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4400" u="none" spc="-13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u="none" spc="-1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Peers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4504" y="1108935"/>
            <a:ext cx="7684134" cy="420192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</a:t>
            </a:r>
            <a:r>
              <a:rPr sz="32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</a:t>
            </a:r>
            <a:r>
              <a:rPr sz="32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sz="32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something</a:t>
            </a:r>
            <a:r>
              <a:rPr sz="32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6125" indent="-276225">
              <a:lnSpc>
                <a:spcPct val="100000"/>
              </a:lnSpc>
              <a:spcBef>
                <a:spcPts val="555"/>
              </a:spcBef>
              <a:buFont typeface="Arial"/>
              <a:buChar char="–"/>
              <a:tabLst>
                <a:tab pos="746125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correction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6125" indent="-276225">
              <a:lnSpc>
                <a:spcPct val="100000"/>
              </a:lnSpc>
              <a:spcBef>
                <a:spcPts val="565"/>
              </a:spcBef>
              <a:buFont typeface="Arial"/>
              <a:buChar char="–"/>
              <a:tabLst>
                <a:tab pos="74612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Nothing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reasonable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1460500">
              <a:lnSpc>
                <a:spcPct val="116700"/>
              </a:lnSpc>
              <a:spcBef>
                <a:spcPts val="5"/>
              </a:spcBef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sz="3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3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communications</a:t>
            </a:r>
            <a:r>
              <a:rPr sz="3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3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</a:t>
            </a: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to-</a:t>
            </a: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things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6125" indent="-276225">
              <a:lnSpc>
                <a:spcPct val="100000"/>
              </a:lnSpc>
              <a:spcBef>
                <a:spcPts val="560"/>
              </a:spcBef>
              <a:buFont typeface="Arial"/>
              <a:buChar char="–"/>
              <a:tabLst>
                <a:tab pos="74612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Tower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6125" indent="-276225">
              <a:lnSpc>
                <a:spcPct val="100000"/>
              </a:lnSpc>
              <a:spcBef>
                <a:spcPts val="560"/>
              </a:spcBef>
              <a:buFont typeface="Arial"/>
              <a:buChar char="–"/>
              <a:tabLst>
                <a:tab pos="74612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sz="28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translating</a:t>
            </a:r>
            <a:r>
              <a:rPr sz="28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French</a:t>
            </a: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English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4628" y="5327650"/>
            <a:ext cx="5517359" cy="152243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6216" rIns="0" bIns="0" rtlCol="0">
            <a:spAutoFit/>
          </a:bodyPr>
          <a:lstStyle/>
          <a:p>
            <a:pPr marL="942340">
              <a:lnSpc>
                <a:spcPts val="1240"/>
              </a:lnSpc>
            </a:pPr>
            <a:fld id="{81D60167-4931-47E6-BA6A-407CBD079E47}" type="slidenum">
              <a:rPr sz="1200" spc="-25" dirty="0">
                <a:solidFill>
                  <a:srgbClr val="B1B1B1"/>
                </a:solidFill>
                <a:latin typeface="Calibri"/>
                <a:cs typeface="Calibri"/>
              </a:rPr>
              <a:t>62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63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045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Protocol</a:t>
            </a:r>
            <a:r>
              <a:rPr spc="-105" dirty="0"/>
              <a:t> </a:t>
            </a:r>
            <a:r>
              <a:rPr spc="-10" dirty="0"/>
              <a:t>“Layers”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xfrm>
            <a:off x="598118" y="1329865"/>
            <a:ext cx="5421681" cy="3951082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34290">
              <a:lnSpc>
                <a:spcPct val="100000"/>
              </a:lnSpc>
              <a:spcBef>
                <a:spcPts val="690"/>
              </a:spcBef>
            </a:pPr>
            <a:r>
              <a:rPr dirty="0"/>
              <a:t>Networks</a:t>
            </a:r>
            <a:r>
              <a:rPr spc="-35" dirty="0"/>
              <a:t> </a:t>
            </a:r>
            <a:r>
              <a:rPr dirty="0"/>
              <a:t>are</a:t>
            </a:r>
            <a:r>
              <a:rPr spc="-25" dirty="0"/>
              <a:t> </a:t>
            </a:r>
            <a:r>
              <a:rPr spc="-10" dirty="0"/>
              <a:t>complex!</a:t>
            </a:r>
            <a:r>
              <a:rPr spc="600" dirty="0"/>
              <a:t> </a:t>
            </a:r>
          </a:p>
          <a:p>
            <a:pPr marL="25400">
              <a:lnSpc>
                <a:spcPct val="100000"/>
              </a:lnSpc>
              <a:spcBef>
                <a:spcPts val="590"/>
              </a:spcBef>
            </a:pPr>
            <a:r>
              <a:rPr sz="3075" u="none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u="none" spc="367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u="none" dirty="0">
                <a:solidFill>
                  <a:srgbClr val="000000"/>
                </a:solidFill>
              </a:rPr>
              <a:t>many</a:t>
            </a:r>
            <a:r>
              <a:rPr sz="2400" u="none" spc="-20" dirty="0">
                <a:solidFill>
                  <a:srgbClr val="000000"/>
                </a:solidFill>
              </a:rPr>
              <a:t> </a:t>
            </a:r>
            <a:r>
              <a:rPr sz="2400" u="none" spc="-10" dirty="0">
                <a:solidFill>
                  <a:srgbClr val="000000"/>
                </a:solidFill>
              </a:rPr>
              <a:t>“pieces”:</a:t>
            </a:r>
            <a:endParaRPr sz="2400" dirty="0">
              <a:latin typeface="Times New Roman"/>
              <a:cs typeface="Times New Roman"/>
            </a:endParaRPr>
          </a:p>
          <a:p>
            <a:pPr marL="482600">
              <a:lnSpc>
                <a:spcPct val="100000"/>
              </a:lnSpc>
              <a:spcBef>
                <a:spcPts val="595"/>
              </a:spcBef>
            </a:pPr>
            <a:r>
              <a:rPr sz="2700" u="none" spc="1005" baseline="16975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700" u="none" spc="7" baseline="169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u="none" spc="-10" dirty="0">
                <a:solidFill>
                  <a:srgbClr val="000000"/>
                </a:solidFill>
              </a:rPr>
              <a:t>hosts</a:t>
            </a:r>
            <a:endParaRPr sz="2400" dirty="0">
              <a:latin typeface="Times New Roman"/>
              <a:cs typeface="Times New Roman"/>
            </a:endParaRPr>
          </a:p>
          <a:p>
            <a:pPr marL="482600">
              <a:lnSpc>
                <a:spcPct val="100000"/>
              </a:lnSpc>
              <a:spcBef>
                <a:spcPts val="600"/>
              </a:spcBef>
            </a:pPr>
            <a:r>
              <a:rPr sz="2700" u="none" spc="1005" baseline="16975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700" u="none" spc="7" baseline="169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u="none" spc="-10" dirty="0">
                <a:solidFill>
                  <a:srgbClr val="000000"/>
                </a:solidFill>
              </a:rPr>
              <a:t>routers</a:t>
            </a:r>
            <a:endParaRPr sz="2400" dirty="0">
              <a:latin typeface="Times New Roman"/>
              <a:cs typeface="Times New Roman"/>
            </a:endParaRPr>
          </a:p>
          <a:p>
            <a:pPr marL="758190" marR="498475" indent="-276225">
              <a:lnSpc>
                <a:spcPct val="100000"/>
              </a:lnSpc>
              <a:spcBef>
                <a:spcPts val="605"/>
              </a:spcBef>
            </a:pPr>
            <a:r>
              <a:rPr sz="2700" u="none" spc="1005" baseline="16975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700" u="none" spc="-22" baseline="169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u="none" dirty="0">
                <a:solidFill>
                  <a:srgbClr val="000000"/>
                </a:solidFill>
              </a:rPr>
              <a:t>links</a:t>
            </a:r>
            <a:r>
              <a:rPr sz="2400" u="none" spc="-30" dirty="0">
                <a:solidFill>
                  <a:srgbClr val="000000"/>
                </a:solidFill>
              </a:rPr>
              <a:t> </a:t>
            </a:r>
            <a:r>
              <a:rPr sz="2400" u="none" dirty="0">
                <a:solidFill>
                  <a:srgbClr val="000000"/>
                </a:solidFill>
              </a:rPr>
              <a:t>of</a:t>
            </a:r>
            <a:r>
              <a:rPr sz="2400" u="none" spc="-25" dirty="0">
                <a:solidFill>
                  <a:srgbClr val="000000"/>
                </a:solidFill>
              </a:rPr>
              <a:t> </a:t>
            </a:r>
            <a:r>
              <a:rPr sz="2400" u="none" spc="-10" dirty="0">
                <a:solidFill>
                  <a:srgbClr val="000000"/>
                </a:solidFill>
              </a:rPr>
              <a:t>various media</a:t>
            </a:r>
            <a:endParaRPr sz="2400" dirty="0">
              <a:latin typeface="Times New Roman"/>
              <a:cs typeface="Times New Roman"/>
            </a:endParaRPr>
          </a:p>
          <a:p>
            <a:pPr marL="482600">
              <a:lnSpc>
                <a:spcPct val="100000"/>
              </a:lnSpc>
              <a:spcBef>
                <a:spcPts val="595"/>
              </a:spcBef>
            </a:pPr>
            <a:r>
              <a:rPr sz="2700" u="none" spc="1005" baseline="16975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700" u="none" spc="7" baseline="169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u="none" spc="-10" dirty="0">
                <a:solidFill>
                  <a:srgbClr val="000000"/>
                </a:solidFill>
              </a:rPr>
              <a:t>applications</a:t>
            </a:r>
            <a:endParaRPr sz="2400" dirty="0">
              <a:latin typeface="Times New Roman"/>
              <a:cs typeface="Times New Roman"/>
            </a:endParaRPr>
          </a:p>
          <a:p>
            <a:pPr marL="482600">
              <a:lnSpc>
                <a:spcPct val="100000"/>
              </a:lnSpc>
              <a:spcBef>
                <a:spcPts val="595"/>
              </a:spcBef>
            </a:pPr>
            <a:r>
              <a:rPr sz="2700" u="none" spc="1005" baseline="16975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700" u="none" spc="7" baseline="169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u="none" spc="-10" dirty="0">
                <a:solidFill>
                  <a:srgbClr val="000000"/>
                </a:solidFill>
              </a:rPr>
              <a:t>protocols</a:t>
            </a:r>
            <a:endParaRPr sz="2400" dirty="0">
              <a:latin typeface="Times New Roman"/>
              <a:cs typeface="Times New Roman"/>
            </a:endParaRPr>
          </a:p>
          <a:p>
            <a:pPr marL="482600">
              <a:lnSpc>
                <a:spcPct val="100000"/>
              </a:lnSpc>
              <a:spcBef>
                <a:spcPts val="595"/>
              </a:spcBef>
            </a:pPr>
            <a:r>
              <a:rPr sz="2700" u="none" spc="1005" baseline="16975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700" u="none" spc="7" baseline="169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u="none" spc="-10" dirty="0">
                <a:solidFill>
                  <a:srgbClr val="000000"/>
                </a:solidFill>
              </a:rPr>
              <a:t>hardware,</a:t>
            </a:r>
            <a:endParaRPr sz="2400" dirty="0">
              <a:latin typeface="Times New Roman"/>
              <a:cs typeface="Times New Roman"/>
            </a:endParaRPr>
          </a:p>
          <a:p>
            <a:pPr marL="758190">
              <a:lnSpc>
                <a:spcPct val="100000"/>
              </a:lnSpc>
            </a:pPr>
            <a:r>
              <a:rPr u="none" spc="-10" dirty="0">
                <a:solidFill>
                  <a:srgbClr val="000000"/>
                </a:solidFill>
              </a:rPr>
              <a:t>software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864" y="481215"/>
            <a:ext cx="811027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045" algn="ctr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Organization</a:t>
            </a:r>
            <a:r>
              <a:rPr sz="3600" spc="-55" dirty="0"/>
              <a:t> </a:t>
            </a:r>
            <a:r>
              <a:rPr sz="3600" dirty="0"/>
              <a:t>of</a:t>
            </a:r>
            <a:r>
              <a:rPr sz="3600" spc="-50" dirty="0"/>
              <a:t> </a:t>
            </a:r>
            <a:r>
              <a:rPr sz="3600" dirty="0"/>
              <a:t>air</a:t>
            </a:r>
            <a:r>
              <a:rPr sz="3600" spc="-50" dirty="0"/>
              <a:t> </a:t>
            </a:r>
            <a:r>
              <a:rPr sz="3600" spc="-10" dirty="0"/>
              <a:t>travel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890346" y="5521947"/>
            <a:ext cx="317944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525" spc="1372" baseline="13002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525" spc="-209" baseline="13002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Comic Sans MS"/>
                <a:cs typeface="Comic Sans MS"/>
              </a:rPr>
              <a:t>a</a:t>
            </a:r>
            <a:r>
              <a:rPr sz="2800" spc="-4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series</a:t>
            </a:r>
            <a:r>
              <a:rPr sz="2800" spc="-45" dirty="0">
                <a:latin typeface="Comic Sans MS"/>
                <a:cs typeface="Comic Sans MS"/>
              </a:rPr>
              <a:t> </a:t>
            </a:r>
            <a:r>
              <a:rPr sz="2800" dirty="0">
                <a:latin typeface="Comic Sans MS"/>
                <a:cs typeface="Comic Sans MS"/>
              </a:rPr>
              <a:t>of</a:t>
            </a:r>
            <a:r>
              <a:rPr sz="2800" spc="-45" dirty="0">
                <a:latin typeface="Comic Sans MS"/>
                <a:cs typeface="Comic Sans MS"/>
              </a:rPr>
              <a:t> </a:t>
            </a:r>
            <a:r>
              <a:rPr sz="2800" spc="-20" dirty="0">
                <a:latin typeface="Comic Sans MS"/>
                <a:cs typeface="Comic Sans MS"/>
              </a:rPr>
              <a:t>steps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16138" y="1633220"/>
            <a:ext cx="2065655" cy="2769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mic Sans MS"/>
                <a:cs typeface="Comic Sans MS"/>
              </a:rPr>
              <a:t>ticket </a:t>
            </a:r>
            <a:r>
              <a:rPr sz="2000" spc="-10" dirty="0">
                <a:latin typeface="Comic Sans MS"/>
                <a:cs typeface="Comic Sans MS"/>
              </a:rPr>
              <a:t>(purchase)</a:t>
            </a:r>
            <a:endParaRPr sz="2000" dirty="0">
              <a:latin typeface="Comic Sans MS"/>
              <a:cs typeface="Comic Sans MS"/>
            </a:endParaRPr>
          </a:p>
          <a:p>
            <a:pPr marL="12700" marR="142875">
              <a:lnSpc>
                <a:spcPts val="4800"/>
              </a:lnSpc>
              <a:spcBef>
                <a:spcPts val="560"/>
              </a:spcBef>
            </a:pPr>
            <a:r>
              <a:rPr sz="2000" dirty="0">
                <a:latin typeface="Comic Sans MS"/>
                <a:cs typeface="Comic Sans MS"/>
              </a:rPr>
              <a:t>baggage</a:t>
            </a:r>
            <a:r>
              <a:rPr sz="2000" spc="-8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(check) </a:t>
            </a:r>
            <a:r>
              <a:rPr sz="2000" dirty="0">
                <a:latin typeface="Comic Sans MS"/>
                <a:cs typeface="Comic Sans MS"/>
              </a:rPr>
              <a:t>gates</a:t>
            </a:r>
            <a:r>
              <a:rPr sz="2000" spc="-5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(load)</a:t>
            </a:r>
            <a:endParaRPr sz="2000" dirty="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839"/>
              </a:spcBef>
            </a:pPr>
            <a:r>
              <a:rPr sz="2000" dirty="0">
                <a:latin typeface="Comic Sans MS"/>
                <a:cs typeface="Comic Sans MS"/>
              </a:rPr>
              <a:t>runway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takeoff</a:t>
            </a:r>
            <a:endParaRPr sz="2000" dirty="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405"/>
              </a:spcBef>
            </a:pPr>
            <a:r>
              <a:rPr sz="2000" dirty="0">
                <a:latin typeface="Comic Sans MS"/>
                <a:cs typeface="Comic Sans MS"/>
              </a:rPr>
              <a:t>airplane</a:t>
            </a:r>
            <a:r>
              <a:rPr sz="2000" spc="-10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routing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69144" y="1622780"/>
            <a:ext cx="3859529" cy="3226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3089" algn="just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mic Sans MS"/>
                <a:cs typeface="Comic Sans MS"/>
              </a:rPr>
              <a:t>ticket</a:t>
            </a:r>
            <a:r>
              <a:rPr sz="2000" spc="-10" dirty="0">
                <a:latin typeface="Comic Sans MS"/>
                <a:cs typeface="Comic Sans MS"/>
              </a:rPr>
              <a:t> (complain)</a:t>
            </a:r>
            <a:endParaRPr sz="2000">
              <a:latin typeface="Comic Sans MS"/>
              <a:cs typeface="Comic Sans MS"/>
            </a:endParaRPr>
          </a:p>
          <a:p>
            <a:pPr marL="1863089" algn="just">
              <a:lnSpc>
                <a:spcPct val="100000"/>
              </a:lnSpc>
              <a:spcBef>
                <a:spcPts val="2400"/>
              </a:spcBef>
            </a:pPr>
            <a:r>
              <a:rPr sz="2000" dirty="0">
                <a:latin typeface="Comic Sans MS"/>
                <a:cs typeface="Comic Sans MS"/>
              </a:rPr>
              <a:t>baggage</a:t>
            </a:r>
            <a:r>
              <a:rPr sz="2000" spc="-8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(claim)</a:t>
            </a:r>
            <a:endParaRPr sz="2000">
              <a:latin typeface="Comic Sans MS"/>
              <a:cs typeface="Comic Sans MS"/>
            </a:endParaRPr>
          </a:p>
          <a:p>
            <a:pPr marL="1863089" marR="134620" algn="just">
              <a:lnSpc>
                <a:spcPct val="200000"/>
              </a:lnSpc>
              <a:spcBef>
                <a:spcPts val="10"/>
              </a:spcBef>
            </a:pPr>
            <a:r>
              <a:rPr sz="2000" dirty="0">
                <a:latin typeface="Comic Sans MS"/>
                <a:cs typeface="Comic Sans MS"/>
              </a:rPr>
              <a:t>gates</a:t>
            </a:r>
            <a:r>
              <a:rPr sz="2000" spc="-5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(unload) </a:t>
            </a:r>
            <a:r>
              <a:rPr sz="2000" dirty="0">
                <a:latin typeface="Comic Sans MS"/>
                <a:cs typeface="Comic Sans MS"/>
              </a:rPr>
              <a:t>runway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landing </a:t>
            </a:r>
            <a:r>
              <a:rPr sz="2000" dirty="0">
                <a:latin typeface="Comic Sans MS"/>
                <a:cs typeface="Comic Sans MS"/>
              </a:rPr>
              <a:t>airplane</a:t>
            </a:r>
            <a:r>
              <a:rPr sz="2000" spc="-10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routing</a:t>
            </a:r>
            <a:endParaRPr sz="2000">
              <a:latin typeface="Comic Sans MS"/>
              <a:cs typeface="Comic Sans MS"/>
            </a:endParaRPr>
          </a:p>
          <a:p>
            <a:pPr marL="12700" algn="just">
              <a:lnSpc>
                <a:spcPct val="100000"/>
              </a:lnSpc>
              <a:spcBef>
                <a:spcPts val="1195"/>
              </a:spcBef>
            </a:pPr>
            <a:r>
              <a:rPr sz="2000" dirty="0">
                <a:latin typeface="Comic Sans MS"/>
                <a:cs typeface="Comic Sans MS"/>
              </a:rPr>
              <a:t>airplane</a:t>
            </a:r>
            <a:r>
              <a:rPr sz="2000" spc="-10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routing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1878" y="15685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0" y="19079"/>
                </a:moveTo>
                <a:lnTo>
                  <a:pt x="5588" y="5588"/>
                </a:lnTo>
                <a:lnTo>
                  <a:pt x="19079" y="0"/>
                </a:lnTo>
                <a:lnTo>
                  <a:pt x="32571" y="5588"/>
                </a:lnTo>
                <a:lnTo>
                  <a:pt x="38159" y="19079"/>
                </a:lnTo>
                <a:lnTo>
                  <a:pt x="32571" y="32571"/>
                </a:lnTo>
                <a:lnTo>
                  <a:pt x="19079" y="38159"/>
                </a:lnTo>
                <a:lnTo>
                  <a:pt x="5588" y="32571"/>
                </a:lnTo>
                <a:lnTo>
                  <a:pt x="0" y="19079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64</a:t>
            </a:fld>
            <a:endParaRPr spc="-25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35061" y="1828264"/>
          <a:ext cx="1622425" cy="1706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8775">
                <a:tc>
                  <a:txBody>
                    <a:bodyPr/>
                    <a:lstStyle/>
                    <a:p>
                      <a:pPr marL="45720"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ticket</a:t>
                      </a:r>
                      <a:r>
                        <a:rPr sz="14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(purchase)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95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345">
                <a:tc>
                  <a:txBody>
                    <a:bodyPr/>
                    <a:lstStyle/>
                    <a:p>
                      <a:pPr marL="4572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baggage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(check)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11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gates</a:t>
                      </a:r>
                      <a:r>
                        <a:rPr sz="14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(load)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35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345">
                <a:tc>
                  <a:txBody>
                    <a:bodyPr/>
                    <a:lstStyle/>
                    <a:p>
                      <a:pPr marL="4572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runway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(takeoff)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340">
                <a:tc>
                  <a:txBody>
                    <a:bodyPr/>
                    <a:lstStyle/>
                    <a:p>
                      <a:pPr marL="4635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airplane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routing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882624" y="3717251"/>
            <a:ext cx="677545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189" marR="5080" indent="-111125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departure airport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56541" y="3726256"/>
            <a:ext cx="457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89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arrival airport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930398" y="1462322"/>
            <a:ext cx="1519555" cy="463550"/>
            <a:chOff x="2930398" y="1462322"/>
            <a:chExt cx="1519555" cy="46355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0398" y="1474558"/>
              <a:ext cx="1519199" cy="45072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564001" y="1467002"/>
              <a:ext cx="593725" cy="152400"/>
            </a:xfrm>
            <a:custGeom>
              <a:avLst/>
              <a:gdLst/>
              <a:ahLst/>
              <a:cxnLst/>
              <a:rect l="l" t="t" r="r" b="b"/>
              <a:pathLst>
                <a:path w="593725" h="152400">
                  <a:moveTo>
                    <a:pt x="0" y="0"/>
                  </a:moveTo>
                  <a:lnTo>
                    <a:pt x="441363" y="0"/>
                  </a:lnTo>
                </a:path>
                <a:path w="593725" h="152400">
                  <a:moveTo>
                    <a:pt x="152273" y="152273"/>
                  </a:moveTo>
                  <a:lnTo>
                    <a:pt x="593636" y="152273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3411359" y="1314361"/>
            <a:ext cx="441959" cy="0"/>
          </a:xfrm>
          <a:custGeom>
            <a:avLst/>
            <a:gdLst/>
            <a:ahLst/>
            <a:cxnLst/>
            <a:rect l="l" t="t" r="r" b="b"/>
            <a:pathLst>
              <a:path w="441960">
                <a:moveTo>
                  <a:pt x="0" y="0"/>
                </a:moveTo>
                <a:lnTo>
                  <a:pt x="441363" y="0"/>
                </a:lnTo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311565" y="3262325"/>
            <a:ext cx="1373505" cy="286385"/>
          </a:xfrm>
          <a:custGeom>
            <a:avLst/>
            <a:gdLst/>
            <a:ahLst/>
            <a:cxnLst/>
            <a:rect l="l" t="t" r="r" b="b"/>
            <a:pathLst>
              <a:path w="1373504" h="286385">
                <a:moveTo>
                  <a:pt x="686511" y="285838"/>
                </a:moveTo>
                <a:lnTo>
                  <a:pt x="0" y="285838"/>
                </a:lnTo>
                <a:lnTo>
                  <a:pt x="0" y="0"/>
                </a:lnTo>
                <a:lnTo>
                  <a:pt x="1373035" y="0"/>
                </a:lnTo>
                <a:lnTo>
                  <a:pt x="1373035" y="285838"/>
                </a:lnTo>
                <a:lnTo>
                  <a:pt x="686511" y="285838"/>
                </a:lnTo>
                <a:close/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68204" y="3262325"/>
            <a:ext cx="1373505" cy="286385"/>
          </a:xfrm>
          <a:custGeom>
            <a:avLst/>
            <a:gdLst/>
            <a:ahLst/>
            <a:cxnLst/>
            <a:rect l="l" t="t" r="r" b="b"/>
            <a:pathLst>
              <a:path w="1373504" h="286385">
                <a:moveTo>
                  <a:pt x="686879" y="285838"/>
                </a:moveTo>
                <a:lnTo>
                  <a:pt x="0" y="285838"/>
                </a:lnTo>
                <a:lnTo>
                  <a:pt x="0" y="0"/>
                </a:lnTo>
                <a:lnTo>
                  <a:pt x="1373390" y="0"/>
                </a:lnTo>
                <a:lnTo>
                  <a:pt x="1373390" y="285838"/>
                </a:lnTo>
                <a:lnTo>
                  <a:pt x="686879" y="285838"/>
                </a:lnTo>
                <a:close/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382380" y="3275177"/>
            <a:ext cx="2810510" cy="837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1556385" algn="l"/>
              </a:tabLst>
            </a:pPr>
            <a:r>
              <a:rPr sz="1400" dirty="0">
                <a:latin typeface="Arial"/>
                <a:cs typeface="Arial"/>
              </a:rPr>
              <a:t>airplane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routing</a:t>
            </a:r>
            <a:r>
              <a:rPr sz="1400" dirty="0">
                <a:latin typeface="Arial"/>
                <a:cs typeface="Arial"/>
              </a:rPr>
              <a:t>	airplane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routing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400">
              <a:latin typeface="Arial"/>
              <a:cs typeface="Arial"/>
            </a:endParaRPr>
          </a:p>
          <a:p>
            <a:pPr marL="678815" marR="650240" algn="ctr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intermediate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air-traffic </a:t>
            </a:r>
            <a:r>
              <a:rPr sz="1200" dirty="0">
                <a:latin typeface="Arial"/>
                <a:cs typeface="Arial"/>
              </a:rPr>
              <a:t>control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centers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5485864" y="1839415"/>
          <a:ext cx="1622425" cy="1706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8775">
                <a:tc>
                  <a:txBody>
                    <a:bodyPr/>
                    <a:lstStyle/>
                    <a:p>
                      <a:pPr marR="33655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ticket</a:t>
                      </a:r>
                      <a:r>
                        <a:rPr sz="14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(complain)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345">
                <a:tc>
                  <a:txBody>
                    <a:bodyPr/>
                    <a:lstStyle/>
                    <a:p>
                      <a:pPr marR="31750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baggage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(claim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09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R="31750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gates</a:t>
                      </a:r>
                      <a:r>
                        <a:rPr sz="14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(unload)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345">
                <a:tc>
                  <a:txBody>
                    <a:bodyPr/>
                    <a:lstStyle/>
                    <a:p>
                      <a:pPr marR="3111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runway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(land)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340">
                <a:tc>
                  <a:txBody>
                    <a:bodyPr/>
                    <a:lstStyle/>
                    <a:p>
                      <a:pPr marR="3175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airplane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routing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0354" y="3317049"/>
            <a:ext cx="8393760" cy="17495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0354" y="2968205"/>
            <a:ext cx="8393760" cy="18611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0354" y="2640964"/>
            <a:ext cx="8393760" cy="17495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0723" y="2292121"/>
            <a:ext cx="8382596" cy="18611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0723" y="1953717"/>
            <a:ext cx="8384044" cy="186118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664297" y="1942096"/>
            <a:ext cx="1019810" cy="1219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ticket</a:t>
            </a:r>
            <a:endParaRPr sz="1200">
              <a:latin typeface="Arial"/>
              <a:cs typeface="Arial"/>
            </a:endParaRPr>
          </a:p>
          <a:p>
            <a:pPr marL="26670" marR="387985" indent="1270">
              <a:lnSpc>
                <a:spcPct val="183900"/>
              </a:lnSpc>
              <a:spcBef>
                <a:spcPts val="20"/>
              </a:spcBef>
            </a:pPr>
            <a:r>
              <a:rPr sz="1200" spc="-10" dirty="0">
                <a:latin typeface="Arial"/>
                <a:cs typeface="Arial"/>
              </a:rPr>
              <a:t>baggage </a:t>
            </a:r>
            <a:r>
              <a:rPr sz="1200" spc="-20" dirty="0">
                <a:latin typeface="Arial"/>
                <a:cs typeface="Arial"/>
              </a:rPr>
              <a:t>gate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200" spc="-10" dirty="0">
                <a:latin typeface="Arial"/>
                <a:cs typeface="Arial"/>
              </a:rPr>
              <a:t>takeoff/landing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65</a:t>
            </a:fld>
            <a:endParaRPr spc="-25" dirty="0"/>
          </a:p>
        </p:txBody>
      </p:sp>
      <p:sp>
        <p:nvSpPr>
          <p:cNvPr id="19" name="object 19"/>
          <p:cNvSpPr txBox="1"/>
          <p:nvPr/>
        </p:nvSpPr>
        <p:spPr>
          <a:xfrm>
            <a:off x="7669695" y="3300729"/>
            <a:ext cx="1076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"/>
                <a:cs typeface="Arial"/>
              </a:rPr>
              <a:t>airplane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routing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610819" y="256578"/>
            <a:ext cx="7471409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Layering</a:t>
            </a:r>
            <a:r>
              <a:rPr spc="-125" dirty="0"/>
              <a:t> </a:t>
            </a:r>
            <a:r>
              <a:rPr dirty="0"/>
              <a:t>of</a:t>
            </a:r>
            <a:r>
              <a:rPr spc="-120" dirty="0"/>
              <a:t> </a:t>
            </a:r>
            <a:r>
              <a:rPr dirty="0"/>
              <a:t>airline</a:t>
            </a:r>
            <a:r>
              <a:rPr spc="-125" dirty="0"/>
              <a:t> </a:t>
            </a:r>
            <a:r>
              <a:rPr spc="-10" dirty="0"/>
              <a:t>functionality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94423" y="4387008"/>
            <a:ext cx="6874509" cy="135128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Layers:</a:t>
            </a:r>
            <a:r>
              <a:rPr sz="2400" spc="-2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each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layer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implements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service</a:t>
            </a:r>
            <a:endParaRPr sz="2400">
              <a:latin typeface="Comic Sans MS"/>
              <a:cs typeface="Comic Sans MS"/>
            </a:endParaRPr>
          </a:p>
          <a:p>
            <a:pPr marL="485775">
              <a:lnSpc>
                <a:spcPct val="100000"/>
              </a:lnSpc>
              <a:spcBef>
                <a:spcPts val="600"/>
              </a:spcBef>
            </a:pPr>
            <a:r>
              <a:rPr sz="2700" spc="1005" baseline="16975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700" spc="-7" baseline="169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via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its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own</a:t>
            </a:r>
            <a:r>
              <a:rPr sz="2400" spc="-10" dirty="0">
                <a:latin typeface="Comic Sans MS"/>
                <a:cs typeface="Comic Sans MS"/>
              </a:rPr>
              <a:t> internal-</a:t>
            </a:r>
            <a:r>
              <a:rPr sz="2400" dirty="0">
                <a:latin typeface="Comic Sans MS"/>
                <a:cs typeface="Comic Sans MS"/>
              </a:rPr>
              <a:t>layer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actions</a:t>
            </a:r>
            <a:endParaRPr sz="2400">
              <a:latin typeface="Comic Sans MS"/>
              <a:cs typeface="Comic Sans MS"/>
            </a:endParaRPr>
          </a:p>
          <a:p>
            <a:pPr marL="485775">
              <a:lnSpc>
                <a:spcPct val="100000"/>
              </a:lnSpc>
              <a:spcBef>
                <a:spcPts val="600"/>
              </a:spcBef>
            </a:pPr>
            <a:r>
              <a:rPr sz="2700" spc="1005" baseline="16975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700" spc="-30" baseline="169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relying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on</a:t>
            </a:r>
            <a:r>
              <a:rPr sz="2400" spc="-4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services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provided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by</a:t>
            </a:r>
            <a:r>
              <a:rPr sz="2400" spc="-4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layer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below</a:t>
            </a:r>
            <a:endParaRPr sz="24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Introduction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460">
              <a:lnSpc>
                <a:spcPts val="1630"/>
              </a:lnSpc>
            </a:pPr>
            <a:r>
              <a:rPr dirty="0"/>
              <a:t>1-</a:t>
            </a:r>
            <a:fld id="{81D60167-4931-47E6-BA6A-407CBD079E47}" type="slidenum">
              <a:rPr spc="-25" dirty="0"/>
              <a:t>66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125" dirty="0"/>
              <a:t> </a:t>
            </a:r>
            <a:r>
              <a:rPr spc="-10" dirty="0"/>
              <a:t>layering?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10717" y="1289209"/>
            <a:ext cx="7135495" cy="2256259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77190" indent="-342900">
              <a:lnSpc>
                <a:spcPct val="150000"/>
              </a:lnSpc>
              <a:spcBef>
                <a:spcPts val="800"/>
              </a:spcBef>
              <a:buFont typeface="Wingdings" panose="05000000000000000000" pitchFamily="2" charset="2"/>
              <a:buChar char="q"/>
            </a:pPr>
            <a:r>
              <a:rPr lang="en-US" sz="2400" b="1" dirty="0"/>
              <a:t>Layering</a:t>
            </a:r>
            <a:r>
              <a:rPr lang="en-US" sz="2400" dirty="0"/>
              <a:t> is a design approach that divides the complex process of communication into </a:t>
            </a:r>
            <a:r>
              <a:rPr lang="en-US" sz="2400" b="1" dirty="0"/>
              <a:t>simpler, well-defined steps</a:t>
            </a:r>
            <a:r>
              <a:rPr lang="en-US" sz="2400" dirty="0"/>
              <a:t> (layers), where </a:t>
            </a:r>
            <a:r>
              <a:rPr lang="en-US" sz="2400" b="1" dirty="0"/>
              <a:t>each layer performs a specific task</a:t>
            </a:r>
            <a:r>
              <a:rPr lang="en-US" sz="2400" dirty="0"/>
              <a:t>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73914" y="1752485"/>
            <a:ext cx="1914525" cy="3606800"/>
            <a:chOff x="6073914" y="1752485"/>
            <a:chExt cx="1914525" cy="3606800"/>
          </a:xfrm>
        </p:grpSpPr>
        <p:sp>
          <p:nvSpPr>
            <p:cNvPr id="3" name="object 3"/>
            <p:cNvSpPr/>
            <p:nvPr/>
          </p:nvSpPr>
          <p:spPr>
            <a:xfrm>
              <a:off x="6073914" y="1752485"/>
              <a:ext cx="1892300" cy="3531235"/>
            </a:xfrm>
            <a:custGeom>
              <a:avLst/>
              <a:gdLst/>
              <a:ahLst/>
              <a:cxnLst/>
              <a:rect l="l" t="t" r="r" b="b"/>
              <a:pathLst>
                <a:path w="1892300" h="3531235">
                  <a:moveTo>
                    <a:pt x="1892160" y="0"/>
                  </a:moveTo>
                  <a:lnTo>
                    <a:pt x="0" y="0"/>
                  </a:lnTo>
                  <a:lnTo>
                    <a:pt x="0" y="3530879"/>
                  </a:lnTo>
                  <a:lnTo>
                    <a:pt x="946086" y="3530879"/>
                  </a:lnTo>
                  <a:lnTo>
                    <a:pt x="1892160" y="3530879"/>
                  </a:lnTo>
                  <a:lnTo>
                    <a:pt x="189216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209995" y="1837804"/>
              <a:ext cx="1778635" cy="3521710"/>
            </a:xfrm>
            <a:custGeom>
              <a:avLst/>
              <a:gdLst/>
              <a:ahLst/>
              <a:cxnLst/>
              <a:rect l="l" t="t" r="r" b="b"/>
              <a:pathLst>
                <a:path w="1778634" h="3521710">
                  <a:moveTo>
                    <a:pt x="1778050" y="0"/>
                  </a:moveTo>
                  <a:lnTo>
                    <a:pt x="0" y="0"/>
                  </a:lnTo>
                  <a:lnTo>
                    <a:pt x="0" y="3521151"/>
                  </a:lnTo>
                  <a:lnTo>
                    <a:pt x="889203" y="3521151"/>
                  </a:lnTo>
                  <a:lnTo>
                    <a:pt x="1778050" y="3521151"/>
                  </a:lnTo>
                  <a:lnTo>
                    <a:pt x="17780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043849" y="1733406"/>
          <a:ext cx="1902460" cy="3604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6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090"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3333CC"/>
                      </a:solidFill>
                      <a:prstDash val="solid"/>
                    </a:lnL>
                    <a:lnR w="38100">
                      <a:solidFill>
                        <a:srgbClr val="3333CC"/>
                      </a:solidFill>
                      <a:prstDash val="solid"/>
                    </a:lnR>
                    <a:lnT w="38100">
                      <a:solidFill>
                        <a:srgbClr val="3333CC"/>
                      </a:solidFill>
                      <a:prstDash val="solid"/>
                    </a:lnT>
                    <a:lnB w="38100">
                      <a:solidFill>
                        <a:srgbClr val="3333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3333CC"/>
                      </a:solidFill>
                      <a:prstDash val="solid"/>
                    </a:lnR>
                    <a:lnT w="38100">
                      <a:solidFill>
                        <a:srgbClr val="3333CC"/>
                      </a:solidFill>
                      <a:prstDash val="solid"/>
                    </a:lnT>
                    <a:lnB w="38100">
                      <a:solidFill>
                        <a:srgbClr val="3333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21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3333CC"/>
                      </a:solidFill>
                      <a:prstDash val="solid"/>
                    </a:lnL>
                    <a:lnR w="38100">
                      <a:solidFill>
                        <a:srgbClr val="3333CC"/>
                      </a:solidFill>
                      <a:prstDash val="solid"/>
                    </a:lnR>
                    <a:lnT w="38100">
                      <a:solidFill>
                        <a:srgbClr val="3333CC"/>
                      </a:solidFill>
                      <a:prstDash val="solid"/>
                    </a:lnT>
                    <a:lnB w="38100">
                      <a:solidFill>
                        <a:srgbClr val="3333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75" algn="ct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2400" spc="-10" dirty="0">
                          <a:latin typeface="Comic Sans MS"/>
                          <a:cs typeface="Comic Sans MS"/>
                        </a:rPr>
                        <a:t>application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143510" marB="0">
                    <a:lnL w="38100">
                      <a:solidFill>
                        <a:srgbClr val="3333CC"/>
                      </a:solidFill>
                      <a:prstDash val="solid"/>
                    </a:lnL>
                    <a:lnR w="76200">
                      <a:solidFill>
                        <a:srgbClr val="3333CC"/>
                      </a:solidFill>
                      <a:prstDash val="solid"/>
                    </a:lnR>
                    <a:lnT w="38100">
                      <a:solidFill>
                        <a:srgbClr val="3333CC"/>
                      </a:solidFill>
                      <a:prstDash val="solid"/>
                    </a:lnT>
                    <a:lnB w="38100">
                      <a:solidFill>
                        <a:srgbClr val="3333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3333CC"/>
                      </a:solidFill>
                      <a:prstDash val="solid"/>
                    </a:lnL>
                    <a:lnR w="38100">
                      <a:solidFill>
                        <a:srgbClr val="3333CC"/>
                      </a:solidFill>
                      <a:prstDash val="solid"/>
                    </a:lnR>
                    <a:lnT w="38100">
                      <a:solidFill>
                        <a:srgbClr val="3333CC"/>
                      </a:solidFill>
                      <a:prstDash val="solid"/>
                    </a:lnT>
                    <a:lnB w="38100">
                      <a:solidFill>
                        <a:srgbClr val="3333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 algn="ct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2400" spc="-10" dirty="0">
                          <a:latin typeface="Comic Sans MS"/>
                          <a:cs typeface="Comic Sans MS"/>
                        </a:rPr>
                        <a:t>transport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182245" marB="0">
                    <a:lnL w="38100">
                      <a:solidFill>
                        <a:srgbClr val="3333CC"/>
                      </a:solidFill>
                      <a:prstDash val="solid"/>
                    </a:lnL>
                    <a:lnR w="76200">
                      <a:solidFill>
                        <a:srgbClr val="3333CC"/>
                      </a:solidFill>
                      <a:prstDash val="solid"/>
                    </a:lnR>
                    <a:lnT w="38100">
                      <a:solidFill>
                        <a:srgbClr val="3333CC"/>
                      </a:solidFill>
                      <a:prstDash val="solid"/>
                    </a:lnT>
                    <a:lnB w="38100">
                      <a:solidFill>
                        <a:srgbClr val="3333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3333CC"/>
                      </a:solidFill>
                      <a:prstDash val="solid"/>
                    </a:lnL>
                    <a:lnR w="38100">
                      <a:solidFill>
                        <a:srgbClr val="3333CC"/>
                      </a:solidFill>
                      <a:prstDash val="solid"/>
                    </a:lnR>
                    <a:lnT w="38100">
                      <a:solidFill>
                        <a:srgbClr val="3333CC"/>
                      </a:solidFill>
                      <a:prstDash val="solid"/>
                    </a:lnT>
                    <a:lnB w="38100">
                      <a:solidFill>
                        <a:srgbClr val="3333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75" algn="ctr">
                        <a:lnSpc>
                          <a:spcPct val="100000"/>
                        </a:lnSpc>
                        <a:spcBef>
                          <a:spcPts val="1645"/>
                        </a:spcBef>
                      </a:pPr>
                      <a:r>
                        <a:rPr sz="2400" spc="-10" dirty="0">
                          <a:latin typeface="Comic Sans MS"/>
                          <a:cs typeface="Comic Sans MS"/>
                        </a:rPr>
                        <a:t>network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208915" marB="0">
                    <a:lnL w="38100">
                      <a:solidFill>
                        <a:srgbClr val="3333CC"/>
                      </a:solidFill>
                      <a:prstDash val="solid"/>
                    </a:lnL>
                    <a:lnR w="76200">
                      <a:solidFill>
                        <a:srgbClr val="3333CC"/>
                      </a:solidFill>
                      <a:prstDash val="solid"/>
                    </a:lnR>
                    <a:lnT w="38100">
                      <a:solidFill>
                        <a:srgbClr val="3333CC"/>
                      </a:solidFill>
                      <a:prstDash val="solid"/>
                    </a:lnT>
                    <a:lnB w="38100">
                      <a:solidFill>
                        <a:srgbClr val="3333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05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3333CC"/>
                      </a:solidFill>
                      <a:prstDash val="solid"/>
                    </a:lnL>
                    <a:lnR w="38100">
                      <a:solidFill>
                        <a:srgbClr val="3333CC"/>
                      </a:solidFill>
                      <a:prstDash val="solid"/>
                    </a:lnR>
                    <a:lnT w="38100">
                      <a:solidFill>
                        <a:srgbClr val="3333CC"/>
                      </a:solidFill>
                      <a:prstDash val="solid"/>
                    </a:lnT>
                    <a:lnB w="38100">
                      <a:solidFill>
                        <a:srgbClr val="3333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 algn="ctr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sz="2400" spc="-20" dirty="0">
                          <a:latin typeface="Comic Sans MS"/>
                          <a:cs typeface="Comic Sans MS"/>
                        </a:rPr>
                        <a:t>link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228600" marB="0">
                    <a:lnL w="38100">
                      <a:solidFill>
                        <a:srgbClr val="3333CC"/>
                      </a:solidFill>
                      <a:prstDash val="solid"/>
                    </a:lnL>
                    <a:lnR w="76200">
                      <a:solidFill>
                        <a:srgbClr val="3333CC"/>
                      </a:solidFill>
                      <a:prstDash val="solid"/>
                    </a:lnR>
                    <a:lnT w="38100">
                      <a:solidFill>
                        <a:srgbClr val="3333CC"/>
                      </a:solidFill>
                      <a:prstDash val="solid"/>
                    </a:lnT>
                    <a:lnB w="38100">
                      <a:solidFill>
                        <a:srgbClr val="3333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3333CC"/>
                      </a:solidFill>
                      <a:prstDash val="solid"/>
                    </a:lnL>
                    <a:lnR w="38100">
                      <a:solidFill>
                        <a:srgbClr val="3333CC"/>
                      </a:solidFill>
                      <a:prstDash val="solid"/>
                    </a:lnR>
                    <a:lnT w="38100">
                      <a:solidFill>
                        <a:srgbClr val="3333CC"/>
                      </a:solidFill>
                      <a:prstDash val="solid"/>
                    </a:lnT>
                    <a:lnB w="38100">
                      <a:solidFill>
                        <a:srgbClr val="3333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 algn="ctr">
                        <a:lnSpc>
                          <a:spcPct val="100000"/>
                        </a:lnSpc>
                        <a:spcBef>
                          <a:spcPts val="1964"/>
                        </a:spcBef>
                      </a:pPr>
                      <a:r>
                        <a:rPr sz="2400" spc="-10" dirty="0">
                          <a:latin typeface="Comic Sans MS"/>
                          <a:cs typeface="Comic Sans MS"/>
                        </a:rPr>
                        <a:t>physical</a:t>
                      </a:r>
                      <a:endParaRPr sz="2400">
                        <a:latin typeface="Comic Sans MS"/>
                        <a:cs typeface="Comic Sans MS"/>
                      </a:endParaRPr>
                    </a:p>
                  </a:txBody>
                  <a:tcPr marL="0" marR="0" marT="249554" marB="0">
                    <a:lnL w="38100">
                      <a:solidFill>
                        <a:srgbClr val="3333CC"/>
                      </a:solidFill>
                      <a:prstDash val="solid"/>
                    </a:lnL>
                    <a:lnR w="76200">
                      <a:solidFill>
                        <a:srgbClr val="3333CC"/>
                      </a:solidFill>
                      <a:prstDash val="solid"/>
                    </a:lnR>
                    <a:lnT w="38100">
                      <a:solidFill>
                        <a:srgbClr val="3333CC"/>
                      </a:solidFill>
                      <a:prstDash val="solid"/>
                    </a:lnT>
                    <a:lnB w="38100">
                      <a:solidFill>
                        <a:srgbClr val="3333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00735" y="295821"/>
            <a:ext cx="56464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Internet</a:t>
            </a:r>
            <a:r>
              <a:rPr spc="-150" dirty="0"/>
              <a:t> </a:t>
            </a:r>
            <a:r>
              <a:rPr dirty="0"/>
              <a:t>protocol</a:t>
            </a:r>
            <a:r>
              <a:rPr spc="-155" dirty="0"/>
              <a:t> </a:t>
            </a:r>
            <a:r>
              <a:rPr spc="-10" dirty="0"/>
              <a:t>stack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8982" y="1445297"/>
            <a:ext cx="200660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spc="54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1621" y="1456816"/>
            <a:ext cx="33477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omic Sans MS"/>
                <a:cs typeface="Comic Sans MS"/>
              </a:rPr>
              <a:t>application:</a:t>
            </a:r>
            <a:r>
              <a:rPr sz="1800" spc="-7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supporting</a:t>
            </a:r>
            <a:r>
              <a:rPr sz="1800" spc="-80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network applications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6182" y="2061248"/>
            <a:ext cx="1708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00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81937" y="2056219"/>
            <a:ext cx="14439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omic Sans MS"/>
                <a:cs typeface="Comic Sans MS"/>
              </a:rPr>
              <a:t>ftp,</a:t>
            </a:r>
            <a:r>
              <a:rPr sz="1600" spc="-15" dirty="0">
                <a:latin typeface="Comic Sans MS"/>
                <a:cs typeface="Comic Sans MS"/>
              </a:rPr>
              <a:t> </a:t>
            </a:r>
            <a:r>
              <a:rPr sz="1600" dirty="0">
                <a:latin typeface="Comic Sans MS"/>
                <a:cs typeface="Comic Sans MS"/>
              </a:rPr>
              <a:t>smtp,</a:t>
            </a:r>
            <a:r>
              <a:rPr sz="1600" spc="-10" dirty="0">
                <a:latin typeface="Comic Sans MS"/>
                <a:cs typeface="Comic Sans MS"/>
              </a:rPr>
              <a:t> </a:t>
            </a:r>
            <a:r>
              <a:rPr sz="1600" spc="-20" dirty="0">
                <a:latin typeface="Comic Sans MS"/>
                <a:cs typeface="Comic Sans MS"/>
              </a:rPr>
              <a:t>http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8982" y="2344216"/>
            <a:ext cx="200660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spc="54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81621" y="2355735"/>
            <a:ext cx="3757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omic Sans MS"/>
                <a:cs typeface="Comic Sans MS"/>
              </a:rPr>
              <a:t>transport:</a:t>
            </a:r>
            <a:r>
              <a:rPr sz="1800" spc="-3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host-</a:t>
            </a:r>
            <a:r>
              <a:rPr sz="1800" dirty="0">
                <a:latin typeface="Comic Sans MS"/>
                <a:cs typeface="Comic Sans MS"/>
              </a:rPr>
              <a:t>host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data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transfer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06182" y="2687294"/>
            <a:ext cx="1708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00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81937" y="2681185"/>
            <a:ext cx="782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omic Sans MS"/>
                <a:cs typeface="Comic Sans MS"/>
              </a:rPr>
              <a:t>tcp,</a:t>
            </a:r>
            <a:r>
              <a:rPr sz="1600" spc="-25" dirty="0">
                <a:latin typeface="Comic Sans MS"/>
                <a:cs typeface="Comic Sans MS"/>
              </a:rPr>
              <a:t> udp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8982" y="2970618"/>
            <a:ext cx="200660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spc="54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81621" y="2982137"/>
            <a:ext cx="38690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omic Sans MS"/>
                <a:cs typeface="Comic Sans MS"/>
              </a:rPr>
              <a:t>network:</a:t>
            </a:r>
            <a:r>
              <a:rPr sz="1800" spc="-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routing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of</a:t>
            </a:r>
            <a:r>
              <a:rPr sz="1800" spc="-5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datagrams</a:t>
            </a:r>
            <a:r>
              <a:rPr sz="1800" spc="-50" dirty="0">
                <a:latin typeface="Comic Sans MS"/>
                <a:cs typeface="Comic Sans MS"/>
              </a:rPr>
              <a:t> </a:t>
            </a:r>
            <a:r>
              <a:rPr sz="1800" spc="-20" dirty="0">
                <a:latin typeface="Comic Sans MS"/>
                <a:cs typeface="Comic Sans MS"/>
              </a:rPr>
              <a:t>from </a:t>
            </a:r>
            <a:r>
              <a:rPr sz="1800" dirty="0">
                <a:latin typeface="Comic Sans MS"/>
                <a:cs typeface="Comic Sans MS"/>
              </a:rPr>
              <a:t>source</a:t>
            </a:r>
            <a:r>
              <a:rPr sz="1800" spc="-4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to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destination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06182" y="3586568"/>
            <a:ext cx="1708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00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81937" y="3580460"/>
            <a:ext cx="19208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omic Sans MS"/>
                <a:cs typeface="Comic Sans MS"/>
              </a:rPr>
              <a:t>ip,</a:t>
            </a:r>
            <a:r>
              <a:rPr sz="1600" spc="-45" dirty="0">
                <a:latin typeface="Comic Sans MS"/>
                <a:cs typeface="Comic Sans MS"/>
              </a:rPr>
              <a:t> </a:t>
            </a:r>
            <a:r>
              <a:rPr sz="1600" dirty="0">
                <a:latin typeface="Comic Sans MS"/>
                <a:cs typeface="Comic Sans MS"/>
              </a:rPr>
              <a:t>routing</a:t>
            </a:r>
            <a:r>
              <a:rPr sz="1600" spc="-40" dirty="0">
                <a:latin typeface="Comic Sans MS"/>
                <a:cs typeface="Comic Sans MS"/>
              </a:rPr>
              <a:t> </a:t>
            </a:r>
            <a:r>
              <a:rPr sz="1600" spc="-10" dirty="0">
                <a:latin typeface="Comic Sans MS"/>
                <a:cs typeface="Comic Sans MS"/>
              </a:rPr>
              <a:t>protocols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8982" y="3869537"/>
            <a:ext cx="200660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spc="54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81621" y="3881056"/>
            <a:ext cx="42589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omic Sans MS"/>
                <a:cs typeface="Comic Sans MS"/>
              </a:rPr>
              <a:t>link:</a:t>
            </a:r>
            <a:r>
              <a:rPr sz="1800" spc="-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data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transfer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between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neighboring </a:t>
            </a:r>
            <a:r>
              <a:rPr sz="1800" dirty="0">
                <a:latin typeface="Comic Sans MS"/>
                <a:cs typeface="Comic Sans MS"/>
              </a:rPr>
              <a:t>network</a:t>
            </a:r>
            <a:r>
              <a:rPr sz="1800" spc="-55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elements</a:t>
            </a:r>
            <a:endParaRPr sz="1800" dirty="0">
              <a:latin typeface="Comic Sans MS"/>
              <a:cs typeface="Comic Sans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06182" y="4485855"/>
            <a:ext cx="1708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00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81937" y="4480826"/>
            <a:ext cx="13125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omic Sans MS"/>
                <a:cs typeface="Comic Sans MS"/>
              </a:rPr>
              <a:t>ppp,</a:t>
            </a:r>
            <a:r>
              <a:rPr sz="1600" spc="-25" dirty="0">
                <a:latin typeface="Comic Sans MS"/>
                <a:cs typeface="Comic Sans MS"/>
              </a:rPr>
              <a:t> </a:t>
            </a:r>
            <a:r>
              <a:rPr sz="1600" spc="-10" dirty="0">
                <a:latin typeface="Comic Sans MS"/>
                <a:cs typeface="Comic Sans MS"/>
              </a:rPr>
              <a:t>ethernet</a:t>
            </a:r>
            <a:endParaRPr sz="1600" dirty="0">
              <a:latin typeface="Comic Sans MS"/>
              <a:cs typeface="Comic Sans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8982" y="4768824"/>
            <a:ext cx="200660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spc="54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81621" y="4780343"/>
            <a:ext cx="4468495" cy="1454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891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omic Sans MS"/>
                <a:cs typeface="Comic Sans MS"/>
              </a:rPr>
              <a:t>physical:</a:t>
            </a:r>
            <a:r>
              <a:rPr sz="1800" spc="-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bits</a:t>
            </a:r>
            <a:r>
              <a:rPr sz="1800" spc="-4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“on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the</a:t>
            </a:r>
            <a:r>
              <a:rPr sz="1800" spc="-3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wire”,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modulation </a:t>
            </a:r>
            <a:r>
              <a:rPr sz="1800" dirty="0">
                <a:latin typeface="Comic Sans MS"/>
                <a:cs typeface="Comic Sans MS"/>
              </a:rPr>
              <a:t>scheme,</a:t>
            </a:r>
            <a:r>
              <a:rPr sz="1800" spc="-55" dirty="0">
                <a:latin typeface="Comic Sans MS"/>
                <a:cs typeface="Comic Sans MS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line-</a:t>
            </a:r>
            <a:r>
              <a:rPr sz="1800" dirty="0">
                <a:latin typeface="Comic Sans MS"/>
                <a:cs typeface="Comic Sans MS"/>
              </a:rPr>
              <a:t>coding</a:t>
            </a:r>
            <a:r>
              <a:rPr sz="1800" spc="-5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format,</a:t>
            </a:r>
            <a:r>
              <a:rPr sz="1800" spc="-5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electrical</a:t>
            </a:r>
            <a:r>
              <a:rPr sz="1800" spc="-45" dirty="0">
                <a:latin typeface="Comic Sans MS"/>
                <a:cs typeface="Comic Sans MS"/>
              </a:rPr>
              <a:t> </a:t>
            </a:r>
            <a:r>
              <a:rPr sz="1800" spc="-50" dirty="0">
                <a:latin typeface="Comic Sans MS"/>
                <a:cs typeface="Comic Sans MS"/>
              </a:rPr>
              <a:t>&amp; </a:t>
            </a:r>
            <a:r>
              <a:rPr sz="1800" dirty="0">
                <a:latin typeface="Comic Sans MS"/>
                <a:cs typeface="Comic Sans MS"/>
              </a:rPr>
              <a:t>physical</a:t>
            </a:r>
            <a:r>
              <a:rPr sz="1800" spc="-8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specifications,</a:t>
            </a:r>
            <a:r>
              <a:rPr sz="1800" spc="-70" dirty="0">
                <a:latin typeface="Comic Sans MS"/>
                <a:cs typeface="Comic Sans MS"/>
              </a:rPr>
              <a:t> </a:t>
            </a:r>
            <a:r>
              <a:rPr sz="1800" spc="-20" dirty="0">
                <a:latin typeface="Comic Sans MS"/>
                <a:cs typeface="Comic Sans MS"/>
              </a:rPr>
              <a:t>etc.</a:t>
            </a:r>
            <a:endParaRPr sz="1800">
              <a:latin typeface="Comic Sans MS"/>
              <a:cs typeface="Comic Sans MS"/>
            </a:endParaRPr>
          </a:p>
          <a:p>
            <a:pPr marL="12700" marR="5080">
              <a:lnSpc>
                <a:spcPct val="100000"/>
              </a:lnSpc>
              <a:spcBef>
                <a:spcPts val="450"/>
              </a:spcBef>
            </a:pPr>
            <a:r>
              <a:rPr sz="1800" dirty="0">
                <a:latin typeface="Comic Sans MS"/>
                <a:cs typeface="Comic Sans MS"/>
              </a:rPr>
              <a:t>Routers</a:t>
            </a:r>
            <a:r>
              <a:rPr sz="1800" spc="-3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in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the</a:t>
            </a:r>
            <a:r>
              <a:rPr sz="1800" spc="-4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network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operate</a:t>
            </a:r>
            <a:r>
              <a:rPr sz="1800" spc="-4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only</a:t>
            </a:r>
            <a:r>
              <a:rPr sz="1800" spc="-3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up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spc="-25" dirty="0">
                <a:latin typeface="Comic Sans MS"/>
                <a:cs typeface="Comic Sans MS"/>
              </a:rPr>
              <a:t>to </a:t>
            </a:r>
            <a:r>
              <a:rPr sz="1800" dirty="0">
                <a:latin typeface="Comic Sans MS"/>
                <a:cs typeface="Comic Sans MS"/>
              </a:rPr>
              <a:t>the</a:t>
            </a:r>
            <a:r>
              <a:rPr sz="1800" spc="-5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Network</a:t>
            </a:r>
            <a:r>
              <a:rPr sz="1800" spc="-35" dirty="0">
                <a:latin typeface="Comic Sans MS"/>
                <a:cs typeface="Comic Sans MS"/>
              </a:rPr>
              <a:t> </a:t>
            </a:r>
            <a:r>
              <a:rPr sz="1800" spc="-20" dirty="0">
                <a:latin typeface="Comic Sans MS"/>
                <a:cs typeface="Comic Sans MS"/>
              </a:rPr>
              <a:t>Layer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8982" y="5649023"/>
            <a:ext cx="180340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spc="85" dirty="0">
                <a:solidFill>
                  <a:srgbClr val="3333CC"/>
                </a:solidFill>
                <a:latin typeface="Symbol"/>
                <a:cs typeface="Symbol"/>
              </a:rPr>
              <a:t></a:t>
            </a:r>
            <a:endParaRPr sz="1500">
              <a:latin typeface="Symbol"/>
              <a:cs typeface="Symbo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848565" y="1847875"/>
            <a:ext cx="173355" cy="3448685"/>
            <a:chOff x="5848565" y="1847875"/>
            <a:chExt cx="173355" cy="3448685"/>
          </a:xfrm>
        </p:grpSpPr>
        <p:sp>
          <p:nvSpPr>
            <p:cNvPr id="27" name="object 27"/>
            <p:cNvSpPr/>
            <p:nvPr/>
          </p:nvSpPr>
          <p:spPr>
            <a:xfrm>
              <a:off x="5934240" y="2008085"/>
              <a:ext cx="1905" cy="3128010"/>
            </a:xfrm>
            <a:custGeom>
              <a:avLst/>
              <a:gdLst/>
              <a:ahLst/>
              <a:cxnLst/>
              <a:rect l="l" t="t" r="r" b="b"/>
              <a:pathLst>
                <a:path w="1904" h="3128010">
                  <a:moveTo>
                    <a:pt x="0" y="0"/>
                  </a:moveTo>
                  <a:lnTo>
                    <a:pt x="1435" y="3127679"/>
                  </a:lnTo>
                </a:path>
              </a:pathLst>
            </a:custGeom>
            <a:ln w="57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848566" y="1847875"/>
              <a:ext cx="173355" cy="3448685"/>
            </a:xfrm>
            <a:custGeom>
              <a:avLst/>
              <a:gdLst/>
              <a:ahLst/>
              <a:cxnLst/>
              <a:rect l="l" t="t" r="r" b="b"/>
              <a:pathLst>
                <a:path w="173354" h="3448685">
                  <a:moveTo>
                    <a:pt x="171716" y="171729"/>
                  </a:moveTo>
                  <a:lnTo>
                    <a:pt x="85674" y="0"/>
                  </a:lnTo>
                  <a:lnTo>
                    <a:pt x="0" y="171729"/>
                  </a:lnTo>
                  <a:lnTo>
                    <a:pt x="171716" y="171729"/>
                  </a:lnTo>
                  <a:close/>
                </a:path>
                <a:path w="173354" h="3448685">
                  <a:moveTo>
                    <a:pt x="172796" y="3276358"/>
                  </a:moveTo>
                  <a:lnTo>
                    <a:pt x="1079" y="3276358"/>
                  </a:lnTo>
                  <a:lnTo>
                    <a:pt x="87109" y="3448088"/>
                  </a:lnTo>
                  <a:lnTo>
                    <a:pt x="172796" y="32763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204421" y="3103829"/>
            <a:ext cx="6007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Host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8029803" y="3219475"/>
            <a:ext cx="173355" cy="2209800"/>
            <a:chOff x="8029803" y="3219475"/>
            <a:chExt cx="173355" cy="2209800"/>
          </a:xfrm>
        </p:grpSpPr>
        <p:sp>
          <p:nvSpPr>
            <p:cNvPr id="31" name="object 31"/>
            <p:cNvSpPr/>
            <p:nvPr/>
          </p:nvSpPr>
          <p:spPr>
            <a:xfrm>
              <a:off x="8115477" y="3379685"/>
              <a:ext cx="1905" cy="1889760"/>
            </a:xfrm>
            <a:custGeom>
              <a:avLst/>
              <a:gdLst/>
              <a:ahLst/>
              <a:cxnLst/>
              <a:rect l="l" t="t" r="r" b="b"/>
              <a:pathLst>
                <a:path w="1904" h="1889760">
                  <a:moveTo>
                    <a:pt x="0" y="0"/>
                  </a:moveTo>
                  <a:lnTo>
                    <a:pt x="1447" y="1889277"/>
                  </a:lnTo>
                </a:path>
              </a:pathLst>
            </a:custGeom>
            <a:ln w="57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029804" y="3219475"/>
              <a:ext cx="173355" cy="2209800"/>
            </a:xfrm>
            <a:custGeom>
              <a:avLst/>
              <a:gdLst/>
              <a:ahLst/>
              <a:cxnLst/>
              <a:rect l="l" t="t" r="r" b="b"/>
              <a:pathLst>
                <a:path w="173354" h="2209800">
                  <a:moveTo>
                    <a:pt x="171716" y="171729"/>
                  </a:moveTo>
                  <a:lnTo>
                    <a:pt x="85674" y="0"/>
                  </a:lnTo>
                  <a:lnTo>
                    <a:pt x="0" y="171729"/>
                  </a:lnTo>
                  <a:lnTo>
                    <a:pt x="171716" y="171729"/>
                  </a:lnTo>
                  <a:close/>
                </a:path>
                <a:path w="173354" h="2209800">
                  <a:moveTo>
                    <a:pt x="172796" y="2037969"/>
                  </a:moveTo>
                  <a:lnTo>
                    <a:pt x="1079" y="2037969"/>
                  </a:lnTo>
                  <a:lnTo>
                    <a:pt x="87122" y="2209685"/>
                  </a:lnTo>
                  <a:lnTo>
                    <a:pt x="172796" y="2037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8209343" y="4018229"/>
            <a:ext cx="85534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Router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37260" y="6434899"/>
            <a:ext cx="10902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omic Sans MS"/>
                <a:cs typeface="Comic Sans MS"/>
              </a:rPr>
              <a:t>Introduction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98776" y="6434899"/>
            <a:ext cx="3530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1-</a:t>
            </a:r>
            <a:r>
              <a:rPr sz="1400" spc="-25" dirty="0">
                <a:latin typeface="Times New Roman"/>
                <a:cs typeface="Times New Roman"/>
              </a:rPr>
              <a:t>59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44914" y="660234"/>
            <a:ext cx="1297305" cy="1546860"/>
            <a:chOff x="2644914" y="660234"/>
            <a:chExt cx="1297305" cy="1546860"/>
          </a:xfrm>
        </p:grpSpPr>
        <p:sp>
          <p:nvSpPr>
            <p:cNvPr id="5" name="object 5"/>
            <p:cNvSpPr/>
            <p:nvPr/>
          </p:nvSpPr>
          <p:spPr>
            <a:xfrm>
              <a:off x="3812762" y="1442878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679"/>
                  </a:moveTo>
                  <a:lnTo>
                    <a:pt x="1370" y="1370"/>
                  </a:lnTo>
                  <a:lnTo>
                    <a:pt x="4679" y="0"/>
                  </a:lnTo>
                  <a:lnTo>
                    <a:pt x="7989" y="1370"/>
                  </a:lnTo>
                  <a:lnTo>
                    <a:pt x="9359" y="4679"/>
                  </a:lnTo>
                  <a:lnTo>
                    <a:pt x="7989" y="7989"/>
                  </a:lnTo>
                  <a:lnTo>
                    <a:pt x="4679" y="9359"/>
                  </a:lnTo>
                  <a:lnTo>
                    <a:pt x="1370" y="7989"/>
                  </a:lnTo>
                  <a:lnTo>
                    <a:pt x="0" y="4679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44914" y="660234"/>
              <a:ext cx="1297305" cy="1546860"/>
            </a:xfrm>
            <a:custGeom>
              <a:avLst/>
              <a:gdLst/>
              <a:ahLst/>
              <a:cxnLst/>
              <a:rect l="l" t="t" r="r" b="b"/>
              <a:pathLst>
                <a:path w="1297304" h="1546860">
                  <a:moveTo>
                    <a:pt x="1296720" y="0"/>
                  </a:moveTo>
                  <a:lnTo>
                    <a:pt x="0" y="0"/>
                  </a:lnTo>
                  <a:lnTo>
                    <a:pt x="0" y="1546567"/>
                  </a:lnTo>
                  <a:lnTo>
                    <a:pt x="648360" y="1546567"/>
                  </a:lnTo>
                  <a:lnTo>
                    <a:pt x="1296720" y="1546567"/>
                  </a:lnTo>
                  <a:lnTo>
                    <a:pt x="129672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35825" y="730338"/>
            <a:ext cx="81406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0000"/>
                </a:solidFill>
                <a:latin typeface="Comic Sans MS"/>
                <a:cs typeface="Comic Sans MS"/>
              </a:rPr>
              <a:t>message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814" y="1006106"/>
            <a:ext cx="8134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0000"/>
                </a:solidFill>
                <a:latin typeface="Comic Sans MS"/>
                <a:cs typeface="Comic Sans MS"/>
              </a:rPr>
              <a:t>segment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4218" y="1229593"/>
            <a:ext cx="962025" cy="690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7625">
              <a:lnSpc>
                <a:spcPct val="136400"/>
              </a:lnSpc>
              <a:spcBef>
                <a:spcPts val="100"/>
              </a:spcBef>
            </a:pPr>
            <a:r>
              <a:rPr sz="1600" spc="-10" dirty="0">
                <a:solidFill>
                  <a:srgbClr val="FF0000"/>
                </a:solidFill>
                <a:latin typeface="Comic Sans MS"/>
                <a:cs typeface="Comic Sans MS"/>
              </a:rPr>
              <a:t>datagram frame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796374" y="257670"/>
            <a:ext cx="9620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none" spc="-10" dirty="0"/>
              <a:t>source</a:t>
            </a:r>
            <a:endParaRPr sz="2400"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91657" y="2833374"/>
            <a:ext cx="358745" cy="120971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2596680" y="731875"/>
            <a:ext cx="1273810" cy="1536700"/>
          </a:xfrm>
          <a:custGeom>
            <a:avLst/>
            <a:gdLst/>
            <a:ahLst/>
            <a:cxnLst/>
            <a:rect l="l" t="t" r="r" b="b"/>
            <a:pathLst>
              <a:path w="1273810" h="1536700">
                <a:moveTo>
                  <a:pt x="1273314" y="0"/>
                </a:moveTo>
                <a:lnTo>
                  <a:pt x="0" y="0"/>
                </a:lnTo>
                <a:lnTo>
                  <a:pt x="0" y="1536484"/>
                </a:lnTo>
                <a:lnTo>
                  <a:pt x="636841" y="1536484"/>
                </a:lnTo>
                <a:lnTo>
                  <a:pt x="1273314" y="1536484"/>
                </a:lnTo>
                <a:lnTo>
                  <a:pt x="12733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2582460" y="717655"/>
          <a:ext cx="1273175" cy="1534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3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8770">
                <a:tc>
                  <a:txBody>
                    <a:bodyPr/>
                    <a:lstStyle/>
                    <a:p>
                      <a:pPr marR="34925" algn="ctr">
                        <a:lnSpc>
                          <a:spcPts val="2095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Comic Sans MS"/>
                          <a:cs typeface="Comic Sans MS"/>
                        </a:rPr>
                        <a:t>application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R="3365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800" spc="-10" dirty="0">
                          <a:latin typeface="Comic Sans MS"/>
                          <a:cs typeface="Comic Sans MS"/>
                        </a:rPr>
                        <a:t>transport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670">
                <a:tc>
                  <a:txBody>
                    <a:bodyPr/>
                    <a:lstStyle/>
                    <a:p>
                      <a:pPr marR="33020" algn="ctr">
                        <a:lnSpc>
                          <a:spcPts val="2080"/>
                        </a:lnSpc>
                        <a:spcBef>
                          <a:spcPts val="30"/>
                        </a:spcBef>
                      </a:pPr>
                      <a:r>
                        <a:rPr sz="1800" spc="-10" dirty="0">
                          <a:latin typeface="Comic Sans MS"/>
                          <a:cs typeface="Comic Sans MS"/>
                        </a:rPr>
                        <a:t>network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38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R="33020" algn="ctr">
                        <a:lnSpc>
                          <a:spcPts val="1875"/>
                        </a:lnSpc>
                        <a:spcBef>
                          <a:spcPts val="195"/>
                        </a:spcBef>
                      </a:pPr>
                      <a:r>
                        <a:rPr sz="1800" spc="-20" dirty="0">
                          <a:latin typeface="Comic Sans MS"/>
                          <a:cs typeface="Comic Sans MS"/>
                        </a:rPr>
                        <a:t>link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marR="3302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800" spc="-10" dirty="0">
                          <a:latin typeface="Comic Sans MS"/>
                          <a:cs typeface="Comic Sans MS"/>
                        </a:rPr>
                        <a:t>physical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495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1057319" y="1663922"/>
          <a:ext cx="1325244" cy="247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18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5" dirty="0">
                          <a:latin typeface="Comic Sans MS"/>
                          <a:cs typeface="Comic Sans MS"/>
                        </a:rPr>
                        <a:t>H</a:t>
                      </a:r>
                      <a:r>
                        <a:rPr sz="1575" spc="-37" baseline="-23809" dirty="0">
                          <a:latin typeface="Comic Sans MS"/>
                          <a:cs typeface="Comic Sans MS"/>
                        </a:rPr>
                        <a:t>l</a:t>
                      </a:r>
                      <a:endParaRPr sz="1575" baseline="-23809">
                        <a:latin typeface="Comic Sans MS"/>
                        <a:cs typeface="Comic Sans MS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5" dirty="0">
                          <a:latin typeface="Comic Sans MS"/>
                          <a:cs typeface="Comic Sans MS"/>
                        </a:rPr>
                        <a:t>H</a:t>
                      </a:r>
                      <a:r>
                        <a:rPr sz="1575" spc="-37" baseline="-23809" dirty="0">
                          <a:latin typeface="Comic Sans MS"/>
                          <a:cs typeface="Comic Sans MS"/>
                        </a:rPr>
                        <a:t>n</a:t>
                      </a:r>
                      <a:endParaRPr sz="1575" baseline="-23809">
                        <a:latin typeface="Comic Sans MS"/>
                        <a:cs typeface="Comic Sans MS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5" dirty="0">
                          <a:latin typeface="Comic Sans MS"/>
                          <a:cs typeface="Comic Sans MS"/>
                        </a:rPr>
                        <a:t>H</a:t>
                      </a:r>
                      <a:r>
                        <a:rPr sz="1575" spc="-37" baseline="-23809" dirty="0">
                          <a:latin typeface="Comic Sans MS"/>
                          <a:cs typeface="Comic Sans MS"/>
                        </a:rPr>
                        <a:t>t</a:t>
                      </a:r>
                      <a:endParaRPr sz="1575" baseline="-23809">
                        <a:latin typeface="Comic Sans MS"/>
                        <a:cs typeface="Comic Sans MS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spc="-50" dirty="0">
                          <a:latin typeface="Comic Sans MS"/>
                          <a:cs typeface="Comic Sans MS"/>
                        </a:rPr>
                        <a:t>M</a:t>
                      </a:r>
                      <a:endParaRPr sz="1400">
                        <a:latin typeface="Comic Sans MS"/>
                        <a:cs typeface="Comic Sans MS"/>
                      </a:endParaRPr>
                    </a:p>
                  </a:txBody>
                  <a:tcPr marL="0" marR="0" marT="139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1304639" y="1365484"/>
          <a:ext cx="1071878" cy="247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5" dirty="0">
                          <a:latin typeface="Comic Sans MS"/>
                          <a:cs typeface="Comic Sans MS"/>
                        </a:rPr>
                        <a:t>H</a:t>
                      </a:r>
                      <a:r>
                        <a:rPr sz="1575" spc="-37" baseline="-23809" dirty="0">
                          <a:latin typeface="Comic Sans MS"/>
                          <a:cs typeface="Comic Sans MS"/>
                        </a:rPr>
                        <a:t>n</a:t>
                      </a:r>
                      <a:endParaRPr sz="1575" baseline="-23809">
                        <a:latin typeface="Comic Sans MS"/>
                        <a:cs typeface="Comic Sans MS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5" dirty="0">
                          <a:latin typeface="Comic Sans MS"/>
                          <a:cs typeface="Comic Sans MS"/>
                        </a:rPr>
                        <a:t>H</a:t>
                      </a:r>
                      <a:r>
                        <a:rPr sz="1575" spc="-37" baseline="-23809" dirty="0">
                          <a:latin typeface="Comic Sans MS"/>
                          <a:cs typeface="Comic Sans MS"/>
                        </a:rPr>
                        <a:t>t</a:t>
                      </a:r>
                      <a:endParaRPr sz="1575" baseline="-23809">
                        <a:latin typeface="Comic Sans MS"/>
                        <a:cs typeface="Comic Sans MS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spc="-50" dirty="0">
                          <a:latin typeface="Comic Sans MS"/>
                          <a:cs typeface="Comic Sans MS"/>
                        </a:rPr>
                        <a:t>M</a:t>
                      </a:r>
                      <a:endParaRPr sz="1400">
                        <a:latin typeface="Comic Sans MS"/>
                        <a:cs typeface="Comic Sans MS"/>
                      </a:endParaRPr>
                    </a:p>
                  </a:txBody>
                  <a:tcPr marL="0" marR="0" marT="139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1612442" y="1061999"/>
            <a:ext cx="285115" cy="248285"/>
          </a:xfrm>
          <a:prstGeom prst="rect">
            <a:avLst/>
          </a:prstGeom>
          <a:ln w="9359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65"/>
              </a:spcBef>
            </a:pPr>
            <a:r>
              <a:rPr sz="1400" spc="-25" dirty="0">
                <a:latin typeface="Comic Sans MS"/>
                <a:cs typeface="Comic Sans MS"/>
              </a:rPr>
              <a:t>H</a:t>
            </a:r>
            <a:r>
              <a:rPr sz="1575" spc="-37" baseline="-23809" dirty="0">
                <a:latin typeface="Comic Sans MS"/>
                <a:cs typeface="Comic Sans MS"/>
              </a:rPr>
              <a:t>t</a:t>
            </a:r>
            <a:endParaRPr sz="1575" baseline="-23809">
              <a:latin typeface="Comic Sans MS"/>
              <a:cs typeface="Comic Sans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97202" y="1061999"/>
            <a:ext cx="471170" cy="248285"/>
          </a:xfrm>
          <a:prstGeom prst="rect">
            <a:avLst/>
          </a:prstGeom>
          <a:ln w="9359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latin typeface="Comic Sans MS"/>
                <a:cs typeface="Comic Sans MS"/>
              </a:rPr>
              <a:t>M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77758" y="749160"/>
            <a:ext cx="485775" cy="248285"/>
          </a:xfrm>
          <a:prstGeom prst="rect">
            <a:avLst/>
          </a:prstGeom>
          <a:ln w="9359">
            <a:solidFill>
              <a:srgbClr val="00000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196850">
              <a:lnSpc>
                <a:spcPct val="100000"/>
              </a:lnSpc>
              <a:spcBef>
                <a:spcPts val="110"/>
              </a:spcBef>
            </a:pPr>
            <a:r>
              <a:rPr sz="1400" spc="-50" dirty="0">
                <a:latin typeface="Comic Sans MS"/>
                <a:cs typeface="Comic Sans MS"/>
              </a:rPr>
              <a:t>M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26742" y="4192092"/>
            <a:ext cx="13493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destination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755355" y="4546434"/>
            <a:ext cx="1297305" cy="1546860"/>
          </a:xfrm>
          <a:custGeom>
            <a:avLst/>
            <a:gdLst/>
            <a:ahLst/>
            <a:cxnLst/>
            <a:rect l="l" t="t" r="r" b="b"/>
            <a:pathLst>
              <a:path w="1297305" h="1546860">
                <a:moveTo>
                  <a:pt x="1297089" y="0"/>
                </a:moveTo>
                <a:lnTo>
                  <a:pt x="0" y="0"/>
                </a:lnTo>
                <a:lnTo>
                  <a:pt x="0" y="1546567"/>
                </a:lnTo>
                <a:lnTo>
                  <a:pt x="648728" y="1546567"/>
                </a:lnTo>
                <a:lnTo>
                  <a:pt x="1297089" y="1546567"/>
                </a:lnTo>
                <a:lnTo>
                  <a:pt x="1297089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708200" y="4618075"/>
            <a:ext cx="1273175" cy="1536700"/>
          </a:xfrm>
          <a:custGeom>
            <a:avLst/>
            <a:gdLst/>
            <a:ahLst/>
            <a:cxnLst/>
            <a:rect l="l" t="t" r="r" b="b"/>
            <a:pathLst>
              <a:path w="1273175" h="1536700">
                <a:moveTo>
                  <a:pt x="1272959" y="0"/>
                </a:moveTo>
                <a:lnTo>
                  <a:pt x="0" y="0"/>
                </a:lnTo>
                <a:lnTo>
                  <a:pt x="0" y="1536484"/>
                </a:lnTo>
                <a:lnTo>
                  <a:pt x="636473" y="1536484"/>
                </a:lnTo>
                <a:lnTo>
                  <a:pt x="1272959" y="1536484"/>
                </a:lnTo>
                <a:lnTo>
                  <a:pt x="12729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1693981" y="4603855"/>
          <a:ext cx="1273175" cy="1534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3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8770">
                <a:tc>
                  <a:txBody>
                    <a:bodyPr/>
                    <a:lstStyle/>
                    <a:p>
                      <a:pPr marR="34925" algn="ctr">
                        <a:lnSpc>
                          <a:spcPts val="2095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Comic Sans MS"/>
                          <a:cs typeface="Comic Sans MS"/>
                        </a:rPr>
                        <a:t>application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R="3302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800" spc="-10" dirty="0">
                          <a:latin typeface="Comic Sans MS"/>
                          <a:cs typeface="Comic Sans MS"/>
                        </a:rPr>
                        <a:t>transport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670">
                <a:tc>
                  <a:txBody>
                    <a:bodyPr/>
                    <a:lstStyle/>
                    <a:p>
                      <a:pPr marR="34290" algn="ctr">
                        <a:lnSpc>
                          <a:spcPts val="2080"/>
                        </a:lnSpc>
                        <a:spcBef>
                          <a:spcPts val="30"/>
                        </a:spcBef>
                      </a:pPr>
                      <a:r>
                        <a:rPr sz="1800" spc="-10" dirty="0">
                          <a:latin typeface="Comic Sans MS"/>
                          <a:cs typeface="Comic Sans MS"/>
                        </a:rPr>
                        <a:t>network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38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R="33020" algn="ctr">
                        <a:lnSpc>
                          <a:spcPts val="1875"/>
                        </a:lnSpc>
                        <a:spcBef>
                          <a:spcPts val="195"/>
                        </a:spcBef>
                      </a:pPr>
                      <a:r>
                        <a:rPr sz="1800" spc="-20" dirty="0">
                          <a:latin typeface="Comic Sans MS"/>
                          <a:cs typeface="Comic Sans MS"/>
                        </a:rPr>
                        <a:t>link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marR="3365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800" spc="-10" dirty="0">
                          <a:latin typeface="Comic Sans MS"/>
                          <a:cs typeface="Comic Sans MS"/>
                        </a:rPr>
                        <a:t>physical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495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168116" y="5550122"/>
          <a:ext cx="1323339" cy="247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5" dirty="0">
                          <a:latin typeface="Comic Sans MS"/>
                          <a:cs typeface="Comic Sans MS"/>
                        </a:rPr>
                        <a:t>H</a:t>
                      </a:r>
                      <a:r>
                        <a:rPr sz="1575" spc="-37" baseline="-23809" dirty="0">
                          <a:latin typeface="Comic Sans MS"/>
                          <a:cs typeface="Comic Sans MS"/>
                        </a:rPr>
                        <a:t>l</a:t>
                      </a:r>
                      <a:endParaRPr sz="1575" baseline="-23809">
                        <a:latin typeface="Comic Sans MS"/>
                        <a:cs typeface="Comic Sans MS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5" dirty="0">
                          <a:latin typeface="Comic Sans MS"/>
                          <a:cs typeface="Comic Sans MS"/>
                        </a:rPr>
                        <a:t>H</a:t>
                      </a:r>
                      <a:r>
                        <a:rPr sz="1575" spc="-37" baseline="-23809" dirty="0">
                          <a:latin typeface="Comic Sans MS"/>
                          <a:cs typeface="Comic Sans MS"/>
                        </a:rPr>
                        <a:t>n</a:t>
                      </a:r>
                      <a:endParaRPr sz="1575" baseline="-23809">
                        <a:latin typeface="Comic Sans MS"/>
                        <a:cs typeface="Comic Sans MS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5" dirty="0">
                          <a:latin typeface="Comic Sans MS"/>
                          <a:cs typeface="Comic Sans MS"/>
                        </a:rPr>
                        <a:t>H</a:t>
                      </a:r>
                      <a:r>
                        <a:rPr sz="1575" spc="-37" baseline="-23809" dirty="0">
                          <a:latin typeface="Comic Sans MS"/>
                          <a:cs typeface="Comic Sans MS"/>
                        </a:rPr>
                        <a:t>t</a:t>
                      </a:r>
                      <a:endParaRPr sz="1575" baseline="-23809">
                        <a:latin typeface="Comic Sans MS"/>
                        <a:cs typeface="Comic Sans MS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spc="-50" dirty="0">
                          <a:latin typeface="Comic Sans MS"/>
                          <a:cs typeface="Comic Sans MS"/>
                        </a:rPr>
                        <a:t>M</a:t>
                      </a:r>
                      <a:endParaRPr sz="1400">
                        <a:latin typeface="Comic Sans MS"/>
                        <a:cs typeface="Comic Sans MS"/>
                      </a:endParaRPr>
                    </a:p>
                  </a:txBody>
                  <a:tcPr marL="0" marR="0" marT="139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415804" y="5251684"/>
          <a:ext cx="1074419" cy="247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5" dirty="0">
                          <a:latin typeface="Comic Sans MS"/>
                          <a:cs typeface="Comic Sans MS"/>
                        </a:rPr>
                        <a:t>H</a:t>
                      </a:r>
                      <a:r>
                        <a:rPr sz="1575" spc="-37" baseline="-23809" dirty="0">
                          <a:latin typeface="Comic Sans MS"/>
                          <a:cs typeface="Comic Sans MS"/>
                        </a:rPr>
                        <a:t>n</a:t>
                      </a:r>
                      <a:endParaRPr sz="1575" baseline="-23809">
                        <a:latin typeface="Comic Sans MS"/>
                        <a:cs typeface="Comic Sans MS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5" dirty="0">
                          <a:latin typeface="Comic Sans MS"/>
                          <a:cs typeface="Comic Sans MS"/>
                        </a:rPr>
                        <a:t>H</a:t>
                      </a:r>
                      <a:r>
                        <a:rPr sz="1575" spc="-37" baseline="-23809" dirty="0">
                          <a:latin typeface="Comic Sans MS"/>
                          <a:cs typeface="Comic Sans MS"/>
                        </a:rPr>
                        <a:t>t</a:t>
                      </a:r>
                      <a:endParaRPr sz="1575" baseline="-23809">
                        <a:latin typeface="Comic Sans MS"/>
                        <a:cs typeface="Comic Sans MS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spc="-50" dirty="0">
                          <a:latin typeface="Comic Sans MS"/>
                          <a:cs typeface="Comic Sans MS"/>
                        </a:rPr>
                        <a:t>M</a:t>
                      </a:r>
                      <a:endParaRPr sz="1400">
                        <a:latin typeface="Comic Sans MS"/>
                        <a:cs typeface="Comic Sans MS"/>
                      </a:endParaRPr>
                    </a:p>
                  </a:txBody>
                  <a:tcPr marL="0" marR="0" marT="139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object 25"/>
          <p:cNvSpPr txBox="1"/>
          <p:nvPr/>
        </p:nvSpPr>
        <p:spPr>
          <a:xfrm>
            <a:off x="723595" y="4948199"/>
            <a:ext cx="284480" cy="248285"/>
          </a:xfrm>
          <a:prstGeom prst="rect">
            <a:avLst/>
          </a:prstGeom>
          <a:ln w="9359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65"/>
              </a:spcBef>
            </a:pPr>
            <a:r>
              <a:rPr sz="1400" spc="-25" dirty="0">
                <a:latin typeface="Comic Sans MS"/>
                <a:cs typeface="Comic Sans MS"/>
              </a:rPr>
              <a:t>H</a:t>
            </a:r>
            <a:r>
              <a:rPr sz="1575" spc="-37" baseline="-23809" dirty="0">
                <a:latin typeface="Comic Sans MS"/>
                <a:cs typeface="Comic Sans MS"/>
              </a:rPr>
              <a:t>t</a:t>
            </a:r>
            <a:endParaRPr sz="1575" baseline="-23809">
              <a:latin typeface="Comic Sans MS"/>
              <a:cs typeface="Comic Sans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07999" y="4948199"/>
            <a:ext cx="471805" cy="248285"/>
          </a:xfrm>
          <a:prstGeom prst="rect">
            <a:avLst/>
          </a:prstGeom>
          <a:ln w="9359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latin typeface="Comic Sans MS"/>
                <a:cs typeface="Comic Sans MS"/>
              </a:rPr>
              <a:t>M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88923" y="4635360"/>
            <a:ext cx="486409" cy="248285"/>
          </a:xfrm>
          <a:prstGeom prst="rect">
            <a:avLst/>
          </a:prstGeom>
          <a:ln w="9359">
            <a:solidFill>
              <a:srgbClr val="00000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196850">
              <a:lnSpc>
                <a:spcPct val="100000"/>
              </a:lnSpc>
              <a:spcBef>
                <a:spcPts val="110"/>
              </a:spcBef>
            </a:pPr>
            <a:r>
              <a:rPr sz="1400" spc="-50" dirty="0">
                <a:latin typeface="Comic Sans MS"/>
                <a:cs typeface="Comic Sans MS"/>
              </a:rPr>
              <a:t>M</a:t>
            </a:r>
            <a:endParaRPr sz="1400">
              <a:latin typeface="Comic Sans MS"/>
              <a:cs typeface="Comic Sans MS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697004" y="4163758"/>
            <a:ext cx="1336040" cy="1008380"/>
            <a:chOff x="5697004" y="4163758"/>
            <a:chExt cx="1336040" cy="1008380"/>
          </a:xfrm>
        </p:grpSpPr>
        <p:sp>
          <p:nvSpPr>
            <p:cNvPr id="29" name="object 29"/>
            <p:cNvSpPr/>
            <p:nvPr/>
          </p:nvSpPr>
          <p:spPr>
            <a:xfrm>
              <a:off x="5745238" y="4163758"/>
              <a:ext cx="1287780" cy="936625"/>
            </a:xfrm>
            <a:custGeom>
              <a:avLst/>
              <a:gdLst/>
              <a:ahLst/>
              <a:cxnLst/>
              <a:rect l="l" t="t" r="r" b="b"/>
              <a:pathLst>
                <a:path w="1287779" h="936625">
                  <a:moveTo>
                    <a:pt x="1287360" y="0"/>
                  </a:moveTo>
                  <a:lnTo>
                    <a:pt x="0" y="0"/>
                  </a:lnTo>
                  <a:lnTo>
                    <a:pt x="0" y="936358"/>
                  </a:lnTo>
                  <a:lnTo>
                    <a:pt x="643686" y="936358"/>
                  </a:lnTo>
                  <a:lnTo>
                    <a:pt x="1287360" y="936358"/>
                  </a:lnTo>
                  <a:lnTo>
                    <a:pt x="128736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697004" y="4235399"/>
              <a:ext cx="1264285" cy="937260"/>
            </a:xfrm>
            <a:custGeom>
              <a:avLst/>
              <a:gdLst/>
              <a:ahLst/>
              <a:cxnLst/>
              <a:rect l="l" t="t" r="r" b="b"/>
              <a:pathLst>
                <a:path w="1264284" h="937260">
                  <a:moveTo>
                    <a:pt x="1263954" y="0"/>
                  </a:moveTo>
                  <a:lnTo>
                    <a:pt x="0" y="0"/>
                  </a:lnTo>
                  <a:lnTo>
                    <a:pt x="0" y="936726"/>
                  </a:lnTo>
                  <a:lnTo>
                    <a:pt x="632155" y="936726"/>
                  </a:lnTo>
                  <a:lnTo>
                    <a:pt x="1263954" y="936726"/>
                  </a:lnTo>
                  <a:lnTo>
                    <a:pt x="12639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697004" y="4235399"/>
            <a:ext cx="1264285" cy="318135"/>
          </a:xfrm>
          <a:prstGeom prst="rect">
            <a:avLst/>
          </a:prstGeom>
          <a:ln w="28439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179070">
              <a:lnSpc>
                <a:spcPct val="100000"/>
              </a:lnSpc>
              <a:spcBef>
                <a:spcPts val="320"/>
              </a:spcBef>
            </a:pPr>
            <a:r>
              <a:rPr sz="1800" spc="-10" dirty="0">
                <a:latin typeface="Comic Sans MS"/>
                <a:cs typeface="Comic Sans MS"/>
              </a:rPr>
              <a:t>network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697004" y="4552924"/>
            <a:ext cx="1264285" cy="321310"/>
          </a:xfrm>
          <a:prstGeom prst="rect">
            <a:avLst/>
          </a:prstGeom>
          <a:ln w="28439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R="32384" algn="ctr">
              <a:lnSpc>
                <a:spcPct val="100000"/>
              </a:lnSpc>
              <a:spcBef>
                <a:spcPts val="200"/>
              </a:spcBef>
            </a:pPr>
            <a:r>
              <a:rPr sz="1800" spc="-20" dirty="0">
                <a:latin typeface="Comic Sans MS"/>
                <a:cs typeface="Comic Sans MS"/>
              </a:rPr>
              <a:t>link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697004" y="4873675"/>
            <a:ext cx="1264285" cy="298450"/>
          </a:xfrm>
          <a:prstGeom prst="rect">
            <a:avLst/>
          </a:prstGeom>
          <a:ln w="28439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45"/>
              </a:spcBef>
            </a:pPr>
            <a:r>
              <a:rPr sz="1800" spc="-10" dirty="0">
                <a:latin typeface="Comic Sans MS"/>
                <a:cs typeface="Comic Sans MS"/>
              </a:rPr>
              <a:t>physical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864402" y="2271598"/>
            <a:ext cx="1335405" cy="717550"/>
            <a:chOff x="5864402" y="2271598"/>
            <a:chExt cx="1335405" cy="717550"/>
          </a:xfrm>
        </p:grpSpPr>
        <p:sp>
          <p:nvSpPr>
            <p:cNvPr id="35" name="object 35"/>
            <p:cNvSpPr/>
            <p:nvPr/>
          </p:nvSpPr>
          <p:spPr>
            <a:xfrm>
              <a:off x="5911926" y="2271598"/>
              <a:ext cx="1287780" cy="651510"/>
            </a:xfrm>
            <a:custGeom>
              <a:avLst/>
              <a:gdLst/>
              <a:ahLst/>
              <a:cxnLst/>
              <a:rect l="l" t="t" r="r" b="b"/>
              <a:pathLst>
                <a:path w="1287779" h="651510">
                  <a:moveTo>
                    <a:pt x="1287348" y="0"/>
                  </a:moveTo>
                  <a:lnTo>
                    <a:pt x="0" y="0"/>
                  </a:lnTo>
                  <a:lnTo>
                    <a:pt x="0" y="650887"/>
                  </a:lnTo>
                  <a:lnTo>
                    <a:pt x="643674" y="650887"/>
                  </a:lnTo>
                  <a:lnTo>
                    <a:pt x="1287348" y="650887"/>
                  </a:lnTo>
                  <a:lnTo>
                    <a:pt x="1287348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864402" y="2342883"/>
              <a:ext cx="1263650" cy="646430"/>
            </a:xfrm>
            <a:custGeom>
              <a:avLst/>
              <a:gdLst/>
              <a:ahLst/>
              <a:cxnLst/>
              <a:rect l="l" t="t" r="r" b="b"/>
              <a:pathLst>
                <a:path w="1263650" h="646430">
                  <a:moveTo>
                    <a:pt x="1263599" y="0"/>
                  </a:moveTo>
                  <a:lnTo>
                    <a:pt x="0" y="0"/>
                  </a:lnTo>
                  <a:lnTo>
                    <a:pt x="0" y="646201"/>
                  </a:lnTo>
                  <a:lnTo>
                    <a:pt x="631799" y="646201"/>
                  </a:lnTo>
                  <a:lnTo>
                    <a:pt x="1263599" y="646201"/>
                  </a:lnTo>
                  <a:lnTo>
                    <a:pt x="12635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864402" y="2342883"/>
            <a:ext cx="1263650" cy="318135"/>
          </a:xfrm>
          <a:prstGeom prst="rect">
            <a:avLst/>
          </a:prstGeom>
          <a:ln w="28439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R="34290" algn="ctr">
              <a:lnSpc>
                <a:spcPct val="100000"/>
              </a:lnSpc>
              <a:spcBef>
                <a:spcPts val="320"/>
              </a:spcBef>
            </a:pPr>
            <a:r>
              <a:rPr sz="1800" spc="-20" dirty="0">
                <a:latin typeface="Comic Sans MS"/>
                <a:cs typeface="Comic Sans MS"/>
              </a:rPr>
              <a:t>link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864402" y="2660764"/>
            <a:ext cx="1263650" cy="328930"/>
          </a:xfrm>
          <a:prstGeom prst="rect">
            <a:avLst/>
          </a:prstGeom>
          <a:ln w="28439">
            <a:solidFill>
              <a:srgbClr val="000000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90"/>
              </a:spcBef>
            </a:pPr>
            <a:r>
              <a:rPr sz="1800" spc="-10" dirty="0">
                <a:latin typeface="Comic Sans MS"/>
                <a:cs typeface="Comic Sans MS"/>
              </a:rPr>
              <a:t>physical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581061" y="5029382"/>
            <a:ext cx="764540" cy="266700"/>
            <a:chOff x="7581061" y="5029382"/>
            <a:chExt cx="764540" cy="266700"/>
          </a:xfrm>
        </p:grpSpPr>
        <p:sp>
          <p:nvSpPr>
            <p:cNvPr id="40" name="object 40"/>
            <p:cNvSpPr/>
            <p:nvPr/>
          </p:nvSpPr>
          <p:spPr>
            <a:xfrm>
              <a:off x="7587361" y="517679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587361" y="5156276"/>
              <a:ext cx="751840" cy="139700"/>
            </a:xfrm>
            <a:custGeom>
              <a:avLst/>
              <a:gdLst/>
              <a:ahLst/>
              <a:cxnLst/>
              <a:rect l="l" t="t" r="r" b="b"/>
              <a:pathLst>
                <a:path w="751840" h="139700">
                  <a:moveTo>
                    <a:pt x="0" y="20523"/>
                  </a:moveTo>
                  <a:lnTo>
                    <a:pt x="0" y="20523"/>
                  </a:lnTo>
                  <a:lnTo>
                    <a:pt x="0" y="20523"/>
                  </a:lnTo>
                  <a:close/>
                </a:path>
                <a:path w="751840" h="139700">
                  <a:moveTo>
                    <a:pt x="355" y="0"/>
                  </a:moveTo>
                  <a:lnTo>
                    <a:pt x="355" y="139687"/>
                  </a:lnTo>
                </a:path>
                <a:path w="751840" h="139700">
                  <a:moveTo>
                    <a:pt x="751674" y="0"/>
                  </a:moveTo>
                  <a:lnTo>
                    <a:pt x="751674" y="139687"/>
                  </a:lnTo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587716" y="5155920"/>
              <a:ext cx="735330" cy="136525"/>
            </a:xfrm>
            <a:custGeom>
              <a:avLst/>
              <a:gdLst/>
              <a:ahLst/>
              <a:cxnLst/>
              <a:rect l="l" t="t" r="r" b="b"/>
              <a:pathLst>
                <a:path w="735329" h="136525">
                  <a:moveTo>
                    <a:pt x="735126" y="0"/>
                  </a:moveTo>
                  <a:lnTo>
                    <a:pt x="0" y="0"/>
                  </a:lnTo>
                  <a:lnTo>
                    <a:pt x="0" y="136436"/>
                  </a:lnTo>
                  <a:lnTo>
                    <a:pt x="367563" y="136436"/>
                  </a:lnTo>
                  <a:lnTo>
                    <a:pt x="735126" y="136436"/>
                  </a:lnTo>
                  <a:lnTo>
                    <a:pt x="735126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49544" y="5029382"/>
              <a:ext cx="371699" cy="183963"/>
            </a:xfrm>
            <a:prstGeom prst="rect">
              <a:avLst/>
            </a:prstGeom>
          </p:spPr>
        </p:pic>
      </p:grpSp>
      <p:sp>
        <p:nvSpPr>
          <p:cNvPr id="44" name="object 44"/>
          <p:cNvSpPr/>
          <p:nvPr/>
        </p:nvSpPr>
        <p:spPr>
          <a:xfrm>
            <a:off x="1814224" y="519294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0" y="14219"/>
                </a:moveTo>
                <a:lnTo>
                  <a:pt x="4164" y="4164"/>
                </a:lnTo>
                <a:lnTo>
                  <a:pt x="14219" y="0"/>
                </a:lnTo>
                <a:lnTo>
                  <a:pt x="24274" y="4164"/>
                </a:lnTo>
                <a:lnTo>
                  <a:pt x="28439" y="14219"/>
                </a:lnTo>
                <a:lnTo>
                  <a:pt x="24274" y="24274"/>
                </a:lnTo>
                <a:lnTo>
                  <a:pt x="14219" y="28439"/>
                </a:lnTo>
                <a:lnTo>
                  <a:pt x="4164" y="24274"/>
                </a:lnTo>
                <a:lnTo>
                  <a:pt x="0" y="1421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5" name="object 45"/>
          <p:cNvGraphicFramePr>
            <a:graphicFrameLocks noGrp="1"/>
          </p:cNvGraphicFramePr>
          <p:nvPr/>
        </p:nvGraphicFramePr>
        <p:xfrm>
          <a:off x="4254481" y="4568755"/>
          <a:ext cx="1323338" cy="247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11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400" spc="-25" dirty="0">
                          <a:latin typeface="Comic Sans MS"/>
                          <a:cs typeface="Comic Sans MS"/>
                        </a:rPr>
                        <a:t>H</a:t>
                      </a:r>
                      <a:r>
                        <a:rPr sz="1575" spc="-37" baseline="-23809" dirty="0">
                          <a:latin typeface="Comic Sans MS"/>
                          <a:cs typeface="Comic Sans MS"/>
                        </a:rPr>
                        <a:t>l</a:t>
                      </a:r>
                      <a:endParaRPr sz="1575" baseline="-23809">
                        <a:latin typeface="Comic Sans MS"/>
                        <a:cs typeface="Comic Sans MS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400" spc="-25" dirty="0">
                          <a:latin typeface="Comic Sans MS"/>
                          <a:cs typeface="Comic Sans MS"/>
                        </a:rPr>
                        <a:t>H</a:t>
                      </a:r>
                      <a:r>
                        <a:rPr sz="1575" spc="-37" baseline="-23809" dirty="0">
                          <a:latin typeface="Comic Sans MS"/>
                          <a:cs typeface="Comic Sans MS"/>
                        </a:rPr>
                        <a:t>n</a:t>
                      </a:r>
                      <a:endParaRPr sz="1575" baseline="-23809">
                        <a:latin typeface="Comic Sans MS"/>
                        <a:cs typeface="Comic Sans MS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400" spc="-25" dirty="0">
                          <a:latin typeface="Comic Sans MS"/>
                          <a:cs typeface="Comic Sans MS"/>
                        </a:rPr>
                        <a:t>H</a:t>
                      </a:r>
                      <a:r>
                        <a:rPr sz="1575" spc="-37" baseline="-23809" dirty="0">
                          <a:latin typeface="Comic Sans MS"/>
                          <a:cs typeface="Comic Sans MS"/>
                        </a:rPr>
                        <a:t>t</a:t>
                      </a:r>
                      <a:endParaRPr sz="1575" baseline="-23809">
                        <a:latin typeface="Comic Sans MS"/>
                        <a:cs typeface="Comic Sans MS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400" spc="-50" dirty="0">
                          <a:latin typeface="Comic Sans MS"/>
                          <a:cs typeface="Comic Sans MS"/>
                        </a:rPr>
                        <a:t>M</a:t>
                      </a:r>
                      <a:endParaRPr sz="1400">
                        <a:latin typeface="Comic Sans MS"/>
                        <a:cs typeface="Comic Sans MS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" name="object 46"/>
          <p:cNvGraphicFramePr>
            <a:graphicFrameLocks noGrp="1"/>
          </p:cNvGraphicFramePr>
          <p:nvPr/>
        </p:nvGraphicFramePr>
        <p:xfrm>
          <a:off x="4492440" y="4262405"/>
          <a:ext cx="1073150" cy="247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5" dirty="0">
                          <a:latin typeface="Comic Sans MS"/>
                          <a:cs typeface="Comic Sans MS"/>
                        </a:rPr>
                        <a:t>H</a:t>
                      </a:r>
                      <a:r>
                        <a:rPr sz="1575" spc="-37" baseline="-23809" dirty="0">
                          <a:latin typeface="Comic Sans MS"/>
                          <a:cs typeface="Comic Sans MS"/>
                        </a:rPr>
                        <a:t>n</a:t>
                      </a:r>
                      <a:endParaRPr sz="1575" baseline="-23809">
                        <a:latin typeface="Comic Sans MS"/>
                        <a:cs typeface="Comic Sans MS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5" dirty="0">
                          <a:latin typeface="Comic Sans MS"/>
                          <a:cs typeface="Comic Sans MS"/>
                        </a:rPr>
                        <a:t>H</a:t>
                      </a:r>
                      <a:r>
                        <a:rPr sz="1575" spc="-37" baseline="-23809" dirty="0">
                          <a:latin typeface="Comic Sans MS"/>
                          <a:cs typeface="Comic Sans MS"/>
                        </a:rPr>
                        <a:t>t</a:t>
                      </a:r>
                      <a:endParaRPr sz="1575" baseline="-23809">
                        <a:latin typeface="Comic Sans MS"/>
                        <a:cs typeface="Comic Sans MS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spc="-50" dirty="0">
                          <a:latin typeface="Comic Sans MS"/>
                          <a:cs typeface="Comic Sans MS"/>
                        </a:rPr>
                        <a:t>M</a:t>
                      </a:r>
                      <a:endParaRPr sz="1400">
                        <a:latin typeface="Comic Sans MS"/>
                        <a:cs typeface="Comic Sans MS"/>
                      </a:endParaRPr>
                    </a:p>
                  </a:txBody>
                  <a:tcPr marL="0" marR="0" marT="139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" name="object 47"/>
          <p:cNvGraphicFramePr>
            <a:graphicFrameLocks noGrp="1"/>
          </p:cNvGraphicFramePr>
          <p:nvPr/>
        </p:nvGraphicFramePr>
        <p:xfrm>
          <a:off x="7051681" y="4597558"/>
          <a:ext cx="1323338" cy="247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11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5" dirty="0">
                          <a:latin typeface="Comic Sans MS"/>
                          <a:cs typeface="Comic Sans MS"/>
                        </a:rPr>
                        <a:t>H</a:t>
                      </a:r>
                      <a:r>
                        <a:rPr sz="1575" spc="-37" baseline="-23809" dirty="0">
                          <a:latin typeface="Comic Sans MS"/>
                          <a:cs typeface="Comic Sans MS"/>
                        </a:rPr>
                        <a:t>l</a:t>
                      </a:r>
                      <a:endParaRPr sz="1575" baseline="-23809">
                        <a:latin typeface="Comic Sans MS"/>
                        <a:cs typeface="Comic Sans MS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5" dirty="0">
                          <a:latin typeface="Comic Sans MS"/>
                          <a:cs typeface="Comic Sans MS"/>
                        </a:rPr>
                        <a:t>H</a:t>
                      </a:r>
                      <a:r>
                        <a:rPr sz="1575" spc="-37" baseline="-23809" dirty="0">
                          <a:latin typeface="Comic Sans MS"/>
                          <a:cs typeface="Comic Sans MS"/>
                        </a:rPr>
                        <a:t>n</a:t>
                      </a:r>
                      <a:endParaRPr sz="1575" baseline="-23809">
                        <a:latin typeface="Comic Sans MS"/>
                        <a:cs typeface="Comic Sans MS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5" dirty="0">
                          <a:latin typeface="Comic Sans MS"/>
                          <a:cs typeface="Comic Sans MS"/>
                        </a:rPr>
                        <a:t>H</a:t>
                      </a:r>
                      <a:r>
                        <a:rPr sz="1575" spc="-37" baseline="-23809" dirty="0">
                          <a:latin typeface="Comic Sans MS"/>
                          <a:cs typeface="Comic Sans MS"/>
                        </a:rPr>
                        <a:t>t</a:t>
                      </a:r>
                      <a:endParaRPr sz="1575" baseline="-23809">
                        <a:latin typeface="Comic Sans MS"/>
                        <a:cs typeface="Comic Sans MS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spc="-50" dirty="0">
                          <a:latin typeface="Comic Sans MS"/>
                          <a:cs typeface="Comic Sans MS"/>
                        </a:rPr>
                        <a:t>M</a:t>
                      </a:r>
                      <a:endParaRPr sz="1400">
                        <a:latin typeface="Comic Sans MS"/>
                        <a:cs typeface="Comic Sans MS"/>
                      </a:endParaRPr>
                    </a:p>
                  </a:txBody>
                  <a:tcPr marL="0" marR="0" marT="139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object 48"/>
          <p:cNvGraphicFramePr>
            <a:graphicFrameLocks noGrp="1"/>
          </p:cNvGraphicFramePr>
          <p:nvPr/>
        </p:nvGraphicFramePr>
        <p:xfrm>
          <a:off x="7289641" y="4291196"/>
          <a:ext cx="1073150" cy="247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5" dirty="0">
                          <a:latin typeface="Comic Sans MS"/>
                          <a:cs typeface="Comic Sans MS"/>
                        </a:rPr>
                        <a:t>H</a:t>
                      </a:r>
                      <a:r>
                        <a:rPr sz="1575" spc="-37" baseline="-23809" dirty="0">
                          <a:latin typeface="Comic Sans MS"/>
                          <a:cs typeface="Comic Sans MS"/>
                        </a:rPr>
                        <a:t>n</a:t>
                      </a:r>
                      <a:endParaRPr sz="1575" baseline="-23809">
                        <a:latin typeface="Comic Sans MS"/>
                        <a:cs typeface="Comic Sans MS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5" dirty="0">
                          <a:latin typeface="Comic Sans MS"/>
                          <a:cs typeface="Comic Sans MS"/>
                        </a:rPr>
                        <a:t>H</a:t>
                      </a:r>
                      <a:r>
                        <a:rPr sz="1575" spc="-37" baseline="-23809" dirty="0">
                          <a:latin typeface="Comic Sans MS"/>
                          <a:cs typeface="Comic Sans MS"/>
                        </a:rPr>
                        <a:t>t</a:t>
                      </a:r>
                      <a:endParaRPr sz="1575" baseline="-23809">
                        <a:latin typeface="Comic Sans MS"/>
                        <a:cs typeface="Comic Sans MS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spc="-50" dirty="0">
                          <a:latin typeface="Comic Sans MS"/>
                          <a:cs typeface="Comic Sans MS"/>
                        </a:rPr>
                        <a:t>M</a:t>
                      </a:r>
                      <a:endParaRPr sz="1400">
                        <a:latin typeface="Comic Sans MS"/>
                        <a:cs typeface="Comic Sans MS"/>
                      </a:endParaRPr>
                    </a:p>
                  </a:txBody>
                  <a:tcPr marL="0" marR="0" marT="139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" name="object 49"/>
          <p:cNvGraphicFramePr>
            <a:graphicFrameLocks noGrp="1"/>
          </p:cNvGraphicFramePr>
          <p:nvPr/>
        </p:nvGraphicFramePr>
        <p:xfrm>
          <a:off x="4424394" y="2376722"/>
          <a:ext cx="1325244" cy="247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18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400" spc="-25" dirty="0">
                          <a:latin typeface="Comic Sans MS"/>
                          <a:cs typeface="Comic Sans MS"/>
                        </a:rPr>
                        <a:t>H</a:t>
                      </a:r>
                      <a:r>
                        <a:rPr sz="1575" spc="-37" baseline="-23809" dirty="0">
                          <a:latin typeface="Comic Sans MS"/>
                          <a:cs typeface="Comic Sans MS"/>
                        </a:rPr>
                        <a:t>l</a:t>
                      </a:r>
                      <a:endParaRPr sz="1575" baseline="-23809">
                        <a:latin typeface="Comic Sans MS"/>
                        <a:cs typeface="Comic Sans MS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400" spc="-25" dirty="0">
                          <a:latin typeface="Comic Sans MS"/>
                          <a:cs typeface="Comic Sans MS"/>
                        </a:rPr>
                        <a:t>H</a:t>
                      </a:r>
                      <a:r>
                        <a:rPr sz="1575" spc="-37" baseline="-23809" dirty="0">
                          <a:latin typeface="Comic Sans MS"/>
                          <a:cs typeface="Comic Sans MS"/>
                        </a:rPr>
                        <a:t>n</a:t>
                      </a:r>
                      <a:endParaRPr sz="1575" baseline="-23809">
                        <a:latin typeface="Comic Sans MS"/>
                        <a:cs typeface="Comic Sans MS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400" spc="-25" dirty="0">
                          <a:latin typeface="Comic Sans MS"/>
                          <a:cs typeface="Comic Sans MS"/>
                        </a:rPr>
                        <a:t>H</a:t>
                      </a:r>
                      <a:r>
                        <a:rPr sz="1575" spc="-37" baseline="-23809" dirty="0">
                          <a:latin typeface="Comic Sans MS"/>
                          <a:cs typeface="Comic Sans MS"/>
                        </a:rPr>
                        <a:t>t</a:t>
                      </a:r>
                      <a:endParaRPr sz="1575" baseline="-23809">
                        <a:latin typeface="Comic Sans MS"/>
                        <a:cs typeface="Comic Sans MS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400" spc="-50" dirty="0">
                          <a:latin typeface="Comic Sans MS"/>
                          <a:cs typeface="Comic Sans MS"/>
                        </a:rPr>
                        <a:t>M</a:t>
                      </a:r>
                      <a:endParaRPr sz="1400">
                        <a:latin typeface="Comic Sans MS"/>
                        <a:cs typeface="Comic Sans MS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" name="object 50"/>
          <p:cNvGraphicFramePr>
            <a:graphicFrameLocks noGrp="1"/>
          </p:cNvGraphicFramePr>
          <p:nvPr/>
        </p:nvGraphicFramePr>
        <p:xfrm>
          <a:off x="7265879" y="2405157"/>
          <a:ext cx="1323339" cy="247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5" dirty="0">
                          <a:latin typeface="Comic Sans MS"/>
                          <a:cs typeface="Comic Sans MS"/>
                        </a:rPr>
                        <a:t>H</a:t>
                      </a:r>
                      <a:r>
                        <a:rPr sz="1575" spc="-37" baseline="-23809" dirty="0">
                          <a:latin typeface="Comic Sans MS"/>
                          <a:cs typeface="Comic Sans MS"/>
                        </a:rPr>
                        <a:t>l</a:t>
                      </a:r>
                      <a:endParaRPr sz="1575" baseline="-23809">
                        <a:latin typeface="Comic Sans MS"/>
                        <a:cs typeface="Comic Sans MS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5" dirty="0">
                          <a:latin typeface="Comic Sans MS"/>
                          <a:cs typeface="Comic Sans MS"/>
                        </a:rPr>
                        <a:t>H</a:t>
                      </a:r>
                      <a:r>
                        <a:rPr sz="1575" spc="-37" baseline="-23809" dirty="0">
                          <a:latin typeface="Comic Sans MS"/>
                          <a:cs typeface="Comic Sans MS"/>
                        </a:rPr>
                        <a:t>n</a:t>
                      </a:r>
                      <a:endParaRPr sz="1575" baseline="-23809">
                        <a:latin typeface="Comic Sans MS"/>
                        <a:cs typeface="Comic Sans MS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5" dirty="0">
                          <a:latin typeface="Comic Sans MS"/>
                          <a:cs typeface="Comic Sans MS"/>
                        </a:rPr>
                        <a:t>H</a:t>
                      </a:r>
                      <a:r>
                        <a:rPr sz="1575" spc="-37" baseline="-23809" dirty="0">
                          <a:latin typeface="Comic Sans MS"/>
                          <a:cs typeface="Comic Sans MS"/>
                        </a:rPr>
                        <a:t>t</a:t>
                      </a:r>
                      <a:endParaRPr sz="1575" baseline="-23809">
                        <a:latin typeface="Comic Sans MS"/>
                        <a:cs typeface="Comic Sans MS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spc="-50" dirty="0">
                          <a:latin typeface="Comic Sans MS"/>
                          <a:cs typeface="Comic Sans MS"/>
                        </a:rPr>
                        <a:t>M</a:t>
                      </a:r>
                      <a:endParaRPr sz="1400">
                        <a:latin typeface="Comic Sans MS"/>
                        <a:cs typeface="Comic Sans MS"/>
                      </a:endParaRPr>
                    </a:p>
                  </a:txBody>
                  <a:tcPr marL="0" marR="0" marT="139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1" name="object 51"/>
          <p:cNvSpPr txBox="1"/>
          <p:nvPr/>
        </p:nvSpPr>
        <p:spPr>
          <a:xfrm>
            <a:off x="8000898" y="5445620"/>
            <a:ext cx="720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mic Sans MS"/>
                <a:cs typeface="Comic Sans MS"/>
              </a:rPr>
              <a:t>router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014944" y="3132975"/>
            <a:ext cx="714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mic Sans MS"/>
                <a:cs typeface="Comic Sans MS"/>
              </a:rPr>
              <a:t>switch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072303" y="312381"/>
            <a:ext cx="321691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u="sng" spc="-10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Comic Sans MS"/>
                <a:cs typeface="Comic Sans MS"/>
              </a:rPr>
              <a:t>Encapsulation</a:t>
            </a:r>
            <a:endParaRPr sz="40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3580" y="369620"/>
            <a:ext cx="43872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1.9</a:t>
            </a:r>
            <a:r>
              <a:rPr sz="3600" spc="-100" dirty="0"/>
              <a:t> </a:t>
            </a:r>
            <a:r>
              <a:rPr sz="3600" dirty="0"/>
              <a:t>Internet</a:t>
            </a:r>
            <a:r>
              <a:rPr sz="3600" spc="-105" dirty="0"/>
              <a:t> </a:t>
            </a:r>
            <a:r>
              <a:rPr sz="3600" spc="-10" dirty="0"/>
              <a:t>History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943457" y="1824735"/>
            <a:ext cx="3088640" cy="3569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79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3333CC"/>
                </a:solidFill>
                <a:latin typeface="Comic Sans MS"/>
                <a:cs typeface="Comic Sans MS"/>
              </a:rPr>
              <a:t>1961:</a:t>
            </a:r>
            <a:r>
              <a:rPr sz="2000" spc="-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Kleinrock</a:t>
            </a:r>
            <a:r>
              <a:rPr sz="2000" spc="-4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-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queueing </a:t>
            </a:r>
            <a:r>
              <a:rPr sz="2000" dirty="0">
                <a:latin typeface="Comic Sans MS"/>
                <a:cs typeface="Comic Sans MS"/>
              </a:rPr>
              <a:t>theory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spc="-20" dirty="0">
                <a:latin typeface="Comic Sans MS"/>
                <a:cs typeface="Comic Sans MS"/>
              </a:rPr>
              <a:t>shows </a:t>
            </a:r>
            <a:r>
              <a:rPr sz="2000" dirty="0">
                <a:latin typeface="Comic Sans MS"/>
                <a:cs typeface="Comic Sans MS"/>
              </a:rPr>
              <a:t>effectiveness</a:t>
            </a:r>
            <a:r>
              <a:rPr sz="2000" spc="-6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of</a:t>
            </a:r>
            <a:r>
              <a:rPr sz="2000" spc="-6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packet- switching</a:t>
            </a:r>
            <a:endParaRPr sz="2000">
              <a:latin typeface="Comic Sans MS"/>
              <a:cs typeface="Comic Sans MS"/>
            </a:endParaRPr>
          </a:p>
          <a:p>
            <a:pPr marL="12700" marR="99695">
              <a:lnSpc>
                <a:spcPct val="100000"/>
              </a:lnSpc>
              <a:spcBef>
                <a:spcPts val="500"/>
              </a:spcBef>
            </a:pPr>
            <a:r>
              <a:rPr sz="2000" dirty="0">
                <a:solidFill>
                  <a:srgbClr val="3333CC"/>
                </a:solidFill>
                <a:latin typeface="Comic Sans MS"/>
                <a:cs typeface="Comic Sans MS"/>
              </a:rPr>
              <a:t>1964:</a:t>
            </a:r>
            <a:r>
              <a:rPr sz="2000" spc="-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Baran</a:t>
            </a:r>
            <a:r>
              <a:rPr sz="2000" spc="-5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-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packet- </a:t>
            </a:r>
            <a:r>
              <a:rPr sz="2000" dirty="0">
                <a:latin typeface="Comic Sans MS"/>
                <a:cs typeface="Comic Sans MS"/>
              </a:rPr>
              <a:t>switching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in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military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spc="-20" dirty="0">
                <a:latin typeface="Comic Sans MS"/>
                <a:cs typeface="Comic Sans MS"/>
              </a:rPr>
              <a:t>nets</a:t>
            </a:r>
            <a:endParaRPr sz="2000">
              <a:latin typeface="Comic Sans MS"/>
              <a:cs typeface="Comic Sans MS"/>
            </a:endParaRPr>
          </a:p>
          <a:p>
            <a:pPr marL="12700" marR="51435">
              <a:lnSpc>
                <a:spcPct val="100000"/>
              </a:lnSpc>
              <a:spcBef>
                <a:spcPts val="500"/>
              </a:spcBef>
            </a:pPr>
            <a:r>
              <a:rPr sz="2000" dirty="0">
                <a:solidFill>
                  <a:srgbClr val="3333CC"/>
                </a:solidFill>
                <a:latin typeface="Comic Sans MS"/>
                <a:cs typeface="Comic Sans MS"/>
              </a:rPr>
              <a:t>1967:</a:t>
            </a:r>
            <a:r>
              <a:rPr sz="2000" spc="-4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ARPAnet</a:t>
            </a:r>
            <a:r>
              <a:rPr sz="2000" spc="-5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conceived </a:t>
            </a:r>
            <a:r>
              <a:rPr sz="2000" dirty="0">
                <a:latin typeface="Comic Sans MS"/>
                <a:cs typeface="Comic Sans MS"/>
              </a:rPr>
              <a:t>by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Advanced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Research </a:t>
            </a:r>
            <a:r>
              <a:rPr sz="2000" dirty="0">
                <a:latin typeface="Comic Sans MS"/>
                <a:cs typeface="Comic Sans MS"/>
              </a:rPr>
              <a:t>Projects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Agency</a:t>
            </a:r>
            <a:endParaRPr sz="2000">
              <a:latin typeface="Comic Sans MS"/>
              <a:cs typeface="Comic Sans MS"/>
            </a:endParaRPr>
          </a:p>
          <a:p>
            <a:pPr marL="12700" marR="5080">
              <a:lnSpc>
                <a:spcPct val="100000"/>
              </a:lnSpc>
              <a:spcBef>
                <a:spcPts val="500"/>
              </a:spcBef>
            </a:pPr>
            <a:r>
              <a:rPr sz="2000" dirty="0">
                <a:solidFill>
                  <a:srgbClr val="3333CC"/>
                </a:solidFill>
                <a:latin typeface="Comic Sans MS"/>
                <a:cs typeface="Comic Sans MS"/>
              </a:rPr>
              <a:t>1969:</a:t>
            </a:r>
            <a:r>
              <a:rPr sz="2000" spc="-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first</a:t>
            </a:r>
            <a:r>
              <a:rPr sz="2000" spc="-4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ARPAnet</a:t>
            </a:r>
            <a:r>
              <a:rPr sz="2000" spc="-40" dirty="0">
                <a:latin typeface="Comic Sans MS"/>
                <a:cs typeface="Comic Sans MS"/>
              </a:rPr>
              <a:t> </a:t>
            </a:r>
            <a:r>
              <a:rPr sz="2000" spc="-20" dirty="0">
                <a:latin typeface="Comic Sans MS"/>
                <a:cs typeface="Comic Sans MS"/>
              </a:rPr>
              <a:t>node </a:t>
            </a:r>
            <a:r>
              <a:rPr sz="2000" spc="-10" dirty="0">
                <a:latin typeface="Comic Sans MS"/>
                <a:cs typeface="Comic Sans MS"/>
              </a:rPr>
              <a:t>operational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0819" y="1822221"/>
            <a:ext cx="41827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75100" algn="l"/>
              </a:tabLst>
            </a:pPr>
            <a:r>
              <a:rPr sz="2550" spc="877" baseline="3267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2550" baseline="3267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1700" spc="57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0819" y="3094812"/>
            <a:ext cx="2203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58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0819" y="3768013"/>
            <a:ext cx="2203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58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0819" y="4745773"/>
            <a:ext cx="2203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58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80584" y="1771187"/>
            <a:ext cx="3265804" cy="278193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sz="2000" spc="-10" dirty="0">
                <a:solidFill>
                  <a:srgbClr val="3333CC"/>
                </a:solidFill>
                <a:latin typeface="Comic Sans MS"/>
                <a:cs typeface="Comic Sans MS"/>
              </a:rPr>
              <a:t>1972:</a:t>
            </a:r>
            <a:endParaRPr sz="2000">
              <a:latin typeface="Comic Sans MS"/>
              <a:cs typeface="Comic Sans MS"/>
            </a:endParaRPr>
          </a:p>
          <a:p>
            <a:pPr marL="437515" marR="30480" indent="-275590">
              <a:lnSpc>
                <a:spcPct val="100000"/>
              </a:lnSpc>
              <a:spcBef>
                <a:spcPts val="505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02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ARPAnet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demonstrated publicly</a:t>
            </a:r>
            <a:endParaRPr sz="2000">
              <a:latin typeface="Comic Sans MS"/>
              <a:cs typeface="Comic Sans MS"/>
            </a:endParaRPr>
          </a:p>
          <a:p>
            <a:pPr marL="437515" marR="190500" indent="-275590">
              <a:lnSpc>
                <a:spcPct val="100000"/>
              </a:lnSpc>
              <a:spcBef>
                <a:spcPts val="495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02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NCP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(Network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Control </a:t>
            </a:r>
            <a:r>
              <a:rPr sz="2000" dirty="0">
                <a:latin typeface="Comic Sans MS"/>
                <a:cs typeface="Comic Sans MS"/>
              </a:rPr>
              <a:t>Protocol)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first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spc="-20" dirty="0">
                <a:latin typeface="Comic Sans MS"/>
                <a:cs typeface="Comic Sans MS"/>
              </a:rPr>
              <a:t>host- </a:t>
            </a:r>
            <a:r>
              <a:rPr sz="2000" dirty="0">
                <a:latin typeface="Comic Sans MS"/>
                <a:cs typeface="Comic Sans MS"/>
              </a:rPr>
              <a:t>host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protocol</a:t>
            </a:r>
            <a:endParaRPr sz="2000">
              <a:latin typeface="Comic Sans MS"/>
              <a:cs typeface="Comic Sans MS"/>
            </a:endParaRPr>
          </a:p>
          <a:p>
            <a:pPr marL="162560">
              <a:lnSpc>
                <a:spcPct val="100000"/>
              </a:lnSpc>
              <a:spcBef>
                <a:spcPts val="505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09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first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e-</a:t>
            </a:r>
            <a:r>
              <a:rPr sz="2000" dirty="0">
                <a:latin typeface="Comic Sans MS"/>
                <a:cs typeface="Comic Sans MS"/>
              </a:rPr>
              <a:t>mail</a:t>
            </a:r>
            <a:r>
              <a:rPr sz="2000" spc="-10" dirty="0">
                <a:latin typeface="Comic Sans MS"/>
                <a:cs typeface="Comic Sans MS"/>
              </a:rPr>
              <a:t> program</a:t>
            </a:r>
            <a:endParaRPr sz="2000">
              <a:latin typeface="Comic Sans MS"/>
              <a:cs typeface="Comic Sans MS"/>
            </a:endParaRPr>
          </a:p>
          <a:p>
            <a:pPr marL="162560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494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ARPAnet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has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15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spc="-20" dirty="0">
                <a:latin typeface="Comic Sans MS"/>
                <a:cs typeface="Comic Sans MS"/>
              </a:rPr>
              <a:t>nodes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0735" y="1156944"/>
            <a:ext cx="60490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25" dirty="0">
                <a:solidFill>
                  <a:srgbClr val="FF0000"/>
                </a:solidFill>
                <a:latin typeface="Arial"/>
                <a:cs typeface="Arial"/>
              </a:rPr>
              <a:t>1961-</a:t>
            </a:r>
            <a:r>
              <a:rPr sz="2400" i="1" dirty="0">
                <a:solidFill>
                  <a:srgbClr val="FF0000"/>
                </a:solidFill>
                <a:latin typeface="Arial"/>
                <a:cs typeface="Arial"/>
              </a:rPr>
              <a:t>1972:</a:t>
            </a:r>
            <a:r>
              <a:rPr sz="2400" i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0000"/>
                </a:solidFill>
                <a:latin typeface="Arial"/>
                <a:cs typeface="Arial"/>
              </a:rPr>
              <a:t>Early</a:t>
            </a:r>
            <a:r>
              <a:rPr sz="2400" i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i="1" spc="-25" dirty="0">
                <a:solidFill>
                  <a:srgbClr val="FF0000"/>
                </a:solidFill>
                <a:latin typeface="Arial"/>
                <a:cs typeface="Arial"/>
              </a:rPr>
              <a:t>packet-</a:t>
            </a:r>
            <a:r>
              <a:rPr sz="2400" i="1" dirty="0">
                <a:solidFill>
                  <a:srgbClr val="FF0000"/>
                </a:solidFill>
                <a:latin typeface="Arial"/>
                <a:cs typeface="Arial"/>
              </a:rPr>
              <a:t>switching</a:t>
            </a:r>
            <a:r>
              <a:rPr sz="2400" i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FF0000"/>
                </a:solidFill>
                <a:latin typeface="Arial"/>
                <a:cs typeface="Arial"/>
              </a:rPr>
              <a:t>principles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3580" y="369620"/>
            <a:ext cx="36518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Internet</a:t>
            </a:r>
            <a:r>
              <a:rPr sz="3600" spc="-170" dirty="0"/>
              <a:t> </a:t>
            </a:r>
            <a:r>
              <a:rPr sz="3600" spc="-10" dirty="0"/>
              <a:t>History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05904" y="1717103"/>
            <a:ext cx="2203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58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8898" y="1729689"/>
            <a:ext cx="3587750" cy="4612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7307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3333CC"/>
                </a:solidFill>
                <a:latin typeface="Comic Sans MS"/>
                <a:cs typeface="Comic Sans MS"/>
              </a:rPr>
              <a:t>1970:</a:t>
            </a:r>
            <a:r>
              <a:rPr sz="2000" spc="-6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ALOHAnet</a:t>
            </a:r>
            <a:r>
              <a:rPr sz="2000" spc="-6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satellite </a:t>
            </a:r>
            <a:r>
              <a:rPr sz="2000" dirty="0">
                <a:latin typeface="Comic Sans MS"/>
                <a:cs typeface="Comic Sans MS"/>
              </a:rPr>
              <a:t>network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in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Hawaii</a:t>
            </a:r>
            <a:endParaRPr sz="2000">
              <a:latin typeface="Comic Sans MS"/>
              <a:cs typeface="Comic Sans MS"/>
            </a:endParaRPr>
          </a:p>
          <a:p>
            <a:pPr marL="12700" marR="244475">
              <a:lnSpc>
                <a:spcPct val="100000"/>
              </a:lnSpc>
              <a:spcBef>
                <a:spcPts val="500"/>
              </a:spcBef>
            </a:pPr>
            <a:r>
              <a:rPr sz="2000" dirty="0">
                <a:solidFill>
                  <a:srgbClr val="3333CC"/>
                </a:solidFill>
                <a:latin typeface="Comic Sans MS"/>
                <a:cs typeface="Comic Sans MS"/>
              </a:rPr>
              <a:t>1973:</a:t>
            </a:r>
            <a:r>
              <a:rPr sz="2000" spc="-4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Metcalfe’s</a:t>
            </a:r>
            <a:r>
              <a:rPr sz="2000" spc="-5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PhD</a:t>
            </a:r>
            <a:r>
              <a:rPr sz="2000" spc="-4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thesis </a:t>
            </a:r>
            <a:r>
              <a:rPr sz="2000" dirty="0">
                <a:latin typeface="Comic Sans MS"/>
                <a:cs typeface="Comic Sans MS"/>
              </a:rPr>
              <a:t>proposes</a:t>
            </a:r>
            <a:r>
              <a:rPr sz="2000" spc="-11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Ethernet</a:t>
            </a:r>
            <a:endParaRPr sz="2000">
              <a:latin typeface="Comic Sans MS"/>
              <a:cs typeface="Comic Sans MS"/>
            </a:endParaRPr>
          </a:p>
          <a:p>
            <a:pPr marL="12700" marR="564515">
              <a:lnSpc>
                <a:spcPct val="100000"/>
              </a:lnSpc>
              <a:spcBef>
                <a:spcPts val="500"/>
              </a:spcBef>
            </a:pPr>
            <a:r>
              <a:rPr sz="2000" dirty="0">
                <a:solidFill>
                  <a:srgbClr val="3333CC"/>
                </a:solidFill>
                <a:latin typeface="Comic Sans MS"/>
                <a:cs typeface="Comic Sans MS"/>
              </a:rPr>
              <a:t>1974:</a:t>
            </a:r>
            <a:r>
              <a:rPr sz="2000" spc="-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Cerf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and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Kahn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spc="-50" dirty="0">
                <a:latin typeface="Comic Sans MS"/>
                <a:cs typeface="Comic Sans MS"/>
              </a:rPr>
              <a:t>- </a:t>
            </a:r>
            <a:r>
              <a:rPr sz="2000" dirty="0">
                <a:latin typeface="Comic Sans MS"/>
                <a:cs typeface="Comic Sans MS"/>
              </a:rPr>
              <a:t>architecture</a:t>
            </a:r>
            <a:r>
              <a:rPr sz="2000" spc="-55" dirty="0">
                <a:latin typeface="Comic Sans MS"/>
                <a:cs typeface="Comic Sans MS"/>
              </a:rPr>
              <a:t> </a:t>
            </a:r>
            <a:r>
              <a:rPr sz="2000" spc="-25" dirty="0">
                <a:latin typeface="Comic Sans MS"/>
                <a:cs typeface="Comic Sans MS"/>
              </a:rPr>
              <a:t>for </a:t>
            </a:r>
            <a:r>
              <a:rPr sz="2000" dirty="0">
                <a:latin typeface="Comic Sans MS"/>
                <a:cs typeface="Comic Sans MS"/>
              </a:rPr>
              <a:t>interconnecting</a:t>
            </a:r>
            <a:r>
              <a:rPr sz="2000" spc="-12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networks</a:t>
            </a:r>
            <a:endParaRPr sz="2000">
              <a:latin typeface="Comic Sans MS"/>
              <a:cs typeface="Comic Sans MS"/>
            </a:endParaRPr>
          </a:p>
          <a:p>
            <a:pPr marL="12700" marR="117475">
              <a:lnSpc>
                <a:spcPct val="100000"/>
              </a:lnSpc>
              <a:spcBef>
                <a:spcPts val="500"/>
              </a:spcBef>
            </a:pPr>
            <a:r>
              <a:rPr sz="2000" dirty="0">
                <a:solidFill>
                  <a:srgbClr val="3333CC"/>
                </a:solidFill>
                <a:latin typeface="Comic Sans MS"/>
                <a:cs typeface="Comic Sans MS"/>
              </a:rPr>
              <a:t>late70’s:</a:t>
            </a:r>
            <a:r>
              <a:rPr sz="2000" spc="-9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proprietary </a:t>
            </a:r>
            <a:r>
              <a:rPr sz="2000" dirty="0">
                <a:latin typeface="Comic Sans MS"/>
                <a:cs typeface="Comic Sans MS"/>
              </a:rPr>
              <a:t>architectures:</a:t>
            </a:r>
            <a:r>
              <a:rPr sz="2000" spc="-5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DECnet,</a:t>
            </a:r>
            <a:r>
              <a:rPr sz="2000" spc="-60" dirty="0">
                <a:latin typeface="Comic Sans MS"/>
                <a:cs typeface="Comic Sans MS"/>
              </a:rPr>
              <a:t> </a:t>
            </a:r>
            <a:r>
              <a:rPr sz="2000" spc="-20" dirty="0">
                <a:latin typeface="Comic Sans MS"/>
                <a:cs typeface="Comic Sans MS"/>
              </a:rPr>
              <a:t>SNA, </a:t>
            </a:r>
            <a:r>
              <a:rPr sz="2000" spc="-25" dirty="0">
                <a:latin typeface="Comic Sans MS"/>
                <a:cs typeface="Comic Sans MS"/>
              </a:rPr>
              <a:t>XNA</a:t>
            </a:r>
            <a:endParaRPr sz="2000">
              <a:latin typeface="Comic Sans MS"/>
              <a:cs typeface="Comic Sans MS"/>
            </a:endParaRPr>
          </a:p>
          <a:p>
            <a:pPr marL="12700" marR="577215">
              <a:lnSpc>
                <a:spcPct val="100000"/>
              </a:lnSpc>
              <a:spcBef>
                <a:spcPts val="509"/>
              </a:spcBef>
            </a:pPr>
            <a:r>
              <a:rPr sz="2000" dirty="0">
                <a:solidFill>
                  <a:srgbClr val="3333CC"/>
                </a:solidFill>
                <a:latin typeface="Comic Sans MS"/>
                <a:cs typeface="Comic Sans MS"/>
              </a:rPr>
              <a:t>late</a:t>
            </a:r>
            <a:r>
              <a:rPr sz="2000" spc="-5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dirty="0">
                <a:solidFill>
                  <a:srgbClr val="3333CC"/>
                </a:solidFill>
                <a:latin typeface="Comic Sans MS"/>
                <a:cs typeface="Comic Sans MS"/>
              </a:rPr>
              <a:t>70’s:</a:t>
            </a:r>
            <a:r>
              <a:rPr sz="2000" spc="-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switching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spc="-20" dirty="0">
                <a:latin typeface="Comic Sans MS"/>
                <a:cs typeface="Comic Sans MS"/>
              </a:rPr>
              <a:t>fixed </a:t>
            </a:r>
            <a:r>
              <a:rPr sz="2000" dirty="0">
                <a:latin typeface="Comic Sans MS"/>
                <a:cs typeface="Comic Sans MS"/>
              </a:rPr>
              <a:t>length</a:t>
            </a:r>
            <a:r>
              <a:rPr sz="2000" spc="-5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packets</a:t>
            </a:r>
            <a:r>
              <a:rPr sz="2000" spc="-50" dirty="0">
                <a:latin typeface="Comic Sans MS"/>
                <a:cs typeface="Comic Sans MS"/>
              </a:rPr>
              <a:t> </a:t>
            </a:r>
            <a:r>
              <a:rPr sz="2000" spc="-20" dirty="0">
                <a:latin typeface="Comic Sans MS"/>
                <a:cs typeface="Comic Sans MS"/>
              </a:rPr>
              <a:t>(ATM </a:t>
            </a:r>
            <a:r>
              <a:rPr sz="2000" spc="-10" dirty="0">
                <a:latin typeface="Comic Sans MS"/>
                <a:cs typeface="Comic Sans MS"/>
              </a:rPr>
              <a:t>precursor)</a:t>
            </a:r>
            <a:endParaRPr sz="20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2000" dirty="0">
                <a:solidFill>
                  <a:srgbClr val="3333CC"/>
                </a:solidFill>
                <a:latin typeface="Comic Sans MS"/>
                <a:cs typeface="Comic Sans MS"/>
              </a:rPr>
              <a:t>1979:</a:t>
            </a:r>
            <a:r>
              <a:rPr sz="2000" spc="-5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ARPAnet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has</a:t>
            </a:r>
            <a:r>
              <a:rPr sz="2000" spc="-4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200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nodes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5904" y="2389936"/>
            <a:ext cx="2203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58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5904" y="3064573"/>
            <a:ext cx="2203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58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5904" y="4042333"/>
            <a:ext cx="2203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58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5904" y="5020093"/>
            <a:ext cx="2203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58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5904" y="5998222"/>
            <a:ext cx="2203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58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57522" y="1771561"/>
            <a:ext cx="3810000" cy="4144010"/>
          </a:xfrm>
          <a:prstGeom prst="rect">
            <a:avLst/>
          </a:prstGeom>
          <a:ln w="28439">
            <a:solidFill>
              <a:srgbClr val="3333CC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471170" marR="164465" indent="-33401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solidFill>
                  <a:srgbClr val="FF0000"/>
                </a:solidFill>
                <a:latin typeface="Comic Sans MS"/>
                <a:cs typeface="Comic Sans MS"/>
              </a:rPr>
              <a:t>Cerf</a:t>
            </a:r>
            <a:r>
              <a:rPr sz="2000" spc="-3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000" dirty="0">
                <a:solidFill>
                  <a:srgbClr val="FF0000"/>
                </a:solidFill>
                <a:latin typeface="Comic Sans MS"/>
                <a:cs typeface="Comic Sans MS"/>
              </a:rPr>
              <a:t>and</a:t>
            </a:r>
            <a:r>
              <a:rPr sz="2000" spc="-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omic Sans MS"/>
                <a:cs typeface="Comic Sans MS"/>
              </a:rPr>
              <a:t>Kahn’s </a:t>
            </a:r>
            <a:r>
              <a:rPr sz="2000" dirty="0">
                <a:solidFill>
                  <a:srgbClr val="FF0000"/>
                </a:solidFill>
                <a:latin typeface="Comic Sans MS"/>
                <a:cs typeface="Comic Sans MS"/>
              </a:rPr>
              <a:t>internetworking</a:t>
            </a:r>
            <a:r>
              <a:rPr sz="2000" spc="-13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omic Sans MS"/>
                <a:cs typeface="Comic Sans MS"/>
              </a:rPr>
              <a:t>principles:</a:t>
            </a:r>
            <a:endParaRPr sz="2000">
              <a:latin typeface="Comic Sans MS"/>
              <a:cs typeface="Comic Sans MS"/>
            </a:endParaRPr>
          </a:p>
          <a:p>
            <a:pPr marL="861060" marR="234315" indent="-275590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02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minimalism,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autonomy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spc="-50" dirty="0">
                <a:latin typeface="Comic Sans MS"/>
                <a:cs typeface="Comic Sans MS"/>
              </a:rPr>
              <a:t>- </a:t>
            </a:r>
            <a:r>
              <a:rPr sz="2000" dirty="0">
                <a:latin typeface="Comic Sans MS"/>
                <a:cs typeface="Comic Sans MS"/>
              </a:rPr>
              <a:t>no</a:t>
            </a:r>
            <a:r>
              <a:rPr sz="2000" spc="-6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internal</a:t>
            </a:r>
            <a:r>
              <a:rPr sz="2000" spc="-4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changes </a:t>
            </a:r>
            <a:r>
              <a:rPr sz="2000" dirty="0">
                <a:latin typeface="Comic Sans MS"/>
                <a:cs typeface="Comic Sans MS"/>
              </a:rPr>
              <a:t>required</a:t>
            </a:r>
            <a:r>
              <a:rPr sz="2000" spc="-65" dirty="0">
                <a:latin typeface="Comic Sans MS"/>
                <a:cs typeface="Comic Sans MS"/>
              </a:rPr>
              <a:t> </a:t>
            </a:r>
            <a:r>
              <a:rPr sz="2000" spc="-25" dirty="0">
                <a:latin typeface="Comic Sans MS"/>
                <a:cs typeface="Comic Sans MS"/>
              </a:rPr>
              <a:t>to </a:t>
            </a:r>
            <a:r>
              <a:rPr sz="2000" dirty="0">
                <a:latin typeface="Comic Sans MS"/>
                <a:cs typeface="Comic Sans MS"/>
              </a:rPr>
              <a:t>interconnect</a:t>
            </a:r>
            <a:r>
              <a:rPr sz="2000" spc="-8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networks</a:t>
            </a:r>
            <a:endParaRPr sz="2000">
              <a:latin typeface="Comic Sans MS"/>
              <a:cs typeface="Comic Sans MS"/>
            </a:endParaRPr>
          </a:p>
          <a:p>
            <a:pPr marL="861060" marR="632460" indent="-275590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02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best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effort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service model</a:t>
            </a:r>
            <a:endParaRPr sz="2000">
              <a:latin typeface="Comic Sans MS"/>
              <a:cs typeface="Comic Sans MS"/>
            </a:endParaRPr>
          </a:p>
          <a:p>
            <a:pPr marL="585470">
              <a:lnSpc>
                <a:spcPct val="100000"/>
              </a:lnSpc>
              <a:spcBef>
                <a:spcPts val="500"/>
              </a:spcBef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472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stateless</a:t>
            </a:r>
            <a:r>
              <a:rPr sz="2000" spc="-4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routers</a:t>
            </a:r>
            <a:endParaRPr sz="2000">
              <a:latin typeface="Comic Sans MS"/>
              <a:cs typeface="Comic Sans MS"/>
            </a:endParaRPr>
          </a:p>
          <a:p>
            <a:pPr marL="137160" marR="392430" indent="447675">
              <a:lnSpc>
                <a:spcPct val="120800"/>
              </a:lnSpc>
            </a:pPr>
            <a:r>
              <a:rPr sz="2250" spc="839" baseline="16666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465" baseline="1666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decentralized</a:t>
            </a:r>
            <a:r>
              <a:rPr sz="2000" spc="-5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control </a:t>
            </a:r>
            <a:r>
              <a:rPr sz="2000" dirty="0">
                <a:solidFill>
                  <a:srgbClr val="FF0000"/>
                </a:solidFill>
                <a:latin typeface="Comic Sans MS"/>
                <a:cs typeface="Comic Sans MS"/>
              </a:rPr>
              <a:t>define</a:t>
            </a:r>
            <a:r>
              <a:rPr sz="2000" spc="-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000" dirty="0">
                <a:solidFill>
                  <a:srgbClr val="FF0000"/>
                </a:solidFill>
                <a:latin typeface="Comic Sans MS"/>
                <a:cs typeface="Comic Sans MS"/>
              </a:rPr>
              <a:t>today’s</a:t>
            </a:r>
            <a:r>
              <a:rPr sz="2000" spc="-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omic Sans MS"/>
                <a:cs typeface="Comic Sans MS"/>
              </a:rPr>
              <a:t>Internet</a:t>
            </a:r>
            <a:endParaRPr sz="2000">
              <a:latin typeface="Comic Sans MS"/>
              <a:cs typeface="Comic Sans MS"/>
            </a:endParaRPr>
          </a:p>
          <a:p>
            <a:pPr marL="471170">
              <a:lnSpc>
                <a:spcPct val="100000"/>
              </a:lnSpc>
            </a:pPr>
            <a:r>
              <a:rPr sz="2000" spc="-10" dirty="0">
                <a:solidFill>
                  <a:srgbClr val="FF0000"/>
                </a:solidFill>
                <a:latin typeface="Comic Sans MS"/>
                <a:cs typeface="Comic Sans MS"/>
              </a:rPr>
              <a:t>architecture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0735" y="1156944"/>
            <a:ext cx="72548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25" dirty="0">
                <a:solidFill>
                  <a:srgbClr val="FF0000"/>
                </a:solidFill>
                <a:latin typeface="Arial"/>
                <a:cs typeface="Arial"/>
              </a:rPr>
              <a:t>1972-</a:t>
            </a:r>
            <a:r>
              <a:rPr sz="2400" i="1" dirty="0">
                <a:solidFill>
                  <a:srgbClr val="FF0000"/>
                </a:solidFill>
                <a:latin typeface="Arial"/>
                <a:cs typeface="Arial"/>
              </a:rPr>
              <a:t>1980:</a:t>
            </a:r>
            <a:r>
              <a:rPr sz="2400" i="1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FF0000"/>
                </a:solidFill>
                <a:latin typeface="Arial"/>
                <a:cs typeface="Arial"/>
              </a:rPr>
              <a:t>Internetworking,</a:t>
            </a:r>
            <a:r>
              <a:rPr sz="2400" i="1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0000"/>
                </a:solidFill>
                <a:latin typeface="Arial"/>
                <a:cs typeface="Arial"/>
              </a:rPr>
              <a:t>new</a:t>
            </a:r>
            <a:r>
              <a:rPr sz="2400" i="1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sz="2400" i="1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0000"/>
                </a:solidFill>
                <a:latin typeface="Arial"/>
                <a:cs typeface="Arial"/>
              </a:rPr>
              <a:t>proprietary</a:t>
            </a:r>
            <a:r>
              <a:rPr sz="2400" i="1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i="1" spc="-20" dirty="0">
                <a:solidFill>
                  <a:srgbClr val="FF0000"/>
                </a:solidFill>
                <a:latin typeface="Arial"/>
                <a:cs typeface="Arial"/>
              </a:rPr>
              <a:t>nets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3580" y="369620"/>
            <a:ext cx="36518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Internet</a:t>
            </a:r>
            <a:r>
              <a:rPr sz="3600" spc="-170" dirty="0"/>
              <a:t> </a:t>
            </a:r>
            <a:r>
              <a:rPr sz="3600" spc="-10" dirty="0"/>
              <a:t>History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85419" y="1824748"/>
            <a:ext cx="3696970" cy="4352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0205" marR="415925" indent="-332740">
              <a:lnSpc>
                <a:spcPct val="100000"/>
              </a:lnSpc>
              <a:spcBef>
                <a:spcPts val="100"/>
              </a:spcBef>
            </a:pPr>
            <a:r>
              <a:rPr sz="3075" spc="1147" baseline="1355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37" baseline="135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1983:</a:t>
            </a:r>
            <a:r>
              <a:rPr sz="2400" spc="-3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deployment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spc="-25" dirty="0">
                <a:latin typeface="Comic Sans MS"/>
                <a:cs typeface="Comic Sans MS"/>
              </a:rPr>
              <a:t>of </a:t>
            </a:r>
            <a:r>
              <a:rPr sz="2400" spc="-10" dirty="0">
                <a:latin typeface="Comic Sans MS"/>
                <a:cs typeface="Comic Sans MS"/>
              </a:rPr>
              <a:t>TCP/IP</a:t>
            </a:r>
            <a:endParaRPr sz="2400">
              <a:latin typeface="Comic Sans MS"/>
              <a:cs typeface="Comic Sans MS"/>
            </a:endParaRPr>
          </a:p>
          <a:p>
            <a:pPr marL="370205" marR="804545" indent="-332740">
              <a:lnSpc>
                <a:spcPct val="100000"/>
              </a:lnSpc>
              <a:spcBef>
                <a:spcPts val="59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82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1982: </a:t>
            </a:r>
            <a:r>
              <a:rPr sz="2400" dirty="0">
                <a:latin typeface="Comic Sans MS"/>
                <a:cs typeface="Comic Sans MS"/>
              </a:rPr>
              <a:t>smtp</a:t>
            </a:r>
            <a:r>
              <a:rPr sz="2400" spc="-10" dirty="0">
                <a:latin typeface="Comic Sans MS"/>
                <a:cs typeface="Comic Sans MS"/>
              </a:rPr>
              <a:t> e-</a:t>
            </a:r>
            <a:r>
              <a:rPr sz="2400" spc="-20" dirty="0">
                <a:latin typeface="Comic Sans MS"/>
                <a:cs typeface="Comic Sans MS"/>
              </a:rPr>
              <a:t>mail </a:t>
            </a:r>
            <a:r>
              <a:rPr sz="2400" dirty="0">
                <a:latin typeface="Comic Sans MS"/>
                <a:cs typeface="Comic Sans MS"/>
              </a:rPr>
              <a:t>protocol</a:t>
            </a:r>
            <a:r>
              <a:rPr sz="2400" spc="-7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defined</a:t>
            </a:r>
            <a:endParaRPr sz="2400">
              <a:latin typeface="Comic Sans MS"/>
              <a:cs typeface="Comic Sans MS"/>
            </a:endParaRPr>
          </a:p>
          <a:p>
            <a:pPr marL="370205" marR="30480" indent="-332740">
              <a:lnSpc>
                <a:spcPct val="100000"/>
              </a:lnSpc>
              <a:spcBef>
                <a:spcPts val="6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30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1983:</a:t>
            </a:r>
            <a:r>
              <a:rPr sz="2400" spc="-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DNS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defined</a:t>
            </a:r>
            <a:r>
              <a:rPr sz="2400" spc="-50" dirty="0">
                <a:latin typeface="Comic Sans MS"/>
                <a:cs typeface="Comic Sans MS"/>
              </a:rPr>
              <a:t> </a:t>
            </a:r>
            <a:r>
              <a:rPr sz="2400" spc="-25" dirty="0">
                <a:latin typeface="Comic Sans MS"/>
                <a:cs typeface="Comic Sans MS"/>
              </a:rPr>
              <a:t>for </a:t>
            </a:r>
            <a:r>
              <a:rPr sz="2400" spc="-10" dirty="0">
                <a:latin typeface="Comic Sans MS"/>
                <a:cs typeface="Comic Sans MS"/>
              </a:rPr>
              <a:t>name-to-IP-address translation</a:t>
            </a:r>
            <a:endParaRPr sz="2400">
              <a:latin typeface="Comic Sans MS"/>
              <a:cs typeface="Comic Sans MS"/>
            </a:endParaRPr>
          </a:p>
          <a:p>
            <a:pPr marL="370205" marR="714375" indent="-332740">
              <a:lnSpc>
                <a:spcPct val="100000"/>
              </a:lnSpc>
              <a:spcBef>
                <a:spcPts val="6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75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1985:</a:t>
            </a:r>
            <a:r>
              <a:rPr sz="2400" spc="-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ftp</a:t>
            </a:r>
            <a:r>
              <a:rPr sz="2400" spc="-1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protocol defined</a:t>
            </a:r>
            <a:endParaRPr sz="2400">
              <a:latin typeface="Comic Sans MS"/>
              <a:cs typeface="Comic Sans MS"/>
            </a:endParaRPr>
          </a:p>
          <a:p>
            <a:pPr marL="370205" marR="297180" indent="-332740">
              <a:lnSpc>
                <a:spcPct val="100000"/>
              </a:lnSpc>
              <a:spcBef>
                <a:spcPts val="60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59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1988:</a:t>
            </a:r>
            <a:r>
              <a:rPr sz="2400" spc="-1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TCP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congestion control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47946" y="1835187"/>
            <a:ext cx="3620135" cy="2661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0205" marR="30480" indent="-332740">
              <a:lnSpc>
                <a:spcPct val="100000"/>
              </a:lnSpc>
              <a:spcBef>
                <a:spcPts val="100"/>
              </a:spcBef>
            </a:pPr>
            <a:r>
              <a:rPr sz="3075" spc="1147" baseline="1355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45" baseline="135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new</a:t>
            </a:r>
            <a:r>
              <a:rPr sz="2400" spc="-2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national</a:t>
            </a:r>
            <a:r>
              <a:rPr sz="2400" spc="-3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networks: </a:t>
            </a:r>
            <a:r>
              <a:rPr sz="2400" dirty="0">
                <a:latin typeface="Comic Sans MS"/>
                <a:cs typeface="Comic Sans MS"/>
              </a:rPr>
              <a:t>Csnet,</a:t>
            </a:r>
            <a:r>
              <a:rPr sz="2400" spc="-40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BITnet, </a:t>
            </a:r>
            <a:r>
              <a:rPr sz="2400" dirty="0">
                <a:latin typeface="Comic Sans MS"/>
                <a:cs typeface="Comic Sans MS"/>
              </a:rPr>
              <a:t>NSFnet,</a:t>
            </a:r>
            <a:r>
              <a:rPr sz="2400" spc="-55" dirty="0">
                <a:latin typeface="Comic Sans MS"/>
                <a:cs typeface="Comic Sans MS"/>
              </a:rPr>
              <a:t> </a:t>
            </a:r>
            <a:r>
              <a:rPr sz="2400" spc="-10" dirty="0">
                <a:latin typeface="Comic Sans MS"/>
                <a:cs typeface="Comic Sans MS"/>
              </a:rPr>
              <a:t>Minitel</a:t>
            </a:r>
            <a:endParaRPr sz="2400">
              <a:latin typeface="Comic Sans MS"/>
              <a:cs typeface="Comic Sans MS"/>
            </a:endParaRPr>
          </a:p>
          <a:p>
            <a:pPr marL="370205" marR="839469" indent="-332740">
              <a:lnSpc>
                <a:spcPct val="100000"/>
              </a:lnSpc>
              <a:spcBef>
                <a:spcPts val="590"/>
              </a:spcBef>
            </a:pPr>
            <a:r>
              <a:rPr sz="3075" spc="1147" baseline="1219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3075" spc="367" baseline="12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omic Sans MS"/>
                <a:cs typeface="Comic Sans MS"/>
              </a:rPr>
              <a:t>100,000</a:t>
            </a:r>
            <a:r>
              <a:rPr sz="2400" spc="-15" dirty="0">
                <a:latin typeface="Comic Sans MS"/>
                <a:cs typeface="Comic Sans MS"/>
              </a:rPr>
              <a:t> </a:t>
            </a:r>
            <a:r>
              <a:rPr sz="2400" spc="-20" dirty="0">
                <a:latin typeface="Comic Sans MS"/>
                <a:cs typeface="Comic Sans MS"/>
              </a:rPr>
              <a:t>hosts </a:t>
            </a:r>
            <a:r>
              <a:rPr sz="2400" dirty="0">
                <a:latin typeface="Comic Sans MS"/>
                <a:cs typeface="Comic Sans MS"/>
              </a:rPr>
              <a:t>connected</a:t>
            </a:r>
            <a:r>
              <a:rPr sz="2400" spc="-95" dirty="0">
                <a:latin typeface="Comic Sans MS"/>
                <a:cs typeface="Comic Sans MS"/>
              </a:rPr>
              <a:t> </a:t>
            </a:r>
            <a:r>
              <a:rPr sz="2400" spc="-25" dirty="0">
                <a:latin typeface="Comic Sans MS"/>
                <a:cs typeface="Comic Sans MS"/>
              </a:rPr>
              <a:t>to </a:t>
            </a:r>
            <a:r>
              <a:rPr sz="2400" dirty="0">
                <a:latin typeface="Comic Sans MS"/>
                <a:cs typeface="Comic Sans MS"/>
              </a:rPr>
              <a:t>confederation</a:t>
            </a:r>
            <a:r>
              <a:rPr sz="2400" spc="-160" dirty="0">
                <a:latin typeface="Comic Sans MS"/>
                <a:cs typeface="Comic Sans MS"/>
              </a:rPr>
              <a:t> </a:t>
            </a:r>
            <a:r>
              <a:rPr sz="2400" spc="-25" dirty="0">
                <a:latin typeface="Comic Sans MS"/>
                <a:cs typeface="Comic Sans MS"/>
              </a:rPr>
              <a:t>of </a:t>
            </a:r>
            <a:r>
              <a:rPr sz="2400" spc="-10" dirty="0">
                <a:latin typeface="Comic Sans MS"/>
                <a:cs typeface="Comic Sans MS"/>
              </a:rPr>
              <a:t>networks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0735" y="1156944"/>
            <a:ext cx="71837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25" dirty="0">
                <a:solidFill>
                  <a:srgbClr val="FF0000"/>
                </a:solidFill>
                <a:latin typeface="Arial"/>
                <a:cs typeface="Arial"/>
              </a:rPr>
              <a:t>1980-</a:t>
            </a:r>
            <a:r>
              <a:rPr sz="2400" i="1" dirty="0">
                <a:solidFill>
                  <a:srgbClr val="FF0000"/>
                </a:solidFill>
                <a:latin typeface="Arial"/>
                <a:cs typeface="Arial"/>
              </a:rPr>
              <a:t>1990:</a:t>
            </a:r>
            <a:r>
              <a:rPr sz="2400" i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0000"/>
                </a:solidFill>
                <a:latin typeface="Arial"/>
                <a:cs typeface="Arial"/>
              </a:rPr>
              <a:t>new</a:t>
            </a:r>
            <a:r>
              <a:rPr sz="2400" i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0000"/>
                </a:solidFill>
                <a:latin typeface="Arial"/>
                <a:cs typeface="Arial"/>
              </a:rPr>
              <a:t>protocols,</a:t>
            </a:r>
            <a:r>
              <a:rPr sz="2400" i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400" i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FF0000"/>
                </a:solidFill>
                <a:latin typeface="Arial"/>
                <a:cs typeface="Arial"/>
              </a:rPr>
              <a:t>proliferation</a:t>
            </a:r>
            <a:r>
              <a:rPr sz="2400" i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2400" i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FF0000"/>
                </a:solidFill>
                <a:latin typeface="Arial"/>
                <a:cs typeface="Arial"/>
              </a:rPr>
              <a:t>networks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3580" y="369620"/>
            <a:ext cx="36518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Internet</a:t>
            </a:r>
            <a:r>
              <a:rPr sz="3600" spc="-170" dirty="0"/>
              <a:t> </a:t>
            </a:r>
            <a:r>
              <a:rPr sz="3600" spc="-10" dirty="0"/>
              <a:t>History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96697" y="1781543"/>
            <a:ext cx="2203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58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3935" y="1789099"/>
            <a:ext cx="3553460" cy="424370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8100" marR="859790">
              <a:lnSpc>
                <a:spcPts val="2160"/>
              </a:lnSpc>
              <a:spcBef>
                <a:spcPts val="370"/>
              </a:spcBef>
            </a:pPr>
            <a:r>
              <a:rPr sz="2000" dirty="0">
                <a:solidFill>
                  <a:srgbClr val="3333CC"/>
                </a:solidFill>
                <a:latin typeface="Comic Sans MS"/>
                <a:cs typeface="Comic Sans MS"/>
              </a:rPr>
              <a:t>Early</a:t>
            </a:r>
            <a:r>
              <a:rPr sz="2000" spc="-7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dirty="0">
                <a:solidFill>
                  <a:srgbClr val="3333CC"/>
                </a:solidFill>
                <a:latin typeface="Comic Sans MS"/>
                <a:cs typeface="Comic Sans MS"/>
              </a:rPr>
              <a:t>1990’s:</a:t>
            </a:r>
            <a:r>
              <a:rPr sz="2000" spc="-6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ARPAnet decommissioned</a:t>
            </a:r>
            <a:endParaRPr sz="2000">
              <a:latin typeface="Comic Sans MS"/>
              <a:cs typeface="Comic Sans MS"/>
            </a:endParaRPr>
          </a:p>
          <a:p>
            <a:pPr marL="38100" marR="30480">
              <a:lnSpc>
                <a:spcPts val="2160"/>
              </a:lnSpc>
              <a:spcBef>
                <a:spcPts val="505"/>
              </a:spcBef>
            </a:pPr>
            <a:r>
              <a:rPr sz="2000" dirty="0">
                <a:solidFill>
                  <a:srgbClr val="3333CC"/>
                </a:solidFill>
                <a:latin typeface="Comic Sans MS"/>
                <a:cs typeface="Comic Sans MS"/>
              </a:rPr>
              <a:t>1991:</a:t>
            </a:r>
            <a:r>
              <a:rPr sz="2000" spc="-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NSF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lifts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restrictions </a:t>
            </a:r>
            <a:r>
              <a:rPr sz="2000" dirty="0">
                <a:latin typeface="Comic Sans MS"/>
                <a:cs typeface="Comic Sans MS"/>
              </a:rPr>
              <a:t>on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commercial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use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of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NSFnet </a:t>
            </a:r>
            <a:r>
              <a:rPr sz="2000" dirty="0">
                <a:latin typeface="Comic Sans MS"/>
                <a:cs typeface="Comic Sans MS"/>
              </a:rPr>
              <a:t>(decommissioned,</a:t>
            </a:r>
            <a:r>
              <a:rPr sz="2000" spc="-120" dirty="0">
                <a:latin typeface="Comic Sans MS"/>
                <a:cs typeface="Comic Sans MS"/>
              </a:rPr>
              <a:t> </a:t>
            </a:r>
            <a:r>
              <a:rPr sz="2000" spc="-20" dirty="0">
                <a:latin typeface="Comic Sans MS"/>
                <a:cs typeface="Comic Sans MS"/>
              </a:rPr>
              <a:t>1995)</a:t>
            </a:r>
            <a:endParaRPr sz="2000">
              <a:latin typeface="Comic Sans MS"/>
              <a:cs typeface="Comic Sans MS"/>
            </a:endParaRPr>
          </a:p>
          <a:p>
            <a:pPr marL="38100">
              <a:lnSpc>
                <a:spcPct val="100000"/>
              </a:lnSpc>
              <a:spcBef>
                <a:spcPts val="225"/>
              </a:spcBef>
            </a:pPr>
            <a:r>
              <a:rPr sz="2000" dirty="0">
                <a:solidFill>
                  <a:srgbClr val="3333CC"/>
                </a:solidFill>
                <a:latin typeface="Comic Sans MS"/>
                <a:cs typeface="Comic Sans MS"/>
              </a:rPr>
              <a:t>early</a:t>
            </a:r>
            <a:r>
              <a:rPr sz="2000" spc="-6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dirty="0">
                <a:solidFill>
                  <a:srgbClr val="3333CC"/>
                </a:solidFill>
                <a:latin typeface="Comic Sans MS"/>
                <a:cs typeface="Comic Sans MS"/>
              </a:rPr>
              <a:t>1990s:</a:t>
            </a:r>
            <a:r>
              <a:rPr sz="2000" spc="-6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000" spc="-25" dirty="0">
                <a:latin typeface="Comic Sans MS"/>
                <a:cs typeface="Comic Sans MS"/>
              </a:rPr>
              <a:t>WWW</a:t>
            </a:r>
            <a:endParaRPr sz="2000">
              <a:latin typeface="Comic Sans MS"/>
              <a:cs typeface="Comic Sans MS"/>
            </a:endParaRPr>
          </a:p>
          <a:p>
            <a:pPr marL="437515" marR="440690" indent="-275590">
              <a:lnSpc>
                <a:spcPts val="2160"/>
              </a:lnSpc>
              <a:spcBef>
                <a:spcPts val="535"/>
              </a:spcBef>
            </a:pPr>
            <a:r>
              <a:rPr sz="2250" spc="839" baseline="14814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494" baseline="1481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hypertext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[Bush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spc="-20" dirty="0">
                <a:latin typeface="Comic Sans MS"/>
                <a:cs typeface="Comic Sans MS"/>
              </a:rPr>
              <a:t>1945, </a:t>
            </a:r>
            <a:r>
              <a:rPr sz="2000" dirty="0">
                <a:latin typeface="Comic Sans MS"/>
                <a:cs typeface="Comic Sans MS"/>
              </a:rPr>
              <a:t>Nelson</a:t>
            </a:r>
            <a:r>
              <a:rPr sz="2000" spc="-7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1960’s]</a:t>
            </a:r>
            <a:endParaRPr sz="2000">
              <a:latin typeface="Comic Sans MS"/>
              <a:cs typeface="Comic Sans MS"/>
            </a:endParaRPr>
          </a:p>
          <a:p>
            <a:pPr marL="162560">
              <a:lnSpc>
                <a:spcPct val="100000"/>
              </a:lnSpc>
              <a:spcBef>
                <a:spcPts val="225"/>
              </a:spcBef>
            </a:pPr>
            <a:r>
              <a:rPr sz="2250" spc="839" baseline="14814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40" baseline="1481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HTML,</a:t>
            </a:r>
            <a:r>
              <a:rPr sz="2000" spc="-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http: </a:t>
            </a:r>
            <a:r>
              <a:rPr sz="2000" spc="-20" dirty="0">
                <a:latin typeface="Comic Sans MS"/>
                <a:cs typeface="Comic Sans MS"/>
              </a:rPr>
              <a:t>Berners-</a:t>
            </a:r>
            <a:r>
              <a:rPr sz="2000" spc="-25" dirty="0">
                <a:latin typeface="Comic Sans MS"/>
                <a:cs typeface="Comic Sans MS"/>
              </a:rPr>
              <a:t>Lee</a:t>
            </a:r>
            <a:endParaRPr sz="2000">
              <a:latin typeface="Comic Sans MS"/>
              <a:cs typeface="Comic Sans MS"/>
            </a:endParaRPr>
          </a:p>
          <a:p>
            <a:pPr marL="437515" marR="834390" indent="-275590">
              <a:lnSpc>
                <a:spcPts val="2160"/>
              </a:lnSpc>
              <a:spcBef>
                <a:spcPts val="530"/>
              </a:spcBef>
            </a:pPr>
            <a:r>
              <a:rPr sz="2250" spc="839" baseline="14814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494" baseline="1481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1994: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Mosaic,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spc="-20" dirty="0">
                <a:latin typeface="Comic Sans MS"/>
                <a:cs typeface="Comic Sans MS"/>
              </a:rPr>
              <a:t>later </a:t>
            </a:r>
            <a:r>
              <a:rPr sz="2000" spc="-10" dirty="0">
                <a:latin typeface="Comic Sans MS"/>
                <a:cs typeface="Comic Sans MS"/>
              </a:rPr>
              <a:t>Netscape</a:t>
            </a:r>
            <a:endParaRPr sz="2000">
              <a:latin typeface="Comic Sans MS"/>
              <a:cs typeface="Comic Sans MS"/>
            </a:endParaRPr>
          </a:p>
          <a:p>
            <a:pPr marL="437515" marR="247015" indent="-275590">
              <a:lnSpc>
                <a:spcPct val="90200"/>
              </a:lnSpc>
              <a:spcBef>
                <a:spcPts val="405"/>
              </a:spcBef>
            </a:pPr>
            <a:r>
              <a:rPr sz="2250" spc="839" baseline="14814" dirty="0">
                <a:solidFill>
                  <a:srgbClr val="3333CC"/>
                </a:solidFill>
                <a:latin typeface="Symbol"/>
                <a:cs typeface="Symbol"/>
              </a:rPr>
              <a:t></a:t>
            </a:r>
            <a:r>
              <a:rPr sz="2250" spc="525" baseline="1481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Comic Sans MS"/>
                <a:cs typeface="Comic Sans MS"/>
              </a:rPr>
              <a:t>late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1990’s: </a:t>
            </a:r>
            <a:r>
              <a:rPr sz="2000" dirty="0">
                <a:latin typeface="Comic Sans MS"/>
                <a:cs typeface="Comic Sans MS"/>
              </a:rPr>
              <a:t>commercialization</a:t>
            </a:r>
            <a:r>
              <a:rPr sz="2000" spc="-9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of</a:t>
            </a:r>
            <a:r>
              <a:rPr sz="1800" spc="-55" dirty="0">
                <a:latin typeface="Comic Sans MS"/>
                <a:cs typeface="Comic Sans MS"/>
              </a:rPr>
              <a:t> </a:t>
            </a:r>
            <a:r>
              <a:rPr sz="1800" spc="-25" dirty="0">
                <a:latin typeface="Comic Sans MS"/>
                <a:cs typeface="Comic Sans MS"/>
              </a:rPr>
              <a:t>the WWW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6697" y="2393899"/>
            <a:ext cx="2203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58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6697" y="3280219"/>
            <a:ext cx="2203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58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63223" y="1835187"/>
            <a:ext cx="30664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Late</a:t>
            </a:r>
            <a:r>
              <a:rPr sz="2400" spc="-2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1990’s</a:t>
            </a:r>
            <a:r>
              <a:rPr sz="2400" spc="-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3333CC"/>
                </a:solidFill>
                <a:latin typeface="Comic Sans MS"/>
                <a:cs typeface="Comic Sans MS"/>
              </a:rPr>
              <a:t>&amp;</a:t>
            </a:r>
            <a:r>
              <a:rPr sz="2400" spc="-2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3333CC"/>
                </a:solidFill>
                <a:latin typeface="Comic Sans MS"/>
                <a:cs typeface="Comic Sans MS"/>
              </a:rPr>
              <a:t>2000’s: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54219" y="2251697"/>
            <a:ext cx="2203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58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86857" y="2262860"/>
            <a:ext cx="2723515" cy="16783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90"/>
              </a:spcBef>
            </a:pPr>
            <a:r>
              <a:rPr sz="2000" dirty="0">
                <a:latin typeface="Comic Sans MS"/>
                <a:cs typeface="Comic Sans MS"/>
              </a:rPr>
              <a:t>est.</a:t>
            </a:r>
            <a:r>
              <a:rPr sz="2000" spc="-3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50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million </a:t>
            </a:r>
            <a:r>
              <a:rPr sz="2000" dirty="0">
                <a:latin typeface="Comic Sans MS"/>
                <a:cs typeface="Comic Sans MS"/>
              </a:rPr>
              <a:t>computers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on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Internet</a:t>
            </a:r>
            <a:endParaRPr sz="20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2000" dirty="0">
                <a:latin typeface="Comic Sans MS"/>
                <a:cs typeface="Comic Sans MS"/>
              </a:rPr>
              <a:t>est.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100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million+</a:t>
            </a:r>
            <a:r>
              <a:rPr sz="2000" spc="-45" dirty="0">
                <a:latin typeface="Comic Sans MS"/>
                <a:cs typeface="Comic Sans MS"/>
              </a:rPr>
              <a:t> </a:t>
            </a:r>
            <a:r>
              <a:rPr sz="2000" spc="-20" dirty="0">
                <a:latin typeface="Comic Sans MS"/>
                <a:cs typeface="Comic Sans MS"/>
              </a:rPr>
              <a:t>users</a:t>
            </a:r>
            <a:endParaRPr sz="2000">
              <a:latin typeface="Comic Sans MS"/>
              <a:cs typeface="Comic Sans MS"/>
            </a:endParaRPr>
          </a:p>
          <a:p>
            <a:pPr marL="12700" marR="53340">
              <a:lnSpc>
                <a:spcPct val="100000"/>
              </a:lnSpc>
              <a:spcBef>
                <a:spcPts val="500"/>
              </a:spcBef>
            </a:pPr>
            <a:r>
              <a:rPr sz="2000" dirty="0">
                <a:latin typeface="Comic Sans MS"/>
                <a:cs typeface="Comic Sans MS"/>
              </a:rPr>
              <a:t>backbone</a:t>
            </a:r>
            <a:r>
              <a:rPr sz="2000" spc="-5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links</a:t>
            </a:r>
            <a:r>
              <a:rPr sz="2000" spc="-5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running </a:t>
            </a:r>
            <a:r>
              <a:rPr sz="2000" dirty="0">
                <a:latin typeface="Comic Sans MS"/>
                <a:cs typeface="Comic Sans MS"/>
              </a:rPr>
              <a:t>at</a:t>
            </a:r>
            <a:r>
              <a:rPr sz="2000" spc="-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1</a:t>
            </a:r>
            <a:r>
              <a:rPr sz="2000" spc="-10" dirty="0">
                <a:latin typeface="Comic Sans MS"/>
                <a:cs typeface="Comic Sans MS"/>
              </a:rPr>
              <a:t> </a:t>
            </a:r>
            <a:r>
              <a:rPr sz="2000" spc="-20" dirty="0">
                <a:latin typeface="Comic Sans MS"/>
                <a:cs typeface="Comic Sans MS"/>
              </a:rPr>
              <a:t>Gbps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54219" y="2815114"/>
            <a:ext cx="220345" cy="76327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700" spc="58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endParaRPr sz="170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700" spc="585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0735" y="1156944"/>
            <a:ext cx="50704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FF0000"/>
                </a:solidFill>
                <a:latin typeface="Arial"/>
                <a:cs typeface="Arial"/>
              </a:rPr>
              <a:t>1990’s:</a:t>
            </a:r>
            <a:r>
              <a:rPr sz="2400" i="1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FF0000"/>
                </a:solidFill>
                <a:latin typeface="Arial"/>
                <a:cs typeface="Arial"/>
              </a:rPr>
              <a:t>commercialization,</a:t>
            </a:r>
            <a:r>
              <a:rPr sz="2400" i="1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400" i="1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i="1" spc="-25" dirty="0">
                <a:solidFill>
                  <a:srgbClr val="FF0000"/>
                </a:solidFill>
                <a:latin typeface="Arial"/>
                <a:cs typeface="Arial"/>
              </a:rPr>
              <a:t>WWW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77384" y="4720577"/>
            <a:ext cx="2508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You</a:t>
            </a:r>
            <a:r>
              <a:rPr sz="1800" u="sng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now</a:t>
            </a:r>
            <a:r>
              <a:rPr sz="1800" u="sng" spc="-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hopefully</a:t>
            </a:r>
            <a:r>
              <a:rPr sz="1800" u="sng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sz="18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have: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68380" y="5039182"/>
            <a:ext cx="198755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spc="484" dirty="0">
                <a:solidFill>
                  <a:srgbClr val="3333CC"/>
                </a:solidFill>
                <a:latin typeface="Symbol"/>
                <a:cs typeface="Symbol"/>
              </a:rPr>
              <a:t>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01374" y="5050701"/>
            <a:ext cx="3347720" cy="9061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6421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context,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overview,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“feel”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of </a:t>
            </a:r>
            <a:r>
              <a:rPr sz="1800" spc="-10" dirty="0">
                <a:latin typeface="Arial"/>
                <a:cs typeface="Arial"/>
              </a:rPr>
              <a:t>networking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800" dirty="0">
                <a:latin typeface="Arial"/>
                <a:cs typeface="Arial"/>
              </a:rPr>
              <a:t>more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depth,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detail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later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course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68380" y="5645061"/>
            <a:ext cx="198755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spc="484" dirty="0">
                <a:solidFill>
                  <a:srgbClr val="3333CC"/>
                </a:solidFill>
                <a:latin typeface="Symbol"/>
                <a:cs typeface="Symbol"/>
              </a:rPr>
              <a:t></a:t>
            </a:r>
            <a:endParaRPr sz="15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</TotalTime>
  <Words>4034</Words>
  <Application>Microsoft Office PowerPoint</Application>
  <PresentationFormat>On-screen Show (4:3)</PresentationFormat>
  <Paragraphs>1006</Paragraphs>
  <Slides>72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3" baseType="lpstr">
      <vt:lpstr>Aptos</vt:lpstr>
      <vt:lpstr>Arial</vt:lpstr>
      <vt:lpstr>Calibri</vt:lpstr>
      <vt:lpstr>Cambria Math</vt:lpstr>
      <vt:lpstr>Comic Sans MS</vt:lpstr>
      <vt:lpstr>Segoe UI Symbol</vt:lpstr>
      <vt:lpstr>Symbol</vt:lpstr>
      <vt:lpstr>Times New Roman</vt:lpstr>
      <vt:lpstr>Trebuchet MS</vt:lpstr>
      <vt:lpstr>Wingdings</vt:lpstr>
      <vt:lpstr>Office Theme</vt:lpstr>
      <vt:lpstr>CSE 3124 : Computer Networks [2 1 0 3]</vt:lpstr>
      <vt:lpstr>Module 1: Computer Networks &amp; the Internet</vt:lpstr>
      <vt:lpstr>PowerPoint Presentation</vt:lpstr>
      <vt:lpstr>Networking = “Plumbing”</vt:lpstr>
      <vt:lpstr>Internet Age</vt:lpstr>
      <vt:lpstr>Current Hot Topics in Networking</vt:lpstr>
      <vt:lpstr>PowerPoint Presentation</vt:lpstr>
      <vt:lpstr>PowerPoint Presentation</vt:lpstr>
      <vt:lpstr>Trend: Security &amp; Cyber Warfare</vt:lpstr>
      <vt:lpstr>What’s the Internet: “nuts and bolts” view</vt:lpstr>
      <vt:lpstr>“Fun” internet appliances</vt:lpstr>
      <vt:lpstr>What’s the Internet: “nuts and bolts” view</vt:lpstr>
      <vt:lpstr>What’s the Internet: a service view</vt:lpstr>
      <vt:lpstr>A closer look at network structure:</vt:lpstr>
      <vt:lpstr>The network edge:</vt:lpstr>
      <vt:lpstr>The network edge:</vt:lpstr>
      <vt:lpstr>The network edge:</vt:lpstr>
      <vt:lpstr>What’s a protocol?</vt:lpstr>
      <vt:lpstr>What’s a protocol?</vt:lpstr>
      <vt:lpstr>Internet Services Models</vt:lpstr>
      <vt:lpstr>Connection-oriented service</vt:lpstr>
      <vt:lpstr>Connectionless service</vt:lpstr>
      <vt:lpstr>A Comparison</vt:lpstr>
      <vt:lpstr>The Network Core</vt:lpstr>
      <vt:lpstr>Network Core: Circuit Switching</vt:lpstr>
      <vt:lpstr>Circuit Switching: FDM and TDM</vt:lpstr>
      <vt:lpstr>Circuit Switching: FDM and TDM</vt:lpstr>
      <vt:lpstr>Network Core: Packet Switching</vt:lpstr>
      <vt:lpstr>Packet Switching: Statistical Multiplexing</vt:lpstr>
      <vt:lpstr>Packet Switching: Statistical Multiplexing</vt:lpstr>
      <vt:lpstr>Packet switching versus circuit switching</vt:lpstr>
      <vt:lpstr>Packet switching versus circuit switching</vt:lpstr>
      <vt:lpstr>Packet-switching: store-and-forward</vt:lpstr>
      <vt:lpstr>Packet-switched networks: forwarding</vt:lpstr>
      <vt:lpstr>Network Taxonomy</vt:lpstr>
      <vt:lpstr>Access networks and physical media</vt:lpstr>
      <vt:lpstr>Residential access: point to point access</vt:lpstr>
      <vt:lpstr>Residential access: cable modems</vt:lpstr>
      <vt:lpstr>Cable Network Architecture: Overview</vt:lpstr>
      <vt:lpstr>Cable Network Architecture: Overview</vt:lpstr>
      <vt:lpstr>Company access: local area networks</vt:lpstr>
      <vt:lpstr>Wireless access networks</vt:lpstr>
      <vt:lpstr>Home networks</vt:lpstr>
      <vt:lpstr>Physical Media</vt:lpstr>
      <vt:lpstr>Physical Media: coax, fiber</vt:lpstr>
      <vt:lpstr>Physical Media: coax, fiber</vt:lpstr>
      <vt:lpstr>Electromagnetic Spectrum </vt:lpstr>
      <vt:lpstr>Physical media: radio</vt:lpstr>
      <vt:lpstr>Internet structure: network of networks</vt:lpstr>
      <vt:lpstr>ISP: e.g., Sprint</vt:lpstr>
      <vt:lpstr>Internet structure: network of networks</vt:lpstr>
      <vt:lpstr>How do loss and delay occur?</vt:lpstr>
      <vt:lpstr>Four sources of packet delay</vt:lpstr>
      <vt:lpstr>Delay in packet-switched networks</vt:lpstr>
      <vt:lpstr>Nodal delay</vt:lpstr>
      <vt:lpstr>Packet loss</vt:lpstr>
      <vt:lpstr>Network System Modularity</vt:lpstr>
      <vt:lpstr>Network System Modularity</vt:lpstr>
      <vt:lpstr>Layering Concept</vt:lpstr>
      <vt:lpstr>Layers and Communications</vt:lpstr>
      <vt:lpstr>Entities and Peers</vt:lpstr>
      <vt:lpstr>Entities and Peers</vt:lpstr>
      <vt:lpstr>Protocol “Layers”</vt:lpstr>
      <vt:lpstr>Organization of air travel</vt:lpstr>
      <vt:lpstr>Layering of airline functionality</vt:lpstr>
      <vt:lpstr>Why layering?</vt:lpstr>
      <vt:lpstr>Internet protocol stack</vt:lpstr>
      <vt:lpstr>source</vt:lpstr>
      <vt:lpstr>1.9 Internet History</vt:lpstr>
      <vt:lpstr>Internet History</vt:lpstr>
      <vt:lpstr>Internet History</vt:lpstr>
      <vt:lpstr>Internet History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3rd Edition: Chapter 1</dc:title>
  <dc:creator>Jim Kurose and Keith Ross</dc:creator>
  <cp:lastModifiedBy>Bhukya Padma [MAHE-MIT]</cp:lastModifiedBy>
  <cp:revision>18</cp:revision>
  <dcterms:created xsi:type="dcterms:W3CDTF">2025-07-22T12:49:57Z</dcterms:created>
  <dcterms:modified xsi:type="dcterms:W3CDTF">2025-08-18T18:37:41Z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2023-08-04T00:00:00Z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7.0</vt:lpwstr>
  </property>
  <property fmtid="{D5CDD505-2E9C-101B-9397-08002B2CF9AE}" pid="5" name="LastSaved">
    <vt:filetime>2023-08-04T00:00:00Z</vt:filetime>
  </property>
</Properties>
</file>